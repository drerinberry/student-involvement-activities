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23"/>
  </p:notesMasterIdLst>
  <p:sldIdLst>
    <p:sldId id="400" r:id="rId2"/>
    <p:sldId id="401" r:id="rId3"/>
    <p:sldId id="469" r:id="rId4"/>
    <p:sldId id="468" r:id="rId5"/>
    <p:sldId id="458" r:id="rId6"/>
    <p:sldId id="511" r:id="rId7"/>
    <p:sldId id="512" r:id="rId8"/>
    <p:sldId id="513" r:id="rId9"/>
    <p:sldId id="508" r:id="rId10"/>
    <p:sldId id="528" r:id="rId11"/>
    <p:sldId id="459" r:id="rId12"/>
    <p:sldId id="470" r:id="rId13"/>
    <p:sldId id="471" r:id="rId14"/>
    <p:sldId id="472" r:id="rId15"/>
    <p:sldId id="514" r:id="rId16"/>
    <p:sldId id="473" r:id="rId17"/>
    <p:sldId id="474" r:id="rId18"/>
    <p:sldId id="475" r:id="rId19"/>
    <p:sldId id="516" r:id="rId20"/>
    <p:sldId id="517" r:id="rId21"/>
    <p:sldId id="541" r:id="rId22"/>
  </p:sldIdLst>
  <p:sldSz cx="9144000" cy="5143500" type="screen16x9"/>
  <p:notesSz cx="6858000" cy="9144000"/>
  <p:embeddedFontLst>
    <p:embeddedFont>
      <p:font typeface="Atkinson Hyperlegible Next" pitchFamily="2" charset="0"/>
      <p:regular r:id="rId24"/>
      <p:bold r:id="rId25"/>
      <p:italic r:id="rId26"/>
      <p:boldItalic r:id="rId27"/>
    </p:embeddedFont>
    <p:embeddedFont>
      <p:font typeface="Verdana Pro" panose="020B0604030504040204" pitchFamily="34" charset="0"/>
      <p:regular r:id="rId28"/>
      <p:bold r:id="rId29"/>
      <p:italic r:id="rId30"/>
      <p:boldItalic r:id="rId31"/>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3D3488-FBDE-4386-9E49-2F21C4BBBF98}" v="2" dt="2026-06-09T17:33:56.798"/>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1466" autoAdjust="0"/>
  </p:normalViewPr>
  <p:slideViewPr>
    <p:cSldViewPr snapToGrid="0">
      <p:cViewPr varScale="1">
        <p:scale>
          <a:sx n="121" d="100"/>
          <a:sy n="121" d="100"/>
        </p:scale>
        <p:origin x="99" y="69"/>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modSld">
      <pc:chgData name="Erin Berry" userId="b7d8294d-da7c-45c9-9002-ab631a364979" providerId="ADAL" clId="{718D2BA2-B69C-4596-B36D-F24A681F5194}" dt="2026-06-09T17:33:56.798" v="0"/>
      <pc:docMkLst>
        <pc:docMk/>
      </pc:docMkLst>
      <pc:sldChg chg="modTransition">
        <pc:chgData name="Erin Berry" userId="b7d8294d-da7c-45c9-9002-ab631a364979" providerId="ADAL" clId="{718D2BA2-B69C-4596-B36D-F24A681F5194}" dt="2026-06-09T17:33:56.798" v="0"/>
        <pc:sldMkLst>
          <pc:docMk/>
          <pc:sldMk cId="1783366454" sldId="400"/>
        </pc:sldMkLst>
      </pc:sldChg>
      <pc:sldChg chg="modTransition">
        <pc:chgData name="Erin Berry" userId="b7d8294d-da7c-45c9-9002-ab631a364979" providerId="ADAL" clId="{718D2BA2-B69C-4596-B36D-F24A681F5194}" dt="2026-06-09T17:33:56.798" v="0"/>
        <pc:sldMkLst>
          <pc:docMk/>
          <pc:sldMk cId="2593134039" sldId="401"/>
        </pc:sldMkLst>
      </pc:sldChg>
      <pc:sldChg chg="modTransition">
        <pc:chgData name="Erin Berry" userId="b7d8294d-da7c-45c9-9002-ab631a364979" providerId="ADAL" clId="{718D2BA2-B69C-4596-B36D-F24A681F5194}" dt="2026-06-09T17:33:56.798" v="0"/>
        <pc:sldMkLst>
          <pc:docMk/>
          <pc:sldMk cId="1789825048" sldId="458"/>
        </pc:sldMkLst>
      </pc:sldChg>
      <pc:sldChg chg="modTransition">
        <pc:chgData name="Erin Berry" userId="b7d8294d-da7c-45c9-9002-ab631a364979" providerId="ADAL" clId="{718D2BA2-B69C-4596-B36D-F24A681F5194}" dt="2026-06-09T17:33:56.798" v="0"/>
        <pc:sldMkLst>
          <pc:docMk/>
          <pc:sldMk cId="3241344260" sldId="459"/>
        </pc:sldMkLst>
      </pc:sldChg>
      <pc:sldChg chg="modTransition">
        <pc:chgData name="Erin Berry" userId="b7d8294d-da7c-45c9-9002-ab631a364979" providerId="ADAL" clId="{718D2BA2-B69C-4596-B36D-F24A681F5194}" dt="2026-06-09T17:33:56.798" v="0"/>
        <pc:sldMkLst>
          <pc:docMk/>
          <pc:sldMk cId="970393180" sldId="468"/>
        </pc:sldMkLst>
      </pc:sldChg>
      <pc:sldChg chg="modTransition">
        <pc:chgData name="Erin Berry" userId="b7d8294d-da7c-45c9-9002-ab631a364979" providerId="ADAL" clId="{718D2BA2-B69C-4596-B36D-F24A681F5194}" dt="2026-06-09T17:33:56.798" v="0"/>
        <pc:sldMkLst>
          <pc:docMk/>
          <pc:sldMk cId="250815792" sldId="469"/>
        </pc:sldMkLst>
      </pc:sldChg>
      <pc:sldChg chg="modTransition">
        <pc:chgData name="Erin Berry" userId="b7d8294d-da7c-45c9-9002-ab631a364979" providerId="ADAL" clId="{718D2BA2-B69C-4596-B36D-F24A681F5194}" dt="2026-06-09T17:33:56.798" v="0"/>
        <pc:sldMkLst>
          <pc:docMk/>
          <pc:sldMk cId="2595569610" sldId="470"/>
        </pc:sldMkLst>
      </pc:sldChg>
      <pc:sldChg chg="modTransition">
        <pc:chgData name="Erin Berry" userId="b7d8294d-da7c-45c9-9002-ab631a364979" providerId="ADAL" clId="{718D2BA2-B69C-4596-B36D-F24A681F5194}" dt="2026-06-09T17:33:56.798" v="0"/>
        <pc:sldMkLst>
          <pc:docMk/>
          <pc:sldMk cId="2868475831" sldId="471"/>
        </pc:sldMkLst>
      </pc:sldChg>
      <pc:sldChg chg="modTransition">
        <pc:chgData name="Erin Berry" userId="b7d8294d-da7c-45c9-9002-ab631a364979" providerId="ADAL" clId="{718D2BA2-B69C-4596-B36D-F24A681F5194}" dt="2026-06-09T17:33:56.798" v="0"/>
        <pc:sldMkLst>
          <pc:docMk/>
          <pc:sldMk cId="3428150367" sldId="472"/>
        </pc:sldMkLst>
      </pc:sldChg>
      <pc:sldChg chg="modTransition">
        <pc:chgData name="Erin Berry" userId="b7d8294d-da7c-45c9-9002-ab631a364979" providerId="ADAL" clId="{718D2BA2-B69C-4596-B36D-F24A681F5194}" dt="2026-06-09T17:33:56.798" v="0"/>
        <pc:sldMkLst>
          <pc:docMk/>
          <pc:sldMk cId="3264583670" sldId="473"/>
        </pc:sldMkLst>
      </pc:sldChg>
      <pc:sldChg chg="modTransition">
        <pc:chgData name="Erin Berry" userId="b7d8294d-da7c-45c9-9002-ab631a364979" providerId="ADAL" clId="{718D2BA2-B69C-4596-B36D-F24A681F5194}" dt="2026-06-09T17:33:56.798" v="0"/>
        <pc:sldMkLst>
          <pc:docMk/>
          <pc:sldMk cId="1547841770" sldId="474"/>
        </pc:sldMkLst>
      </pc:sldChg>
      <pc:sldChg chg="modTransition">
        <pc:chgData name="Erin Berry" userId="b7d8294d-da7c-45c9-9002-ab631a364979" providerId="ADAL" clId="{718D2BA2-B69C-4596-B36D-F24A681F5194}" dt="2026-06-09T17:33:56.798" v="0"/>
        <pc:sldMkLst>
          <pc:docMk/>
          <pc:sldMk cId="3224284681" sldId="475"/>
        </pc:sldMkLst>
      </pc:sldChg>
      <pc:sldChg chg="modTransition">
        <pc:chgData name="Erin Berry" userId="b7d8294d-da7c-45c9-9002-ab631a364979" providerId="ADAL" clId="{718D2BA2-B69C-4596-B36D-F24A681F5194}" dt="2026-06-09T17:33:56.798" v="0"/>
        <pc:sldMkLst>
          <pc:docMk/>
          <pc:sldMk cId="1860384944" sldId="508"/>
        </pc:sldMkLst>
      </pc:sldChg>
      <pc:sldChg chg="modTransition">
        <pc:chgData name="Erin Berry" userId="b7d8294d-da7c-45c9-9002-ab631a364979" providerId="ADAL" clId="{718D2BA2-B69C-4596-B36D-F24A681F5194}" dt="2026-06-09T17:33:56.798" v="0"/>
        <pc:sldMkLst>
          <pc:docMk/>
          <pc:sldMk cId="3989617447" sldId="511"/>
        </pc:sldMkLst>
      </pc:sldChg>
      <pc:sldChg chg="modTransition">
        <pc:chgData name="Erin Berry" userId="b7d8294d-da7c-45c9-9002-ab631a364979" providerId="ADAL" clId="{718D2BA2-B69C-4596-B36D-F24A681F5194}" dt="2026-06-09T17:33:56.798" v="0"/>
        <pc:sldMkLst>
          <pc:docMk/>
          <pc:sldMk cId="1112484979" sldId="512"/>
        </pc:sldMkLst>
      </pc:sldChg>
      <pc:sldChg chg="modTransition">
        <pc:chgData name="Erin Berry" userId="b7d8294d-da7c-45c9-9002-ab631a364979" providerId="ADAL" clId="{718D2BA2-B69C-4596-B36D-F24A681F5194}" dt="2026-06-09T17:33:56.798" v="0"/>
        <pc:sldMkLst>
          <pc:docMk/>
          <pc:sldMk cId="2602171886" sldId="513"/>
        </pc:sldMkLst>
      </pc:sldChg>
      <pc:sldChg chg="modTransition">
        <pc:chgData name="Erin Berry" userId="b7d8294d-da7c-45c9-9002-ab631a364979" providerId="ADAL" clId="{718D2BA2-B69C-4596-B36D-F24A681F5194}" dt="2026-06-09T17:33:56.798" v="0"/>
        <pc:sldMkLst>
          <pc:docMk/>
          <pc:sldMk cId="2009537173" sldId="514"/>
        </pc:sldMkLst>
      </pc:sldChg>
      <pc:sldChg chg="modTransition">
        <pc:chgData name="Erin Berry" userId="b7d8294d-da7c-45c9-9002-ab631a364979" providerId="ADAL" clId="{718D2BA2-B69C-4596-B36D-F24A681F5194}" dt="2026-06-09T17:33:56.798" v="0"/>
        <pc:sldMkLst>
          <pc:docMk/>
          <pc:sldMk cId="3389556968" sldId="516"/>
        </pc:sldMkLst>
      </pc:sldChg>
      <pc:sldChg chg="modTransition">
        <pc:chgData name="Erin Berry" userId="b7d8294d-da7c-45c9-9002-ab631a364979" providerId="ADAL" clId="{718D2BA2-B69C-4596-B36D-F24A681F5194}" dt="2026-06-09T17:33:56.798" v="0"/>
        <pc:sldMkLst>
          <pc:docMk/>
          <pc:sldMk cId="2427192720" sldId="517"/>
        </pc:sldMkLst>
      </pc:sldChg>
      <pc:sldChg chg="modTransition">
        <pc:chgData name="Erin Berry" userId="b7d8294d-da7c-45c9-9002-ab631a364979" providerId="ADAL" clId="{718D2BA2-B69C-4596-B36D-F24A681F5194}" dt="2026-06-09T17:33:56.798" v="0"/>
        <pc:sldMkLst>
          <pc:docMk/>
          <pc:sldMk cId="953708194" sldId="528"/>
        </pc:sldMkLst>
      </pc:sldChg>
      <pc:sldChg chg="modTransition">
        <pc:chgData name="Erin Berry" userId="b7d8294d-da7c-45c9-9002-ab631a364979" providerId="ADAL" clId="{718D2BA2-B69C-4596-B36D-F24A681F5194}" dt="2026-06-09T17:33:56.798" v="0"/>
        <pc:sldMkLst>
          <pc:docMk/>
          <pc:sldMk cId="4036433792" sldId="5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inyurl.com/MeResourc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tinyurl.com/ZI-Expressinggoal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we're shifting from mini lessons to more comprehensive </a:t>
            </a:r>
            <a:r>
              <a:rPr lang="en-US" b="1" dirty="0"/>
              <a:t>curriculum</a:t>
            </a:r>
            <a:r>
              <a:rPr lang="en-US" dirty="0"/>
              <a:t> options. These are full programs that typically span multiple weeks or an entire semester.</a:t>
            </a:r>
            <a:endParaRPr dirty="0"/>
          </a:p>
        </p:txBody>
      </p:sp>
    </p:spTree>
    <p:extLst>
      <p:ext uri="{BB962C8B-B14F-4D97-AF65-F5344CB8AC3E}">
        <p14:creationId xmlns:p14="http://schemas.microsoft.com/office/powerpoint/2010/main" val="3274653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Let's start with the </a:t>
            </a:r>
            <a:r>
              <a:rPr lang="en-US" b="1" dirty="0"/>
              <a:t>ME! Curriculum</a:t>
            </a:r>
            <a:r>
              <a:rPr lang="en-US" dirty="0"/>
              <a:t>, which is a wonderful resource for teaching self-awareness and self-advocacy skills.</a:t>
            </a:r>
          </a:p>
          <a:p>
            <a:r>
              <a:rPr lang="en-US" dirty="0"/>
              <a:t>The ME! Curriculum consists of </a:t>
            </a:r>
            <a:r>
              <a:rPr lang="en-US" b="1" dirty="0"/>
              <a:t>10 units</a:t>
            </a:r>
            <a:r>
              <a:rPr lang="en-US" dirty="0"/>
              <a:t> that teach self-awareness and self-advocacy. Each unit is designed to take about </a:t>
            </a:r>
            <a:r>
              <a:rPr lang="en-US" b="1" dirty="0"/>
              <a:t>45-60 minutes</a:t>
            </a:r>
            <a:r>
              <a:rPr lang="en-US" dirty="0"/>
              <a:t> to complete, making them perfect for weekly or bi-weekly implementation.</a:t>
            </a:r>
          </a:p>
          <a:p>
            <a:r>
              <a:rPr lang="en-US" b="1" dirty="0"/>
              <a:t>What makes ME! Curriculum special:</a:t>
            </a:r>
            <a:endParaRPr lang="en-US" dirty="0"/>
          </a:p>
          <a:p>
            <a:r>
              <a:rPr lang="en-US" dirty="0"/>
              <a:t>It's specifically designed to help students understand their own special education services</a:t>
            </a:r>
          </a:p>
          <a:p>
            <a:r>
              <a:rPr lang="en-US" dirty="0"/>
              <a:t>Teaches students the vocabulary and concepts related to IEPs and transition planning</a:t>
            </a:r>
          </a:p>
          <a:p>
            <a:r>
              <a:rPr lang="en-US" dirty="0"/>
              <a:t>Builds foundational self-advocacy skills</a:t>
            </a:r>
          </a:p>
          <a:p>
            <a:r>
              <a:rPr lang="en-US" dirty="0"/>
              <a:t>Available for free through the link provided: </a:t>
            </a:r>
            <a:r>
              <a:rPr lang="en-US" dirty="0">
                <a:hlinkClick r:id="rId3"/>
              </a:rPr>
              <a:t>https://tinyurl.com/MeResource</a:t>
            </a:r>
            <a:endParaRPr lang="en-US" dirty="0"/>
          </a:p>
          <a:p>
            <a:r>
              <a:rPr lang="en-US" b="1" dirty="0"/>
              <a:t>The 10 units cover topics such as:</a:t>
            </a:r>
            <a:endParaRPr lang="en-US" dirty="0"/>
          </a:p>
          <a:p>
            <a:r>
              <a:rPr lang="en-US" dirty="0"/>
              <a:t>Understanding what special education means</a:t>
            </a:r>
          </a:p>
          <a:p>
            <a:r>
              <a:rPr lang="en-US" dirty="0"/>
              <a:t>Learning about IEP terminology and acronyms (like FAPE, LRE, IEP, etc.)</a:t>
            </a:r>
          </a:p>
          <a:p>
            <a:r>
              <a:rPr lang="en-US" dirty="0"/>
              <a:t>Identifying personal strengths and challenges</a:t>
            </a:r>
          </a:p>
          <a:p>
            <a:r>
              <a:rPr lang="en-US" dirty="0"/>
              <a:t>Understanding accommodations and modifications</a:t>
            </a:r>
          </a:p>
          <a:p>
            <a:r>
              <a:rPr lang="en-US" dirty="0"/>
              <a:t>Developing self-advocacy strategies</a:t>
            </a:r>
          </a:p>
          <a:p>
            <a:r>
              <a:rPr lang="en-US" dirty="0"/>
              <a:t>Preparing to participate in IEP meetings</a:t>
            </a:r>
          </a:p>
          <a:p>
            <a:r>
              <a:rPr lang="en-US" b="1" dirty="0"/>
              <a:t>How to use it:</a:t>
            </a:r>
            <a:endParaRPr lang="en-US" dirty="0"/>
          </a:p>
          <a:p>
            <a:r>
              <a:rPr lang="en-US" dirty="0"/>
              <a:t>Implement one unit per week or every other week</a:t>
            </a:r>
          </a:p>
          <a:p>
            <a:r>
              <a:rPr lang="en-US" dirty="0"/>
              <a:t>Can be used in small group settings or one-on-one</a:t>
            </a:r>
          </a:p>
          <a:p>
            <a:r>
              <a:rPr lang="en-US" dirty="0"/>
              <a:t>Works well as part of a life skills or transition planning class</a:t>
            </a:r>
          </a:p>
          <a:p>
            <a:r>
              <a:rPr lang="en-US" dirty="0"/>
              <a:t>Great for middle school students who are just beginning to understand their disabilities</a:t>
            </a:r>
          </a:p>
          <a:p>
            <a:r>
              <a:rPr lang="en-US" dirty="0"/>
              <a:t>Can be adapted for high school students who need foundational knowledge</a:t>
            </a:r>
          </a:p>
          <a:p>
            <a:r>
              <a:rPr lang="en-US" b="1" dirty="0"/>
              <a:t>Key Connection:</a:t>
            </a:r>
            <a:r>
              <a:rPr lang="en-US" dirty="0"/>
              <a:t> Remember the ME Assessment we talked about in Module 4? This curriculum actually includes that assessment as one of its components. Students complete the ME Student Scale to measure their understanding of their special education services, then work through the curriculum to build that knowledge.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174087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Here's an example of a worksheet from the ME! Curriculum [show screenshot]. Notice how it breaks down complex special education terminology into student-friendly language. Students aren't just memorizing terms—they're learning what these concepts mean for THEIR education.</a:t>
            </a:r>
          </a:p>
          <a:p>
            <a:r>
              <a:rPr lang="en-US" b="1" dirty="0"/>
              <a:t>Developmental Appropriateness:</a:t>
            </a:r>
            <a:endParaRPr lang="en-US" dirty="0"/>
          </a:p>
          <a:p>
            <a:r>
              <a:rPr lang="en-US" b="1" dirty="0"/>
              <a:t>Upper Elementary (4th-5th):</a:t>
            </a:r>
            <a:r>
              <a:rPr lang="en-US" dirty="0"/>
              <a:t> Can begin introducing ME! Curriculum concepts, focusing on simpler units</a:t>
            </a:r>
          </a:p>
          <a:p>
            <a:r>
              <a:rPr lang="en-US" b="1" dirty="0"/>
              <a:t>Middle School:</a:t>
            </a:r>
            <a:r>
              <a:rPr lang="en-US" dirty="0"/>
              <a:t> Ideal age for full implementation</a:t>
            </a:r>
          </a:p>
          <a:p>
            <a:r>
              <a:rPr lang="en-US" b="1" dirty="0"/>
              <a:t>High School:</a:t>
            </a:r>
            <a:r>
              <a:rPr lang="en-US" dirty="0"/>
              <a:t> Great for students who are new to self-advocacy or haven't had previous exposure to understanding their IEP</a:t>
            </a:r>
          </a:p>
          <a:p>
            <a:r>
              <a:rPr lang="en-US" dirty="0"/>
              <a:t>The ME! Curriculum is particularly valuable because many students attend their IEP meetings without really understanding what's being discussed. This curriculum demystifies the process and empowers students with knowledge.</a:t>
            </a:r>
          </a:p>
          <a:p>
            <a:r>
              <a:rPr lang="en-US" dirty="0"/>
              <a:t>Take a moment to scan the QR code or visit the link to preview the ME! Curriculum materials. Think about which units would be most beneficial for your students.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30830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let's move to </a:t>
            </a:r>
            <a:r>
              <a:rPr lang="en-US" b="1" dirty="0" err="1"/>
              <a:t>ChoiceMaker</a:t>
            </a:r>
            <a:r>
              <a:rPr lang="en-US" dirty="0"/>
              <a:t>, one of the most well-researched and widely-used self-determination curricula.</a:t>
            </a:r>
          </a:p>
          <a:p>
            <a:r>
              <a:rPr lang="en-US" dirty="0" err="1"/>
              <a:t>ChoiceMaker</a:t>
            </a:r>
            <a:r>
              <a:rPr lang="en-US" dirty="0"/>
              <a:t> was developed specifically to teach students to lead their own IEP meetings. It's structured around three main sections:</a:t>
            </a:r>
          </a:p>
          <a:p>
            <a:r>
              <a:rPr lang="en-US" b="1" dirty="0"/>
              <a:t>Choosing Goals</a:t>
            </a:r>
            <a:endParaRPr lang="en-US" dirty="0"/>
          </a:p>
          <a:p>
            <a:r>
              <a:rPr lang="en-US" b="1" dirty="0"/>
              <a:t>Expressing Goals (Self-Directed IEP)</a:t>
            </a:r>
            <a:endParaRPr lang="en-US" dirty="0"/>
          </a:p>
          <a:p>
            <a:r>
              <a:rPr lang="en-US" b="1" dirty="0"/>
              <a:t>Taking Action</a:t>
            </a:r>
            <a:endParaRPr lang="en-US" dirty="0"/>
          </a:p>
          <a:p>
            <a:r>
              <a:rPr lang="en-US" dirty="0"/>
              <a:t>Each section has multiple lessons that build on each other systematically.</a:t>
            </a:r>
          </a:p>
          <a:p>
            <a:r>
              <a:rPr lang="en-US" b="1" dirty="0"/>
              <a:t>Who is it for?</a:t>
            </a:r>
            <a:endParaRPr lang="en-US" dirty="0"/>
          </a:p>
          <a:p>
            <a:r>
              <a:rPr lang="en-US" dirty="0"/>
              <a:t>Middle and high school students</a:t>
            </a:r>
          </a:p>
          <a:p>
            <a:r>
              <a:rPr lang="en-US" dirty="0"/>
              <a:t>Students across ability levels (with appropriate modifications)</a:t>
            </a:r>
          </a:p>
          <a:p>
            <a:r>
              <a:rPr lang="en-US" dirty="0"/>
              <a:t>Can be taught in special education classes, transition classes, or advisory periods</a:t>
            </a:r>
          </a:p>
          <a:p>
            <a:r>
              <a:rPr lang="en-US" b="1" dirty="0"/>
              <a:t>Time commitment:</a:t>
            </a:r>
            <a:endParaRPr lang="en-US" dirty="0"/>
          </a:p>
          <a:p>
            <a:r>
              <a:rPr lang="en-US" dirty="0"/>
              <a:t>Approximately 15-30 minutes per lesson</a:t>
            </a:r>
          </a:p>
          <a:p>
            <a:r>
              <a:rPr lang="en-US" dirty="0"/>
              <a:t>2-3 times per week</a:t>
            </a:r>
          </a:p>
          <a:p>
            <a:r>
              <a:rPr lang="en-US" dirty="0"/>
              <a:t>Spans several months</a:t>
            </a:r>
          </a:p>
          <a:p>
            <a:r>
              <a:rPr lang="en-US" dirty="0"/>
              <a:t>Let me break down each section...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99245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first major section of </a:t>
            </a:r>
            <a:r>
              <a:rPr lang="en-US" dirty="0" err="1"/>
              <a:t>ChoiceMaker</a:t>
            </a:r>
            <a:r>
              <a:rPr lang="en-US" dirty="0"/>
              <a:t> is </a:t>
            </a:r>
            <a:r>
              <a:rPr lang="en-US" b="1" dirty="0"/>
              <a:t>Choosing Goals</a:t>
            </a:r>
            <a:r>
              <a:rPr lang="en-US" dirty="0"/>
              <a:t>, and this is Part 1 of the three-part </a:t>
            </a:r>
            <a:r>
              <a:rPr lang="en-US" dirty="0" err="1"/>
              <a:t>ChoiceMaker</a:t>
            </a:r>
            <a:r>
              <a:rPr lang="en-US" dirty="0"/>
              <a:t> curriculum.</a:t>
            </a:r>
          </a:p>
          <a:p>
            <a:r>
              <a:rPr lang="en-US" dirty="0"/>
              <a:t>Before students can lead their IEP meetings, they need to know what goals they're working toward. This section is broken down into three key areas:</a:t>
            </a:r>
          </a:p>
          <a:p>
            <a:r>
              <a:rPr lang="en-US" b="1" dirty="0"/>
              <a:t>Choosing Educational Goals</a:t>
            </a:r>
            <a:endParaRPr lang="en-US" dirty="0"/>
          </a:p>
          <a:p>
            <a:r>
              <a:rPr lang="en-US" b="1" dirty="0"/>
              <a:t>Choosing Employment Goals</a:t>
            </a:r>
            <a:endParaRPr lang="en-US" dirty="0"/>
          </a:p>
          <a:p>
            <a:r>
              <a:rPr lang="en-US" b="1" dirty="0"/>
              <a:t>Choosing Personal Goals</a:t>
            </a:r>
            <a:endParaRPr lang="en-US" dirty="0"/>
          </a:p>
          <a:p>
            <a:r>
              <a:rPr lang="en-US" b="1" dirty="0"/>
              <a:t>Why this matters:</a:t>
            </a:r>
            <a:r>
              <a:rPr lang="en-US" dirty="0"/>
              <a:t> Students can't meaningfully participate in their IEP meetings if they don't know what they want. This section systematically teaches students to:</a:t>
            </a:r>
          </a:p>
          <a:p>
            <a:r>
              <a:rPr lang="en-US" b="1" dirty="0"/>
              <a:t>Identify their interests:</a:t>
            </a:r>
            <a:endParaRPr lang="en-US" dirty="0"/>
          </a:p>
          <a:p>
            <a:r>
              <a:rPr lang="en-US" dirty="0"/>
              <a:t>What do I like to do?</a:t>
            </a:r>
          </a:p>
          <a:p>
            <a:r>
              <a:rPr lang="en-US" dirty="0"/>
              <a:t>What am I good at?</a:t>
            </a:r>
          </a:p>
          <a:p>
            <a:r>
              <a:rPr lang="en-US" dirty="0"/>
              <a:t>What activities make me happy?</a:t>
            </a:r>
          </a:p>
          <a:p>
            <a:r>
              <a:rPr lang="en-US" b="1" dirty="0"/>
              <a:t>Identify their skills:</a:t>
            </a:r>
            <a:endParaRPr lang="en-US" dirty="0"/>
          </a:p>
          <a:p>
            <a:r>
              <a:rPr lang="en-US" dirty="0"/>
              <a:t>What can I do well?</a:t>
            </a:r>
          </a:p>
          <a:p>
            <a:r>
              <a:rPr lang="en-US" dirty="0"/>
              <a:t>What am I learning?</a:t>
            </a:r>
          </a:p>
          <a:p>
            <a:r>
              <a:rPr lang="en-US" dirty="0"/>
              <a:t>What do I need to improve?</a:t>
            </a:r>
          </a:p>
          <a:p>
            <a:r>
              <a:rPr lang="en-US" b="1" dirty="0"/>
              <a:t>Identify their limits (not limitations, but current limits):</a:t>
            </a:r>
            <a:endParaRPr lang="en-US" dirty="0"/>
          </a:p>
          <a:p>
            <a:r>
              <a:rPr lang="en-US" dirty="0"/>
              <a:t>What's hard for me right now?</a:t>
            </a:r>
          </a:p>
          <a:p>
            <a:r>
              <a:rPr lang="en-US" dirty="0"/>
              <a:t>What support do I need?</a:t>
            </a:r>
          </a:p>
          <a:p>
            <a:r>
              <a:rPr lang="en-US" dirty="0"/>
              <a:t>What am I working on?</a:t>
            </a:r>
          </a:p>
          <a:p>
            <a:r>
              <a:rPr lang="en-US" b="1" dirty="0"/>
              <a:t>Choose goals based on this self-knowledge:</a:t>
            </a:r>
            <a:endParaRPr lang="en-US" dirty="0"/>
          </a:p>
          <a:p>
            <a:r>
              <a:rPr lang="en-US" dirty="0"/>
              <a:t>What do I want to learn?</a:t>
            </a:r>
          </a:p>
          <a:p>
            <a:r>
              <a:rPr lang="en-US" dirty="0"/>
              <a:t>What do I want to improve?</a:t>
            </a:r>
          </a:p>
          <a:p>
            <a:r>
              <a:rPr lang="en-US" dirty="0"/>
              <a:t>What do I want to accomplish?</a:t>
            </a:r>
          </a:p>
          <a:p>
            <a:r>
              <a:rPr lang="en-US" dirty="0"/>
              <a:t>The curriculum uses worksheets, videos, and activities to teach these skills. Students aren't just thinking about goals abstractly—they're writing them down, evaluating them, and preparing to share them.</a:t>
            </a:r>
          </a:p>
          <a:p>
            <a:r>
              <a:rPr lang="en-US" dirty="0"/>
              <a:t>Let's look at each of the three goal areas in detail...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41665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Choosing Educational Goals</a:t>
            </a:r>
            <a:r>
              <a:rPr lang="en-US" dirty="0"/>
              <a:t> section helps students think about their education across their entire lifespan—not just this year or next year, but well into adulthood.</a:t>
            </a:r>
          </a:p>
          <a:p>
            <a:r>
              <a:rPr lang="en-US" b="1" dirty="0"/>
              <a:t>Life Timeline Activity:</a:t>
            </a:r>
            <a:r>
              <a:rPr lang="en-US" dirty="0"/>
              <a:t> One of the first activities has students think through different ages in their life:</a:t>
            </a:r>
          </a:p>
          <a:p>
            <a:r>
              <a:rPr lang="en-US" dirty="0"/>
              <a:t>At age 18</a:t>
            </a:r>
          </a:p>
          <a:p>
            <a:r>
              <a:rPr lang="en-US" dirty="0"/>
              <a:t>At age 21</a:t>
            </a:r>
          </a:p>
          <a:p>
            <a:r>
              <a:rPr lang="en-US" dirty="0"/>
              <a:t>At age 40</a:t>
            </a:r>
          </a:p>
          <a:p>
            <a:r>
              <a:rPr lang="en-US" dirty="0"/>
              <a:t>At age 65</a:t>
            </a:r>
          </a:p>
          <a:p>
            <a:r>
              <a:rPr lang="en-US" dirty="0"/>
              <a:t>For each age, students consider:</a:t>
            </a:r>
          </a:p>
          <a:p>
            <a:r>
              <a:rPr lang="en-US" dirty="0"/>
              <a:t>What will my education look like?</a:t>
            </a:r>
          </a:p>
          <a:p>
            <a:r>
              <a:rPr lang="en-US" dirty="0"/>
              <a:t>How much money do I want to be earning?</a:t>
            </a:r>
          </a:p>
          <a:p>
            <a:r>
              <a:rPr lang="en-US" dirty="0"/>
              <a:t>What will my family situation be?</a:t>
            </a:r>
          </a:p>
          <a:p>
            <a:r>
              <a:rPr lang="en-US" dirty="0"/>
              <a:t>What recreation and leisure activities will I enjoy?</a:t>
            </a:r>
          </a:p>
          <a:p>
            <a:r>
              <a:rPr lang="en-US" b="1" dirty="0"/>
              <a:t>Why this is powerful:</a:t>
            </a:r>
            <a:r>
              <a:rPr lang="en-US" dirty="0"/>
              <a:t> This activity helps students see the BIG PICTURE. Their educational goals aren't isolated—they connect to their future employment, income, family life, and how they want to spend their free time.</a:t>
            </a:r>
          </a:p>
          <a:p>
            <a:r>
              <a:rPr lang="en-US" dirty="0"/>
              <a:t>These life timeline responses can be used directly when crafting </a:t>
            </a:r>
            <a:r>
              <a:rPr lang="en-US" b="1" dirty="0"/>
              <a:t>post-secondary goals</a:t>
            </a:r>
            <a:r>
              <a:rPr lang="en-US" dirty="0"/>
              <a:t> in the IEP. Instead of teachers guessing what students want, we have STUDENT-GENERATED data about their future vision.</a:t>
            </a:r>
          </a:p>
          <a:p>
            <a:r>
              <a:rPr lang="en-US" b="1" dirty="0"/>
              <a:t>Subject Rating Scales:</a:t>
            </a:r>
            <a:r>
              <a:rPr lang="en-US" dirty="0"/>
              <a:t> Students also complete rating scales for different school subjects:</a:t>
            </a:r>
          </a:p>
          <a:p>
            <a:r>
              <a:rPr lang="en-US" dirty="0"/>
              <a:t>Health and PE</a:t>
            </a:r>
          </a:p>
          <a:p>
            <a:r>
              <a:rPr lang="en-US" dirty="0"/>
              <a:t>Foreign language</a:t>
            </a:r>
          </a:p>
          <a:p>
            <a:r>
              <a:rPr lang="en-US" dirty="0"/>
              <a:t>Fine arts (music, art, drama)</a:t>
            </a:r>
          </a:p>
          <a:p>
            <a:r>
              <a:rPr lang="en-US" dirty="0"/>
              <a:t>Practical arts (shop, home </a:t>
            </a:r>
            <a:r>
              <a:rPr lang="en-US" dirty="0" err="1"/>
              <a:t>ec</a:t>
            </a:r>
            <a:r>
              <a:rPr lang="en-US" dirty="0"/>
              <a:t>, technology)</a:t>
            </a:r>
          </a:p>
          <a:p>
            <a:r>
              <a:rPr lang="en-US" dirty="0"/>
              <a:t>Core academics</a:t>
            </a:r>
          </a:p>
          <a:p>
            <a:r>
              <a:rPr lang="en-US" dirty="0"/>
              <a:t>Students rate: Do I like this? Am I good at this? Do I want to learn more about this?</a:t>
            </a:r>
          </a:p>
          <a:p>
            <a:r>
              <a:rPr lang="en-US" b="1" dirty="0"/>
              <a:t>How to use this:</a:t>
            </a:r>
            <a:r>
              <a:rPr lang="en-US" dirty="0"/>
              <a:t> These ratings inform the </a:t>
            </a:r>
            <a:r>
              <a:rPr lang="en-US" b="1" dirty="0"/>
              <a:t>Course of Study</a:t>
            </a:r>
            <a:r>
              <a:rPr lang="en-US" dirty="0"/>
              <a:t> section of the transition plan. Instead of adults deciding which electives students should take, STUDENTS are providing input on their interests and preferences.</a:t>
            </a:r>
          </a:p>
          <a:p>
            <a:r>
              <a:rPr lang="en-US" b="1" dirty="0"/>
              <a:t>School Work Habits - Self vs. Teacher Perception:</a:t>
            </a:r>
            <a:r>
              <a:rPr lang="en-US" dirty="0"/>
              <a:t> Here's where it gets really interesting. Students complete a worksheet where they rate their own school work habits:</a:t>
            </a:r>
          </a:p>
          <a:p>
            <a:r>
              <a:rPr lang="en-US" dirty="0"/>
              <a:t>Do I turn in homework on time?</a:t>
            </a:r>
          </a:p>
          <a:p>
            <a:r>
              <a:rPr lang="en-US" dirty="0"/>
              <a:t>Do I pay attention in class?</a:t>
            </a:r>
          </a:p>
          <a:p>
            <a:r>
              <a:rPr lang="en-US" dirty="0"/>
              <a:t>Do I ask for help when I need it?</a:t>
            </a:r>
          </a:p>
          <a:p>
            <a:r>
              <a:rPr lang="en-US" dirty="0"/>
              <a:t>Do I complete assignments?</a:t>
            </a:r>
          </a:p>
          <a:p>
            <a:r>
              <a:rPr lang="en-US" dirty="0"/>
              <a:t>Then the TEACHER completes the same rating scale about the student.</a:t>
            </a:r>
          </a:p>
          <a:p>
            <a:r>
              <a:rPr lang="en-US" dirty="0"/>
              <a:t>Students then compare: </a:t>
            </a:r>
            <a:r>
              <a:rPr lang="en-US" b="1" dirty="0"/>
              <a:t>What I think about myself vs. What my teacher thinks about me.</a:t>
            </a:r>
            <a:endParaRPr lang="en-US" dirty="0"/>
          </a:p>
          <a:p>
            <a:r>
              <a:rPr lang="en-US" dirty="0"/>
              <a:t>Do these perceptions match? If not, why not? This builds self-awareness and helps students understand how others perceive their work habits.</a:t>
            </a:r>
          </a:p>
          <a:p>
            <a:r>
              <a:rPr lang="en-US" b="1" dirty="0"/>
              <a:t>Self-Observation Activity:</a:t>
            </a:r>
            <a:r>
              <a:rPr lang="en-US" dirty="0"/>
              <a:t> After comparing perceptions, students spend several days OBSERVING THEMSELVES. They carry a checklist throughout the day and mark:</a:t>
            </a:r>
          </a:p>
          <a:p>
            <a:r>
              <a:rPr lang="en-US" dirty="0"/>
              <a:t>Did I turn in my homework today? Yes or No</a:t>
            </a:r>
          </a:p>
          <a:p>
            <a:r>
              <a:rPr lang="en-US" dirty="0"/>
              <a:t>Did I pay attention in class? Yes or No</a:t>
            </a:r>
          </a:p>
          <a:p>
            <a:r>
              <a:rPr lang="en-US" dirty="0"/>
              <a:t>Did I ask for help when I needed it? Yes or No</a:t>
            </a:r>
          </a:p>
          <a:p>
            <a:r>
              <a:rPr lang="en-US" dirty="0"/>
              <a:t>At the end of the observation period, students reflect:</a:t>
            </a:r>
          </a:p>
          <a:p>
            <a:r>
              <a:rPr lang="en-US" dirty="0"/>
              <a:t>"I THOUGHT I did this, but when I actually tracked it, I realized I didn't do it as much as I thought."</a:t>
            </a:r>
          </a:p>
          <a:p>
            <a:r>
              <a:rPr lang="en-US" dirty="0"/>
              <a:t>"My teacher was right—I DO need to work on asking for help more often."</a:t>
            </a:r>
          </a:p>
          <a:p>
            <a:r>
              <a:rPr lang="en-US" dirty="0"/>
              <a:t>This builds accurate self-awareness, which is the foundation of self-determination.</a:t>
            </a:r>
          </a:p>
          <a:p>
            <a:r>
              <a:rPr lang="en-US" b="1" dirty="0"/>
              <a:t>Key Takeaway:</a:t>
            </a:r>
            <a:r>
              <a:rPr lang="en-US" dirty="0"/>
              <a:t> Educational goals aren't just about grades—they're about understanding yourself as a learner, recognizing your preferences, and connecting your education to your future life goals.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32435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Choosing Employment Goals</a:t>
            </a:r>
            <a:r>
              <a:rPr lang="en-US" dirty="0"/>
              <a:t> section is particularly helpful for students who struggle with the question "What do you want to do after high school?"</a:t>
            </a:r>
          </a:p>
          <a:p>
            <a:r>
              <a:rPr lang="en-US" dirty="0"/>
              <a:t>You know that student who says "I don't know" to every career-related question? This section is PERFECT for them.</a:t>
            </a:r>
          </a:p>
          <a:p>
            <a:r>
              <a:rPr lang="en-US" b="1" dirty="0"/>
              <a:t>Job Characteristics "I Like" Worksheet:</a:t>
            </a:r>
            <a:r>
              <a:rPr lang="en-US" dirty="0"/>
              <a:t> This is one of my favorite tools in the entire </a:t>
            </a:r>
            <a:r>
              <a:rPr lang="en-US" dirty="0" err="1"/>
              <a:t>ChoiceMaker</a:t>
            </a:r>
            <a:r>
              <a:rPr lang="en-US" dirty="0"/>
              <a:t> curriculum. It simplifies career exploration by breaking it down into preferences.</a:t>
            </a:r>
          </a:p>
          <a:p>
            <a:r>
              <a:rPr lang="en-US" dirty="0"/>
              <a:t>Students answer questions like:</a:t>
            </a:r>
          </a:p>
          <a:p>
            <a:r>
              <a:rPr lang="en-US" dirty="0"/>
              <a:t>Do I like working </a:t>
            </a:r>
            <a:r>
              <a:rPr lang="en-US" b="1" dirty="0"/>
              <a:t>alone</a:t>
            </a:r>
            <a:r>
              <a:rPr lang="en-US" dirty="0"/>
              <a:t> or with </a:t>
            </a:r>
            <a:r>
              <a:rPr lang="en-US" b="1" dirty="0"/>
              <a:t>lots of people around</a:t>
            </a:r>
            <a:r>
              <a:rPr lang="en-US" dirty="0"/>
              <a:t>?</a:t>
            </a:r>
          </a:p>
          <a:p>
            <a:r>
              <a:rPr lang="en-US" dirty="0"/>
              <a:t>Do I like an </a:t>
            </a:r>
            <a:r>
              <a:rPr lang="en-US" b="1" dirty="0"/>
              <a:t>easy job</a:t>
            </a:r>
            <a:r>
              <a:rPr lang="en-US" dirty="0"/>
              <a:t> or a </a:t>
            </a:r>
            <a:r>
              <a:rPr lang="en-US" b="1" dirty="0"/>
              <a:t>challenging job</a:t>
            </a:r>
            <a:r>
              <a:rPr lang="en-US" dirty="0"/>
              <a:t>?</a:t>
            </a:r>
          </a:p>
          <a:p>
            <a:r>
              <a:rPr lang="en-US" dirty="0"/>
              <a:t>Do I like </a:t>
            </a:r>
            <a:r>
              <a:rPr lang="en-US" b="1" dirty="0"/>
              <a:t>standing up</a:t>
            </a:r>
            <a:r>
              <a:rPr lang="en-US" dirty="0"/>
              <a:t>, </a:t>
            </a:r>
            <a:r>
              <a:rPr lang="en-US" b="1" dirty="0"/>
              <a:t>sitting down</a:t>
            </a:r>
            <a:r>
              <a:rPr lang="en-US" dirty="0"/>
              <a:t>, or </a:t>
            </a:r>
            <a:r>
              <a:rPr lang="en-US" b="1" dirty="0"/>
              <a:t>moving around</a:t>
            </a:r>
            <a:r>
              <a:rPr lang="en-US" dirty="0"/>
              <a:t>?</a:t>
            </a:r>
          </a:p>
          <a:p>
            <a:r>
              <a:rPr lang="en-US" dirty="0"/>
              <a:t>Do I like </a:t>
            </a:r>
            <a:r>
              <a:rPr lang="en-US" b="1" dirty="0"/>
              <a:t>thinking work</a:t>
            </a:r>
            <a:r>
              <a:rPr lang="en-US" dirty="0"/>
              <a:t> (mental) or </a:t>
            </a:r>
            <a:r>
              <a:rPr lang="en-US" b="1" dirty="0"/>
              <a:t>physical work</a:t>
            </a:r>
            <a:r>
              <a:rPr lang="en-US" dirty="0"/>
              <a:t>?</a:t>
            </a:r>
          </a:p>
          <a:p>
            <a:r>
              <a:rPr lang="en-US" dirty="0"/>
              <a:t>Do I like being </a:t>
            </a:r>
            <a:r>
              <a:rPr lang="en-US" b="1" dirty="0"/>
              <a:t>inside</a:t>
            </a:r>
            <a:r>
              <a:rPr lang="en-US" dirty="0"/>
              <a:t> or </a:t>
            </a:r>
            <a:r>
              <a:rPr lang="en-US" b="1" dirty="0"/>
              <a:t>outside</a:t>
            </a:r>
            <a:r>
              <a:rPr lang="en-US" dirty="0"/>
              <a:t>?</a:t>
            </a:r>
          </a:p>
          <a:p>
            <a:r>
              <a:rPr lang="en-US" b="1" dirty="0"/>
              <a:t>Why this works:</a:t>
            </a:r>
            <a:r>
              <a:rPr lang="en-US" dirty="0"/>
              <a:t> These questions don't require students to know specific job titles. They just need to know their own preferences. "I like being outside and moving around" gives us SO much information to work with.</a:t>
            </a:r>
          </a:p>
          <a:p>
            <a:r>
              <a:rPr lang="en-US" dirty="0"/>
              <a:t>There's also a second column where students can rate these characteristics for a CURRENT job or internship:</a:t>
            </a:r>
          </a:p>
          <a:p>
            <a:r>
              <a:rPr lang="en-US" dirty="0"/>
              <a:t>My current job has me working alone—do I like that or not?</a:t>
            </a:r>
          </a:p>
          <a:p>
            <a:r>
              <a:rPr lang="en-US" dirty="0"/>
              <a:t>My current job is mostly sitting down—do I prefer that or would I rather move around?</a:t>
            </a:r>
          </a:p>
          <a:p>
            <a:r>
              <a:rPr lang="en-US" dirty="0"/>
              <a:t>This helps students refine their preferences based on real experience.</a:t>
            </a:r>
          </a:p>
          <a:p>
            <a:r>
              <a:rPr lang="en-US" b="1" dirty="0"/>
              <a:t>Dream Job Informational Interview:</a:t>
            </a:r>
            <a:r>
              <a:rPr lang="en-US" dirty="0"/>
              <a:t> Once students start identifying job interests, they complete a "Dream Job Informational Interview" worksheet. This guides students to research:</a:t>
            </a:r>
          </a:p>
          <a:p>
            <a:r>
              <a:rPr lang="en-US" b="1" dirty="0"/>
              <a:t>Job duties:</a:t>
            </a:r>
            <a:r>
              <a:rPr lang="en-US" dirty="0"/>
              <a:t> What would I actually DO in this job?</a:t>
            </a:r>
          </a:p>
          <a:p>
            <a:r>
              <a:rPr lang="en-US" dirty="0"/>
              <a:t>Would I like doing these tasks?</a:t>
            </a:r>
          </a:p>
          <a:p>
            <a:r>
              <a:rPr lang="en-US" dirty="0"/>
              <a:t>Could I do these tasks?</a:t>
            </a:r>
          </a:p>
          <a:p>
            <a:r>
              <a:rPr lang="en-US" b="1" dirty="0"/>
              <a:t>Experience required:</a:t>
            </a:r>
            <a:r>
              <a:rPr lang="en-US" dirty="0"/>
              <a:t> What experiences do people need to get this job?</a:t>
            </a:r>
          </a:p>
          <a:p>
            <a:r>
              <a:rPr lang="en-US" dirty="0"/>
              <a:t>Would I like gaining that experience?</a:t>
            </a:r>
          </a:p>
          <a:p>
            <a:r>
              <a:rPr lang="en-US" dirty="0"/>
              <a:t>Could I do what's required?</a:t>
            </a:r>
          </a:p>
          <a:p>
            <a:r>
              <a:rPr lang="en-US" b="1" dirty="0"/>
              <a:t>Hours and schedule:</a:t>
            </a:r>
            <a:r>
              <a:rPr lang="en-US" dirty="0"/>
              <a:t> When would I work?</a:t>
            </a:r>
          </a:p>
          <a:p>
            <a:r>
              <a:rPr lang="en-US" dirty="0"/>
              <a:t>Morning, afternoon, evening, overnight?</a:t>
            </a:r>
          </a:p>
          <a:p>
            <a:r>
              <a:rPr lang="en-US" dirty="0"/>
              <a:t>Weekdays, weekends, flexible schedule?</a:t>
            </a:r>
          </a:p>
          <a:p>
            <a:r>
              <a:rPr lang="en-US" b="1" dirty="0"/>
              <a:t>Equipment needed:</a:t>
            </a:r>
            <a:r>
              <a:rPr lang="en-US" dirty="0"/>
              <a:t> What equipment must I be able to operate?</a:t>
            </a:r>
          </a:p>
          <a:p>
            <a:r>
              <a:rPr lang="en-US" dirty="0"/>
              <a:t>Computers, machinery, vehicles, specialized tools?</a:t>
            </a:r>
          </a:p>
          <a:p>
            <a:r>
              <a:rPr lang="en-US" dirty="0"/>
              <a:t>Am I interested in learning to use this equipment?</a:t>
            </a:r>
          </a:p>
          <a:p>
            <a:r>
              <a:rPr lang="en-US" dirty="0"/>
              <a:t>This isn't just career exploration—it's REALISTIC career exploration. Students aren't just saying "I want to be a veterinarian" without understanding what that actually involves.</a:t>
            </a:r>
          </a:p>
          <a:p>
            <a:r>
              <a:rPr lang="en-US" b="1" dirty="0"/>
              <a:t>Connection to IEP:</a:t>
            </a:r>
            <a:r>
              <a:rPr lang="en-US" dirty="0"/>
              <a:t> The employment goals section directly informs:</a:t>
            </a:r>
          </a:p>
          <a:p>
            <a:r>
              <a:rPr lang="en-US" dirty="0"/>
              <a:t>Post-secondary employment goals</a:t>
            </a:r>
          </a:p>
          <a:p>
            <a:r>
              <a:rPr lang="en-US" dirty="0"/>
              <a:t>Related services (Do they need job coaching? Transportation training?)</a:t>
            </a:r>
          </a:p>
          <a:p>
            <a:r>
              <a:rPr lang="en-US" dirty="0"/>
              <a:t>Course of study (What classes would help them reach this career goal?)</a:t>
            </a:r>
          </a:p>
          <a:p>
            <a:r>
              <a:rPr lang="en-US" b="1" dirty="0"/>
              <a:t>Key Takeaway:</a:t>
            </a:r>
            <a:r>
              <a:rPr lang="en-US" dirty="0"/>
              <a:t> Employment goals become clearer when students understand their own preferences and have tools to explore careers realistically.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8249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Choosing Personal Goals</a:t>
            </a:r>
            <a:r>
              <a:rPr lang="en-US" dirty="0"/>
              <a:t> section focuses on social-emotional skills, relationships, and personal growth—areas that are often overlooked but critically important for success after high school.</a:t>
            </a:r>
          </a:p>
          <a:p>
            <a:r>
              <a:rPr lang="en-US" b="1" dirty="0"/>
              <a:t>"How I Am With Others" Worksheet:</a:t>
            </a:r>
            <a:r>
              <a:rPr lang="en-US" dirty="0"/>
              <a:t> This activity combines GROUP WORK with SELF-REFLECTION. Here's how it works:</a:t>
            </a:r>
          </a:p>
          <a:p>
            <a:r>
              <a:rPr lang="en-US" b="1" dirty="0"/>
              <a:t>Step 1: Group Activity</a:t>
            </a:r>
            <a:r>
              <a:rPr lang="en-US" dirty="0"/>
              <a:t> Students participate in a group activity (could be any collaborative task—building something, solving a problem, completing a project).</a:t>
            </a:r>
          </a:p>
          <a:p>
            <a:r>
              <a:rPr lang="en-US" b="1" dirty="0"/>
              <a:t>Step 2: Self-Reflection</a:t>
            </a:r>
            <a:r>
              <a:rPr lang="en-US" dirty="0"/>
              <a:t> After the activity, students look at a list of social behaviors and check THREE things they feel they did well:</a:t>
            </a:r>
          </a:p>
          <a:p>
            <a:r>
              <a:rPr lang="en-US" dirty="0"/>
              <a:t>Was I polite?</a:t>
            </a:r>
          </a:p>
          <a:p>
            <a:r>
              <a:rPr lang="en-US" dirty="0"/>
              <a:t>Was I responsible?</a:t>
            </a:r>
          </a:p>
          <a:p>
            <a:r>
              <a:rPr lang="en-US" dirty="0"/>
              <a:t>Did I listen to others?</a:t>
            </a:r>
          </a:p>
          <a:p>
            <a:r>
              <a:rPr lang="en-US" dirty="0"/>
              <a:t>Was I helpful?</a:t>
            </a:r>
          </a:p>
          <a:p>
            <a:r>
              <a:rPr lang="en-US" dirty="0"/>
              <a:t>Did I stay on task?</a:t>
            </a:r>
          </a:p>
          <a:p>
            <a:r>
              <a:rPr lang="en-US" dirty="0"/>
              <a:t>Was I creative?</a:t>
            </a:r>
          </a:p>
          <a:p>
            <a:r>
              <a:rPr lang="en-US" dirty="0"/>
              <a:t>Did I cooperate?</a:t>
            </a:r>
          </a:p>
          <a:p>
            <a:r>
              <a:rPr lang="en-US" dirty="0"/>
              <a:t>Students might check: "I was polite, responsible, and I listened to others."</a:t>
            </a:r>
          </a:p>
          <a:p>
            <a:r>
              <a:rPr lang="en-US" b="1" dirty="0"/>
              <a:t>Step 3: Identify Growth Area</a:t>
            </a:r>
            <a:r>
              <a:rPr lang="en-US" dirty="0"/>
              <a:t> Then students CIRCLE ONE behavior they feel they need to improve:</a:t>
            </a:r>
          </a:p>
          <a:p>
            <a:r>
              <a:rPr lang="en-US" dirty="0"/>
              <a:t>"I wasn't very creative during this activity—I could work on that."</a:t>
            </a:r>
          </a:p>
          <a:p>
            <a:r>
              <a:rPr lang="en-US" b="1" dirty="0"/>
              <a:t>Step 4: Peer Feedback</a:t>
            </a:r>
            <a:r>
              <a:rPr lang="en-US" dirty="0"/>
              <a:t> Here's where it gets really valuable. Students ask a PARTNER from their group: "What do you think I did well in our group activity?"</a:t>
            </a:r>
          </a:p>
          <a:p>
            <a:r>
              <a:rPr lang="en-US" dirty="0"/>
              <a:t>The partner shares their perspective, and students put a STAR next to the behaviors their partner mentions.</a:t>
            </a:r>
          </a:p>
          <a:p>
            <a:r>
              <a:rPr lang="en-US" b="1" dirty="0"/>
              <a:t>Step 5: Comparison and Discussion</a:t>
            </a:r>
            <a:r>
              <a:rPr lang="en-US" dirty="0"/>
              <a:t> Students then compare:</a:t>
            </a:r>
          </a:p>
          <a:p>
            <a:r>
              <a:rPr lang="en-US" dirty="0"/>
              <a:t>What I think I'm good at</a:t>
            </a:r>
          </a:p>
          <a:p>
            <a:r>
              <a:rPr lang="en-US" dirty="0"/>
              <a:t>What my partner thinks I'm good at</a:t>
            </a:r>
          </a:p>
          <a:p>
            <a:r>
              <a:rPr lang="en-US" dirty="0"/>
              <a:t>Do these match?</a:t>
            </a:r>
          </a:p>
          <a:p>
            <a:r>
              <a:rPr lang="en-US" dirty="0"/>
              <a:t>If they match—great! Accurate self-awareness.</a:t>
            </a:r>
          </a:p>
          <a:p>
            <a:r>
              <a:rPr lang="en-US" dirty="0"/>
              <a:t>If they don't match—that's a learning opportunity. Why might I think I'm good at listening but my partner didn't notice that? What could I do differently?</a:t>
            </a:r>
          </a:p>
          <a:p>
            <a:r>
              <a:rPr lang="en-US" b="1" dirty="0"/>
              <a:t>Why this is powerful:</a:t>
            </a:r>
            <a:endParaRPr lang="en-US" dirty="0"/>
          </a:p>
          <a:p>
            <a:r>
              <a:rPr lang="en-US" dirty="0"/>
              <a:t>It builds self-awareness about social skills</a:t>
            </a:r>
          </a:p>
          <a:p>
            <a:r>
              <a:rPr lang="en-US" dirty="0"/>
              <a:t>It teaches students to accept feedback</a:t>
            </a:r>
          </a:p>
          <a:p>
            <a:r>
              <a:rPr lang="en-US" dirty="0"/>
              <a:t>It helps students set realistic personal growth goals</a:t>
            </a:r>
          </a:p>
          <a:p>
            <a:r>
              <a:rPr lang="en-US" dirty="0"/>
              <a:t>It connects directly to workplace readiness (employers care about collaboration skills!)</a:t>
            </a:r>
          </a:p>
          <a:p>
            <a:r>
              <a:rPr lang="en-US" b="1" dirty="0"/>
              <a:t>New Activity Evaluation:</a:t>
            </a:r>
            <a:r>
              <a:rPr lang="en-US" dirty="0"/>
              <a:t> The personal goals section also includes worksheets for trying new activities and evaluating them:</a:t>
            </a:r>
          </a:p>
          <a:p>
            <a:r>
              <a:rPr lang="en-US" dirty="0"/>
              <a:t>What did I try?</a:t>
            </a:r>
          </a:p>
          <a:p>
            <a:r>
              <a:rPr lang="en-US" dirty="0"/>
              <a:t>What did I like about it?</a:t>
            </a:r>
          </a:p>
          <a:p>
            <a:r>
              <a:rPr lang="en-US" dirty="0"/>
              <a:t>What was challenging?</a:t>
            </a:r>
          </a:p>
          <a:p>
            <a:r>
              <a:rPr lang="en-US" dirty="0"/>
              <a:t>Would I do this again?</a:t>
            </a:r>
          </a:p>
          <a:p>
            <a:r>
              <a:rPr lang="en-US" dirty="0"/>
              <a:t>What did I learn about myself?</a:t>
            </a:r>
          </a:p>
          <a:p>
            <a:r>
              <a:rPr lang="en-US" dirty="0"/>
              <a:t>This encourages students to step outside their comfort zones and build self-awareness through experience.</a:t>
            </a:r>
          </a:p>
          <a:p>
            <a:r>
              <a:rPr lang="en-US" b="1" dirty="0"/>
              <a:t>Connection to IEP:</a:t>
            </a:r>
            <a:r>
              <a:rPr lang="en-US" dirty="0"/>
              <a:t> Personal goals inform:</a:t>
            </a:r>
          </a:p>
          <a:p>
            <a:r>
              <a:rPr lang="en-US" dirty="0"/>
              <a:t>Social-emotional IEP goals</a:t>
            </a:r>
          </a:p>
          <a:p>
            <a:r>
              <a:rPr lang="en-US" dirty="0"/>
              <a:t>Behavioral supports needed</a:t>
            </a:r>
          </a:p>
          <a:p>
            <a:r>
              <a:rPr lang="en-US" dirty="0"/>
              <a:t>Community participation goals (What groups or activities might this student enjoy?)</a:t>
            </a:r>
          </a:p>
          <a:p>
            <a:r>
              <a:rPr lang="en-US" dirty="0"/>
              <a:t>Independent living goals (Can they work with roommates? Handle conflict?)</a:t>
            </a:r>
          </a:p>
          <a:p>
            <a:r>
              <a:rPr lang="en-US" b="1" dirty="0"/>
              <a:t>Key Takeaway:</a:t>
            </a:r>
            <a:r>
              <a:rPr lang="en-US" dirty="0"/>
              <a:t> Personal and social goals are just as important as academic and employment goals. Students need to understand themselves as PEOPLE, not just as students or workers.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622762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we move to </a:t>
            </a:r>
            <a:r>
              <a:rPr lang="en-US" b="1" dirty="0"/>
              <a:t>Part 2 of the </a:t>
            </a:r>
            <a:r>
              <a:rPr lang="en-US" b="1" dirty="0" err="1"/>
              <a:t>ChoiceMaker</a:t>
            </a:r>
            <a:r>
              <a:rPr lang="en-US" b="1" dirty="0"/>
              <a:t> curriculum: Self-Directed IEP</a:t>
            </a:r>
            <a:r>
              <a:rPr lang="en-US" dirty="0"/>
              <a:t>, which focuses on </a:t>
            </a:r>
            <a:r>
              <a:rPr lang="en-US" b="1" dirty="0"/>
              <a:t>Expressing Goals</a:t>
            </a:r>
            <a:r>
              <a:rPr lang="en-US" dirty="0"/>
              <a:t>.</a:t>
            </a:r>
          </a:p>
          <a:p>
            <a:r>
              <a:rPr lang="en-US" dirty="0"/>
              <a:t>This is really a great part of the </a:t>
            </a:r>
            <a:r>
              <a:rPr lang="en-US" dirty="0" err="1"/>
              <a:t>ChoiceMaker</a:t>
            </a:r>
            <a:r>
              <a:rPr lang="en-US" dirty="0"/>
              <a:t> curriculum! This section is ALL about teaching students to actually LEAD their own IEP meetings.</a:t>
            </a:r>
          </a:p>
          <a:p>
            <a:r>
              <a:rPr lang="en-US" b="1" dirty="0"/>
              <a:t>What's included:</a:t>
            </a:r>
            <a:endParaRPr lang="en-US" dirty="0"/>
          </a:p>
          <a:p>
            <a:r>
              <a:rPr lang="en-US" b="1" dirty="0"/>
              <a:t>11 lessons</a:t>
            </a:r>
            <a:r>
              <a:rPr lang="en-US" dirty="0"/>
              <a:t> that correspond to the </a:t>
            </a:r>
            <a:r>
              <a:rPr lang="en-US" b="1" dirty="0"/>
              <a:t>11 steps</a:t>
            </a:r>
            <a:r>
              <a:rPr lang="en-US" dirty="0"/>
              <a:t> of a student-led IEP meeting</a:t>
            </a:r>
          </a:p>
          <a:p>
            <a:r>
              <a:rPr lang="en-US" dirty="0"/>
              <a:t>Each lesson includes around </a:t>
            </a:r>
            <a:r>
              <a:rPr lang="en-US" b="1" dirty="0"/>
              <a:t>6 to 10 mini sessions</a:t>
            </a:r>
            <a:r>
              <a:rPr lang="en-US" dirty="0"/>
              <a:t> (45 minutes each)</a:t>
            </a:r>
          </a:p>
          <a:p>
            <a:r>
              <a:rPr lang="en-US" dirty="0"/>
              <a:t>Accompanying </a:t>
            </a:r>
            <a:r>
              <a:rPr lang="en-US" b="1" dirty="0"/>
              <a:t>videos</a:t>
            </a:r>
            <a:r>
              <a:rPr lang="en-US" dirty="0"/>
              <a:t> to model each step</a:t>
            </a:r>
          </a:p>
          <a:p>
            <a:r>
              <a:rPr lang="en-US" b="1" dirty="0"/>
              <a:t>Student workbook</a:t>
            </a:r>
            <a:r>
              <a:rPr lang="en-US" dirty="0"/>
              <a:t> with activities and scripts</a:t>
            </a:r>
          </a:p>
          <a:p>
            <a:r>
              <a:rPr lang="en-US" b="1" dirty="0"/>
              <a:t>Teacher manual</a:t>
            </a:r>
            <a:r>
              <a:rPr lang="en-US" dirty="0"/>
              <a:t> with lesson plans and facilitation guidance</a:t>
            </a:r>
          </a:p>
          <a:p>
            <a:r>
              <a:rPr lang="en-US" dirty="0"/>
              <a:t>All available </a:t>
            </a:r>
            <a:r>
              <a:rPr lang="en-US" b="1" dirty="0"/>
              <a:t>for FREE</a:t>
            </a:r>
            <a:r>
              <a:rPr lang="en-US" dirty="0"/>
              <a:t> through the link provided: </a:t>
            </a:r>
            <a:r>
              <a:rPr lang="en-US" dirty="0">
                <a:hlinkClick r:id="rId3"/>
              </a:rPr>
              <a:t>https://tinyurl.com/ZI-Expressinggoals</a:t>
            </a:r>
            <a:endParaRPr lang="en-US" dirty="0"/>
          </a:p>
          <a:p>
            <a:r>
              <a:rPr lang="en-US" b="1" dirty="0"/>
              <a:t>Why this is powerful:</a:t>
            </a:r>
            <a:r>
              <a:rPr lang="en-US" dirty="0"/>
              <a:t> Students don't just learn ABOUT leading IEP meetings—they actually PRACTICE each step systematically. By the time they finish this curriculum, they've rehearsed the entire IEP meeting process multiple times in a safe, supportive environment.</a:t>
            </a:r>
          </a:p>
          <a:p>
            <a:r>
              <a:rPr lang="en-US" b="1" dirty="0"/>
              <a:t>Structure:</a:t>
            </a:r>
            <a:r>
              <a:rPr lang="en-US" dirty="0"/>
              <a:t> There's a lesson grouping for each of the 11 steps. Students work through each step individually, mastering one before moving to the next. This scaffolded approach ensures students feel confident and prepared.</a:t>
            </a:r>
          </a:p>
          <a:p>
            <a:r>
              <a:rPr lang="en-US" dirty="0"/>
              <a:t>The 11 steps take students from the very beginning of the meeting—stating the purpose—all the way through to working on their IEP goals throughout the entire year. Every critical component of an IEP meeting is covered.</a:t>
            </a:r>
          </a:p>
          <a:p>
            <a:r>
              <a:rPr lang="en-US" dirty="0"/>
              <a:t>Let's look at what those 11 steps are...</a:t>
            </a:r>
          </a:p>
        </p:txBody>
      </p:sp>
    </p:spTree>
    <p:extLst>
      <p:ext uri="{BB962C8B-B14F-4D97-AF65-F5344CB8AC3E}">
        <p14:creationId xmlns:p14="http://schemas.microsoft.com/office/powerpoint/2010/main" val="2482203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 are the </a:t>
            </a:r>
            <a:r>
              <a:rPr lang="en-US" b="1" dirty="0"/>
              <a:t>11 steps of a Self-Directed IEP</a:t>
            </a:r>
            <a:r>
              <a:rPr lang="en-US" dirty="0"/>
              <a:t> that students learn through this curriculum:</a:t>
            </a:r>
          </a:p>
          <a:p>
            <a:r>
              <a:rPr lang="en-US" b="1" dirty="0"/>
              <a:t>Begin meeting by stating the purpose</a:t>
            </a:r>
            <a:r>
              <a:rPr lang="en-US" dirty="0"/>
              <a:t> </a:t>
            </a:r>
          </a:p>
          <a:p>
            <a:pPr lvl="1"/>
            <a:r>
              <a:rPr lang="en-US" dirty="0"/>
              <a:t>"Thank you all for coming to my IEP meeting today..."</a:t>
            </a:r>
          </a:p>
          <a:p>
            <a:pPr lvl="1"/>
            <a:r>
              <a:rPr lang="en-US" dirty="0"/>
              <a:t>Students learn to open the meeting and set the tone</a:t>
            </a:r>
          </a:p>
          <a:p>
            <a:r>
              <a:rPr lang="en-US" b="1" dirty="0"/>
              <a:t>Introduce everyone</a:t>
            </a:r>
            <a:r>
              <a:rPr lang="en-US" dirty="0"/>
              <a:t> </a:t>
            </a:r>
          </a:p>
          <a:p>
            <a:pPr lvl="1"/>
            <a:r>
              <a:rPr lang="en-US" dirty="0"/>
              <a:t>"I'd like to introduce everyone here today..."</a:t>
            </a:r>
          </a:p>
          <a:p>
            <a:pPr lvl="1"/>
            <a:r>
              <a:rPr lang="en-US" dirty="0"/>
              <a:t>Students practice learning who people are and their roles</a:t>
            </a:r>
          </a:p>
          <a:p>
            <a:r>
              <a:rPr lang="en-US" b="1" dirty="0"/>
              <a:t>Review past goals and performance</a:t>
            </a:r>
            <a:r>
              <a:rPr lang="en-US" dirty="0"/>
              <a:t> </a:t>
            </a:r>
          </a:p>
          <a:p>
            <a:pPr lvl="1"/>
            <a:r>
              <a:rPr lang="en-US" dirty="0"/>
              <a:t>"Last year my goals were... Here's how I did..."</a:t>
            </a:r>
          </a:p>
          <a:p>
            <a:pPr lvl="1"/>
            <a:r>
              <a:rPr lang="en-US" dirty="0"/>
              <a:t>Students reflect on progress and growth</a:t>
            </a:r>
          </a:p>
          <a:p>
            <a:r>
              <a:rPr lang="en-US" b="1" dirty="0"/>
              <a:t>Ask for others' feedback</a:t>
            </a:r>
            <a:r>
              <a:rPr lang="en-US" dirty="0"/>
              <a:t> </a:t>
            </a:r>
          </a:p>
          <a:p>
            <a:pPr lvl="1"/>
            <a:r>
              <a:rPr lang="en-US" dirty="0"/>
              <a:t>"What do you think about my progress?"</a:t>
            </a:r>
          </a:p>
          <a:p>
            <a:pPr lvl="1"/>
            <a:r>
              <a:rPr lang="en-US" dirty="0"/>
              <a:t>Students learn to invite input from team members</a:t>
            </a:r>
          </a:p>
          <a:p>
            <a:r>
              <a:rPr lang="en-US" b="1" dirty="0"/>
              <a:t>State your school and transition goals</a:t>
            </a:r>
            <a:r>
              <a:rPr lang="en-US" dirty="0"/>
              <a:t> </a:t>
            </a:r>
          </a:p>
          <a:p>
            <a:pPr lvl="1"/>
            <a:r>
              <a:rPr lang="en-US" dirty="0"/>
              <a:t>"My goals for next year are..."</a:t>
            </a:r>
          </a:p>
          <a:p>
            <a:pPr lvl="1"/>
            <a:r>
              <a:rPr lang="en-US" dirty="0"/>
              <a:t>This is where the work from Part 1 (Choosing Goals) comes in!</a:t>
            </a:r>
          </a:p>
          <a:p>
            <a:r>
              <a:rPr lang="en-US" b="1" dirty="0"/>
              <a:t>Ask questions if you don't understand</a:t>
            </a:r>
            <a:r>
              <a:rPr lang="en-US" dirty="0"/>
              <a:t> </a:t>
            </a:r>
          </a:p>
          <a:p>
            <a:pPr lvl="1"/>
            <a:r>
              <a:rPr lang="en-US" dirty="0"/>
              <a:t>"Can you explain what that means?"</a:t>
            </a:r>
          </a:p>
          <a:p>
            <a:pPr lvl="1"/>
            <a:r>
              <a:rPr lang="en-US" dirty="0"/>
              <a:t>Self-advocacy skill—knowing when you need clarification</a:t>
            </a:r>
          </a:p>
          <a:p>
            <a:r>
              <a:rPr lang="en-US" b="1" dirty="0"/>
              <a:t>Deal with differences in opinion</a:t>
            </a:r>
            <a:r>
              <a:rPr lang="en-US" dirty="0"/>
              <a:t> </a:t>
            </a:r>
          </a:p>
          <a:p>
            <a:pPr lvl="1"/>
            <a:r>
              <a:rPr lang="en-US" dirty="0"/>
              <a:t>"I understand you think X, but I think Y because..."</a:t>
            </a:r>
          </a:p>
          <a:p>
            <a:pPr lvl="1"/>
            <a:r>
              <a:rPr lang="en-US" dirty="0"/>
              <a:t>Respectful disagreement and negotiation skills</a:t>
            </a:r>
          </a:p>
          <a:p>
            <a:r>
              <a:rPr lang="en-US" b="1" dirty="0"/>
              <a:t>State what support you'll need</a:t>
            </a:r>
            <a:r>
              <a:rPr lang="en-US" dirty="0"/>
              <a:t> </a:t>
            </a:r>
          </a:p>
          <a:p>
            <a:pPr lvl="1"/>
            <a:r>
              <a:rPr lang="en-US" dirty="0"/>
              <a:t>"To reach my goals, I'll need help with..."</a:t>
            </a:r>
          </a:p>
          <a:p>
            <a:pPr lvl="1"/>
            <a:r>
              <a:rPr lang="en-US" dirty="0"/>
              <a:t>Identifying and requesting accommodations and services</a:t>
            </a:r>
          </a:p>
          <a:p>
            <a:r>
              <a:rPr lang="en-US" b="1" dirty="0"/>
              <a:t>Summarize your goals</a:t>
            </a:r>
            <a:r>
              <a:rPr lang="en-US" dirty="0"/>
              <a:t> </a:t>
            </a:r>
          </a:p>
          <a:p>
            <a:pPr lvl="1"/>
            <a:r>
              <a:rPr lang="en-US" dirty="0"/>
              <a:t>"So my three main goals are..."</a:t>
            </a:r>
          </a:p>
          <a:p>
            <a:pPr lvl="1"/>
            <a:r>
              <a:rPr lang="en-US" dirty="0"/>
              <a:t>Ensures everyone is on the same page</a:t>
            </a:r>
          </a:p>
          <a:p>
            <a:r>
              <a:rPr lang="en-US" b="1" dirty="0"/>
              <a:t>Close meeting by thanking everyone</a:t>
            </a:r>
            <a:r>
              <a:rPr lang="en-US" dirty="0"/>
              <a:t> </a:t>
            </a:r>
          </a:p>
          <a:p>
            <a:pPr lvl="1"/>
            <a:r>
              <a:rPr lang="en-US" dirty="0"/>
              <a:t>"Thank you all for being part of my team..."</a:t>
            </a:r>
          </a:p>
          <a:p>
            <a:pPr lvl="1"/>
            <a:r>
              <a:rPr lang="en-US" dirty="0"/>
              <a:t>Professional closing</a:t>
            </a:r>
          </a:p>
          <a:p>
            <a:r>
              <a:rPr lang="en-US" b="1" dirty="0"/>
              <a:t>Work on IEP goals all year</a:t>
            </a:r>
            <a:r>
              <a:rPr lang="en-US" dirty="0"/>
              <a:t> </a:t>
            </a:r>
          </a:p>
          <a:p>
            <a:pPr lvl="1"/>
            <a:r>
              <a:rPr lang="en-US" dirty="0"/>
              <a:t>This isn't just about the meeting—it's about ongoing ownership</a:t>
            </a:r>
          </a:p>
          <a:p>
            <a:pPr lvl="1"/>
            <a:r>
              <a:rPr lang="en-US" dirty="0"/>
              <a:t>Students track progress and stay engaged throughout the year</a:t>
            </a:r>
          </a:p>
          <a:p>
            <a:r>
              <a:rPr lang="en-US" b="1" dirty="0"/>
              <a:t>Key Point:</a:t>
            </a:r>
            <a:r>
              <a:rPr lang="en-US" dirty="0"/>
              <a:t> Each of these 11 steps has its own dedicated lesson with multiple 45-minute sessions. Students don't just hear about these steps—they PRACTICE them over and over again.</a:t>
            </a:r>
          </a:p>
          <a:p>
            <a:r>
              <a:rPr lang="en-US" dirty="0"/>
              <a:t>Students use scripts initially, then gradually fade the scripts as they become more comfortable. By the time of their actual IEP meeting, they've done this so many times that it feels natural.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35250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Here's an example of what the </a:t>
            </a:r>
            <a:r>
              <a:rPr lang="en-US" b="1" dirty="0"/>
              <a:t>IEP script</a:t>
            </a:r>
            <a:r>
              <a:rPr lang="en-US" dirty="0"/>
              <a:t> looks like from the Self-Directed IEP Student Workbook.</a:t>
            </a:r>
          </a:p>
          <a:p>
            <a:r>
              <a:rPr lang="en-US" dirty="0"/>
              <a:t>This script helps students work through each section of the IEP meeting with specific prompts and sentence starters. Let's look at what students practice:</a:t>
            </a:r>
          </a:p>
          <a:p>
            <a:r>
              <a:rPr lang="en-US" b="1" dirty="0"/>
              <a:t>Introduction to everyone:</a:t>
            </a:r>
            <a:r>
              <a:rPr lang="en-US" dirty="0"/>
              <a:t> "Hello, my name is ___________. Thank you for coming to my IEP meeting today. I invited you because __________."</a:t>
            </a:r>
          </a:p>
          <a:p>
            <a:r>
              <a:rPr lang="en-US" dirty="0"/>
              <a:t>Students fill in WHY they invited each person. Maybe:</a:t>
            </a:r>
          </a:p>
          <a:p>
            <a:r>
              <a:rPr lang="en-US" dirty="0"/>
              <a:t>"I invited my math teacher because I want to improve in math"</a:t>
            </a:r>
          </a:p>
          <a:p>
            <a:r>
              <a:rPr lang="en-US" dirty="0"/>
              <a:t>"I invited my vocational rehab counselor because I need help finding a job"</a:t>
            </a:r>
          </a:p>
          <a:p>
            <a:r>
              <a:rPr lang="en-US" dirty="0"/>
              <a:t>"I invited my mom because she supports me at home"</a:t>
            </a:r>
          </a:p>
          <a:p>
            <a:r>
              <a:rPr lang="en-US" b="1" dirty="0"/>
              <a:t>Their transition goals for next year:</a:t>
            </a:r>
            <a:r>
              <a:rPr lang="en-US" dirty="0"/>
              <a:t> "After high school, I want to ___________." "Next year, my goals are ___________."</a:t>
            </a:r>
          </a:p>
          <a:p>
            <a:r>
              <a:rPr lang="en-US" dirty="0"/>
              <a:t>Students practice articulating their post-secondary goals clearly and confidently.</a:t>
            </a:r>
          </a:p>
          <a:p>
            <a:r>
              <a:rPr lang="en-US" b="1" dirty="0"/>
              <a:t>Summary of their new goals:</a:t>
            </a:r>
            <a:r>
              <a:rPr lang="en-US" dirty="0"/>
              <a:t> "My three main goals for this year are:</a:t>
            </a:r>
          </a:p>
          <a:p>
            <a:br>
              <a:rPr lang="en-US" dirty="0"/>
            </a:br>
            <a:endParaRPr lang="en-US" dirty="0"/>
          </a:p>
          <a:p>
            <a:br>
              <a:rPr lang="en-US" dirty="0"/>
            </a:br>
            <a:endParaRPr lang="en-US" dirty="0"/>
          </a:p>
          <a:p>
            <a:r>
              <a:rPr lang="en-US" dirty="0"/>
              <a:t>___________"</a:t>
            </a:r>
          </a:p>
          <a:p>
            <a:r>
              <a:rPr lang="en-US" b="1" dirty="0"/>
              <a:t>What support they need:</a:t>
            </a:r>
            <a:r>
              <a:rPr lang="en-US" dirty="0"/>
              <a:t> "To reach these goals, I will need help with ___________."</a:t>
            </a:r>
          </a:p>
          <a:p>
            <a:r>
              <a:rPr lang="en-US" b="1" dirty="0"/>
              <a:t>Closing:</a:t>
            </a:r>
            <a:r>
              <a:rPr lang="en-US" dirty="0"/>
              <a:t> "Thank you all for being part of my team. I'm looking forward to working on these goals this year."</a:t>
            </a:r>
          </a:p>
          <a:p>
            <a:r>
              <a:rPr lang="en-US" b="1" dirty="0"/>
              <a:t>Why scripts are valuable:</a:t>
            </a:r>
            <a:endParaRPr lang="en-US" dirty="0"/>
          </a:p>
          <a:p>
            <a:r>
              <a:rPr lang="en-US" dirty="0"/>
              <a:t>They give students a starting point when they're nervous</a:t>
            </a:r>
          </a:p>
          <a:p>
            <a:r>
              <a:rPr lang="en-US" dirty="0"/>
              <a:t>They ensure all important information gets covered</a:t>
            </a:r>
          </a:p>
          <a:p>
            <a:r>
              <a:rPr lang="en-US" dirty="0"/>
              <a:t>They can be customized to each student's situation</a:t>
            </a:r>
          </a:p>
          <a:p>
            <a:r>
              <a:rPr lang="en-US" dirty="0"/>
              <a:t>They can be faded over time as students gain confidence</a:t>
            </a:r>
          </a:p>
          <a:p>
            <a:r>
              <a:rPr lang="en-US" b="1" dirty="0"/>
              <a:t>Progression:</a:t>
            </a:r>
            <a:endParaRPr lang="en-US" dirty="0"/>
          </a:p>
          <a:p>
            <a:r>
              <a:rPr lang="en-US" dirty="0"/>
              <a:t>First practice: Students read directly from the script</a:t>
            </a:r>
          </a:p>
          <a:p>
            <a:r>
              <a:rPr lang="en-US" dirty="0"/>
              <a:t>Second practice: Students use the script as a guide but add their own words</a:t>
            </a:r>
          </a:p>
          <a:p>
            <a:r>
              <a:rPr lang="en-US" dirty="0"/>
              <a:t>Third practice: Students might just have bullet points</a:t>
            </a:r>
          </a:p>
          <a:p>
            <a:r>
              <a:rPr lang="en-US" dirty="0"/>
              <a:t>Actual IEP meeting: Students lead naturally, maybe with a note card for key points</a:t>
            </a:r>
          </a:p>
          <a:p>
            <a:r>
              <a:rPr lang="en-US" b="1" dirty="0"/>
              <a:t>Differentiation:</a:t>
            </a:r>
            <a:endParaRPr lang="en-US" dirty="0"/>
          </a:p>
          <a:p>
            <a:r>
              <a:rPr lang="en-US" dirty="0"/>
              <a:t>Some students may always use a script—and that's OK!</a:t>
            </a:r>
          </a:p>
          <a:p>
            <a:r>
              <a:rPr lang="en-US" dirty="0"/>
              <a:t>Some students may record a video ahead of time to play at the meeting</a:t>
            </a:r>
          </a:p>
          <a:p>
            <a:r>
              <a:rPr lang="en-US" dirty="0"/>
              <a:t>Some students may have a peer or adult read portions while they contribute what they can</a:t>
            </a:r>
          </a:p>
          <a:p>
            <a:r>
              <a:rPr lang="en-US" dirty="0"/>
              <a:t>The goal is meaningful participation at whatever level the student can manage</a:t>
            </a:r>
          </a:p>
          <a:p>
            <a:r>
              <a:rPr lang="en-US" dirty="0"/>
              <a:t>The key is that students are prepared, confident, and ready to be active participants—or leaders—in their own IEP meetings.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180703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third section is </a:t>
            </a:r>
            <a:r>
              <a:rPr lang="en-US" b="1" dirty="0"/>
              <a:t>Taking Action</a:t>
            </a:r>
            <a:r>
              <a:rPr lang="en-US" dirty="0"/>
              <a:t>.</a:t>
            </a:r>
          </a:p>
          <a:p>
            <a:r>
              <a:rPr lang="en-US" dirty="0"/>
              <a:t>Goals are great, but goals without action are just wishes. This section teaches students to:</a:t>
            </a:r>
          </a:p>
          <a:p>
            <a:r>
              <a:rPr lang="en-US" b="1" dirty="0"/>
              <a:t>Break down big goals into smaller steps:</a:t>
            </a:r>
            <a:endParaRPr lang="en-US" dirty="0"/>
          </a:p>
          <a:p>
            <a:r>
              <a:rPr lang="en-US" dirty="0"/>
              <a:t>If my goal is "get a job," what are the small steps?</a:t>
            </a:r>
          </a:p>
          <a:p>
            <a:r>
              <a:rPr lang="en-US" dirty="0"/>
              <a:t>Apply for jobs, create a resume, practice interviewing, etc.</a:t>
            </a:r>
          </a:p>
          <a:p>
            <a:r>
              <a:rPr lang="en-US" b="1" dirty="0"/>
              <a:t>Monitor their progress:</a:t>
            </a:r>
            <a:endParaRPr lang="en-US" dirty="0"/>
          </a:p>
          <a:p>
            <a:r>
              <a:rPr lang="en-US" dirty="0"/>
              <a:t>How will I know if I'm making progress?</a:t>
            </a:r>
          </a:p>
          <a:p>
            <a:r>
              <a:rPr lang="en-US" dirty="0"/>
              <a:t>What does success look like at each step?</a:t>
            </a:r>
          </a:p>
          <a:p>
            <a:r>
              <a:rPr lang="en-US" b="1" dirty="0"/>
              <a:t>Adjust when things aren't working:</a:t>
            </a:r>
            <a:endParaRPr lang="en-US" dirty="0"/>
          </a:p>
          <a:p>
            <a:r>
              <a:rPr lang="en-US" dirty="0"/>
              <a:t>What do I do if I'm stuck?</a:t>
            </a:r>
          </a:p>
          <a:p>
            <a:r>
              <a:rPr lang="en-US" dirty="0"/>
              <a:t>Who can help me?</a:t>
            </a:r>
          </a:p>
          <a:p>
            <a:r>
              <a:rPr lang="en-US" dirty="0"/>
              <a:t>Do I need to change my approach?</a:t>
            </a:r>
          </a:p>
          <a:p>
            <a:r>
              <a:rPr lang="en-US" b="1" dirty="0"/>
              <a:t>Self-advocate when they need support:</a:t>
            </a:r>
            <a:endParaRPr lang="en-US" dirty="0"/>
          </a:p>
          <a:p>
            <a:r>
              <a:rPr lang="en-US" dirty="0"/>
              <a:t>How do I ask for help?</a:t>
            </a:r>
          </a:p>
          <a:p>
            <a:r>
              <a:rPr lang="en-US" dirty="0"/>
              <a:t>How do I explain what I need?</a:t>
            </a:r>
          </a:p>
          <a:p>
            <a:r>
              <a:rPr lang="en-US" dirty="0"/>
              <a:t>Students complete action plans, track their progress, and reflect on what's working and what's not.</a:t>
            </a:r>
          </a:p>
          <a:p>
            <a:r>
              <a:rPr lang="en-US" b="1" dirty="0"/>
              <a:t>The beauty of </a:t>
            </a:r>
            <a:r>
              <a:rPr lang="en-US" b="1" dirty="0" err="1"/>
              <a:t>ChoiceMaker</a:t>
            </a:r>
            <a:r>
              <a:rPr lang="en-US" b="1" dirty="0"/>
              <a:t>:</a:t>
            </a:r>
            <a:r>
              <a:rPr lang="en-US" dirty="0"/>
              <a:t> By the end of the curriculum, students don't just understand self-determination in theory they've PRACTICED IT. They've set goals, expressed them in mock IEP meetings, and taken action toward achieving them.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81810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Here's an example of one of the worksheets from the Take Action section of </a:t>
            </a:r>
            <a:r>
              <a:rPr lang="en-US" dirty="0" err="1"/>
              <a:t>ChoiceMaker</a:t>
            </a:r>
            <a:r>
              <a:rPr lang="en-US" dirty="0"/>
              <a:t>. This is the </a:t>
            </a:r>
            <a:r>
              <a:rPr lang="en-US" b="1" dirty="0"/>
              <a:t>Breaking Down Long-Term Goals Worksheet</a:t>
            </a:r>
            <a:r>
              <a:rPr lang="en-US" dirty="0"/>
              <a:t>.</a:t>
            </a:r>
          </a:p>
          <a:p>
            <a:r>
              <a:rPr lang="en-US" b="1" dirty="0"/>
              <a:t>How it works:</a:t>
            </a:r>
            <a:endParaRPr lang="en-US" dirty="0"/>
          </a:p>
          <a:p>
            <a:r>
              <a:rPr lang="en-US" dirty="0"/>
              <a:t>At the top of the worksheet, there's a box where students write their </a:t>
            </a:r>
            <a:r>
              <a:rPr lang="en-US" b="1" dirty="0"/>
              <a:t>LONG-TERM GOAL</a:t>
            </a:r>
            <a:r>
              <a:rPr lang="en-US" dirty="0"/>
              <a:t>. This is the big, overarching thing they want to accomplish.</a:t>
            </a:r>
          </a:p>
          <a:p>
            <a:r>
              <a:rPr lang="en-US" dirty="0"/>
              <a:t>Maybe their long-term goal is:</a:t>
            </a:r>
          </a:p>
          <a:p>
            <a:r>
              <a:rPr lang="en-US" dirty="0"/>
              <a:t>"Graduate from high school"</a:t>
            </a:r>
          </a:p>
          <a:p>
            <a:r>
              <a:rPr lang="en-US" dirty="0"/>
              <a:t>"Get a job in the medical field"</a:t>
            </a:r>
          </a:p>
          <a:p>
            <a:r>
              <a:rPr lang="en-US" dirty="0"/>
              <a:t>"Live independently"</a:t>
            </a:r>
          </a:p>
          <a:p>
            <a:r>
              <a:rPr lang="en-US" dirty="0"/>
              <a:t>"Go to college"</a:t>
            </a:r>
          </a:p>
          <a:p>
            <a:r>
              <a:rPr lang="en-US" dirty="0"/>
              <a:t>Then, below that top box, the worksheet has spaces for </a:t>
            </a:r>
            <a:r>
              <a:rPr lang="en-US" b="1" dirty="0"/>
              <a:t>FOUR SHORT-TERM GOALS</a:t>
            </a:r>
            <a:r>
              <a:rPr lang="en-US" dirty="0"/>
              <a:t>. Students break that big long-term goal down into four smaller, more manageable pieces.</a:t>
            </a:r>
          </a:p>
          <a:p>
            <a:r>
              <a:rPr lang="en-US" dirty="0"/>
              <a:t>For example, if the long-term goal is "Get a job in the medical field," the four short-term goals might be:</a:t>
            </a:r>
          </a:p>
          <a:p>
            <a:r>
              <a:rPr lang="en-US" dirty="0"/>
              <a:t>Complete high school health sciences courses</a:t>
            </a:r>
          </a:p>
          <a:p>
            <a:r>
              <a:rPr lang="en-US" dirty="0"/>
              <a:t>Get CPR certified</a:t>
            </a:r>
          </a:p>
          <a:p>
            <a:r>
              <a:rPr lang="en-US" dirty="0"/>
              <a:t>Complete a medical internship or volunteer at a hospital</a:t>
            </a:r>
          </a:p>
          <a:p>
            <a:r>
              <a:rPr lang="en-US" dirty="0"/>
              <a:t>Apply for entry-level medical positions</a:t>
            </a:r>
          </a:p>
          <a:p>
            <a:r>
              <a:rPr lang="en-US" b="1" dirty="0"/>
              <a:t>Then students order those short-term goals:</a:t>
            </a:r>
            <a:r>
              <a:rPr lang="en-US" dirty="0"/>
              <a:t> Which one needs to happen first? Second? Third? Fourth?</a:t>
            </a:r>
          </a:p>
          <a:p>
            <a:r>
              <a:rPr lang="en-US" dirty="0"/>
              <a:t>This teaches students that big goals don't just happen—they happen through a series of smaller, sequential steps. You can't apply for medical positions before you have the skills and experience. You need to build toward that big goal systematically.</a:t>
            </a:r>
          </a:p>
          <a:p>
            <a:r>
              <a:rPr lang="en-US" b="1" dirty="0"/>
              <a:t>What else happens on this worksheet:</a:t>
            </a:r>
            <a:r>
              <a:rPr lang="en-US" dirty="0"/>
              <a:t> Students also think through:</a:t>
            </a:r>
          </a:p>
          <a:p>
            <a:r>
              <a:rPr lang="en-US" b="1" dirty="0"/>
              <a:t>Timeline:</a:t>
            </a:r>
            <a:r>
              <a:rPr lang="en-US" dirty="0"/>
              <a:t> When will I accomplish each short-term goal?</a:t>
            </a:r>
          </a:p>
          <a:p>
            <a:r>
              <a:rPr lang="en-US" b="1" dirty="0"/>
              <a:t>Dependencies:</a:t>
            </a:r>
            <a:r>
              <a:rPr lang="en-US" dirty="0"/>
              <a:t> Does one goal need to be completed before another can start?</a:t>
            </a:r>
          </a:p>
          <a:p>
            <a:r>
              <a:rPr lang="en-US" b="1" dirty="0"/>
              <a:t>Resources needed:</a:t>
            </a:r>
            <a:r>
              <a:rPr lang="en-US" dirty="0"/>
              <a:t> What do I need to accomplish each short-term goal?</a:t>
            </a:r>
          </a:p>
          <a:p>
            <a:r>
              <a:rPr lang="en-US" dirty="0"/>
              <a:t>This worksheet visually shows the FLOW from long-term goal → short-term goals → ordered action steps.</a:t>
            </a:r>
          </a:p>
          <a:p>
            <a:r>
              <a:rPr lang="en-US" dirty="0"/>
              <a:t>It takes something that might feel overwhelming ("I want to get a job in the medical field—where do I even start?!") and makes it concrete and actionable.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21648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let's look at the second worksheet example. This shows how students take ONE of those short-term goals and create a complete </a:t>
            </a:r>
            <a:r>
              <a:rPr lang="en-US" b="1" dirty="0"/>
              <a:t>Student Plan</a:t>
            </a:r>
            <a:r>
              <a:rPr lang="en-US" dirty="0"/>
              <a:t> for achieving it.</a:t>
            </a:r>
          </a:p>
          <a:p>
            <a:r>
              <a:rPr lang="en-US" b="1" dirty="0"/>
              <a:t>The Process:</a:t>
            </a:r>
            <a:endParaRPr lang="en-US" dirty="0"/>
          </a:p>
          <a:p>
            <a:r>
              <a:rPr lang="en-US" dirty="0"/>
              <a:t>First, students have already identified their </a:t>
            </a:r>
            <a:r>
              <a:rPr lang="en-US" b="1" dirty="0"/>
              <a:t>long-term goal</a:t>
            </a:r>
            <a:r>
              <a:rPr lang="en-US" dirty="0"/>
              <a:t> (from the previous worksheet).</a:t>
            </a:r>
          </a:p>
          <a:p>
            <a:r>
              <a:rPr lang="en-US" dirty="0"/>
              <a:t>Then they've </a:t>
            </a:r>
            <a:r>
              <a:rPr lang="en-US" b="1" dirty="0"/>
              <a:t>chosen ONE of their short-term goals</a:t>
            </a:r>
            <a:r>
              <a:rPr lang="en-US" dirty="0"/>
              <a:t> to focus on. Let's use the example from the worksheet: </a:t>
            </a:r>
            <a:r>
              <a:rPr lang="en-US" b="1" dirty="0"/>
              <a:t>Learning to drive</a:t>
            </a:r>
            <a:r>
              <a:rPr lang="en-US" dirty="0"/>
              <a:t>.</a:t>
            </a:r>
          </a:p>
          <a:p>
            <a:r>
              <a:rPr lang="en-US" dirty="0"/>
              <a:t>Now students work through a detailed planning process by answering specific questions:</a:t>
            </a:r>
          </a:p>
          <a:p>
            <a:r>
              <a:rPr lang="en-US" b="1" dirty="0"/>
              <a:t>1. What am I going to be satisfied with?</a:t>
            </a:r>
            <a:r>
              <a:rPr lang="en-US" dirty="0"/>
              <a:t> "I'm going to be satisfied when I learn to drive."</a:t>
            </a:r>
          </a:p>
          <a:p>
            <a:r>
              <a:rPr lang="en-US" dirty="0"/>
              <a:t>This is the concrete outcome—what does success look like for this short-term goal?</a:t>
            </a:r>
          </a:p>
          <a:p>
            <a:r>
              <a:rPr lang="en-US" b="1" dirty="0"/>
              <a:t>2. Why do I want to do this?</a:t>
            </a:r>
            <a:r>
              <a:rPr lang="en-US" dirty="0"/>
              <a:t> "I want to get my driver's license and be more independent."</a:t>
            </a:r>
          </a:p>
          <a:p>
            <a:r>
              <a:rPr lang="en-US" dirty="0"/>
              <a:t>Students articulate their MOTIVATION. This is crucial because when things get hard, remembering WHY you want something helps you persist.</a:t>
            </a:r>
          </a:p>
          <a:p>
            <a:r>
              <a:rPr lang="en-US" dirty="0"/>
              <a:t>In this case: "I want to be more independent and not rely on others for rides."</a:t>
            </a:r>
          </a:p>
          <a:p>
            <a:r>
              <a:rPr lang="en-US" b="1" dirty="0"/>
              <a:t>3. What method should I use?</a:t>
            </a:r>
            <a:r>
              <a:rPr lang="en-US" dirty="0"/>
              <a:t> "I'm going to take a driver's ed class with my school."</a:t>
            </a:r>
          </a:p>
          <a:p>
            <a:r>
              <a:rPr lang="en-US" dirty="0"/>
              <a:t>Or maybe: "I'm going to take private driving lessons."</a:t>
            </a:r>
          </a:p>
          <a:p>
            <a:r>
              <a:rPr lang="en-US" dirty="0"/>
              <a:t>Students identify the STRATEGY or APPROACH they'll use to accomplish this goal.</a:t>
            </a:r>
          </a:p>
          <a:p>
            <a:r>
              <a:rPr lang="en-US" b="1" dirty="0"/>
              <a:t>4. When will I do this?</a:t>
            </a:r>
            <a:r>
              <a:rPr lang="en-US" dirty="0"/>
              <a:t> "I'm going to do this next semester."</a:t>
            </a:r>
          </a:p>
          <a:p>
            <a:r>
              <a:rPr lang="en-US" dirty="0"/>
              <a:t>Specific timeline. Not "someday" or "eventually"—NEXT SEMESTER. This creates accountability.</a:t>
            </a:r>
          </a:p>
          <a:p>
            <a:r>
              <a:rPr lang="en-US" b="1" dirty="0"/>
              <a:t>5. What help do I need?</a:t>
            </a:r>
            <a:r>
              <a:rPr lang="en-US" dirty="0"/>
              <a:t> "I need my teacher, I need my parents, I need DRS to help me."</a:t>
            </a:r>
          </a:p>
          <a:p>
            <a:r>
              <a:rPr lang="en-US" dirty="0"/>
              <a:t>Students identify their SUPPORT SYSTEM. Who needs to be involved? What resources do they need?</a:t>
            </a:r>
          </a:p>
          <a:p>
            <a:r>
              <a:rPr lang="en-US" dirty="0"/>
              <a:t>Teacher: To help me enroll in driver's ed</a:t>
            </a:r>
          </a:p>
          <a:p>
            <a:r>
              <a:rPr lang="en-US" dirty="0"/>
              <a:t>Parents: To practice with me and help pay for the class</a:t>
            </a:r>
          </a:p>
          <a:p>
            <a:r>
              <a:rPr lang="en-US" dirty="0"/>
              <a:t>DRS (Division of Rehabilitation Services): Might provide adaptive equipment if needed</a:t>
            </a:r>
          </a:p>
          <a:p>
            <a:r>
              <a:rPr lang="en-US" b="1" dirty="0"/>
              <a:t>6. How will I get information on my performance? How am I going to evaluate it?</a:t>
            </a:r>
            <a:r>
              <a:rPr lang="en-US" dirty="0"/>
              <a:t> "I'll know I've learned how to drive when I pass driver's ed and get my license."</a:t>
            </a:r>
          </a:p>
          <a:p>
            <a:r>
              <a:rPr lang="en-US" dirty="0"/>
              <a:t>This is the MEASUREMENT piece. How will I know I've succeeded? What's the evidence?</a:t>
            </a:r>
          </a:p>
          <a:p>
            <a:r>
              <a:rPr lang="en-US" b="1" dirty="0"/>
              <a:t>Why This Student Plan Format is So Powerful:</a:t>
            </a:r>
            <a:endParaRPr lang="en-US" dirty="0"/>
          </a:p>
          <a:p>
            <a:r>
              <a:rPr lang="en-US" dirty="0"/>
              <a:t>This isn't vague goal-setting. Students are answering:</a:t>
            </a:r>
          </a:p>
          <a:p>
            <a:r>
              <a:rPr lang="en-US" dirty="0"/>
              <a:t>WHAT (the goal)</a:t>
            </a:r>
          </a:p>
          <a:p>
            <a:r>
              <a:rPr lang="en-US" dirty="0"/>
              <a:t>WHY (the motivation)</a:t>
            </a:r>
          </a:p>
          <a:p>
            <a:r>
              <a:rPr lang="en-US" dirty="0"/>
              <a:t>HOW (the method)</a:t>
            </a:r>
          </a:p>
          <a:p>
            <a:r>
              <a:rPr lang="en-US" dirty="0"/>
              <a:t>WHEN (the timeline)</a:t>
            </a:r>
          </a:p>
          <a:p>
            <a:r>
              <a:rPr lang="en-US" dirty="0"/>
              <a:t>WHO (the support)</a:t>
            </a:r>
          </a:p>
          <a:p>
            <a:r>
              <a:rPr lang="en-US" dirty="0"/>
              <a:t>HOW WILL I KNOW (the measurement)</a:t>
            </a:r>
          </a:p>
          <a:p>
            <a:r>
              <a:rPr lang="en-US" dirty="0"/>
              <a:t>This is the EXACT process students will use for ANY goal—academic, employment, independent living, or community participation.</a:t>
            </a:r>
          </a:p>
          <a:p>
            <a:r>
              <a:rPr lang="en-US" b="1" dirty="0"/>
              <a:t>Examples of other short-term goals students might create Student Plans for:</a:t>
            </a:r>
            <a:endParaRPr lang="en-US" dirty="0"/>
          </a:p>
          <a:p>
            <a:r>
              <a:rPr lang="en-US" dirty="0"/>
              <a:t>"Improve my reading grade from a C to a B"</a:t>
            </a:r>
          </a:p>
          <a:p>
            <a:r>
              <a:rPr lang="en-US" dirty="0"/>
              <a:t>"Complete my job application portfolio"</a:t>
            </a:r>
          </a:p>
          <a:p>
            <a:r>
              <a:rPr lang="en-US" dirty="0"/>
              <a:t>"Learn to use public transportation independently"</a:t>
            </a:r>
          </a:p>
          <a:p>
            <a:r>
              <a:rPr lang="en-US" dirty="0"/>
              <a:t>"Save $500 for post-secondary expenses"</a:t>
            </a:r>
          </a:p>
          <a:p>
            <a:r>
              <a:rPr lang="en-US" dirty="0"/>
              <a:t>Each one would go through this same structured planning process.</a:t>
            </a:r>
          </a:p>
          <a:p>
            <a:r>
              <a:rPr lang="en-US" b="1" dirty="0"/>
              <a:t>Connection to the IEP:</a:t>
            </a:r>
            <a:endParaRPr lang="en-US" dirty="0"/>
          </a:p>
          <a:p>
            <a:r>
              <a:rPr lang="en-US" dirty="0"/>
              <a:t>Do you see how this directly connects to IEP goals? Students who go through this process can:</a:t>
            </a:r>
          </a:p>
          <a:p>
            <a:r>
              <a:rPr lang="en-US" dirty="0"/>
              <a:t>Articulate their goals clearly</a:t>
            </a:r>
          </a:p>
          <a:p>
            <a:r>
              <a:rPr lang="en-US" dirty="0"/>
              <a:t>Explain WHY the goal matters to them (motivation = engagement)</a:t>
            </a:r>
          </a:p>
          <a:p>
            <a:r>
              <a:rPr lang="en-US" dirty="0"/>
              <a:t>Identify what support they need (self-advocacy)</a:t>
            </a:r>
          </a:p>
          <a:p>
            <a:r>
              <a:rPr lang="en-US" dirty="0"/>
              <a:t>Monitor their own progress (self-evaluation)</a:t>
            </a:r>
          </a:p>
          <a:p>
            <a:r>
              <a:rPr lang="en-US" dirty="0"/>
              <a:t>By the time students get to their IEP meeting, they're not passively listening to adults talk about goals—they're PREPARED to discuss their goals, their progress, and what they need to succeed.</a:t>
            </a:r>
          </a:p>
          <a:p>
            <a:r>
              <a:rPr lang="en-US" b="1" dirty="0"/>
              <a:t>Key Takeaway:</a:t>
            </a:r>
            <a:r>
              <a:rPr lang="en-US" dirty="0"/>
              <a:t> The Take Action section of </a:t>
            </a:r>
            <a:r>
              <a:rPr lang="en-US" dirty="0" err="1"/>
              <a:t>ChoiceMaker</a:t>
            </a:r>
            <a:r>
              <a:rPr lang="en-US" dirty="0"/>
              <a:t> transforms students from goal-receivers to goal-setters and goal-achievers. They're not just choosing goals (Part 1) and expressing them (Part 2)—they're actually DOING something about them (Part 3).</a:t>
            </a:r>
          </a:p>
          <a:p>
            <a:pPr marL="0" indent="0">
              <a:buNone/>
            </a:pPr>
            <a:endParaRPr dirty="0"/>
          </a:p>
        </p:txBody>
      </p:sp>
    </p:spTree>
    <p:extLst>
      <p:ext uri="{BB962C8B-B14F-4D97-AF65-F5344CB8AC3E}">
        <p14:creationId xmlns:p14="http://schemas.microsoft.com/office/powerpoint/2010/main" val="4217914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pause the video and spend about 7-10 minutes exploring the </a:t>
            </a:r>
            <a:r>
              <a:rPr lang="en-US" dirty="0" err="1"/>
              <a:t>ChoiceMaker</a:t>
            </a:r>
            <a:r>
              <a:rPr lang="en-US" dirty="0"/>
              <a:t> curriculum. You can access it through the QR code or link provided.</a:t>
            </a:r>
          </a:p>
          <a:p>
            <a:r>
              <a:rPr lang="en-US" dirty="0"/>
              <a:t>Focus on one section that interests you most:</a:t>
            </a:r>
          </a:p>
          <a:p>
            <a:r>
              <a:rPr lang="en-US" b="1" dirty="0"/>
              <a:t>Choosing Goals</a:t>
            </a:r>
            <a:r>
              <a:rPr lang="en-US" dirty="0"/>
              <a:t> - How students identify their interests, skills, and limits</a:t>
            </a:r>
          </a:p>
          <a:p>
            <a:r>
              <a:rPr lang="en-US" b="1" dirty="0"/>
              <a:t>Self-Directed IEP</a:t>
            </a:r>
            <a:r>
              <a:rPr lang="en-US" dirty="0"/>
              <a:t> - The 11 steps of leading an IEP meeting</a:t>
            </a:r>
          </a:p>
          <a:p>
            <a:r>
              <a:rPr lang="en-US" b="1" dirty="0"/>
              <a:t>Taking Action</a:t>
            </a:r>
            <a:r>
              <a:rPr lang="en-US" dirty="0"/>
              <a:t> - Breaking down goals and monitoring progress</a:t>
            </a:r>
          </a:p>
          <a:p>
            <a:r>
              <a:rPr lang="en-US" dirty="0"/>
              <a:t>As you explore, think about:</a:t>
            </a:r>
          </a:p>
          <a:p>
            <a:r>
              <a:rPr lang="en-US" dirty="0"/>
              <a:t>How could you use one of these activities in your own classroom?</a:t>
            </a:r>
          </a:p>
          <a:p>
            <a:r>
              <a:rPr lang="en-US" dirty="0"/>
              <a:t>Which students would benefit most from this curriculum?</a:t>
            </a:r>
          </a:p>
          <a:p>
            <a:r>
              <a:rPr lang="en-US" dirty="0"/>
              <a:t>What resources or support would you need to implement it?</a:t>
            </a:r>
          </a:p>
          <a:p>
            <a:r>
              <a:rPr lang="en-US" dirty="0"/>
              <a:t>You might even practice the goal-setting framework for </a:t>
            </a:r>
            <a:r>
              <a:rPr lang="en-US" dirty="0" err="1"/>
              <a:t>yourselfâ</a:t>
            </a:r>
            <a:r>
              <a:rPr lang="en-US" dirty="0"/>
              <a:t>€”set a personal or professional goal using the </a:t>
            </a:r>
            <a:r>
              <a:rPr lang="en-US" dirty="0" err="1"/>
              <a:t>ChoiceMaker</a:t>
            </a:r>
            <a:r>
              <a:rPr lang="en-US" dirty="0"/>
              <a:t> process. This will help you better understand how to facilitate it with students.</a:t>
            </a:r>
          </a:p>
          <a:p>
            <a:r>
              <a:rPr lang="en-US" dirty="0"/>
              <a:t>Resume the video when you've finished exploring.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55205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Self-Determined Learning Model of Instruction </a:t>
            </a:r>
            <a:r>
              <a:rPr lang="en-US" dirty="0"/>
              <a:t>SDLMI is another evidence-based curriculum for teaching self-determination.</a:t>
            </a:r>
          </a:p>
          <a:p>
            <a:r>
              <a:rPr lang="en-US" b="1" dirty="0"/>
              <a:t>Key features:</a:t>
            </a:r>
            <a:endParaRPr lang="en-US" dirty="0"/>
          </a:p>
          <a:p>
            <a:r>
              <a:rPr lang="en-US" b="1" dirty="0"/>
              <a:t>15 minutes, twice a week</a:t>
            </a:r>
            <a:r>
              <a:rPr lang="en-US" dirty="0"/>
              <a:t> (or 15-30 minutes for students with more significant support needs)</a:t>
            </a:r>
          </a:p>
          <a:p>
            <a:r>
              <a:rPr lang="en-US" dirty="0"/>
              <a:t>FREE curriculum</a:t>
            </a:r>
          </a:p>
          <a:p>
            <a:r>
              <a:rPr lang="en-US" dirty="0"/>
              <a:t>Very similar structure to </a:t>
            </a:r>
            <a:r>
              <a:rPr lang="en-US" dirty="0" err="1"/>
              <a:t>ChoiceMaker</a:t>
            </a:r>
            <a:endParaRPr lang="en-US" dirty="0"/>
          </a:p>
          <a:p>
            <a:r>
              <a:rPr lang="en-US" dirty="0"/>
              <a:t>Focuses on goal-setting and attainment</a:t>
            </a:r>
          </a:p>
          <a:p>
            <a:r>
              <a:rPr lang="en-US" dirty="0"/>
              <a:t>SDLMI has </a:t>
            </a:r>
            <a:r>
              <a:rPr lang="en-US" b="1" dirty="0"/>
              <a:t>three phases:</a:t>
            </a:r>
            <a:endParaRPr lang="en-US" dirty="0"/>
          </a:p>
          <a:p>
            <a:r>
              <a:rPr lang="en-US" b="1" dirty="0"/>
              <a:t>Set a goal</a:t>
            </a:r>
            <a:endParaRPr lang="en-US" dirty="0"/>
          </a:p>
          <a:p>
            <a:r>
              <a:rPr lang="en-US" b="1" dirty="0"/>
              <a:t>Take action</a:t>
            </a:r>
            <a:endParaRPr lang="en-US" dirty="0"/>
          </a:p>
          <a:p>
            <a:r>
              <a:rPr lang="en-US" b="1" dirty="0"/>
              <a:t>Adjust the goal</a:t>
            </a:r>
            <a:endParaRPr lang="en-US" dirty="0"/>
          </a:p>
          <a:p>
            <a:r>
              <a:rPr lang="en-US" dirty="0"/>
              <a:t>What I love about SDLMI is that it's designed to be infused across academics. The goal students work on can be:</a:t>
            </a:r>
          </a:p>
          <a:p>
            <a:r>
              <a:rPr lang="en-US" dirty="0"/>
              <a:t>Academic (improve my reading fluency)</a:t>
            </a:r>
          </a:p>
          <a:p>
            <a:r>
              <a:rPr lang="en-US" dirty="0"/>
              <a:t>Behavioral (reduce off-task behavior)</a:t>
            </a:r>
          </a:p>
          <a:p>
            <a:r>
              <a:rPr lang="en-US" dirty="0"/>
              <a:t>Social (make two new friends)</a:t>
            </a:r>
          </a:p>
          <a:p>
            <a:r>
              <a:rPr lang="en-US" dirty="0"/>
              <a:t>Transition-related (research three colleges)</a:t>
            </a:r>
          </a:p>
          <a:p>
            <a:r>
              <a:rPr lang="en-US" dirty="0"/>
              <a:t>You're not adding a separate class you're adding a framework for how students approach ANY goal.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57999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Phase 1: Set a Goal</a:t>
            </a:r>
            <a:endParaRPr lang="en-US" dirty="0"/>
          </a:p>
          <a:p>
            <a:r>
              <a:rPr lang="en-US" dirty="0"/>
              <a:t>In this phase, students answer three questions:</a:t>
            </a:r>
          </a:p>
          <a:p>
            <a:r>
              <a:rPr lang="en-US" b="1" dirty="0"/>
              <a:t>Question 1: What do I want to learn or improve?</a:t>
            </a:r>
            <a:endParaRPr lang="en-US" dirty="0"/>
          </a:p>
          <a:p>
            <a:r>
              <a:rPr lang="en-US" dirty="0"/>
              <a:t>Students identify an area of interest or need</a:t>
            </a:r>
          </a:p>
          <a:p>
            <a:r>
              <a:rPr lang="en-US" dirty="0"/>
              <a:t>Maybe they want to improve in a specific class</a:t>
            </a:r>
          </a:p>
          <a:p>
            <a:r>
              <a:rPr lang="en-US" dirty="0"/>
              <a:t>Maybe they want to learn a new skill</a:t>
            </a:r>
          </a:p>
          <a:p>
            <a:r>
              <a:rPr lang="en-US" b="1" dirty="0"/>
              <a:t>Question 2: What do I know about it now?</a:t>
            </a:r>
            <a:endParaRPr lang="en-US" dirty="0"/>
          </a:p>
          <a:p>
            <a:r>
              <a:rPr lang="en-US" dirty="0"/>
              <a:t>Students assess their current level</a:t>
            </a:r>
          </a:p>
          <a:p>
            <a:r>
              <a:rPr lang="en-US" dirty="0"/>
              <a:t>What can I already do?</a:t>
            </a:r>
          </a:p>
          <a:p>
            <a:r>
              <a:rPr lang="en-US" dirty="0"/>
              <a:t>What do I understand?</a:t>
            </a:r>
          </a:p>
          <a:p>
            <a:r>
              <a:rPr lang="en-US" dirty="0"/>
              <a:t>What's still confusing?</a:t>
            </a:r>
          </a:p>
          <a:p>
            <a:r>
              <a:rPr lang="en-US" b="1" dirty="0"/>
              <a:t>Question 3: What must change for me to learn what I don't know?</a:t>
            </a:r>
            <a:endParaRPr lang="en-US" dirty="0"/>
          </a:p>
          <a:p>
            <a:r>
              <a:rPr lang="en-US" dirty="0"/>
              <a:t>Students identify gaps</a:t>
            </a:r>
          </a:p>
          <a:p>
            <a:r>
              <a:rPr lang="en-US" dirty="0"/>
              <a:t>What's missing?</a:t>
            </a:r>
          </a:p>
          <a:p>
            <a:r>
              <a:rPr lang="en-US" dirty="0"/>
              <a:t>What needs to happen?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70182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Here's an example two different worksheets, one from phase 1 and one from phase 2. </a:t>
            </a:r>
          </a:p>
          <a:p>
            <a:r>
              <a:rPr lang="en-US" dirty="0"/>
              <a:t>In Phase 1: Student identifies: "I want to improve in math class"</a:t>
            </a:r>
          </a:p>
          <a:p>
            <a:r>
              <a:rPr lang="en-US" dirty="0"/>
              <a:t>Current knowledge: "I'm good at addition and subtraction, but I struggle with word problems"</a:t>
            </a:r>
          </a:p>
          <a:p>
            <a:r>
              <a:rPr lang="en-US" dirty="0"/>
              <a:t>What must change: "I need to practice word problems more and learn strategies for breaking them down"</a:t>
            </a:r>
          </a:p>
          <a:p>
            <a:r>
              <a:rPr lang="en-US" dirty="0"/>
              <a:t>This is VERY scaffolded. Students aren't just vaguely saying "I want to do better." They're being specific and analytical.</a:t>
            </a:r>
          </a:p>
          <a:p>
            <a:r>
              <a:rPr lang="en-US" dirty="0"/>
              <a:t>Now students answer three MORE questions:</a:t>
            </a:r>
          </a:p>
          <a:p>
            <a:r>
              <a:rPr lang="en-US" b="1" dirty="0"/>
              <a:t>Question 1: What can I do to learn what I don't know?</a:t>
            </a:r>
            <a:endParaRPr lang="en-US" dirty="0"/>
          </a:p>
          <a:p>
            <a:r>
              <a:rPr lang="en-US" dirty="0"/>
              <a:t>Students identify specific actions</a:t>
            </a:r>
          </a:p>
          <a:p>
            <a:r>
              <a:rPr lang="en-US" dirty="0"/>
              <a:t>"I can practice three word problems every day"</a:t>
            </a:r>
          </a:p>
          <a:p>
            <a:r>
              <a:rPr lang="en-US" dirty="0"/>
              <a:t>"I can ask my teacher to show me a strategy"</a:t>
            </a:r>
          </a:p>
          <a:p>
            <a:r>
              <a:rPr lang="en-US" dirty="0"/>
              <a:t>"I can work with a peer tutor"</a:t>
            </a:r>
          </a:p>
          <a:p>
            <a:r>
              <a:rPr lang="en-US" b="1" dirty="0"/>
              <a:t>Question 2: What could keep me from taking action?</a:t>
            </a:r>
            <a:endParaRPr lang="en-US" dirty="0"/>
          </a:p>
          <a:p>
            <a:r>
              <a:rPr lang="en-US" dirty="0"/>
              <a:t>Students identify potential barriers</a:t>
            </a:r>
          </a:p>
          <a:p>
            <a:r>
              <a:rPr lang="en-US" dirty="0"/>
              <a:t>"I might forget to practice"</a:t>
            </a:r>
          </a:p>
          <a:p>
            <a:r>
              <a:rPr lang="en-US" dirty="0"/>
              <a:t>"I might not understand the teacher's explanation"</a:t>
            </a:r>
          </a:p>
          <a:p>
            <a:r>
              <a:rPr lang="en-US" dirty="0"/>
              <a:t>"I might get frustrated and give up"</a:t>
            </a:r>
          </a:p>
          <a:p>
            <a:r>
              <a:rPr lang="en-US" b="1" dirty="0"/>
              <a:t>Question 3: What can I do to remove those barriers?</a:t>
            </a:r>
            <a:endParaRPr lang="en-US" dirty="0"/>
          </a:p>
          <a:p>
            <a:r>
              <a:rPr lang="en-US" dirty="0"/>
              <a:t>Students problem-solve</a:t>
            </a:r>
          </a:p>
          <a:p>
            <a:r>
              <a:rPr lang="en-US" dirty="0"/>
              <a:t>"I can set a reminder on my phone"</a:t>
            </a:r>
          </a:p>
          <a:p>
            <a:r>
              <a:rPr lang="en-US" dirty="0"/>
              <a:t>"I can ask for the explanation to be written down"</a:t>
            </a:r>
          </a:p>
          <a:p>
            <a:r>
              <a:rPr lang="en-US" dirty="0"/>
              <a:t>"I can take breaks when I'm frustrated"</a:t>
            </a:r>
          </a:p>
          <a:p>
            <a:r>
              <a:rPr lang="en-US" dirty="0"/>
              <a:t>Here's an example worksheet from Phase 2:</a:t>
            </a:r>
          </a:p>
          <a:p>
            <a:r>
              <a:rPr lang="en-US" dirty="0"/>
              <a:t>Student writes: "I can practice word problems during bell ringer time and ask my teacher for help when I'm stuck."</a:t>
            </a:r>
          </a:p>
          <a:p>
            <a:r>
              <a:rPr lang="en-US" dirty="0"/>
              <a:t>Potential barriers: "I might not understand what the problem is asking."</a:t>
            </a:r>
          </a:p>
          <a:p>
            <a:r>
              <a:rPr lang="en-US" dirty="0"/>
              <a:t>Solution: "I can underline key words and rewrite the problem in my own words first."</a:t>
            </a:r>
          </a:p>
          <a:p>
            <a:r>
              <a:rPr lang="en-US" dirty="0"/>
              <a:t>Notice how this teaches META-COGNITION thinking about thinking, planning about planning. These are executive functioning skills that benefit students across ALL areas.</a:t>
            </a:r>
          </a:p>
          <a:p>
            <a:r>
              <a:rPr lang="en-US" dirty="0"/>
              <a:t>The final phase is about reflection and adjustment. Students answer:</a:t>
            </a:r>
          </a:p>
          <a:p>
            <a:r>
              <a:rPr lang="en-US" b="1" dirty="0"/>
              <a:t>Question 1: What actions did I take?</a:t>
            </a:r>
            <a:endParaRPr lang="en-US" dirty="0"/>
          </a:p>
          <a:p>
            <a:r>
              <a:rPr lang="en-US" dirty="0"/>
              <a:t>Students document what they actually did</a:t>
            </a:r>
          </a:p>
          <a:p>
            <a:r>
              <a:rPr lang="en-US" dirty="0"/>
              <a:t>Did I follow my plan?</a:t>
            </a:r>
          </a:p>
          <a:p>
            <a:r>
              <a:rPr lang="en-US" dirty="0"/>
              <a:t>What did I do consistently?</a:t>
            </a:r>
          </a:p>
          <a:p>
            <a:r>
              <a:rPr lang="en-US" dirty="0"/>
              <a:t>What did I skip?</a:t>
            </a:r>
          </a:p>
          <a:p>
            <a:r>
              <a:rPr lang="en-US" b="1" dirty="0"/>
              <a:t>Question 2: What barriers did I experience?</a:t>
            </a:r>
            <a:endParaRPr lang="en-US" dirty="0"/>
          </a:p>
          <a:p>
            <a:r>
              <a:rPr lang="en-US" dirty="0"/>
              <a:t>Students identify what got in the way</a:t>
            </a:r>
          </a:p>
          <a:p>
            <a:r>
              <a:rPr lang="en-US" dirty="0"/>
              <a:t>Were the barriers I predicted accurate?</a:t>
            </a:r>
          </a:p>
          <a:p>
            <a:r>
              <a:rPr lang="en-US" dirty="0"/>
              <a:t>Were there unexpected barriers?</a:t>
            </a:r>
          </a:p>
          <a:p>
            <a:r>
              <a:rPr lang="en-US" b="1" dirty="0"/>
              <a:t>Question 3: What will I do next?</a:t>
            </a:r>
            <a:endParaRPr lang="en-US" dirty="0"/>
          </a:p>
          <a:p>
            <a:r>
              <a:rPr lang="en-US" dirty="0"/>
              <a:t>Students adjust their approach</a:t>
            </a:r>
          </a:p>
          <a:p>
            <a:r>
              <a:rPr lang="en-US" dirty="0"/>
              <a:t>Keep doing what's working</a:t>
            </a:r>
          </a:p>
          <a:p>
            <a:r>
              <a:rPr lang="en-US" dirty="0"/>
              <a:t>Change what's not working</a:t>
            </a:r>
          </a:p>
          <a:p>
            <a:r>
              <a:rPr lang="en-US" dirty="0"/>
              <a:t>Set a new goal OR continue with the same goal using a new strategy</a:t>
            </a:r>
          </a:p>
          <a:p>
            <a:r>
              <a:rPr lang="en-US" dirty="0"/>
              <a:t>This phase teaches students that goals aren't </a:t>
            </a:r>
            <a:r>
              <a:rPr lang="en-US" dirty="0" err="1"/>
              <a:t>staticâ</a:t>
            </a:r>
            <a:r>
              <a:rPr lang="en-US" dirty="0"/>
              <a:t>€”they evolve. And that's OKAY. We don't expect perfection; we expect growth and adjustment.</a:t>
            </a:r>
          </a:p>
          <a:p>
            <a:r>
              <a:rPr lang="en-US" b="1" dirty="0"/>
              <a:t>The cycle repeats:</a:t>
            </a:r>
            <a:r>
              <a:rPr lang="en-US" dirty="0"/>
              <a:t> After Phase 3, students go back to Phase 1 with a new or adjusted goal. SDLMI is ongoing throughout the semester or year.</a:t>
            </a:r>
          </a:p>
          <a:p>
            <a:r>
              <a:rPr lang="en-US" b="1" dirty="0"/>
              <a:t>Why SDLMI works:</a:t>
            </a:r>
            <a:endParaRPr lang="en-US" dirty="0"/>
          </a:p>
          <a:p>
            <a:r>
              <a:rPr lang="en-US" dirty="0"/>
              <a:t>Students are working on goals that matter to THEM</a:t>
            </a:r>
          </a:p>
          <a:p>
            <a:r>
              <a:rPr lang="en-US" dirty="0"/>
              <a:t>The structure is predictable and repetitive</a:t>
            </a:r>
          </a:p>
          <a:p>
            <a:r>
              <a:rPr lang="en-US" dirty="0"/>
              <a:t>It builds executive functioning skills</a:t>
            </a:r>
          </a:p>
          <a:p>
            <a:r>
              <a:rPr lang="en-US" dirty="0"/>
              <a:t>It's applicable to any content area</a:t>
            </a:r>
          </a:p>
          <a:p>
            <a:r>
              <a:rPr lang="en-US" dirty="0"/>
              <a:t>It's FREE!</a:t>
            </a:r>
          </a:p>
          <a:p>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131518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it's time to experience SDLMI firsthand. </a:t>
            </a:r>
            <a:r>
              <a:rPr lang="en-US" b="1" dirty="0"/>
              <a:t>Pause the video here</a:t>
            </a:r>
            <a:r>
              <a:rPr lang="en-US" dirty="0"/>
              <a:t> and work through Phase 1 of SDLMI with a personal or professional goal.</a:t>
            </a:r>
          </a:p>
          <a:p>
            <a:r>
              <a:rPr lang="en-US" b="1" dirty="0"/>
              <a:t>Here's your task:</a:t>
            </a:r>
            <a:endParaRPr lang="en-US" dirty="0"/>
          </a:p>
          <a:p>
            <a:r>
              <a:rPr lang="en-US" b="1" dirty="0"/>
              <a:t>Identify a goal</a:t>
            </a:r>
            <a:r>
              <a:rPr lang="en-US" dirty="0"/>
              <a:t> - Something you want to learn or improve professionally </a:t>
            </a:r>
          </a:p>
          <a:p>
            <a:pPr lvl="1"/>
            <a:r>
              <a:rPr lang="en-US" dirty="0"/>
              <a:t>Maybe it's "Involve students more in IEP meetings"</a:t>
            </a:r>
          </a:p>
          <a:p>
            <a:pPr lvl="1"/>
            <a:r>
              <a:rPr lang="en-US" dirty="0"/>
              <a:t>Maybe it's "Improve my classroom management"</a:t>
            </a:r>
          </a:p>
          <a:p>
            <a:pPr lvl="1"/>
            <a:r>
              <a:rPr lang="en-US" dirty="0"/>
              <a:t>Maybe it's "Learn to use a new assistive technology"</a:t>
            </a:r>
          </a:p>
          <a:p>
            <a:r>
              <a:rPr lang="en-US" b="1" dirty="0"/>
              <a:t>Complete the Phase 1 questions:</a:t>
            </a:r>
            <a:r>
              <a:rPr lang="en-US" dirty="0"/>
              <a:t> </a:t>
            </a:r>
          </a:p>
          <a:p>
            <a:pPr lvl="1"/>
            <a:r>
              <a:rPr lang="en-US" dirty="0"/>
              <a:t>What do you want to learn or improve?</a:t>
            </a:r>
          </a:p>
          <a:p>
            <a:pPr lvl="1"/>
            <a:r>
              <a:rPr lang="en-US" dirty="0"/>
              <a:t>What do you know about it now?</a:t>
            </a:r>
          </a:p>
          <a:p>
            <a:pPr lvl="1"/>
            <a:r>
              <a:rPr lang="en-US" dirty="0"/>
              <a:t>What must change for you to learn what you don't know?</a:t>
            </a:r>
          </a:p>
          <a:p>
            <a:r>
              <a:rPr lang="en-US" b="1" dirty="0"/>
              <a:t>Reflect on the process:</a:t>
            </a:r>
            <a:r>
              <a:rPr lang="en-US" dirty="0"/>
              <a:t> </a:t>
            </a:r>
          </a:p>
          <a:p>
            <a:pPr lvl="1"/>
            <a:r>
              <a:rPr lang="en-US" dirty="0"/>
              <a:t>What did you realize about your current knowledge or skills?</a:t>
            </a:r>
          </a:p>
          <a:p>
            <a:pPr lvl="1"/>
            <a:r>
              <a:rPr lang="en-US" dirty="0"/>
              <a:t>What needs to change?</a:t>
            </a:r>
          </a:p>
          <a:p>
            <a:pPr lvl="1"/>
            <a:r>
              <a:rPr lang="en-US" dirty="0"/>
              <a:t>How could you use this same process with your students?</a:t>
            </a:r>
          </a:p>
          <a:p>
            <a:r>
              <a:rPr lang="en-US" b="1" dirty="0"/>
              <a:t>Why are we doing this?</a:t>
            </a:r>
            <a:endParaRPr lang="en-US" dirty="0"/>
          </a:p>
          <a:p>
            <a:r>
              <a:rPr lang="en-US" dirty="0"/>
              <a:t>Because the best way to understand how SDLMI works is to USE it yourself. You'll be able to better explain it to students, better facilitate it in your classroom, and better understand the reflection process if you've experienced it.</a:t>
            </a:r>
          </a:p>
          <a:p>
            <a:r>
              <a:rPr lang="en-US" dirty="0"/>
              <a:t>You can use the SDLMI Phase 1 worksheet found at the bottom of your comprehensive curricula notes in this module. Takee 7-10 minutes to work through this activity, then resume the video.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660318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We've just shared a LOT of resources mini lessons, bell ringers, and comprehensive curricula. Before we move forward, let's pause and think strategically about implementation.</a:t>
            </a:r>
          </a:p>
          <a:p>
            <a:r>
              <a:rPr lang="en-US" dirty="0"/>
              <a:t>I want you to think about what activities could work on different timescales:</a:t>
            </a:r>
          </a:p>
          <a:p>
            <a:r>
              <a:rPr lang="en-US" b="1" dirty="0"/>
              <a:t>What could you do DAILY?</a:t>
            </a:r>
            <a:endParaRPr lang="en-US" dirty="0"/>
          </a:p>
          <a:p>
            <a:r>
              <a:rPr lang="en-US" dirty="0"/>
              <a:t>Bell ringers (5 minutes)</a:t>
            </a:r>
          </a:p>
          <a:p>
            <a:r>
              <a:rPr lang="en-US" dirty="0"/>
              <a:t>Goal progress check-ins (2 minutes)</a:t>
            </a:r>
          </a:p>
          <a:p>
            <a:r>
              <a:rPr lang="en-US" dirty="0"/>
              <a:t>Choice-making opportunities embedded in instruction</a:t>
            </a:r>
          </a:p>
          <a:p>
            <a:r>
              <a:rPr lang="en-US" b="1" dirty="0"/>
              <a:t>What could you do WEEKLY?</a:t>
            </a:r>
            <a:endParaRPr lang="en-US" dirty="0"/>
          </a:p>
          <a:p>
            <a:r>
              <a:rPr lang="en-US" dirty="0"/>
              <a:t>SDLMI lessons (15 minutes, twice a week)</a:t>
            </a:r>
          </a:p>
          <a:p>
            <a:r>
              <a:rPr lang="en-US" dirty="0" err="1"/>
              <a:t>ChoiceMaker</a:t>
            </a:r>
            <a:r>
              <a:rPr lang="en-US" dirty="0"/>
              <a:t> activities (20-30 minutes)</a:t>
            </a:r>
          </a:p>
          <a:p>
            <a:r>
              <a:rPr lang="en-US" dirty="0"/>
              <a:t>One mini lesson like the Strength-Based Bingo or Treasure Map</a:t>
            </a:r>
          </a:p>
          <a:p>
            <a:r>
              <a:rPr lang="en-US" b="1" dirty="0"/>
              <a:t>What could you do MONTHLY?</a:t>
            </a:r>
            <a:endParaRPr lang="en-US" dirty="0"/>
          </a:p>
          <a:p>
            <a:r>
              <a:rPr lang="en-US" dirty="0"/>
              <a:t>Update one-pagers</a:t>
            </a:r>
          </a:p>
          <a:p>
            <a:r>
              <a:rPr lang="en-US" dirty="0"/>
              <a:t>Have students reflect on progress toward IEP goals</a:t>
            </a:r>
          </a:p>
          <a:p>
            <a:r>
              <a:rPr lang="en-US" dirty="0"/>
              <a:t>Do a more intensive mini lesson like podcasts or literature activities</a:t>
            </a:r>
          </a:p>
          <a:p>
            <a:r>
              <a:rPr lang="en-US" dirty="0"/>
              <a:t>Student-led goal-setting conferences</a:t>
            </a:r>
          </a:p>
          <a:p>
            <a:r>
              <a:rPr lang="en-US" b="1" dirty="0"/>
              <a:t>What should happen YEARLY?</a:t>
            </a:r>
            <a:endParaRPr lang="en-US" dirty="0"/>
          </a:p>
          <a:p>
            <a:r>
              <a:rPr lang="en-US" dirty="0"/>
              <a:t>Comprehensive transition assessments</a:t>
            </a:r>
          </a:p>
          <a:p>
            <a:r>
              <a:rPr lang="en-US" dirty="0"/>
              <a:t>Create new one-pagers at the start of the year</a:t>
            </a:r>
          </a:p>
          <a:p>
            <a:r>
              <a:rPr lang="en-US" dirty="0"/>
              <a:t>Major goal-setting activities (setting annual IEP goals with student input)</a:t>
            </a:r>
          </a:p>
          <a:p>
            <a:r>
              <a:rPr lang="en-US" dirty="0"/>
              <a:t>Practice or actual student-led IEP meetings</a:t>
            </a:r>
          </a:p>
          <a:p>
            <a:r>
              <a:rPr lang="en-US" b="1" dirty="0"/>
              <a:t>Be realistic.</a:t>
            </a:r>
            <a:r>
              <a:rPr lang="en-US" dirty="0"/>
              <a:t> Don't try to do everything. Pick what feels sustainable. You can always add more later.</a:t>
            </a:r>
          </a:p>
          <a:p>
            <a:r>
              <a:rPr lang="en-US" dirty="0"/>
              <a:t>Take a minute right now to jot down:</a:t>
            </a:r>
          </a:p>
          <a:p>
            <a:r>
              <a:rPr lang="en-US" dirty="0"/>
              <a:t>ONE thing you'll do daily or weekly</a:t>
            </a:r>
          </a:p>
          <a:p>
            <a:r>
              <a:rPr lang="en-US" dirty="0"/>
              <a:t>ONE thing you'll do monthly</a:t>
            </a:r>
          </a:p>
          <a:p>
            <a:r>
              <a:rPr lang="en-US" dirty="0"/>
              <a:t>ONE thing you'll do yearly </a:t>
            </a:r>
          </a:p>
          <a:p>
            <a:r>
              <a:rPr lang="en-US" dirty="0"/>
              <a:t>Then using that information, complete the Classroom Implementation Activity found in the notes and activities section of your module. You may also use the Word document version that can be found in the Accessible Activities section of this module.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04190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Congratulations! You've completed Module 5, which covered all the practical tools and resources for teaching self-determination skills—mini lessons like the Strength-Based Bingo and Transition Treasure Map, bell ringers across multiple topic areas, and comprehensive curricula like </a:t>
            </a:r>
            <a:r>
              <a:rPr lang="en-US" dirty="0" err="1"/>
              <a:t>ChoiceMaker</a:t>
            </a:r>
            <a:r>
              <a:rPr lang="en-US" dirty="0"/>
              <a:t> and SDLMI.</a:t>
            </a:r>
          </a:p>
          <a:p>
            <a:r>
              <a:rPr lang="en-US" dirty="0"/>
              <a:t>You've also created your own classroom implementation plan with specific activities, timelines, and SMART goals. Before moving on to Module 6, you will need to complete the Module 5 Quiz. This assessment will ask you to match activities to appropriate grade levels, identify which tools fit specific scenarios, and demonstrate your understanding of implementation strategies. When you complete the quiz, move on to Module 6 which will help you build school-wide support, engage families, and create sustainable systems for student involvement.</a:t>
            </a:r>
          </a:p>
          <a:p>
            <a:endParaRPr lang="en-US" dirty="0"/>
          </a:p>
        </p:txBody>
      </p:sp>
    </p:spTree>
    <p:extLst>
      <p:ext uri="{BB962C8B-B14F-4D97-AF65-F5344CB8AC3E}">
        <p14:creationId xmlns:p14="http://schemas.microsoft.com/office/powerpoint/2010/main" val="16990751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1"/>
        <p:cNvGrpSpPr/>
        <p:nvPr/>
      </p:nvGrpSpPr>
      <p:grpSpPr>
        <a:xfrm>
          <a:off x="0" y="0"/>
          <a:ext cx="0" cy="0"/>
          <a:chOff x="0" y="0"/>
          <a:chExt cx="0" cy="0"/>
        </a:xfrm>
      </p:grpSpPr>
      <p:sp>
        <p:nvSpPr>
          <p:cNvPr id="54" name="Google Shape;54;p9"/>
          <p:cNvSpPr txBox="1">
            <a:spLocks noGrp="1"/>
          </p:cNvSpPr>
          <p:nvPr>
            <p:ph type="subTitle" idx="1"/>
          </p:nvPr>
        </p:nvSpPr>
        <p:spPr>
          <a:xfrm>
            <a:off x="4572000" y="7999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55" name="Google Shape;55;p9"/>
          <p:cNvSpPr txBox="1">
            <a:spLocks noGrp="1"/>
          </p:cNvSpPr>
          <p:nvPr>
            <p:ph type="title"/>
          </p:nvPr>
        </p:nvSpPr>
        <p:spPr>
          <a:xfrm>
            <a:off x="713225" y="1041931"/>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540471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3" r:id="rId14"/>
    <p:sldLayoutId id="2147483964" r:id="rId15"/>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dirty="0"/>
              <a:t>Module 5-C</a:t>
            </a:r>
            <a:br>
              <a:rPr lang="en-US" dirty="0"/>
            </a:br>
            <a:r>
              <a:rPr lang="en-US" dirty="0"/>
              <a:t>Curriculum</a:t>
            </a:r>
          </a:p>
        </p:txBody>
      </p:sp>
    </p:spTree>
    <p:extLst>
      <p:ext uri="{BB962C8B-B14F-4D97-AF65-F5344CB8AC3E}">
        <p14:creationId xmlns:p14="http://schemas.microsoft.com/office/powerpoint/2010/main" val="1783366454"/>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Me! Curriculum</a:t>
            </a:r>
            <a:endParaRPr sz="4000">
              <a:latin typeface="Verdana Pro" panose="020B0604030504040204" pitchFamily="34" charset="0"/>
            </a:endParaRPr>
          </a:p>
        </p:txBody>
      </p:sp>
      <p:sp>
        <p:nvSpPr>
          <p:cNvPr id="466" name="Google Shape;466;p65"/>
          <p:cNvSpPr txBox="1">
            <a:spLocks noGrp="1"/>
          </p:cNvSpPr>
          <p:nvPr>
            <p:ph type="subTitle" idx="1"/>
          </p:nvPr>
        </p:nvSpPr>
        <p:spPr>
          <a:xfrm>
            <a:off x="116601" y="827133"/>
            <a:ext cx="8705666" cy="567386"/>
          </a:xfrm>
          <a:prstGeom prst="rect">
            <a:avLst/>
          </a:prstGeom>
        </p:spPr>
        <p:txBody>
          <a:bodyPr spcFirstLastPara="1" wrap="square" lIns="91425" tIns="91425" rIns="91425" bIns="91425" anchor="t" anchorCtr="0">
            <a:noAutofit/>
          </a:bodyPr>
          <a:lstStyle/>
          <a:p>
            <a:pPr lvl="0" indent="0" algn="l" rtl="0">
              <a:spcBef>
                <a:spcPts val="0"/>
              </a:spcBef>
              <a:spcAft>
                <a:spcPts val="0"/>
              </a:spcAft>
              <a:buClr>
                <a:schemeClr val="dk1"/>
              </a:buClr>
              <a:buSzPts val="1100"/>
            </a:pPr>
            <a:r>
              <a:rPr lang="en-US" sz="2000" dirty="0">
                <a:latin typeface="+mj-lt"/>
                <a:ea typeface="Overpass Light"/>
                <a:cs typeface="Overpass Light"/>
                <a:sym typeface="Overpass Light"/>
              </a:rPr>
              <a:t>10 units to teach self-awareness and self-advocacy (45-60 minutes each)</a:t>
            </a:r>
          </a:p>
          <a:p>
            <a:pPr lvl="0" indent="0" algn="l" rtl="0">
              <a:spcBef>
                <a:spcPts val="0"/>
              </a:spcBef>
              <a:spcAft>
                <a:spcPts val="0"/>
              </a:spcAft>
              <a:buClr>
                <a:schemeClr val="dk1"/>
              </a:buClr>
              <a:buSzPts val="1100"/>
            </a:pPr>
            <a:endParaRPr lang="en-US" sz="2400" dirty="0">
              <a:latin typeface="+mj-lt"/>
              <a:ea typeface="Overpass Light"/>
              <a:cs typeface="Overpass Light"/>
              <a:sym typeface="Overpass Light"/>
            </a:endParaRP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6" name="Picture 5" descr="A screenshot of lesson one of the Me! Curriculum. Lesson 1: Understanding Self-Awareness &amp; Self Advocacy. Objectives- Students will: 1.define self-awareness and self-advocacy 2. identify examples of self-awareness and self-advocacy 3. identify personal strengths, weaknesses, likes, and dislikes 4. use retelling skills to participate in oral presentation (extension activity) 5. complete the ME! Scale. Materials- 1. Worksheet 1-1: Understanding Self-Awareness and Self-Advocacy, 2. Student ME! Scale, 3. Parent/guardian YOU! Scale">
            <a:extLst>
              <a:ext uri="{FF2B5EF4-FFF2-40B4-BE49-F238E27FC236}">
                <a16:creationId xmlns:a16="http://schemas.microsoft.com/office/drawing/2014/main" id="{A9746CE7-AB99-0B1B-0BC7-37E21BAA5EF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7517" y="1748368"/>
            <a:ext cx="5684930" cy="2893732"/>
          </a:xfrm>
          <a:prstGeom prst="rect">
            <a:avLst/>
          </a:prstGeom>
        </p:spPr>
      </p:pic>
      <p:pic>
        <p:nvPicPr>
          <p:cNvPr id="4" name="Picture 3" descr="A qr code for the website https://tinyurl.com/MeResource">
            <a:extLst>
              <a:ext uri="{FF2B5EF4-FFF2-40B4-BE49-F238E27FC236}">
                <a16:creationId xmlns:a16="http://schemas.microsoft.com/office/drawing/2014/main" id="{DB73D6D8-68B9-5A16-3C1D-FDA324D7B65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4857" y="1748368"/>
            <a:ext cx="2427568" cy="2427568"/>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818529" y="4288249"/>
            <a:ext cx="4167248"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https://tinyurl.com/MeResource</a:t>
            </a:r>
          </a:p>
        </p:txBody>
      </p:sp>
    </p:spTree>
    <p:extLst>
      <p:ext uri="{BB962C8B-B14F-4D97-AF65-F5344CB8AC3E}">
        <p14:creationId xmlns:p14="http://schemas.microsoft.com/office/powerpoint/2010/main" val="2593134039"/>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0801" y="191481"/>
            <a:ext cx="8997244" cy="53665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latin typeface="Verdana Pro" panose="020B0604030504040204" pitchFamily="34" charset="0"/>
              </a:rPr>
              <a:t>Screenshot of Me! Curriculum Worksheet</a:t>
            </a:r>
            <a:endParaRPr sz="2400" dirty="0">
              <a:latin typeface="Verdana Pro" panose="020B0604030504040204" pitchFamily="34" charset="0"/>
            </a:endParaRPr>
          </a:p>
        </p:txBody>
      </p:sp>
      <p:pic>
        <p:nvPicPr>
          <p:cNvPr id="8" name="Picture 7" descr="The image shows&#10;&#10;a worksheet titled &quot;Section 1: Terms and Acronyms.&quot; It has a list of terms and acronyms related to special education, where students are expected to fill in the full forms or meanings. Here is the content that appears on the worksheet:&#10;&#10;Acronyms:&#10;(Example: LOL = Laughing Out Loud)&#10;&#10;IEP:&#10;(Students are expected to fill in the meaning of IEP)&#10;&#10;ITP:&#10;(Students are expected to fill in the meaning of ITP)&#10;&#10;IDEA:&#10;(Students are expected to fill in the meaning of IDEA)&#10;&#10;Goals:&#10;(Students are expected to fill in the meaning or definition of goals)">
            <a:extLst>
              <a:ext uri="{FF2B5EF4-FFF2-40B4-BE49-F238E27FC236}">
                <a16:creationId xmlns:a16="http://schemas.microsoft.com/office/drawing/2014/main" id="{9AEB97B7-228B-A530-4ADF-DDF3C9C4CE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96911" y="675217"/>
            <a:ext cx="4394200" cy="4345912"/>
          </a:xfrm>
          <a:prstGeom prst="rect">
            <a:avLst/>
          </a:prstGeom>
        </p:spPr>
      </p:pic>
    </p:spTree>
    <p:extLst>
      <p:ext uri="{BB962C8B-B14F-4D97-AF65-F5344CB8AC3E}">
        <p14:creationId xmlns:p14="http://schemas.microsoft.com/office/powerpoint/2010/main" val="250815792"/>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74699"/>
            <a:ext cx="8910798" cy="70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ChoiceMaker Curriculum</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271952" y="912296"/>
            <a:ext cx="5088943"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Choosing Educational Goals</a:t>
            </a:r>
          </a:p>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Choosing Personal Goals</a:t>
            </a:r>
          </a:p>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Choosing Employment Goals</a:t>
            </a:r>
          </a:p>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Self-Directed IEP (Expressing Goals)</a:t>
            </a:r>
          </a:p>
          <a:p>
            <a:pPr marL="342900">
              <a:buSzPts val="1100"/>
              <a:buFont typeface="Arial" panose="020B0604020202020204" pitchFamily="34" charset="0"/>
              <a:buChar char="•"/>
            </a:pPr>
            <a:r>
              <a:rPr lang="en-US" sz="2400" dirty="0">
                <a:latin typeface="+mj-lt"/>
                <a:ea typeface="Overpass Light"/>
                <a:cs typeface="Overpass Light"/>
                <a:sym typeface="Overpass Light"/>
              </a:rPr>
              <a:t>Take Action (Attaining IEP Goals)</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4" name="Picture 3" descr="A qr code for the website https://tinyurl.com/choicemakercurriculum">
            <a:extLst>
              <a:ext uri="{FF2B5EF4-FFF2-40B4-BE49-F238E27FC236}">
                <a16:creationId xmlns:a16="http://schemas.microsoft.com/office/drawing/2014/main" id="{7797C41D-28DF-CFE4-D1A4-ED4160EFEE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12062" y="2218386"/>
            <a:ext cx="2298700" cy="2311400"/>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choicemakercurriculum</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970393180"/>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233202" y="74276"/>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Choosing Goals(Part 1 of the ChoiceMaker)</a:t>
            </a:r>
            <a:endParaRPr sz="2400" dirty="0">
              <a:latin typeface="Verdana Pro" panose="020B0604030504040204" pitchFamily="34" charset="0"/>
            </a:endParaRPr>
          </a:p>
        </p:txBody>
      </p:sp>
      <p:pic>
        <p:nvPicPr>
          <p:cNvPr id="8" name="Picture 7" descr="A white rectangular grid with black text depicting age brackets and education, employment, money, housing, family, and recreation/ leisure. The image shows a table with the title &quot;Directions: Write what you hope to be doing in each area at each age.&quot; The table has several rows and columns, each representing different areas of life and different ages. Here’s the structure of the table:&#10;&#10;Areas: (listed in the leftmost column)&#10;&#10;Education&#10;Employment&#10;$ I will be earning&#10;Housing&#10;Family&#10;Recreation &amp; Leisure&#10;Ages: (listed in the top row)&#10;&#10;Age 18&#10;Age 21&#10;Age 26&#10;Age 40&#10;Age 65">
            <a:extLst>
              <a:ext uri="{FF2B5EF4-FFF2-40B4-BE49-F238E27FC236}">
                <a16:creationId xmlns:a16="http://schemas.microsoft.com/office/drawing/2014/main" id="{44DE7426-F27F-0815-AEDD-C669A4EC466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4575" y="623931"/>
            <a:ext cx="3513114" cy="4098847"/>
          </a:xfrm>
          <a:prstGeom prst="rect">
            <a:avLst/>
          </a:prstGeom>
        </p:spPr>
      </p:pic>
      <p:pic>
        <p:nvPicPr>
          <p:cNvPr id="9" name="Picture 8" descr="A picture of a rating scale with four sections: health and physical education, fine arts, foreign language, and practical arts. The image shows a worksheet with a &quot;Rating Scale&quot; where students can rate different activities and subjects across four categories: Health/P.E., Foreign Language, Fine Arts, and Practical Arts. The rating scale ranges from 0 to 4, with 0 meaning &quot;you don’t like it at all,&quot; 2 meaning &quot;it’s O.K.,&quot; and 4 meaning &quot;you really like it.&quot;&#10;&#10;Here’s a breakdown of the content:&#10;&#10;Health/P.E.&#10;Individual sports&#10;Team sports&#10;Weightlifting&#10;Health class&#10;Exercising&#10;Leadership roles&#10;Dressing out&#10;Showers&#10;Other (with space to write)&#10;Overall HEALTH/P.E. Evaluation&#10;Foreign Language&#10;Spanish&#10;French&#10;German&#10;Latin&#10;Japanese&#10;Reading foreign languages&#10;Speaking foreign languages&#10;Writing foreign languages&#10;Group work&#10;Cultural experiences&#10;Other (with space to write)&#10;Overall FOREIGN LANGUAGE Evaluation&#10;Fine Arts&#10;Choir&#10;Band/orchestra&#10;Competition&#10;Practice&#10;Ceramics&#10;Drawing&#10;Painting&#10;Sculpting&#10;Design&#10;Drama&#10;Creativity&#10;Other (with space to write)&#10;Overall FINE ARTS Evaluation&#10;Practical Arts&#10;Wood shop&#10;Metal shop&#10;Electronics&#10;Mechanical shop&#10;Automotive&#10;Technology&#10;TV &amp; radio&#10;Drafting&#10;Consumer &amp; family&#10;Print shop&#10;Creativity&#10;Other (with space to write)&#10;Overall PRACTICAL ARTS Evaluation&#10;">
            <a:extLst>
              <a:ext uri="{FF2B5EF4-FFF2-40B4-BE49-F238E27FC236}">
                <a16:creationId xmlns:a16="http://schemas.microsoft.com/office/drawing/2014/main" id="{9FE4B940-C228-AFFC-4410-6CE28788FF9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48578" y="727535"/>
            <a:ext cx="4108269" cy="4198443"/>
          </a:xfrm>
          <a:prstGeom prst="rect">
            <a:avLst/>
          </a:prstGeom>
        </p:spPr>
      </p:pic>
    </p:spTree>
    <p:extLst>
      <p:ext uri="{BB962C8B-B14F-4D97-AF65-F5344CB8AC3E}">
        <p14:creationId xmlns:p14="http://schemas.microsoft.com/office/powerpoint/2010/main" val="1789825048"/>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5551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latin typeface="Verdana Pro" panose="020B0604030504040204" pitchFamily="34" charset="0"/>
              </a:rPr>
              <a:t>Choosing Education Goals: p. 10 &amp; p. 13</a:t>
            </a:r>
            <a:endParaRPr sz="3200" dirty="0">
              <a:latin typeface="Verdana Pro" panose="020B0604030504040204" pitchFamily="34" charset="0"/>
            </a:endParaRPr>
          </a:p>
        </p:txBody>
      </p:sp>
      <p:pic>
        <p:nvPicPr>
          <p:cNvPr id="3" name="Picture 2" descr="A picture of a rating scale depicting school and work habits, what the student thinks, and what the teacher thinks. The image shows a worksheet titled &quot;School Work Habits&quot; with a rating scale for assessing various school work habits. The rating scale has three levels:&#10;&#10;3 = very good&#10;2 = O.K.&#10;1 = needs improvement&#10;The worksheet has columns for:&#10;&#10;I Think: (Where the student rates themselves)&#10;Teacher Thinks: (Where the teacher rates the student)&#10;Matches: (Y for Yes, N for No, indicating whether the student's and teacher's ratings match)&#10;Comments: (Space for additional notes or comments)&#10;The rows list various school work habits:&#10;&#10;Attends class regularly&#10;Arrives to class on time&#10;Brings needed materials&#10;Ready when class begins&#10;Turns in completed homework&#10;Does readings before class&#10;Sits where can learn best&#10;Takes notes&#10;Pays attention to the teacher&#10;Participates in class discussions&#10;Participates in class activities&#10;Asks questions&#10;Volunteers answers&#10;Listens actively and does not talk to others&#10;Keeps a calendar for assignments&#10;Organizes materials&#10;Uses class time wisely&#10;Comes in for extra help&#10;Studies for tests">
            <a:extLst>
              <a:ext uri="{FF2B5EF4-FFF2-40B4-BE49-F238E27FC236}">
                <a16:creationId xmlns:a16="http://schemas.microsoft.com/office/drawing/2014/main" id="{4C380DE7-FE8B-BE4D-232E-1F4BC30E37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1140" y="1082306"/>
            <a:ext cx="4349585" cy="3763723"/>
          </a:xfrm>
          <a:prstGeom prst="rect">
            <a:avLst/>
          </a:prstGeom>
        </p:spPr>
      </p:pic>
      <p:pic>
        <p:nvPicPr>
          <p:cNvPr id="5" name="Picture 4" descr="A picture of a rating scale with school and work habits, what the student thinks, and what the teacher thinks. The image shows a checklist worksheet that tracks school work habits over three days. The habits are listed on the left, and there are columns for each day (Day 1, Day 2, Day 3) with options to mark &quot;Y&quot; for Yes or &quot;N&quot; for No, indicating whether the habit was followed on that day.&#10;&#10;Habits listed:&#10;Attend class regularly&#10;Arrive to class on time&#10;Bring needed materials&#10;Ready when class begins&#10;Turn in completed homework&#10;Do readings before class&#10;Sit where I can learn best&#10;Take notes&#10;Pay attention to teacher&#10;Participate in class discussions&#10;Participate in class activities&#10;Ask questions&#10;Volunteer answers&#10;Listen actively and not talk to others&#10;Keep a calendar for assignments&#10;Organize materials&#10;Use class time wisely&#10;Come in for extra help&#10;Study for tests&#10;Participate in study groups&#10;Use study strategies&#10;Find a place to study where you can work&#10;Schedule a time to do homework&#10;Start on long-term assignments early&#10;Believe I can get a good grade&#10;Other (with space to write in additional habits)">
            <a:extLst>
              <a:ext uri="{FF2B5EF4-FFF2-40B4-BE49-F238E27FC236}">
                <a16:creationId xmlns:a16="http://schemas.microsoft.com/office/drawing/2014/main" id="{E425B611-A930-E482-3810-C7678B2909C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82273" y="914853"/>
            <a:ext cx="3502927" cy="4109215"/>
          </a:xfrm>
          <a:prstGeom prst="rect">
            <a:avLst/>
          </a:prstGeom>
        </p:spPr>
      </p:pic>
    </p:spTree>
    <p:extLst>
      <p:ext uri="{BB962C8B-B14F-4D97-AF65-F5344CB8AC3E}">
        <p14:creationId xmlns:p14="http://schemas.microsoft.com/office/powerpoint/2010/main" val="3989617447"/>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4875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Choosing Employment Goals: p. 13 &amp; p. 46 </a:t>
            </a:r>
            <a:endParaRPr sz="2800" dirty="0">
              <a:latin typeface="Verdana Pro" panose="020B0604030504040204" pitchFamily="34" charset="0"/>
            </a:endParaRPr>
          </a:p>
        </p:txBody>
      </p:sp>
      <p:pic>
        <p:nvPicPr>
          <p:cNvPr id="4" name="Picture 3" descr="A screenshot of a worksheet with text that says Job Characteristics I Like. &#10;The image shows a worksheet titled &quot;Job Characteristics I Like Worksheet.&quot; The worksheet is designed to help individuals identify their preferred job characteristics and compare them with the characteristics of a particular job.&#10;&#10;Sections:&#10;Name, Date, Site: (fields to be filled out by the individual)&#10;Instructions:&#10;What I Like: Circle the job characteristic or characteristics you like best.&#10;What Is Here: Circle the job characteristic or characteristics that best describe what is at this job.&#10;Matches: Circle &quot;YES&quot; if what you circled in the first two columns is the same. Circle &quot;NO&quot; if it is not.&#10;Job Characteristics:&#10;Work alone / lots of people around&#10;Quiet workplace / noisy workplace&#10;Weekdays only / weekends too&#10;Easy job / challenging job&#10;Dress up for work / do not dress up / wear uniform&#10;Standing up / sitting down / moving around&#10;Work mornings / work afternoons / work nights&#10;Co-workers my age / co-workers not my age&#10;Thinking work / physical work&#10;Detail important / detail not important&#10;Job same every day / job different every day&#10;Work with people / work with things&#10;Important to work fast / not important to work fast&#10;Little supervision / a lot of supervision&#10;Work outside / work inside&#10;For each characteristic, there are three columns:&#10;&#10;The first column (&quot;What I Like&quot;) is where the individual circles their preferred job characteristics.&#10;The second column (&quot;What Is Here&quot;) is where the individual circles the characteristics present in the job they are evaluating.&#10;The third column (&quot;Matches&quot;) is where the individual circles &quot;YES&quot; or &quot;NO&quot; to indicate whether their preferences match the job characteristics.">
            <a:extLst>
              <a:ext uri="{FF2B5EF4-FFF2-40B4-BE49-F238E27FC236}">
                <a16:creationId xmlns:a16="http://schemas.microsoft.com/office/drawing/2014/main" id="{E2B81503-EF13-9FDF-597A-6CAAAC7EE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3674" y="561953"/>
            <a:ext cx="3924846" cy="4417070"/>
          </a:xfrm>
          <a:prstGeom prst="rect">
            <a:avLst/>
          </a:prstGeom>
        </p:spPr>
      </p:pic>
      <p:pic>
        <p:nvPicPr>
          <p:cNvPr id="8" name="Picture 7" descr="A screenshot of a worksheet with text that says Dream Job Informational Interview Worksheet. The image shows a &quot;Dream Job Informational Interview Worksheet&quot; that is designed to help individuals assess potential job opportunities based on specific criteria. The worksheet includes fields for personal information and questions to be asked during an informational interview.&#10;&#10;Sections:&#10;Name, Date: (fields to be filled out by the individual)&#10;Site &amp; Job Title: (space to enter the job site and title being evaluated)&#10;Requirement Questions:&#10;For each question, there are options to select &quot;Yes&quot; or &quot;No&quot; under the columns:&#10;&#10;Would I like this?&#10;Could I do this?&#10;Teacher Comments: (a space for the teacher to provide feedback)&#10;Questions listed:&#10;What are the job duties?&#10;What are the training or educational requirements of the job?&#10;What experience must people have to start here?&#10;What are the physical demands of the job (lifting, standing, etc.)?&#10;What are the hours of the job?&#10;What kinds of equipment (vehicles, machinery, computers, etc.) must a worker be able to operate to do the job?&#10;Are there other jobs in this field that might have fewer requirements?&#10;">
            <a:extLst>
              <a:ext uri="{FF2B5EF4-FFF2-40B4-BE49-F238E27FC236}">
                <a16:creationId xmlns:a16="http://schemas.microsoft.com/office/drawing/2014/main" id="{7FE9BC34-ABC3-7F39-5B5A-7DF953DA691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62396" y="745544"/>
            <a:ext cx="3282614" cy="4360112"/>
          </a:xfrm>
          <a:prstGeom prst="rect">
            <a:avLst/>
          </a:prstGeom>
        </p:spPr>
      </p:pic>
    </p:spTree>
    <p:extLst>
      <p:ext uri="{BB962C8B-B14F-4D97-AF65-F5344CB8AC3E}">
        <p14:creationId xmlns:p14="http://schemas.microsoft.com/office/powerpoint/2010/main" val="1112484979"/>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5541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latin typeface="Verdana Pro" panose="020B0604030504040204" pitchFamily="34" charset="0"/>
              </a:rPr>
              <a:t>Choosing Personal Goals: p. 63 &amp; p. 143</a:t>
            </a:r>
            <a:endParaRPr sz="3200" dirty="0">
              <a:latin typeface="Verdana Pro" panose="020B0604030504040204" pitchFamily="34" charset="0"/>
            </a:endParaRPr>
          </a:p>
        </p:txBody>
      </p:sp>
      <p:pic>
        <p:nvPicPr>
          <p:cNvPr id="3" name="Picture 2" descr="A screenshot of a worksheet with text that says How I Am With Others Worksheet. The image shows a worksheet titled &quot;How I Am With Others Worksheet,&quot; designed to help individuals reflect on their behavior during a group activity. The worksheet is structured in two main parts.&#10;&#10;Sections:&#10;Name, Activity, Date: (fields to be filled out by the individual)&#10;Classmate completing worksheet: (space for the name of a classmate who will assist with the evaluation)&#10;First:&#10;Instructions:&#10;&#10;You have just completed a group activity. Reflect on your behavior in the group.&#10;Check three behaviors you did during the activity.&#10;Circle one behavior you feel you need to improve.&#10;List of Behaviors:&#10;&#10;Polite, considerate of others, accepting of others&#10;Positive, able to see the good side of things, accepting of circumstances&#10;Organized&#10;Responsible, stays focused, follows through, participates in group activities&#10;Listens to others&#10;Even-tempered, easy to get along with&#10;Creative, looks at things in new and unique ways&#10;Takes initiative, looks for things that need to be done&#10;Second:&#10;Instructions:&#10;After you complete this, ask a classmate who was in your group what they think your top three behaviors were. Do not let them see what you marked on your worksheet.&#10;Mark with a star the behaviors your classmate chose.&#10;Discuss the results.">
            <a:extLst>
              <a:ext uri="{FF2B5EF4-FFF2-40B4-BE49-F238E27FC236}">
                <a16:creationId xmlns:a16="http://schemas.microsoft.com/office/drawing/2014/main" id="{AA9CAB68-1D51-0B7F-C02A-3F65AC5A4F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4696" y="673542"/>
            <a:ext cx="3783396" cy="4469958"/>
          </a:xfrm>
          <a:prstGeom prst="rect">
            <a:avLst/>
          </a:prstGeom>
        </p:spPr>
      </p:pic>
      <p:pic>
        <p:nvPicPr>
          <p:cNvPr id="7" name="Picture 6" descr="A worksheet with text that says New Activity Evaluation. Sections:&#10;Name: (field to be filled out by the individual)&#10;Date: (field to be filled out by the individual)&#10;Change you want to make: (space to write the change the individual is aiming for)&#10;Activity you tried: (space to write the name of the activity)&#10;Evaluation Questions:&#10;Each question has a &quot;YES&quot; or &quot;NO&quot; option for the individual to circle.&#10;&#10;Did you like the activity? YES / NO&#10;Were the requirements what you thought they would be? YES / NO&#10;Did you have the skills to do the activity? YES / NO&#10;Did your limits interfere with doing the activity? YES / NO&#10;Could you do this activity better with support? YES / NO&#10;Further Reflection:&#10;Did this activity help you make the change you wanted? YES / NO&#10;(Space provided to explain &quot;Why or Why not?&quot;)&#10;&#10;Would you do the activity again? YES / NO&#10;(Space provided to explain &quot;Why or Why not?&quot;)&#10;&#10;What are you going to do now?&#10;(Several lines provided for the individual to write their next steps)">
            <a:extLst>
              <a:ext uri="{FF2B5EF4-FFF2-40B4-BE49-F238E27FC236}">
                <a16:creationId xmlns:a16="http://schemas.microsoft.com/office/drawing/2014/main" id="{714F3A83-4891-C51F-054A-8744B5712A8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80000" y="737009"/>
            <a:ext cx="3353958" cy="4108262"/>
          </a:xfrm>
          <a:prstGeom prst="rect">
            <a:avLst/>
          </a:prstGeom>
        </p:spPr>
      </p:pic>
    </p:spTree>
    <p:extLst>
      <p:ext uri="{BB962C8B-B14F-4D97-AF65-F5344CB8AC3E}">
        <p14:creationId xmlns:p14="http://schemas.microsoft.com/office/powerpoint/2010/main" val="2602171886"/>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Self-Directed IEP </a:t>
            </a:r>
            <a:r>
              <a:rPr lang="en" sz="3600" dirty="0">
                <a:latin typeface="Verdana Pro" panose="020B0604030504040204" pitchFamily="34" charset="0"/>
              </a:rPr>
              <a:t>(Part 2 of the ChoiceMaker: Expressing Goals)</a:t>
            </a:r>
            <a:endParaRPr sz="4000" dirty="0">
              <a:latin typeface="Verdana Pro" panose="020B0604030504040204" pitchFamily="34" charset="0"/>
            </a:endParaRP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487104" y="1658470"/>
            <a:ext cx="4084896" cy="27141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a:latin typeface="+mj-lt"/>
                <a:ea typeface="Overpass Light"/>
                <a:cs typeface="Overpass Light"/>
                <a:sym typeface="Overpass Light"/>
              </a:rPr>
              <a:t>11 lessons over the 11 steps</a:t>
            </a:r>
          </a:p>
          <a:p>
            <a:pPr marL="342900" lvl="0" algn="l" rtl="0">
              <a:spcBef>
                <a:spcPts val="0"/>
              </a:spcBef>
              <a:spcAft>
                <a:spcPts val="0"/>
              </a:spcAft>
              <a:buClr>
                <a:schemeClr val="dk1"/>
              </a:buClr>
              <a:buSzPts val="1100"/>
              <a:buFont typeface="Arial" panose="020B0604020202020204" pitchFamily="34" charset="0"/>
              <a:buChar char="•"/>
            </a:pPr>
            <a:r>
              <a:rPr lang="en-US" sz="2400">
                <a:latin typeface="+mj-lt"/>
                <a:ea typeface="Overpass Light"/>
                <a:cs typeface="Overpass Light"/>
                <a:sym typeface="Overpass Light"/>
              </a:rPr>
              <a:t>Each lesson includes around six to ten 45-minute sessions with accompanying videos, a student workbook, and a teacher manual</a:t>
            </a:r>
          </a:p>
        </p:txBody>
      </p:sp>
      <p:pic>
        <p:nvPicPr>
          <p:cNvPr id="4" name="Picture 3" descr="A qr code for a website that says https://tinyurl.com/ZI-Expressinggoals">
            <a:extLst>
              <a:ext uri="{FF2B5EF4-FFF2-40B4-BE49-F238E27FC236}">
                <a16:creationId xmlns:a16="http://schemas.microsoft.com/office/drawing/2014/main" id="{31F7448D-DD56-8B04-8BDA-AD2E764714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92119" y="2249733"/>
            <a:ext cx="2395818" cy="2383532"/>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3995305" y="4641825"/>
            <a:ext cx="4623734" cy="3903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https://tinyurl.com/ZI-Expressinggoals</a:t>
            </a:r>
          </a:p>
        </p:txBody>
      </p:sp>
    </p:spTree>
    <p:extLst>
      <p:ext uri="{BB962C8B-B14F-4D97-AF65-F5344CB8AC3E}">
        <p14:creationId xmlns:p14="http://schemas.microsoft.com/office/powerpoint/2010/main" val="1860384944"/>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r>
              <a:rPr lang="en" sz="4000" dirty="0">
                <a:solidFill>
                  <a:schemeClr val="accent4"/>
                </a:solidFill>
                <a:latin typeface="Verdana Pro"/>
              </a:rPr>
              <a:t>Self-Directed IEP Steps</a:t>
            </a:r>
            <a:endParaRPr lang="en" sz="3600" dirty="0">
              <a:solidFill>
                <a:schemeClr val="accent4"/>
              </a:solidFill>
              <a:latin typeface="Verdana Pro"/>
            </a:endParaRPr>
          </a:p>
        </p:txBody>
      </p:sp>
      <p:sp>
        <p:nvSpPr>
          <p:cNvPr id="5" name="Subtitle 4">
            <a:extLst>
              <a:ext uri="{FF2B5EF4-FFF2-40B4-BE49-F238E27FC236}">
                <a16:creationId xmlns:a16="http://schemas.microsoft.com/office/drawing/2014/main" id="{C44B30E8-01CF-3E21-1A2E-4F66A68A2AD6}"/>
              </a:ext>
            </a:extLst>
          </p:cNvPr>
          <p:cNvSpPr>
            <a:spLocks noGrp="1"/>
          </p:cNvSpPr>
          <p:nvPr>
            <p:ph type="subTitle" idx="1"/>
          </p:nvPr>
        </p:nvSpPr>
        <p:spPr>
          <a:xfrm>
            <a:off x="1488700" y="827132"/>
            <a:ext cx="5884004" cy="3655200"/>
          </a:xfrm>
        </p:spPr>
        <p:txBody>
          <a:bodyPr/>
          <a:lstStyle/>
          <a:p>
            <a:pPr>
              <a:buAutoNum type="arabicPeriod"/>
            </a:pPr>
            <a:r>
              <a:rPr lang="en-US" sz="2400" dirty="0">
                <a:latin typeface="Arial"/>
                <a:cs typeface="Arial"/>
              </a:rPr>
              <a:t>Begin meeting by stating the purpose</a:t>
            </a:r>
          </a:p>
          <a:p>
            <a:pPr>
              <a:buAutoNum type="arabicPeriod"/>
            </a:pPr>
            <a:r>
              <a:rPr lang="en-US" sz="2400" dirty="0">
                <a:latin typeface="Arial"/>
                <a:cs typeface="Arial"/>
              </a:rPr>
              <a:t>Introduce everyone</a:t>
            </a:r>
          </a:p>
          <a:p>
            <a:pPr>
              <a:buAutoNum type="arabicPeriod"/>
            </a:pPr>
            <a:r>
              <a:rPr lang="en-US" sz="2400" dirty="0">
                <a:latin typeface="Arial"/>
                <a:cs typeface="Arial"/>
              </a:rPr>
              <a:t>Review past goals and performance</a:t>
            </a:r>
          </a:p>
          <a:p>
            <a:pPr>
              <a:buAutoNum type="arabicPeriod"/>
            </a:pPr>
            <a:r>
              <a:rPr lang="en-US" sz="2400" dirty="0">
                <a:latin typeface="Arial"/>
                <a:cs typeface="Arial"/>
              </a:rPr>
              <a:t>Ask for others' feedback</a:t>
            </a:r>
          </a:p>
          <a:p>
            <a:pPr>
              <a:buAutoNum type="arabicPeriod"/>
            </a:pPr>
            <a:r>
              <a:rPr lang="en-US" sz="2400" dirty="0">
                <a:latin typeface="Arial"/>
                <a:cs typeface="Arial"/>
              </a:rPr>
              <a:t>State your school and transition goals</a:t>
            </a:r>
          </a:p>
          <a:p>
            <a:pPr>
              <a:buAutoNum type="arabicPeriod"/>
            </a:pPr>
            <a:r>
              <a:rPr lang="en-US" sz="2400" dirty="0">
                <a:latin typeface="Arial"/>
                <a:cs typeface="Arial"/>
              </a:rPr>
              <a:t>Ask questions if you don't understand</a:t>
            </a:r>
          </a:p>
          <a:p>
            <a:pPr>
              <a:buAutoNum type="arabicPeriod"/>
            </a:pPr>
            <a:r>
              <a:rPr lang="en-US" sz="2400" dirty="0">
                <a:latin typeface="Arial"/>
                <a:cs typeface="Arial"/>
              </a:rPr>
              <a:t>Deal with differences in opinion</a:t>
            </a:r>
          </a:p>
          <a:p>
            <a:pPr>
              <a:buAutoNum type="arabicPeriod"/>
            </a:pPr>
            <a:r>
              <a:rPr lang="en-US" sz="2400" dirty="0">
                <a:latin typeface="Arial"/>
                <a:cs typeface="Arial"/>
              </a:rPr>
              <a:t>State what support you'll need</a:t>
            </a:r>
          </a:p>
          <a:p>
            <a:pPr>
              <a:buAutoNum type="arabicPeriod"/>
            </a:pPr>
            <a:r>
              <a:rPr lang="en-US" sz="2400" dirty="0">
                <a:latin typeface="Arial"/>
                <a:cs typeface="Arial"/>
              </a:rPr>
              <a:t>Summarize your goals</a:t>
            </a:r>
          </a:p>
          <a:p>
            <a:pPr>
              <a:buAutoNum type="arabicPeriod"/>
            </a:pPr>
            <a:r>
              <a:rPr lang="en-US" sz="2400" dirty="0">
                <a:latin typeface="Arial"/>
                <a:cs typeface="Arial"/>
              </a:rPr>
              <a:t>Close meeting by thanking everyone</a:t>
            </a:r>
          </a:p>
          <a:p>
            <a:pPr>
              <a:buAutoNum type="arabicPeriod"/>
            </a:pPr>
            <a:r>
              <a:rPr lang="en-US" sz="2400" dirty="0">
                <a:latin typeface="Arial"/>
                <a:cs typeface="Arial"/>
              </a:rPr>
              <a:t>Work on IEP goals all year</a:t>
            </a:r>
          </a:p>
        </p:txBody>
      </p:sp>
    </p:spTree>
    <p:extLst>
      <p:ext uri="{BB962C8B-B14F-4D97-AF65-F5344CB8AC3E}">
        <p14:creationId xmlns:p14="http://schemas.microsoft.com/office/powerpoint/2010/main" val="953708194"/>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4547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IEP Script from Self-Directed IEP Student Workbook</a:t>
            </a:r>
            <a:endParaRPr sz="2400" dirty="0">
              <a:latin typeface="Verdana Pro" panose="020B0604030504040204" pitchFamily="34" charset="0"/>
            </a:endParaRPr>
          </a:p>
        </p:txBody>
      </p:sp>
      <p:pic>
        <p:nvPicPr>
          <p:cNvPr id="9" name="Picture 8" descr="A screenshot of a worksheet with text that asks the student to fill in blanks and build a script. Instructions:&#10;In the blanks on this page, list the people you would like at your next staffing. Write why you would invite each person.&#10;Script:&#10;First Person:&#10;&#10;This is (Administrator’s Name), my (Position or Title).&#10;I invited him/her because (space to explain the reason).&#10;Second Person:&#10;&#10;This is (Parent or Guardian’s Name), my (Position or Title).&#10;I invited him/her because (space to explain the reason).&#10;Third Person:&#10;&#10;This is (Teacher’s Name), my (Position or Title).&#10;I invited him/her because (space to explain the reason).">
            <a:extLst>
              <a:ext uri="{FF2B5EF4-FFF2-40B4-BE49-F238E27FC236}">
                <a16:creationId xmlns:a16="http://schemas.microsoft.com/office/drawing/2014/main" id="{11654492-79A2-297A-5C25-F6DF1E72A1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5758" y="780074"/>
            <a:ext cx="3875740" cy="3775505"/>
          </a:xfrm>
          <a:prstGeom prst="rect">
            <a:avLst/>
          </a:prstGeom>
        </p:spPr>
      </p:pic>
      <p:pic>
        <p:nvPicPr>
          <p:cNvPr id="7" name="Picture 6" descr="A screenshot of a worksheet with text that says Ideas for School or Transition Goals for Next Year. Sections:&#10;Ideas for School or Transition Goals for Next Year&#10;Note: You need to consider your interests, skills, and limits. You may need to complete the Choosing Goals lessons or other goal-setting activities first.&#10;Numbered List:&#10;(Space for the first goal idea)&#10;(Space for the second goal idea)&#10;(Space for the third goal idea)&#10;(Space for the fourth goal idea)&#10;Summarize Your New Goals&#10;Note: This section may be completed during or after the staffing.&#10;Goal 1:&#10;&#10;My new goal is (space to write the goal)&#10;The action I will take is (space to describe the action plan)&#10;I will receive feedback by (space to note when and how feedback will be received)&#10;My support will be (space to describe the support system or resources needed)&#10;Goal 2:&#10;&#10;My new goal is (space to write the goal)&#10;The action I will take is (space to describe the action plan)">
            <a:extLst>
              <a:ext uri="{FF2B5EF4-FFF2-40B4-BE49-F238E27FC236}">
                <a16:creationId xmlns:a16="http://schemas.microsoft.com/office/drawing/2014/main" id="{D0316902-6CF4-8E96-8EB2-19BD50AFFD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38475" y="686113"/>
            <a:ext cx="4275267" cy="4337955"/>
          </a:xfrm>
          <a:prstGeom prst="rect">
            <a:avLst/>
          </a:prstGeom>
        </p:spPr>
      </p:pic>
    </p:spTree>
    <p:extLst>
      <p:ext uri="{BB962C8B-B14F-4D97-AF65-F5344CB8AC3E}">
        <p14:creationId xmlns:p14="http://schemas.microsoft.com/office/powerpoint/2010/main" val="3241344260"/>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2800" dirty="0"/>
              <a:t>Take Action(Part 3 of the </a:t>
            </a:r>
            <a:r>
              <a:rPr lang="en-US" sz="2800" dirty="0" err="1"/>
              <a:t>ChoiceMaker</a:t>
            </a:r>
            <a:r>
              <a:rPr lang="en-US" sz="2800" dirty="0"/>
              <a:t> Curriculum)</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600"/>
              </a:spcAft>
              <a:buClr>
                <a:schemeClr val="dk1"/>
              </a:buClr>
              <a:buSzPts val="1100"/>
              <a:buFont typeface="Arial" panose="020B0604020202020204" pitchFamily="34" charset="0"/>
              <a:buChar char="•"/>
            </a:pPr>
            <a:r>
              <a:rPr lang="en-US" dirty="0"/>
              <a:t>Make a goal</a:t>
            </a:r>
          </a:p>
          <a:p>
            <a:pPr marL="342900" lvl="0" rtl="0">
              <a:spcBef>
                <a:spcPts val="0"/>
              </a:spcBef>
              <a:spcAft>
                <a:spcPts val="600"/>
              </a:spcAft>
              <a:buClr>
                <a:schemeClr val="dk1"/>
              </a:buClr>
              <a:buSzPts val="1100"/>
              <a:buFont typeface="Arial" panose="020B0604020202020204" pitchFamily="34" charset="0"/>
              <a:buChar char="•"/>
            </a:pPr>
            <a:r>
              <a:rPr lang="en-US" dirty="0"/>
              <a:t>Set a goal (with performance criteria)</a:t>
            </a:r>
          </a:p>
          <a:p>
            <a:pPr marL="342900" lvl="0" rtl="0">
              <a:spcBef>
                <a:spcPts val="0"/>
              </a:spcBef>
              <a:spcAft>
                <a:spcPts val="600"/>
              </a:spcAft>
              <a:buClr>
                <a:schemeClr val="dk1"/>
              </a:buClr>
              <a:buSzPts val="1100"/>
              <a:buFont typeface="Arial" panose="020B0604020202020204" pitchFamily="34" charset="0"/>
              <a:buChar char="•"/>
            </a:pPr>
            <a:r>
              <a:rPr lang="en-US" dirty="0"/>
              <a:t>Explain motivation for goals</a:t>
            </a:r>
          </a:p>
          <a:p>
            <a:pPr marL="342900" lvl="0" rtl="0">
              <a:spcBef>
                <a:spcPts val="0"/>
              </a:spcBef>
              <a:spcAft>
                <a:spcPts val="600"/>
              </a:spcAft>
              <a:buClr>
                <a:schemeClr val="dk1"/>
              </a:buClr>
              <a:buSzPts val="1100"/>
              <a:buFont typeface="Arial" panose="020B0604020202020204" pitchFamily="34" charset="0"/>
              <a:buChar char="•"/>
            </a:pPr>
            <a:r>
              <a:rPr lang="en-US" dirty="0"/>
              <a:t>Break goals down into smaller parts</a:t>
            </a:r>
          </a:p>
          <a:p>
            <a:pPr marL="342900" lvl="0" rtl="0">
              <a:spcBef>
                <a:spcPts val="0"/>
              </a:spcBef>
              <a:spcAft>
                <a:spcPts val="600"/>
              </a:spcAft>
              <a:buClr>
                <a:schemeClr val="dk1"/>
              </a:buClr>
              <a:buSzPts val="1100"/>
              <a:buFont typeface="Arial" panose="020B0604020202020204" pitchFamily="34" charset="0"/>
              <a:buChar char="•"/>
            </a:pPr>
            <a:r>
              <a:rPr lang="en-US" dirty="0"/>
              <a:t>Monitor progress toward goals</a:t>
            </a:r>
          </a:p>
          <a:p>
            <a:pPr marL="342900" lvl="0" rtl="0">
              <a:spcBef>
                <a:spcPts val="0"/>
              </a:spcBef>
              <a:spcAft>
                <a:spcPts val="600"/>
              </a:spcAft>
              <a:buClr>
                <a:schemeClr val="dk1"/>
              </a:buClr>
              <a:buSzPts val="1100"/>
              <a:buFont typeface="Arial" panose="020B0604020202020204" pitchFamily="34" charset="0"/>
              <a:buChar char="•"/>
            </a:pPr>
            <a:r>
              <a:rPr lang="en-US" dirty="0"/>
              <a:t>Adjust goals</a:t>
            </a:r>
          </a:p>
          <a:p>
            <a:pPr marL="342900" lvl="0" rtl="0">
              <a:spcBef>
                <a:spcPts val="0"/>
              </a:spcBef>
              <a:spcAft>
                <a:spcPts val="600"/>
              </a:spcAft>
              <a:buClr>
                <a:schemeClr val="dk1"/>
              </a:buClr>
              <a:buSzPts val="1100"/>
              <a:buFont typeface="Arial" panose="020B0604020202020204" pitchFamily="34" charset="0"/>
              <a:buChar char="•"/>
            </a:pPr>
            <a:r>
              <a:rPr lang="en-US" dirty="0"/>
              <a:t>Accomplish goals</a:t>
            </a:r>
          </a:p>
        </p:txBody>
      </p:sp>
    </p:spTree>
    <p:extLst>
      <p:ext uri="{BB962C8B-B14F-4D97-AF65-F5344CB8AC3E}">
        <p14:creationId xmlns:p14="http://schemas.microsoft.com/office/powerpoint/2010/main" val="2595569610"/>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204652" y="62912"/>
            <a:ext cx="6131798" cy="5692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Screenshot 1 from Take Action</a:t>
            </a:r>
            <a:endParaRPr sz="2800" dirty="0">
              <a:latin typeface="Verdana Pro" panose="020B0604030504040204" pitchFamily="34" charset="0"/>
            </a:endParaRPr>
          </a:p>
        </p:txBody>
      </p:sp>
      <p:pic>
        <p:nvPicPr>
          <p:cNvPr id="3" name="Picture 2" descr="A diagram of a goal building chart. The image shows a worksheet titled &quot;Breaking Down Long-Term Goals,&quot; which is designed to help individuals break down a long-term goal into smaller, more manageable short-term goals.&#10;&#10;Sections:&#10;Name, Date: (fields to be filled out by the individual)&#10;Long-Term Goal:&#10;What you want to accomplish:&#10;There is a large box where the individual can write their long-term goal.&#10;Short-Term Goals:&#10;Smaller goals leading to your long-term goal you can start working on this week:&#10;Below the long-term goal box, there are four smaller boxes connected to the long-term goal box with lines. These boxes are for writing short-term goals that contribute to achieving the long-term goal.">
            <a:extLst>
              <a:ext uri="{FF2B5EF4-FFF2-40B4-BE49-F238E27FC236}">
                <a16:creationId xmlns:a16="http://schemas.microsoft.com/office/drawing/2014/main" id="{9C503B10-C741-B03D-C54C-53B8373875F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 y="547511"/>
            <a:ext cx="7638346" cy="4490949"/>
          </a:xfrm>
          <a:prstGeom prst="rect">
            <a:avLst/>
          </a:prstGeom>
        </p:spPr>
      </p:pic>
    </p:spTree>
    <p:extLst>
      <p:ext uri="{BB962C8B-B14F-4D97-AF65-F5344CB8AC3E}">
        <p14:creationId xmlns:p14="http://schemas.microsoft.com/office/powerpoint/2010/main" val="2868475831"/>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42563" y="83906"/>
            <a:ext cx="6131798" cy="4410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Screenshot 2 from Take Action</a:t>
            </a:r>
            <a:endParaRPr sz="2400" dirty="0">
              <a:latin typeface="Verdana Pro" panose="020B0604030504040204" pitchFamily="34" charset="0"/>
            </a:endParaRPr>
          </a:p>
        </p:txBody>
      </p:sp>
      <p:pic>
        <p:nvPicPr>
          <p:cNvPr id="4" name="Picture 3" descr="A worksheet for building a student plan. The image shows a worksheet titled &quot;Kristal's Take Action (page 1),&quot; designed to help plan and achieve a long-term goal by breaking it down into actionable steps. The worksheet is part of a student plan.&#10;&#10;Sections:&#10;Name: (filled out with &quot;Kristal&quot;)&#10;Date: (filled out with &quot;June 15&quot;)&#10;Long-Term Goal: (filled out with &quot;Get my driver’s license&quot;)&#10;Short-Term Goal: (filled out with &quot;Learn to drive&quot;)&#10;Part 1: Student Plan&#10;The plan is broken down into several columns:&#10;&#10;STANDARD&#10;Question: What will I be satisfied with?&#10;(Space for the student to write their answer)&#10;&#10;MOTIVATION&#10;Question: Why do I want to do this?&#10;(Space for the student to write their reason or motivation)&#10;&#10;STRATEGY&#10;Question: What methods should I use?&#10;(Space for the student to outline their methods or strategies)&#10;&#10;SCHEDULE&#10;Question: When will I do this?&#10;(Space for the student to plan when they will take action)&#10;&#10;SUPPORT&#10;Question: What help do I need?&#10;(Space for the student to note any support or resources needed)&#10;&#10;FEEDBACK&#10;Question: How will I get information on my performance?&#10;(Space for the student to plan how they will receive feedback)&#10;&#10;">
            <a:extLst>
              <a:ext uri="{FF2B5EF4-FFF2-40B4-BE49-F238E27FC236}">
                <a16:creationId xmlns:a16="http://schemas.microsoft.com/office/drawing/2014/main" id="{EFE187DA-50EC-4B7C-02C2-8A6DD72A6F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3777" y="818913"/>
            <a:ext cx="7207956" cy="4240681"/>
          </a:xfrm>
          <a:prstGeom prst="rect">
            <a:avLst/>
          </a:prstGeom>
        </p:spPr>
      </p:pic>
    </p:spTree>
    <p:extLst>
      <p:ext uri="{BB962C8B-B14F-4D97-AF65-F5344CB8AC3E}">
        <p14:creationId xmlns:p14="http://schemas.microsoft.com/office/powerpoint/2010/main" val="3428150367"/>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71"/>
          <p:cNvSpPr txBox="1">
            <a:spLocks noGrp="1"/>
          </p:cNvSpPr>
          <p:nvPr>
            <p:ph type="subTitle" idx="1"/>
          </p:nvPr>
        </p:nvSpPr>
        <p:spPr>
          <a:xfrm>
            <a:off x="105655" y="2055873"/>
            <a:ext cx="8935596" cy="29889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mj-lt"/>
              </a:rPr>
              <a:t>You have 10 minutes to go explore the </a:t>
            </a:r>
            <a:r>
              <a:rPr lang="en-US" sz="2400" dirty="0" err="1">
                <a:latin typeface="+mj-lt"/>
              </a:rPr>
              <a:t>ChoiceMaker</a:t>
            </a:r>
            <a:r>
              <a:rPr lang="en-US" sz="2400" dirty="0">
                <a:latin typeface="+mj-lt"/>
              </a:rPr>
              <a:t> Curriculum. </a:t>
            </a:r>
          </a:p>
          <a:p>
            <a:pPr marL="0" lvl="0" indent="0" algn="ctr" rtl="0">
              <a:spcBef>
                <a:spcPts val="0"/>
              </a:spcBef>
              <a:spcAft>
                <a:spcPts val="0"/>
              </a:spcAft>
              <a:buNone/>
            </a:pPr>
            <a:endParaRPr lang="en-US" sz="2400" dirty="0">
              <a:latin typeface="+mj-lt"/>
            </a:endParaRPr>
          </a:p>
          <a:p>
            <a:pPr marL="0" lvl="0" indent="0" algn="ctr" rtl="0">
              <a:spcBef>
                <a:spcPts val="0"/>
              </a:spcBef>
              <a:spcAft>
                <a:spcPts val="0"/>
              </a:spcAft>
              <a:buNone/>
            </a:pPr>
            <a:r>
              <a:rPr lang="en-US" sz="2400" dirty="0">
                <a:latin typeface="+mj-lt"/>
              </a:rPr>
              <a:t>Share your favorite part with your group (Choosing Goals, Self-Directed IEP, or Take Action). How could you use one of the activities in that part in your own classroom? How could you practice goal setting in your own life? </a:t>
            </a:r>
          </a:p>
        </p:txBody>
      </p:sp>
      <p:sp>
        <p:nvSpPr>
          <p:cNvPr id="4" name="Google Shape;466;p65">
            <a:extLst>
              <a:ext uri="{FF2B5EF4-FFF2-40B4-BE49-F238E27FC236}">
                <a16:creationId xmlns:a16="http://schemas.microsoft.com/office/drawing/2014/main" id="{CB9A3147-E57A-80D7-1762-312AA38443A3}"/>
              </a:ext>
            </a:extLst>
          </p:cNvPr>
          <p:cNvSpPr txBox="1">
            <a:spLocks/>
          </p:cNvSpPr>
          <p:nvPr/>
        </p:nvSpPr>
        <p:spPr>
          <a:xfrm>
            <a:off x="671690" y="213038"/>
            <a:ext cx="6213810" cy="4925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https://tinyurl.com/choicemakercurriculum</a:t>
            </a:r>
          </a:p>
        </p:txBody>
      </p:sp>
      <p:pic>
        <p:nvPicPr>
          <p:cNvPr id="5" name="Picture 4" descr="A qr code for the website https://tinyurl.com/choicemakercurriculum">
            <a:extLst>
              <a:ext uri="{FF2B5EF4-FFF2-40B4-BE49-F238E27FC236}">
                <a16:creationId xmlns:a16="http://schemas.microsoft.com/office/drawing/2014/main" id="{B69CD466-5938-140D-32F7-F7D83E85E0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70749" y="843621"/>
            <a:ext cx="1548049" cy="1556602"/>
          </a:xfrm>
          <a:prstGeom prst="rect">
            <a:avLst/>
          </a:prstGeom>
        </p:spPr>
      </p:pic>
      <p:sp>
        <p:nvSpPr>
          <p:cNvPr id="6" name="Title 5">
            <a:extLst>
              <a:ext uri="{FF2B5EF4-FFF2-40B4-BE49-F238E27FC236}">
                <a16:creationId xmlns:a16="http://schemas.microsoft.com/office/drawing/2014/main" id="{B6AD670E-49D2-8659-AF30-25B076F6F081}"/>
              </a:ext>
            </a:extLst>
          </p:cNvPr>
          <p:cNvSpPr>
            <a:spLocks noGrp="1"/>
          </p:cNvSpPr>
          <p:nvPr>
            <p:ph type="title"/>
          </p:nvPr>
        </p:nvSpPr>
        <p:spPr>
          <a:xfrm>
            <a:off x="713225" y="-572700"/>
            <a:ext cx="3834000" cy="572700"/>
          </a:xfrm>
        </p:spPr>
        <p:txBody>
          <a:bodyPr spcFirstLastPara="1" vert="horz" wrap="square" lIns="91425" tIns="91425" rIns="91425" bIns="91425" rtlCol="0" anchor="b" anchorCtr="0">
            <a:noAutofit/>
          </a:bodyPr>
          <a:lstStyle/>
          <a:p>
            <a:r>
              <a:rPr lang="en-US" dirty="0" err="1">
                <a:solidFill>
                  <a:schemeClr val="accent6"/>
                </a:solidFill>
              </a:rPr>
              <a:t>ChoiceMaker</a:t>
            </a:r>
            <a:r>
              <a:rPr lang="en-US" dirty="0">
                <a:solidFill>
                  <a:schemeClr val="accent6"/>
                </a:solidFill>
              </a:rPr>
              <a:t> Break</a:t>
            </a:r>
          </a:p>
        </p:txBody>
      </p:sp>
    </p:spTree>
    <p:extLst>
      <p:ext uri="{BB962C8B-B14F-4D97-AF65-F5344CB8AC3E}">
        <p14:creationId xmlns:p14="http://schemas.microsoft.com/office/powerpoint/2010/main" val="2009537173"/>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Self-Determined Learning Model for Instruction (SDLMI)</a:t>
            </a:r>
            <a:endParaRPr sz="4000" dirty="0">
              <a:latin typeface="Verdana Pro" panose="020B0604030504040204" pitchFamily="34" charset="0"/>
            </a:endParaRPr>
          </a:p>
        </p:txBody>
      </p:sp>
      <p:sp>
        <p:nvSpPr>
          <p:cNvPr id="11" name="Google Shape;466;p65">
            <a:extLst>
              <a:ext uri="{FF2B5EF4-FFF2-40B4-BE49-F238E27FC236}">
                <a16:creationId xmlns:a16="http://schemas.microsoft.com/office/drawing/2014/main" id="{2AED45DF-4766-7141-236F-75EE11EC9EE6}"/>
              </a:ext>
            </a:extLst>
          </p:cNvPr>
          <p:cNvSpPr txBox="1">
            <a:spLocks noGrp="1"/>
          </p:cNvSpPr>
          <p:nvPr>
            <p:ph type="subTitle" idx="1"/>
          </p:nvPr>
        </p:nvSpPr>
        <p:spPr>
          <a:xfrm>
            <a:off x="621575" y="1461247"/>
            <a:ext cx="5088943" cy="3422390"/>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15 minutes 2 times a week (or 15-30 minutes for students with more significant support needs)</a:t>
            </a:r>
          </a:p>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Authors suggest infusing key words and prompts throughout academics to think about goals during other key instructional times</a:t>
            </a:r>
            <a:endParaRPr lang="en-US" sz="3200" dirty="0">
              <a:latin typeface="+mj-lt"/>
              <a:ea typeface="Overpass Light"/>
              <a:cs typeface="Overpass Light"/>
              <a:sym typeface="Overpass Light"/>
            </a:endParaRP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10" name="Picture 9" descr="A qr code for the website https://tinyurl.com/ZI-SDLMI">
            <a:extLst>
              <a:ext uri="{FF2B5EF4-FFF2-40B4-BE49-F238E27FC236}">
                <a16:creationId xmlns:a16="http://schemas.microsoft.com/office/drawing/2014/main" id="{8F6B786F-0540-13EF-7CD6-CF7F0937BD8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36496" y="2571749"/>
            <a:ext cx="1832061" cy="1822211"/>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998027" y="4393960"/>
            <a:ext cx="3839220" cy="3538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https://tinyurl.com/ZI-SDLMI</a:t>
            </a:r>
          </a:p>
        </p:txBody>
      </p:sp>
    </p:spTree>
    <p:extLst>
      <p:ext uri="{BB962C8B-B14F-4D97-AF65-F5344CB8AC3E}">
        <p14:creationId xmlns:p14="http://schemas.microsoft.com/office/powerpoint/2010/main" val="3264583670"/>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81844" y="54024"/>
            <a:ext cx="8980311"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Self-Determined Learning Model for Instruction (SDLMI) Phases</a:t>
            </a:r>
            <a:endParaRPr sz="2400" dirty="0">
              <a:latin typeface="Verdana Pro" panose="020B0604030504040204" pitchFamily="34" charset="0"/>
            </a:endParaRPr>
          </a:p>
        </p:txBody>
      </p:sp>
      <p:pic>
        <p:nvPicPr>
          <p:cNvPr id="5" name="Picture 4" descr="A diagram of person figures depicting phase one: setting a goal (What is my goal?), phase two: taking action (What is my plan?), and phase three: adjusting the goal or plan (What have I learned?).">
            <a:extLst>
              <a:ext uri="{FF2B5EF4-FFF2-40B4-BE49-F238E27FC236}">
                <a16:creationId xmlns:a16="http://schemas.microsoft.com/office/drawing/2014/main" id="{70C9EA8E-4644-B17A-D37E-596C427FB3E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28769" y="761724"/>
            <a:ext cx="8105630" cy="4288248"/>
          </a:xfrm>
          <a:prstGeom prst="rect">
            <a:avLst/>
          </a:prstGeom>
        </p:spPr>
      </p:pic>
    </p:spTree>
    <p:extLst>
      <p:ext uri="{BB962C8B-B14F-4D97-AF65-F5344CB8AC3E}">
        <p14:creationId xmlns:p14="http://schemas.microsoft.com/office/powerpoint/2010/main" val="1547841770"/>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09652" y="76601"/>
            <a:ext cx="8994837" cy="5877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Self-Determined Learning Model for Instruction (SDLMI) Screenshots</a:t>
            </a:r>
            <a:endParaRPr sz="2000" dirty="0">
              <a:latin typeface="Verdana Pro" panose="020B0604030504040204" pitchFamily="34" charset="0"/>
            </a:endParaRPr>
          </a:p>
        </p:txBody>
      </p:sp>
      <p:pic>
        <p:nvPicPr>
          <p:cNvPr id="3" name="Picture 2" descr="A screenshot of a worksheet with text that says The Self-Determined Learning Model of Instruction: Student Questions: Phase one - set a goal. The image shows a worksheet titled &quot;The Self-Determined Learning Model of Instruction: Student Questions – Phase 1 – Set a Goal.&quot; This worksheet is designed to help students identify a learning goal, assess their current knowledge, and determine what changes are needed to achieve that goal.&#10;&#10;Sections:&#10;Name, Date, School: (fields to be filled out by the student)&#10;Date Phase 1 Began: (space to note when this phase of the process started)&#10;What is my goal?&#10;Question: What class do you want to improve?&#10;Options to select:&#10;English&#10;Math&#10;Social studies&#10;Science&#10;Other (with space to specify)&#10;Questions:&#10;Students are instructed to answer the following questions:&#10;&#10;What do I want to learn or improve on in (______ ) class?&#10;(Space provided for the student to describe their learning goal for the specified class)&#10;&#10;What do I know about it now in (______ ) class?&#10;(Space provided for the student to assess their current knowledge or skill level in the specified class)&#10;&#10;What must change for me to learn what I don’t know in (______ ) class?&#10;(Space provided for the student to identify what needs to change or improve in order to achieve their goal)&#10;&#10;">
            <a:extLst>
              <a:ext uri="{FF2B5EF4-FFF2-40B4-BE49-F238E27FC236}">
                <a16:creationId xmlns:a16="http://schemas.microsoft.com/office/drawing/2014/main" id="{C6619947-FDE0-23A8-50FF-748A10BF187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6408" y="821669"/>
            <a:ext cx="4016437" cy="4139076"/>
          </a:xfrm>
          <a:prstGeom prst="rect">
            <a:avLst/>
          </a:prstGeom>
        </p:spPr>
      </p:pic>
      <p:pic>
        <p:nvPicPr>
          <p:cNvPr id="6" name="Picture 5" descr="A screenshot of a worksheet with text that says The Self-Determined Learning Model of Instruction: Phase two - take action. The image shows a worksheet titled &quot;The Self-Determined Learning Model of Instruction: Student Questions – Phase 2 – Take Action.&quot; This worksheet is designed to help students plan the actions they need to take to achieve a previously set goal and to anticipate potential challenges.&#10;&#10;Sections:&#10;Name, School: (fields to be filled out by the student)&#10;Date: (space to note the date)&#10;Date Phase 2 Began: (space to note when Phase 2 started)&#10;What is my plan?&#10;Question: Let’s think about how to achieve the goal that you set.&#10;Questions:&#10;Students are instructed to answer the following questions:&#10;&#10;What can I do to learn what I don’t know?&#10;(Space provided for the student to list actions they can take to acquire the knowledge or skills they need)&#10;&#10;What could keep me from taking action?&#10;(Space provided for the student to identify potential obstacles or challenges that might prevent them from taking action)&#10;&#10;">
            <a:extLst>
              <a:ext uri="{FF2B5EF4-FFF2-40B4-BE49-F238E27FC236}">
                <a16:creationId xmlns:a16="http://schemas.microsoft.com/office/drawing/2014/main" id="{9826C05F-14A9-84A4-3075-BA49E3BCA76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24604" y="773128"/>
            <a:ext cx="4781521" cy="3597243"/>
          </a:xfrm>
          <a:prstGeom prst="rect">
            <a:avLst/>
          </a:prstGeom>
        </p:spPr>
      </p:pic>
    </p:spTree>
    <p:extLst>
      <p:ext uri="{BB962C8B-B14F-4D97-AF65-F5344CB8AC3E}">
        <p14:creationId xmlns:p14="http://schemas.microsoft.com/office/powerpoint/2010/main" val="3224284681"/>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a:xfrm>
            <a:off x="220127" y="320402"/>
            <a:ext cx="7886700" cy="2139553"/>
          </a:xfrm>
        </p:spPr>
        <p:txBody>
          <a:bodyPr spcFirstLastPara="1" lIns="91425" tIns="91425" rIns="91425" bIns="91425" anchor="b" anchorCtr="0">
            <a:normAutofit/>
          </a:bodyPr>
          <a:lstStyle/>
          <a:p>
            <a:pPr marL="0" lvl="0" indent="0" rtl="0">
              <a:spcBef>
                <a:spcPts val="0"/>
              </a:spcBef>
              <a:spcAft>
                <a:spcPts val="0"/>
              </a:spcAft>
              <a:buNone/>
            </a:pPr>
            <a:r>
              <a:rPr lang="en-US" sz="4000" dirty="0"/>
              <a:t>Interactive Application Activity 🎉</a:t>
            </a:r>
          </a:p>
        </p:txBody>
      </p:sp>
      <p:sp>
        <p:nvSpPr>
          <p:cNvPr id="539" name="Google Shape;539;p71"/>
          <p:cNvSpPr txBox="1">
            <a:spLocks noGrp="1"/>
          </p:cNvSpPr>
          <p:nvPr>
            <p:ph type="body" idx="1"/>
          </p:nvPr>
        </p:nvSpPr>
        <p:spPr>
          <a:xfrm>
            <a:off x="534241" y="2738369"/>
            <a:ext cx="7886700" cy="1125140"/>
          </a:xfrm>
        </p:spPr>
        <p:txBody>
          <a:bodyPr spcFirstLastPara="1" lIns="91425" tIns="91425" rIns="91425" bIns="91425" anchorCtr="0">
            <a:normAutofit/>
          </a:bodyPr>
          <a:lstStyle/>
          <a:p>
            <a:pPr lvl="0">
              <a:spcBef>
                <a:spcPts val="0"/>
              </a:spcBef>
              <a:spcAft>
                <a:spcPts val="600"/>
              </a:spcAft>
            </a:pPr>
            <a:r>
              <a:rPr lang="en-US" dirty="0"/>
              <a:t>SDLMI Goal-Setting Practice</a:t>
            </a:r>
          </a:p>
        </p:txBody>
      </p:sp>
    </p:spTree>
    <p:extLst>
      <p:ext uri="{BB962C8B-B14F-4D97-AF65-F5344CB8AC3E}">
        <p14:creationId xmlns:p14="http://schemas.microsoft.com/office/powerpoint/2010/main" val="3389556968"/>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2" name="Google Shape;539;p71">
            <a:extLst>
              <a:ext uri="{FF2B5EF4-FFF2-40B4-BE49-F238E27FC236}">
                <a16:creationId xmlns:a16="http://schemas.microsoft.com/office/drawing/2014/main" id="{0C3F2549-D673-5E85-6F69-940E1F5D86FC}"/>
              </a:ext>
            </a:extLst>
          </p:cNvPr>
          <p:cNvSpPr txBox="1">
            <a:spLocks noGrp="1"/>
          </p:cNvSpPr>
          <p:nvPr>
            <p:ph type="title"/>
          </p:nvPr>
        </p:nvSpPr>
        <p:spPr/>
        <p:txBody>
          <a:bodyPr spcFirstLastPara="1" lIns="91425" tIns="91425" rIns="91425" bIns="91425" anchor="ctr" anchorCtr="0">
            <a:normAutofit/>
          </a:bodyPr>
          <a:lstStyle/>
          <a:p>
            <a:pPr marL="0" indent="0"/>
            <a:r>
              <a:rPr lang="en-US" sz="2800" dirty="0"/>
              <a:t>Pause for Reflection - Daily, Weekly, Monthly, Yearly Implementation</a:t>
            </a:r>
          </a:p>
        </p:txBody>
      </p:sp>
      <p:sp>
        <p:nvSpPr>
          <p:cNvPr id="7" name="Content Placeholder 2">
            <a:extLst>
              <a:ext uri="{FF2B5EF4-FFF2-40B4-BE49-F238E27FC236}">
                <a16:creationId xmlns:a16="http://schemas.microsoft.com/office/drawing/2014/main" id="{337D28B5-C191-92E2-70CD-600635005C33}"/>
              </a:ext>
            </a:extLst>
          </p:cNvPr>
          <p:cNvSpPr>
            <a:spLocks noGrp="1"/>
          </p:cNvSpPr>
          <p:nvPr>
            <p:ph idx="1"/>
          </p:nvPr>
        </p:nvSpPr>
        <p:spPr/>
        <p:txBody>
          <a:bodyPr/>
          <a:lstStyle/>
          <a:p>
            <a:r>
              <a:rPr lang="en-US" dirty="0"/>
              <a:t>What could you do </a:t>
            </a:r>
            <a:r>
              <a:rPr lang="en-US" b="1" dirty="0"/>
              <a:t>DAILY?</a:t>
            </a:r>
          </a:p>
          <a:p>
            <a:pPr marL="0" indent="0">
              <a:buNone/>
            </a:pPr>
            <a:endParaRPr lang="en-US" dirty="0"/>
          </a:p>
          <a:p>
            <a:r>
              <a:rPr lang="en-US" dirty="0"/>
              <a:t>What could you do </a:t>
            </a:r>
            <a:r>
              <a:rPr lang="en-US" b="1" dirty="0"/>
              <a:t>WEEKLY?</a:t>
            </a:r>
          </a:p>
          <a:p>
            <a:pPr marL="0" indent="0">
              <a:buNone/>
            </a:pPr>
            <a:endParaRPr lang="en-US" b="1" dirty="0"/>
          </a:p>
          <a:p>
            <a:r>
              <a:rPr lang="en-US" dirty="0"/>
              <a:t>What could you do </a:t>
            </a:r>
            <a:r>
              <a:rPr lang="en-US" b="1" dirty="0"/>
              <a:t>MONTHLY?</a:t>
            </a:r>
          </a:p>
          <a:p>
            <a:pPr marL="0" indent="0">
              <a:buNone/>
            </a:pPr>
            <a:endParaRPr lang="en-US" b="1" dirty="0"/>
          </a:p>
          <a:p>
            <a:r>
              <a:rPr lang="en-US" dirty="0"/>
              <a:t>What should happen </a:t>
            </a:r>
            <a:r>
              <a:rPr lang="en-US" b="1" dirty="0"/>
              <a:t>YEARLY?</a:t>
            </a:r>
          </a:p>
        </p:txBody>
      </p:sp>
    </p:spTree>
    <p:extLst>
      <p:ext uri="{BB962C8B-B14F-4D97-AF65-F5344CB8AC3E}">
        <p14:creationId xmlns:p14="http://schemas.microsoft.com/office/powerpoint/2010/main" val="2427192720"/>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F30625-C4BB-CDCB-B016-1352AD374658}"/>
              </a:ext>
            </a:extLst>
          </p:cNvPr>
          <p:cNvSpPr>
            <a:spLocks noGrp="1"/>
          </p:cNvSpPr>
          <p:nvPr>
            <p:ph type="title"/>
          </p:nvPr>
        </p:nvSpPr>
        <p:spPr>
          <a:xfrm>
            <a:off x="4921623" y="2330823"/>
            <a:ext cx="7441793" cy="579760"/>
          </a:xfrm>
        </p:spPr>
        <p:txBody>
          <a:bodyPr/>
          <a:lstStyle/>
          <a:p>
            <a:r>
              <a:rPr lang="en-US" sz="7200" dirty="0"/>
              <a:t>Module 5 Complete</a:t>
            </a:r>
          </a:p>
        </p:txBody>
      </p:sp>
      <p:sp>
        <p:nvSpPr>
          <p:cNvPr id="2" name="Subtitle 1">
            <a:extLst>
              <a:ext uri="{FF2B5EF4-FFF2-40B4-BE49-F238E27FC236}">
                <a16:creationId xmlns:a16="http://schemas.microsoft.com/office/drawing/2014/main" id="{3F9DA5AD-DE4A-E753-80FD-78A0653BA96B}"/>
              </a:ext>
            </a:extLst>
          </p:cNvPr>
          <p:cNvSpPr>
            <a:spLocks noGrp="1"/>
          </p:cNvSpPr>
          <p:nvPr>
            <p:ph type="subTitle" idx="1"/>
          </p:nvPr>
        </p:nvSpPr>
        <p:spPr>
          <a:xfrm>
            <a:off x="4450977" y="4258235"/>
            <a:ext cx="4757110" cy="643331"/>
          </a:xfrm>
        </p:spPr>
        <p:txBody>
          <a:bodyPr/>
          <a:lstStyle/>
          <a:p>
            <a:r>
              <a:rPr lang="en-US" sz="2100" dirty="0"/>
              <a:t>Next Step: Complete Module 5 Quiz </a:t>
            </a:r>
          </a:p>
        </p:txBody>
      </p:sp>
      <p:pic>
        <p:nvPicPr>
          <p:cNvPr id="5" name="Picture 4" descr="Close up of checklist">
            <a:extLst>
              <a:ext uri="{FF2B5EF4-FFF2-40B4-BE49-F238E27FC236}">
                <a16:creationId xmlns:a16="http://schemas.microsoft.com/office/drawing/2014/main" id="{B98A298A-A2FB-6E7E-AE9F-3BDF38006E9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715" y="69890"/>
            <a:ext cx="4188760" cy="2792506"/>
          </a:xfrm>
          <a:prstGeom prst="rect">
            <a:avLst/>
          </a:prstGeom>
          <a:ln w="60325">
            <a:solidFill>
              <a:srgbClr val="002060"/>
            </a:solidFill>
          </a:ln>
        </p:spPr>
      </p:pic>
    </p:spTree>
    <p:extLst>
      <p:ext uri="{BB962C8B-B14F-4D97-AF65-F5344CB8AC3E}">
        <p14:creationId xmlns:p14="http://schemas.microsoft.com/office/powerpoint/2010/main" val="4036433792"/>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11389</TotalTime>
  <Words>6428</Words>
  <Application>Microsoft Office PowerPoint</Application>
  <PresentationFormat>On-screen Show (16:9)</PresentationFormat>
  <Paragraphs>545</Paragraphs>
  <Slides>21</Slides>
  <Notes>21</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21</vt:i4>
      </vt:variant>
      <vt:variant>
        <vt:lpstr>Custom Shows</vt:lpstr>
      </vt:variant>
      <vt:variant>
        <vt:i4>3</vt:i4>
      </vt:variant>
    </vt:vector>
  </HeadingPairs>
  <TitlesOfParts>
    <vt:vector size="30" baseType="lpstr">
      <vt:lpstr>Overpass Light</vt:lpstr>
      <vt:lpstr>Aptos</vt:lpstr>
      <vt:lpstr>Arial</vt:lpstr>
      <vt:lpstr>Atkinson Hyperlegible Next</vt:lpstr>
      <vt:lpstr>Verdana Pro</vt:lpstr>
      <vt:lpstr>Template</vt:lpstr>
      <vt:lpstr>Module 5-C Curriculum</vt:lpstr>
      <vt:lpstr>Me! Curriculum</vt:lpstr>
      <vt:lpstr>Screenshot of Me! Curriculum Worksheet</vt:lpstr>
      <vt:lpstr>ChoiceMaker Curriculum</vt:lpstr>
      <vt:lpstr>Choosing Goals(Part 1 of the ChoiceMaker)</vt:lpstr>
      <vt:lpstr>Choosing Education Goals: p. 10 &amp; p. 13</vt:lpstr>
      <vt:lpstr>Choosing Employment Goals: p. 13 &amp; p. 46 </vt:lpstr>
      <vt:lpstr>Choosing Personal Goals: p. 63 &amp; p. 143</vt:lpstr>
      <vt:lpstr>Self-Directed IEP (Part 2 of the ChoiceMaker: Expressing Goals)</vt:lpstr>
      <vt:lpstr>Self-Directed IEP Steps</vt:lpstr>
      <vt:lpstr>IEP Script from Self-Directed IEP Student Workbook</vt:lpstr>
      <vt:lpstr>Take Action(Part 3 of the ChoiceMaker Curriculum)</vt:lpstr>
      <vt:lpstr>Screenshot 1 from Take Action</vt:lpstr>
      <vt:lpstr>Screenshot 2 from Take Action</vt:lpstr>
      <vt:lpstr>ChoiceMaker Break</vt:lpstr>
      <vt:lpstr>Self-Determined Learning Model for Instruction (SDLMI)</vt:lpstr>
      <vt:lpstr>Self-Determined Learning Model for Instruction (SDLMI) Phases</vt:lpstr>
      <vt:lpstr>Self-Determined Learning Model for Instruction (SDLMI) Screenshots</vt:lpstr>
      <vt:lpstr>Interactive Application Activity 🎉</vt:lpstr>
      <vt:lpstr>Pause for Reflection - Daily, Weekly, Monthly, Yearly Implementation</vt:lpstr>
      <vt:lpstr>Module 5 Complete</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cp:lastModifiedBy>Erin Berry</cp:lastModifiedBy>
  <cp:revision>63</cp:revision>
  <dcterms:modified xsi:type="dcterms:W3CDTF">2026-06-09T17:34:07Z</dcterms:modified>
</cp:coreProperties>
</file>