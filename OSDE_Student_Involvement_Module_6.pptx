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945" r:id="rId1"/>
  </p:sldMasterIdLst>
  <p:notesMasterIdLst>
    <p:notesMasterId r:id="rId23"/>
  </p:notesMasterIdLst>
  <p:sldIdLst>
    <p:sldId id="542" r:id="rId2"/>
    <p:sldId id="520" r:id="rId3"/>
    <p:sldId id="521" r:id="rId4"/>
    <p:sldId id="522" r:id="rId5"/>
    <p:sldId id="523" r:id="rId6"/>
    <p:sldId id="540" r:id="rId7"/>
    <p:sldId id="273" r:id="rId8"/>
    <p:sldId id="543" r:id="rId9"/>
    <p:sldId id="544" r:id="rId10"/>
    <p:sldId id="545" r:id="rId11"/>
    <p:sldId id="546" r:id="rId12"/>
    <p:sldId id="526" r:id="rId13"/>
    <p:sldId id="527" r:id="rId14"/>
    <p:sldId id="547" r:id="rId15"/>
    <p:sldId id="548" r:id="rId16"/>
    <p:sldId id="549" r:id="rId17"/>
    <p:sldId id="550" r:id="rId18"/>
    <p:sldId id="551" r:id="rId19"/>
    <p:sldId id="552" r:id="rId20"/>
    <p:sldId id="553" r:id="rId21"/>
    <p:sldId id="554" r:id="rId22"/>
  </p:sldIdLst>
  <p:sldSz cx="9144000" cy="5143500" type="screen16x9"/>
  <p:notesSz cx="6858000" cy="9144000"/>
  <p:embeddedFontLst>
    <p:embeddedFont>
      <p:font typeface="Atkinson Hyperlegible Next" pitchFamily="2" charset="0"/>
      <p:regular r:id="rId24"/>
      <p:bold r:id="rId25"/>
      <p:italic r:id="rId26"/>
      <p:boldItalic r:id="rId27"/>
    </p:embeddedFont>
    <p:embeddedFont>
      <p:font typeface="Bebas Neue" panose="020B0606020202050201" pitchFamily="34" charset="0"/>
      <p:regular r:id="rId28"/>
    </p:embeddedFont>
    <p:embeddedFont>
      <p:font typeface="Verdana Pro" panose="020B0604030504040204" pitchFamily="34" charset="0"/>
      <p:regular r:id="rId29"/>
      <p:bold r:id="rId30"/>
      <p:italic r:id="rId31"/>
      <p:boldItalic r:id="rId32"/>
    </p:embeddedFont>
  </p:embeddedFontLst>
  <p:custShowLst>
    <p:custShow name="Module 4-A" id="0">
      <p:sldLst/>
    </p:custShow>
    <p:custShow name="Module 4 B" id="1">
      <p:sldLst/>
    </p:custShow>
    <p:custShow name="Module 5 B" id="2">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00494C-80A8-485A-B43F-C125E7831DE5}" v="3" dt="2026-06-09T17:41:35.778"/>
  </p1510:revLst>
</p1510:revInfo>
</file>

<file path=ppt/tableStyles.xml><?xml version="1.0" encoding="utf-8"?>
<a:tblStyleLst xmlns:a="http://schemas.openxmlformats.org/drawingml/2006/main" def="{A9794ACA-B6A2-47D9-BE13-C8960EFA1BC4}">
  <a:tblStyle styleId="{A9794ACA-B6A2-47D9-BE13-C8960EFA1BC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97" autoAdjust="0"/>
    <p:restoredTop sz="91466" autoAdjust="0"/>
  </p:normalViewPr>
  <p:slideViewPr>
    <p:cSldViewPr snapToGrid="0">
      <p:cViewPr varScale="1">
        <p:scale>
          <a:sx n="122" d="100"/>
          <a:sy n="122" d="100"/>
        </p:scale>
        <p:origin x="82" y="254"/>
      </p:cViewPr>
      <p:guideLst/>
    </p:cSldViewPr>
  </p:slideViewPr>
  <p:outlineViewPr>
    <p:cViewPr>
      <p:scale>
        <a:sx n="33" d="100"/>
        <a:sy n="33" d="100"/>
      </p:scale>
      <p:origin x="0" y="0"/>
    </p:cViewPr>
  </p:outlineViewPr>
  <p:notesTextViewPr>
    <p:cViewPr>
      <p:scale>
        <a:sx n="200" d="100"/>
        <a:sy n="2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n Berry" userId="b7d8294d-da7c-45c9-9002-ab631a364979" providerId="ADAL" clId="{718D2BA2-B69C-4596-B36D-F24A681F5194}"/>
    <pc:docChg chg="modSld">
      <pc:chgData name="Erin Berry" userId="b7d8294d-da7c-45c9-9002-ab631a364979" providerId="ADAL" clId="{718D2BA2-B69C-4596-B36D-F24A681F5194}" dt="2026-06-09T17:41:35.777" v="1"/>
      <pc:docMkLst>
        <pc:docMk/>
      </pc:docMkLst>
      <pc:sldChg chg="modTransition">
        <pc:chgData name="Erin Berry" userId="b7d8294d-da7c-45c9-9002-ab631a364979" providerId="ADAL" clId="{718D2BA2-B69C-4596-B36D-F24A681F5194}" dt="2026-06-09T17:41:35.777" v="1"/>
        <pc:sldMkLst>
          <pc:docMk/>
          <pc:sldMk cId="0" sldId="273"/>
        </pc:sldMkLst>
      </pc:sldChg>
      <pc:sldChg chg="modTransition">
        <pc:chgData name="Erin Berry" userId="b7d8294d-da7c-45c9-9002-ab631a364979" providerId="ADAL" clId="{718D2BA2-B69C-4596-B36D-F24A681F5194}" dt="2026-06-09T17:41:35.777" v="1"/>
        <pc:sldMkLst>
          <pc:docMk/>
          <pc:sldMk cId="1850363661" sldId="520"/>
        </pc:sldMkLst>
      </pc:sldChg>
      <pc:sldChg chg="modTransition">
        <pc:chgData name="Erin Berry" userId="b7d8294d-da7c-45c9-9002-ab631a364979" providerId="ADAL" clId="{718D2BA2-B69C-4596-B36D-F24A681F5194}" dt="2026-06-09T17:41:35.777" v="1"/>
        <pc:sldMkLst>
          <pc:docMk/>
          <pc:sldMk cId="1733848199" sldId="521"/>
        </pc:sldMkLst>
      </pc:sldChg>
      <pc:sldChg chg="modTransition">
        <pc:chgData name="Erin Berry" userId="b7d8294d-da7c-45c9-9002-ab631a364979" providerId="ADAL" clId="{718D2BA2-B69C-4596-B36D-F24A681F5194}" dt="2026-06-09T17:41:35.777" v="1"/>
        <pc:sldMkLst>
          <pc:docMk/>
          <pc:sldMk cId="3568703937" sldId="522"/>
        </pc:sldMkLst>
      </pc:sldChg>
      <pc:sldChg chg="modTransition">
        <pc:chgData name="Erin Berry" userId="b7d8294d-da7c-45c9-9002-ab631a364979" providerId="ADAL" clId="{718D2BA2-B69C-4596-B36D-F24A681F5194}" dt="2026-06-09T17:41:35.777" v="1"/>
        <pc:sldMkLst>
          <pc:docMk/>
          <pc:sldMk cId="784839952" sldId="523"/>
        </pc:sldMkLst>
      </pc:sldChg>
      <pc:sldChg chg="modTransition">
        <pc:chgData name="Erin Berry" userId="b7d8294d-da7c-45c9-9002-ab631a364979" providerId="ADAL" clId="{718D2BA2-B69C-4596-B36D-F24A681F5194}" dt="2026-06-09T17:41:35.777" v="1"/>
        <pc:sldMkLst>
          <pc:docMk/>
          <pc:sldMk cId="2364957714" sldId="526"/>
        </pc:sldMkLst>
      </pc:sldChg>
      <pc:sldChg chg="modTransition">
        <pc:chgData name="Erin Berry" userId="b7d8294d-da7c-45c9-9002-ab631a364979" providerId="ADAL" clId="{718D2BA2-B69C-4596-B36D-F24A681F5194}" dt="2026-06-09T17:41:35.777" v="1"/>
        <pc:sldMkLst>
          <pc:docMk/>
          <pc:sldMk cId="2541039831" sldId="527"/>
        </pc:sldMkLst>
      </pc:sldChg>
      <pc:sldChg chg="modTransition">
        <pc:chgData name="Erin Berry" userId="b7d8294d-da7c-45c9-9002-ab631a364979" providerId="ADAL" clId="{718D2BA2-B69C-4596-B36D-F24A681F5194}" dt="2026-06-09T17:41:35.777" v="1"/>
        <pc:sldMkLst>
          <pc:docMk/>
          <pc:sldMk cId="1684306289" sldId="540"/>
        </pc:sldMkLst>
      </pc:sldChg>
      <pc:sldChg chg="modTransition">
        <pc:chgData name="Erin Berry" userId="b7d8294d-da7c-45c9-9002-ab631a364979" providerId="ADAL" clId="{718D2BA2-B69C-4596-B36D-F24A681F5194}" dt="2026-06-09T17:41:35.777" v="1"/>
        <pc:sldMkLst>
          <pc:docMk/>
          <pc:sldMk cId="1279453820" sldId="542"/>
        </pc:sldMkLst>
      </pc:sldChg>
      <pc:sldChg chg="modTransition">
        <pc:chgData name="Erin Berry" userId="b7d8294d-da7c-45c9-9002-ab631a364979" providerId="ADAL" clId="{718D2BA2-B69C-4596-B36D-F24A681F5194}" dt="2026-06-09T17:41:35.777" v="1"/>
        <pc:sldMkLst>
          <pc:docMk/>
          <pc:sldMk cId="1316296510" sldId="543"/>
        </pc:sldMkLst>
      </pc:sldChg>
      <pc:sldChg chg="modTransition">
        <pc:chgData name="Erin Berry" userId="b7d8294d-da7c-45c9-9002-ab631a364979" providerId="ADAL" clId="{718D2BA2-B69C-4596-B36D-F24A681F5194}" dt="2026-06-09T17:41:35.777" v="1"/>
        <pc:sldMkLst>
          <pc:docMk/>
          <pc:sldMk cId="1811848133" sldId="544"/>
        </pc:sldMkLst>
      </pc:sldChg>
      <pc:sldChg chg="modTransition">
        <pc:chgData name="Erin Berry" userId="b7d8294d-da7c-45c9-9002-ab631a364979" providerId="ADAL" clId="{718D2BA2-B69C-4596-B36D-F24A681F5194}" dt="2026-06-09T17:41:35.777" v="1"/>
        <pc:sldMkLst>
          <pc:docMk/>
          <pc:sldMk cId="2948056483" sldId="545"/>
        </pc:sldMkLst>
      </pc:sldChg>
      <pc:sldChg chg="modTransition">
        <pc:chgData name="Erin Berry" userId="b7d8294d-da7c-45c9-9002-ab631a364979" providerId="ADAL" clId="{718D2BA2-B69C-4596-B36D-F24A681F5194}" dt="2026-06-09T17:41:35.777" v="1"/>
        <pc:sldMkLst>
          <pc:docMk/>
          <pc:sldMk cId="1961777" sldId="546"/>
        </pc:sldMkLst>
      </pc:sldChg>
      <pc:sldChg chg="modTransition">
        <pc:chgData name="Erin Berry" userId="b7d8294d-da7c-45c9-9002-ab631a364979" providerId="ADAL" clId="{718D2BA2-B69C-4596-B36D-F24A681F5194}" dt="2026-06-09T17:41:35.777" v="1"/>
        <pc:sldMkLst>
          <pc:docMk/>
          <pc:sldMk cId="3559686087" sldId="547"/>
        </pc:sldMkLst>
      </pc:sldChg>
      <pc:sldChg chg="modTransition">
        <pc:chgData name="Erin Berry" userId="b7d8294d-da7c-45c9-9002-ab631a364979" providerId="ADAL" clId="{718D2BA2-B69C-4596-B36D-F24A681F5194}" dt="2026-06-09T17:41:35.777" v="1"/>
        <pc:sldMkLst>
          <pc:docMk/>
          <pc:sldMk cId="3929857837" sldId="548"/>
        </pc:sldMkLst>
      </pc:sldChg>
      <pc:sldChg chg="modTransition">
        <pc:chgData name="Erin Berry" userId="b7d8294d-da7c-45c9-9002-ab631a364979" providerId="ADAL" clId="{718D2BA2-B69C-4596-B36D-F24A681F5194}" dt="2026-06-09T17:41:35.777" v="1"/>
        <pc:sldMkLst>
          <pc:docMk/>
          <pc:sldMk cId="1338780870" sldId="549"/>
        </pc:sldMkLst>
      </pc:sldChg>
      <pc:sldChg chg="modTransition">
        <pc:chgData name="Erin Berry" userId="b7d8294d-da7c-45c9-9002-ab631a364979" providerId="ADAL" clId="{718D2BA2-B69C-4596-B36D-F24A681F5194}" dt="2026-06-09T17:41:35.777" v="1"/>
        <pc:sldMkLst>
          <pc:docMk/>
          <pc:sldMk cId="318322489" sldId="550"/>
        </pc:sldMkLst>
      </pc:sldChg>
      <pc:sldChg chg="modTransition">
        <pc:chgData name="Erin Berry" userId="b7d8294d-da7c-45c9-9002-ab631a364979" providerId="ADAL" clId="{718D2BA2-B69C-4596-B36D-F24A681F5194}" dt="2026-06-09T17:41:35.777" v="1"/>
        <pc:sldMkLst>
          <pc:docMk/>
          <pc:sldMk cId="770865169" sldId="551"/>
        </pc:sldMkLst>
      </pc:sldChg>
      <pc:sldChg chg="modTransition">
        <pc:chgData name="Erin Berry" userId="b7d8294d-da7c-45c9-9002-ab631a364979" providerId="ADAL" clId="{718D2BA2-B69C-4596-B36D-F24A681F5194}" dt="2026-06-09T17:41:35.777" v="1"/>
        <pc:sldMkLst>
          <pc:docMk/>
          <pc:sldMk cId="1055123413" sldId="552"/>
        </pc:sldMkLst>
      </pc:sldChg>
      <pc:sldChg chg="modTransition">
        <pc:chgData name="Erin Berry" userId="b7d8294d-da7c-45c9-9002-ab631a364979" providerId="ADAL" clId="{718D2BA2-B69C-4596-B36D-F24A681F5194}" dt="2026-06-09T17:41:35.777" v="1"/>
        <pc:sldMkLst>
          <pc:docMk/>
          <pc:sldMk cId="1503188199" sldId="553"/>
        </pc:sldMkLst>
      </pc:sldChg>
      <pc:sldChg chg="modTransition">
        <pc:chgData name="Erin Berry" userId="b7d8294d-da7c-45c9-9002-ab631a364979" providerId="ADAL" clId="{718D2BA2-B69C-4596-B36D-F24A681F5194}" dt="2026-06-09T17:41:35.777" v="1"/>
        <pc:sldMkLst>
          <pc:docMk/>
          <pc:sldMk cId="2819158761" sldId="55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4F0B5A-D160-41EA-A59D-CA9BADADDFD7}" type="doc">
      <dgm:prSet loTypeId="urn:microsoft.com/office/officeart/2005/8/layout/list1" loCatId="list" qsTypeId="urn:microsoft.com/office/officeart/2005/8/quickstyle/simple2" qsCatId="simple" csTypeId="urn:microsoft.com/office/officeart/2005/8/colors/accent1_2" csCatId="accent1"/>
      <dgm:spPr/>
      <dgm:t>
        <a:bodyPr/>
        <a:lstStyle/>
        <a:p>
          <a:endParaRPr lang="en-US"/>
        </a:p>
      </dgm:t>
    </dgm:pt>
    <dgm:pt modelId="{A3C0213B-EABD-43D5-B10F-99174E30DB25}">
      <dgm:prSet/>
      <dgm:spPr/>
      <dgm:t>
        <a:bodyPr/>
        <a:lstStyle/>
        <a:p>
          <a:r>
            <a:rPr lang="en-US"/>
            <a:t>One-pagers</a:t>
          </a:r>
        </a:p>
      </dgm:t>
    </dgm:pt>
    <dgm:pt modelId="{D18E6DA1-76F8-4BF5-A0CF-8D8EA20EAD3A}" type="parTrans" cxnId="{54D31980-A9BD-40FD-A958-B698712D23B6}">
      <dgm:prSet/>
      <dgm:spPr/>
      <dgm:t>
        <a:bodyPr/>
        <a:lstStyle/>
        <a:p>
          <a:endParaRPr lang="en-US"/>
        </a:p>
      </dgm:t>
    </dgm:pt>
    <dgm:pt modelId="{63E1842F-41C4-484E-AFD7-5D628CC32859}" type="sibTrans" cxnId="{54D31980-A9BD-40FD-A958-B698712D23B6}">
      <dgm:prSet/>
      <dgm:spPr/>
      <dgm:t>
        <a:bodyPr/>
        <a:lstStyle/>
        <a:p>
          <a:endParaRPr lang="en-US"/>
        </a:p>
      </dgm:t>
    </dgm:pt>
    <dgm:pt modelId="{C1915B6F-A34E-4786-9694-47A99C2F9436}">
      <dgm:prSet/>
      <dgm:spPr/>
      <dgm:t>
        <a:bodyPr/>
        <a:lstStyle/>
        <a:p>
          <a:r>
            <a:rPr lang="en-US"/>
            <a:t>Intro to Transition Bell Ringers</a:t>
          </a:r>
        </a:p>
      </dgm:t>
    </dgm:pt>
    <dgm:pt modelId="{695F2B23-01BF-43BD-9103-E831FA42EBE9}" type="parTrans" cxnId="{44749967-824E-4DA2-B53E-FDF710899D49}">
      <dgm:prSet/>
      <dgm:spPr/>
      <dgm:t>
        <a:bodyPr/>
        <a:lstStyle/>
        <a:p>
          <a:endParaRPr lang="en-US"/>
        </a:p>
      </dgm:t>
    </dgm:pt>
    <dgm:pt modelId="{95E968A5-4CFB-4FAF-9A3E-E30D507F0191}" type="sibTrans" cxnId="{44749967-824E-4DA2-B53E-FDF710899D49}">
      <dgm:prSet/>
      <dgm:spPr/>
      <dgm:t>
        <a:bodyPr/>
        <a:lstStyle/>
        <a:p>
          <a:endParaRPr lang="en-US"/>
        </a:p>
      </dgm:t>
    </dgm:pt>
    <dgm:pt modelId="{A193B688-1BD9-4963-B6D5-3477EF5B1A2A}">
      <dgm:prSet/>
      <dgm:spPr/>
      <dgm:t>
        <a:bodyPr/>
        <a:lstStyle/>
        <a:p>
          <a:r>
            <a:rPr lang="en-US"/>
            <a:t>Literature </a:t>
          </a:r>
        </a:p>
      </dgm:t>
    </dgm:pt>
    <dgm:pt modelId="{9E610699-83D9-4F4C-86AA-CC1611E9A19C}" type="parTrans" cxnId="{96D6D85D-1747-4A8B-A00C-B65551C53712}">
      <dgm:prSet/>
      <dgm:spPr/>
      <dgm:t>
        <a:bodyPr/>
        <a:lstStyle/>
        <a:p>
          <a:endParaRPr lang="en-US"/>
        </a:p>
      </dgm:t>
    </dgm:pt>
    <dgm:pt modelId="{5C7862FD-E90E-45D1-909F-6EB872753444}" type="sibTrans" cxnId="{96D6D85D-1747-4A8B-A00C-B65551C53712}">
      <dgm:prSet/>
      <dgm:spPr/>
      <dgm:t>
        <a:bodyPr/>
        <a:lstStyle/>
        <a:p>
          <a:endParaRPr lang="en-US"/>
        </a:p>
      </dgm:t>
    </dgm:pt>
    <dgm:pt modelId="{57D0CFB9-7ABD-43BF-9F77-E0D350157803}">
      <dgm:prSet/>
      <dgm:spPr/>
      <dgm:t>
        <a:bodyPr/>
        <a:lstStyle/>
        <a:p>
          <a:r>
            <a:rPr lang="en-US"/>
            <a:t>Start with 1 to 2 steps of the Self-Directed IEP</a:t>
          </a:r>
        </a:p>
      </dgm:t>
    </dgm:pt>
    <dgm:pt modelId="{856BCF97-CE69-4352-99D9-5427C3285BF1}" type="parTrans" cxnId="{FBD4E069-39AF-44FF-A270-61A1940983FC}">
      <dgm:prSet/>
      <dgm:spPr/>
      <dgm:t>
        <a:bodyPr/>
        <a:lstStyle/>
        <a:p>
          <a:endParaRPr lang="en-US"/>
        </a:p>
      </dgm:t>
    </dgm:pt>
    <dgm:pt modelId="{66110E71-3A9C-465F-BCB0-363E68F9454F}" type="sibTrans" cxnId="{FBD4E069-39AF-44FF-A270-61A1940983FC}">
      <dgm:prSet/>
      <dgm:spPr/>
      <dgm:t>
        <a:bodyPr/>
        <a:lstStyle/>
        <a:p>
          <a:endParaRPr lang="en-US"/>
        </a:p>
      </dgm:t>
    </dgm:pt>
    <dgm:pt modelId="{49FBAF2D-3D0D-4ACA-ACFA-875B6CF2B513}" type="pres">
      <dgm:prSet presAssocID="{834F0B5A-D160-41EA-A59D-CA9BADADDFD7}" presName="linear" presStyleCnt="0">
        <dgm:presLayoutVars>
          <dgm:dir/>
          <dgm:animLvl val="lvl"/>
          <dgm:resizeHandles val="exact"/>
        </dgm:presLayoutVars>
      </dgm:prSet>
      <dgm:spPr/>
    </dgm:pt>
    <dgm:pt modelId="{D7E5FE2B-7EFC-45E5-B0B3-172941FA4ACA}" type="pres">
      <dgm:prSet presAssocID="{A3C0213B-EABD-43D5-B10F-99174E30DB25}" presName="parentLin" presStyleCnt="0"/>
      <dgm:spPr/>
    </dgm:pt>
    <dgm:pt modelId="{20DC0F37-FEFD-4599-876B-282738EB4B38}" type="pres">
      <dgm:prSet presAssocID="{A3C0213B-EABD-43D5-B10F-99174E30DB25}" presName="parentLeftMargin" presStyleLbl="node1" presStyleIdx="0" presStyleCnt="4"/>
      <dgm:spPr/>
    </dgm:pt>
    <dgm:pt modelId="{1AD348FD-D354-43CA-ADE6-F7C6ACD31009}" type="pres">
      <dgm:prSet presAssocID="{A3C0213B-EABD-43D5-B10F-99174E30DB25}" presName="parentText" presStyleLbl="node1" presStyleIdx="0" presStyleCnt="4">
        <dgm:presLayoutVars>
          <dgm:chMax val="0"/>
          <dgm:bulletEnabled val="1"/>
        </dgm:presLayoutVars>
      </dgm:prSet>
      <dgm:spPr/>
    </dgm:pt>
    <dgm:pt modelId="{56E98F00-F2BB-4F72-83B6-E365E5AC44EA}" type="pres">
      <dgm:prSet presAssocID="{A3C0213B-EABD-43D5-B10F-99174E30DB25}" presName="negativeSpace" presStyleCnt="0"/>
      <dgm:spPr/>
    </dgm:pt>
    <dgm:pt modelId="{42CC59E0-892F-4CF3-921A-B3B83A322B96}" type="pres">
      <dgm:prSet presAssocID="{A3C0213B-EABD-43D5-B10F-99174E30DB25}" presName="childText" presStyleLbl="conFgAcc1" presStyleIdx="0" presStyleCnt="4">
        <dgm:presLayoutVars>
          <dgm:bulletEnabled val="1"/>
        </dgm:presLayoutVars>
      </dgm:prSet>
      <dgm:spPr/>
    </dgm:pt>
    <dgm:pt modelId="{4982BCEC-5C05-4276-960B-2756EABD5E99}" type="pres">
      <dgm:prSet presAssocID="{63E1842F-41C4-484E-AFD7-5D628CC32859}" presName="spaceBetweenRectangles" presStyleCnt="0"/>
      <dgm:spPr/>
    </dgm:pt>
    <dgm:pt modelId="{6D38E803-22B4-4C74-A8C8-C213AC829376}" type="pres">
      <dgm:prSet presAssocID="{C1915B6F-A34E-4786-9694-47A99C2F9436}" presName="parentLin" presStyleCnt="0"/>
      <dgm:spPr/>
    </dgm:pt>
    <dgm:pt modelId="{90A3F8E9-CFA9-4316-B211-A2598DDC4E01}" type="pres">
      <dgm:prSet presAssocID="{C1915B6F-A34E-4786-9694-47A99C2F9436}" presName="parentLeftMargin" presStyleLbl="node1" presStyleIdx="0" presStyleCnt="4"/>
      <dgm:spPr/>
    </dgm:pt>
    <dgm:pt modelId="{8839873F-B2C7-46D2-800C-3482C43686B0}" type="pres">
      <dgm:prSet presAssocID="{C1915B6F-A34E-4786-9694-47A99C2F9436}" presName="parentText" presStyleLbl="node1" presStyleIdx="1" presStyleCnt="4">
        <dgm:presLayoutVars>
          <dgm:chMax val="0"/>
          <dgm:bulletEnabled val="1"/>
        </dgm:presLayoutVars>
      </dgm:prSet>
      <dgm:spPr/>
    </dgm:pt>
    <dgm:pt modelId="{27CCF140-3F4F-4A10-A011-768C5928BDB2}" type="pres">
      <dgm:prSet presAssocID="{C1915B6F-A34E-4786-9694-47A99C2F9436}" presName="negativeSpace" presStyleCnt="0"/>
      <dgm:spPr/>
    </dgm:pt>
    <dgm:pt modelId="{73990D55-494C-4B7E-AE10-C841A5F4244A}" type="pres">
      <dgm:prSet presAssocID="{C1915B6F-A34E-4786-9694-47A99C2F9436}" presName="childText" presStyleLbl="conFgAcc1" presStyleIdx="1" presStyleCnt="4">
        <dgm:presLayoutVars>
          <dgm:bulletEnabled val="1"/>
        </dgm:presLayoutVars>
      </dgm:prSet>
      <dgm:spPr/>
    </dgm:pt>
    <dgm:pt modelId="{689F74F3-BD2B-47C7-9F1F-DBC38D2FE043}" type="pres">
      <dgm:prSet presAssocID="{95E968A5-4CFB-4FAF-9A3E-E30D507F0191}" presName="spaceBetweenRectangles" presStyleCnt="0"/>
      <dgm:spPr/>
    </dgm:pt>
    <dgm:pt modelId="{B796E01F-CB0F-436D-91D7-CA5E8AF7989B}" type="pres">
      <dgm:prSet presAssocID="{A193B688-1BD9-4963-B6D5-3477EF5B1A2A}" presName="parentLin" presStyleCnt="0"/>
      <dgm:spPr/>
    </dgm:pt>
    <dgm:pt modelId="{85C08CF2-2B3D-4397-ABAF-7185229132C5}" type="pres">
      <dgm:prSet presAssocID="{A193B688-1BD9-4963-B6D5-3477EF5B1A2A}" presName="parentLeftMargin" presStyleLbl="node1" presStyleIdx="1" presStyleCnt="4"/>
      <dgm:spPr/>
    </dgm:pt>
    <dgm:pt modelId="{8072CD71-FF4E-4356-A0DC-4B302F3A24D8}" type="pres">
      <dgm:prSet presAssocID="{A193B688-1BD9-4963-B6D5-3477EF5B1A2A}" presName="parentText" presStyleLbl="node1" presStyleIdx="2" presStyleCnt="4">
        <dgm:presLayoutVars>
          <dgm:chMax val="0"/>
          <dgm:bulletEnabled val="1"/>
        </dgm:presLayoutVars>
      </dgm:prSet>
      <dgm:spPr/>
    </dgm:pt>
    <dgm:pt modelId="{D7354FD6-905B-4E5D-B7D3-0D22D2DAA956}" type="pres">
      <dgm:prSet presAssocID="{A193B688-1BD9-4963-B6D5-3477EF5B1A2A}" presName="negativeSpace" presStyleCnt="0"/>
      <dgm:spPr/>
    </dgm:pt>
    <dgm:pt modelId="{2DDA7C6A-6D0C-45A1-93E6-355E0A757248}" type="pres">
      <dgm:prSet presAssocID="{A193B688-1BD9-4963-B6D5-3477EF5B1A2A}" presName="childText" presStyleLbl="conFgAcc1" presStyleIdx="2" presStyleCnt="4">
        <dgm:presLayoutVars>
          <dgm:bulletEnabled val="1"/>
        </dgm:presLayoutVars>
      </dgm:prSet>
      <dgm:spPr/>
    </dgm:pt>
    <dgm:pt modelId="{287812C1-790F-44D1-9EFC-A90344F04EDD}" type="pres">
      <dgm:prSet presAssocID="{5C7862FD-E90E-45D1-909F-6EB872753444}" presName="spaceBetweenRectangles" presStyleCnt="0"/>
      <dgm:spPr/>
    </dgm:pt>
    <dgm:pt modelId="{2D0BEF8B-3466-4005-9455-E5033553EB3C}" type="pres">
      <dgm:prSet presAssocID="{57D0CFB9-7ABD-43BF-9F77-E0D350157803}" presName="parentLin" presStyleCnt="0"/>
      <dgm:spPr/>
    </dgm:pt>
    <dgm:pt modelId="{A6182D58-5C7E-45FA-967C-3B97BC769570}" type="pres">
      <dgm:prSet presAssocID="{57D0CFB9-7ABD-43BF-9F77-E0D350157803}" presName="parentLeftMargin" presStyleLbl="node1" presStyleIdx="2" presStyleCnt="4"/>
      <dgm:spPr/>
    </dgm:pt>
    <dgm:pt modelId="{5B415AC2-D60B-475B-BF41-FC4D85F673FC}" type="pres">
      <dgm:prSet presAssocID="{57D0CFB9-7ABD-43BF-9F77-E0D350157803}" presName="parentText" presStyleLbl="node1" presStyleIdx="3" presStyleCnt="4">
        <dgm:presLayoutVars>
          <dgm:chMax val="0"/>
          <dgm:bulletEnabled val="1"/>
        </dgm:presLayoutVars>
      </dgm:prSet>
      <dgm:spPr/>
    </dgm:pt>
    <dgm:pt modelId="{F6FF177C-4210-43D1-8578-296B3BEFBCC0}" type="pres">
      <dgm:prSet presAssocID="{57D0CFB9-7ABD-43BF-9F77-E0D350157803}" presName="negativeSpace" presStyleCnt="0"/>
      <dgm:spPr/>
    </dgm:pt>
    <dgm:pt modelId="{A07097AB-475E-472E-A394-B107564F16FD}" type="pres">
      <dgm:prSet presAssocID="{57D0CFB9-7ABD-43BF-9F77-E0D350157803}" presName="childText" presStyleLbl="conFgAcc1" presStyleIdx="3" presStyleCnt="4">
        <dgm:presLayoutVars>
          <dgm:bulletEnabled val="1"/>
        </dgm:presLayoutVars>
      </dgm:prSet>
      <dgm:spPr/>
    </dgm:pt>
  </dgm:ptLst>
  <dgm:cxnLst>
    <dgm:cxn modelId="{B6E8DB07-91E9-49CB-B6F9-BB07FC57403B}" type="presOf" srcId="{57D0CFB9-7ABD-43BF-9F77-E0D350157803}" destId="{A6182D58-5C7E-45FA-967C-3B97BC769570}" srcOrd="0" destOrd="0" presId="urn:microsoft.com/office/officeart/2005/8/layout/list1"/>
    <dgm:cxn modelId="{8E3D7C0D-2AE9-48D6-84F8-495F14719530}" type="presOf" srcId="{834F0B5A-D160-41EA-A59D-CA9BADADDFD7}" destId="{49FBAF2D-3D0D-4ACA-ACFA-875B6CF2B513}" srcOrd="0" destOrd="0" presId="urn:microsoft.com/office/officeart/2005/8/layout/list1"/>
    <dgm:cxn modelId="{7D949B5B-FF67-4D2B-B669-0A825E5F64E7}" type="presOf" srcId="{A193B688-1BD9-4963-B6D5-3477EF5B1A2A}" destId="{8072CD71-FF4E-4356-A0DC-4B302F3A24D8}" srcOrd="1" destOrd="0" presId="urn:microsoft.com/office/officeart/2005/8/layout/list1"/>
    <dgm:cxn modelId="{96D6D85D-1747-4A8B-A00C-B65551C53712}" srcId="{834F0B5A-D160-41EA-A59D-CA9BADADDFD7}" destId="{A193B688-1BD9-4963-B6D5-3477EF5B1A2A}" srcOrd="2" destOrd="0" parTransId="{9E610699-83D9-4F4C-86AA-CC1611E9A19C}" sibTransId="{5C7862FD-E90E-45D1-909F-6EB872753444}"/>
    <dgm:cxn modelId="{44749967-824E-4DA2-B53E-FDF710899D49}" srcId="{834F0B5A-D160-41EA-A59D-CA9BADADDFD7}" destId="{C1915B6F-A34E-4786-9694-47A99C2F9436}" srcOrd="1" destOrd="0" parTransId="{695F2B23-01BF-43BD-9103-E831FA42EBE9}" sibTransId="{95E968A5-4CFB-4FAF-9A3E-E30D507F0191}"/>
    <dgm:cxn modelId="{D4C5B548-0A8A-4A7B-B5D2-8C64A094D8A0}" type="presOf" srcId="{A3C0213B-EABD-43D5-B10F-99174E30DB25}" destId="{1AD348FD-D354-43CA-ADE6-F7C6ACD31009}" srcOrd="1" destOrd="0" presId="urn:microsoft.com/office/officeart/2005/8/layout/list1"/>
    <dgm:cxn modelId="{FBD4E069-39AF-44FF-A270-61A1940983FC}" srcId="{834F0B5A-D160-41EA-A59D-CA9BADADDFD7}" destId="{57D0CFB9-7ABD-43BF-9F77-E0D350157803}" srcOrd="3" destOrd="0" parTransId="{856BCF97-CE69-4352-99D9-5427C3285BF1}" sibTransId="{66110E71-3A9C-465F-BCB0-363E68F9454F}"/>
    <dgm:cxn modelId="{54D31980-A9BD-40FD-A958-B698712D23B6}" srcId="{834F0B5A-D160-41EA-A59D-CA9BADADDFD7}" destId="{A3C0213B-EABD-43D5-B10F-99174E30DB25}" srcOrd="0" destOrd="0" parTransId="{D18E6DA1-76F8-4BF5-A0CF-8D8EA20EAD3A}" sibTransId="{63E1842F-41C4-484E-AFD7-5D628CC32859}"/>
    <dgm:cxn modelId="{DA79F38F-9852-4F26-B794-53BAB816048F}" type="presOf" srcId="{A193B688-1BD9-4963-B6D5-3477EF5B1A2A}" destId="{85C08CF2-2B3D-4397-ABAF-7185229132C5}" srcOrd="0" destOrd="0" presId="urn:microsoft.com/office/officeart/2005/8/layout/list1"/>
    <dgm:cxn modelId="{13029BB7-A8B4-4232-8A38-5351615B5C31}" type="presOf" srcId="{A3C0213B-EABD-43D5-B10F-99174E30DB25}" destId="{20DC0F37-FEFD-4599-876B-282738EB4B38}" srcOrd="0" destOrd="0" presId="urn:microsoft.com/office/officeart/2005/8/layout/list1"/>
    <dgm:cxn modelId="{D43CC7BB-6B79-4888-89FE-A3D14A9C52DD}" type="presOf" srcId="{57D0CFB9-7ABD-43BF-9F77-E0D350157803}" destId="{5B415AC2-D60B-475B-BF41-FC4D85F673FC}" srcOrd="1" destOrd="0" presId="urn:microsoft.com/office/officeart/2005/8/layout/list1"/>
    <dgm:cxn modelId="{80909DE7-2893-4077-8A7C-087B8C22ACC9}" type="presOf" srcId="{C1915B6F-A34E-4786-9694-47A99C2F9436}" destId="{8839873F-B2C7-46D2-800C-3482C43686B0}" srcOrd="1" destOrd="0" presId="urn:microsoft.com/office/officeart/2005/8/layout/list1"/>
    <dgm:cxn modelId="{FE6F30EA-B276-491A-A545-DA26FC2A1C01}" type="presOf" srcId="{C1915B6F-A34E-4786-9694-47A99C2F9436}" destId="{90A3F8E9-CFA9-4316-B211-A2598DDC4E01}" srcOrd="0" destOrd="0" presId="urn:microsoft.com/office/officeart/2005/8/layout/list1"/>
    <dgm:cxn modelId="{06924972-FBDB-4AF9-986C-4E9B7073DA2F}" type="presParOf" srcId="{49FBAF2D-3D0D-4ACA-ACFA-875B6CF2B513}" destId="{D7E5FE2B-7EFC-45E5-B0B3-172941FA4ACA}" srcOrd="0" destOrd="0" presId="urn:microsoft.com/office/officeart/2005/8/layout/list1"/>
    <dgm:cxn modelId="{59531CF9-1257-48FA-B98C-321D9397E15E}" type="presParOf" srcId="{D7E5FE2B-7EFC-45E5-B0B3-172941FA4ACA}" destId="{20DC0F37-FEFD-4599-876B-282738EB4B38}" srcOrd="0" destOrd="0" presId="urn:microsoft.com/office/officeart/2005/8/layout/list1"/>
    <dgm:cxn modelId="{D1A09117-0224-4D1F-9C9A-4EEB7B22F2E5}" type="presParOf" srcId="{D7E5FE2B-7EFC-45E5-B0B3-172941FA4ACA}" destId="{1AD348FD-D354-43CA-ADE6-F7C6ACD31009}" srcOrd="1" destOrd="0" presId="urn:microsoft.com/office/officeart/2005/8/layout/list1"/>
    <dgm:cxn modelId="{628566F2-42AF-4AD0-AF6D-A10D5F8791CC}" type="presParOf" srcId="{49FBAF2D-3D0D-4ACA-ACFA-875B6CF2B513}" destId="{56E98F00-F2BB-4F72-83B6-E365E5AC44EA}" srcOrd="1" destOrd="0" presId="urn:microsoft.com/office/officeart/2005/8/layout/list1"/>
    <dgm:cxn modelId="{1D6C665A-0D6A-4E95-A580-62B5871FB040}" type="presParOf" srcId="{49FBAF2D-3D0D-4ACA-ACFA-875B6CF2B513}" destId="{42CC59E0-892F-4CF3-921A-B3B83A322B96}" srcOrd="2" destOrd="0" presId="urn:microsoft.com/office/officeart/2005/8/layout/list1"/>
    <dgm:cxn modelId="{C3A086DD-6ECD-4429-BB60-EFA388C108CE}" type="presParOf" srcId="{49FBAF2D-3D0D-4ACA-ACFA-875B6CF2B513}" destId="{4982BCEC-5C05-4276-960B-2756EABD5E99}" srcOrd="3" destOrd="0" presId="urn:microsoft.com/office/officeart/2005/8/layout/list1"/>
    <dgm:cxn modelId="{5CFFCF4E-C5FA-4AEF-BA66-BCCAE79D500A}" type="presParOf" srcId="{49FBAF2D-3D0D-4ACA-ACFA-875B6CF2B513}" destId="{6D38E803-22B4-4C74-A8C8-C213AC829376}" srcOrd="4" destOrd="0" presId="urn:microsoft.com/office/officeart/2005/8/layout/list1"/>
    <dgm:cxn modelId="{56276F3A-34D5-4CB5-B4D3-6FD8709138D6}" type="presParOf" srcId="{6D38E803-22B4-4C74-A8C8-C213AC829376}" destId="{90A3F8E9-CFA9-4316-B211-A2598DDC4E01}" srcOrd="0" destOrd="0" presId="urn:microsoft.com/office/officeart/2005/8/layout/list1"/>
    <dgm:cxn modelId="{D13CBDEC-0D34-4D11-AC65-9FAD059B8453}" type="presParOf" srcId="{6D38E803-22B4-4C74-A8C8-C213AC829376}" destId="{8839873F-B2C7-46D2-800C-3482C43686B0}" srcOrd="1" destOrd="0" presId="urn:microsoft.com/office/officeart/2005/8/layout/list1"/>
    <dgm:cxn modelId="{8E04298B-312F-476F-8B91-710F20550F25}" type="presParOf" srcId="{49FBAF2D-3D0D-4ACA-ACFA-875B6CF2B513}" destId="{27CCF140-3F4F-4A10-A011-768C5928BDB2}" srcOrd="5" destOrd="0" presId="urn:microsoft.com/office/officeart/2005/8/layout/list1"/>
    <dgm:cxn modelId="{92259744-8169-44A9-85BB-C8E1FC5D9408}" type="presParOf" srcId="{49FBAF2D-3D0D-4ACA-ACFA-875B6CF2B513}" destId="{73990D55-494C-4B7E-AE10-C841A5F4244A}" srcOrd="6" destOrd="0" presId="urn:microsoft.com/office/officeart/2005/8/layout/list1"/>
    <dgm:cxn modelId="{27748359-4544-47B4-A73F-E19C8C2D2187}" type="presParOf" srcId="{49FBAF2D-3D0D-4ACA-ACFA-875B6CF2B513}" destId="{689F74F3-BD2B-47C7-9F1F-DBC38D2FE043}" srcOrd="7" destOrd="0" presId="urn:microsoft.com/office/officeart/2005/8/layout/list1"/>
    <dgm:cxn modelId="{CF033E00-0A0C-400C-8662-02B249929A6C}" type="presParOf" srcId="{49FBAF2D-3D0D-4ACA-ACFA-875B6CF2B513}" destId="{B796E01F-CB0F-436D-91D7-CA5E8AF7989B}" srcOrd="8" destOrd="0" presId="urn:microsoft.com/office/officeart/2005/8/layout/list1"/>
    <dgm:cxn modelId="{8025BCB7-62F7-4978-9119-452C757474DE}" type="presParOf" srcId="{B796E01F-CB0F-436D-91D7-CA5E8AF7989B}" destId="{85C08CF2-2B3D-4397-ABAF-7185229132C5}" srcOrd="0" destOrd="0" presId="urn:microsoft.com/office/officeart/2005/8/layout/list1"/>
    <dgm:cxn modelId="{99B9DB79-549D-4CF0-9965-A4D8F03CEC8A}" type="presParOf" srcId="{B796E01F-CB0F-436D-91D7-CA5E8AF7989B}" destId="{8072CD71-FF4E-4356-A0DC-4B302F3A24D8}" srcOrd="1" destOrd="0" presId="urn:microsoft.com/office/officeart/2005/8/layout/list1"/>
    <dgm:cxn modelId="{5F3733D5-EADC-4BB2-B67D-BF1DFE0098BE}" type="presParOf" srcId="{49FBAF2D-3D0D-4ACA-ACFA-875B6CF2B513}" destId="{D7354FD6-905B-4E5D-B7D3-0D22D2DAA956}" srcOrd="9" destOrd="0" presId="urn:microsoft.com/office/officeart/2005/8/layout/list1"/>
    <dgm:cxn modelId="{8607A8FC-BA67-4682-84E7-D36D6CE9465A}" type="presParOf" srcId="{49FBAF2D-3D0D-4ACA-ACFA-875B6CF2B513}" destId="{2DDA7C6A-6D0C-45A1-93E6-355E0A757248}" srcOrd="10" destOrd="0" presId="urn:microsoft.com/office/officeart/2005/8/layout/list1"/>
    <dgm:cxn modelId="{F962F86A-62F1-40A2-9144-11A4DE13B66E}" type="presParOf" srcId="{49FBAF2D-3D0D-4ACA-ACFA-875B6CF2B513}" destId="{287812C1-790F-44D1-9EFC-A90344F04EDD}" srcOrd="11" destOrd="0" presId="urn:microsoft.com/office/officeart/2005/8/layout/list1"/>
    <dgm:cxn modelId="{4D6A1C52-3DAC-4919-BF4D-34E34F3AEB83}" type="presParOf" srcId="{49FBAF2D-3D0D-4ACA-ACFA-875B6CF2B513}" destId="{2D0BEF8B-3466-4005-9455-E5033553EB3C}" srcOrd="12" destOrd="0" presId="urn:microsoft.com/office/officeart/2005/8/layout/list1"/>
    <dgm:cxn modelId="{50C3BDBB-A3B0-4775-BEAB-82AE2D53A038}" type="presParOf" srcId="{2D0BEF8B-3466-4005-9455-E5033553EB3C}" destId="{A6182D58-5C7E-45FA-967C-3B97BC769570}" srcOrd="0" destOrd="0" presId="urn:microsoft.com/office/officeart/2005/8/layout/list1"/>
    <dgm:cxn modelId="{E0463797-1341-4063-ABE7-D7E2618DC0C4}" type="presParOf" srcId="{2D0BEF8B-3466-4005-9455-E5033553EB3C}" destId="{5B415AC2-D60B-475B-BF41-FC4D85F673FC}" srcOrd="1" destOrd="0" presId="urn:microsoft.com/office/officeart/2005/8/layout/list1"/>
    <dgm:cxn modelId="{CE887C64-A8E8-44B9-BB35-0239D0B6190A}" type="presParOf" srcId="{49FBAF2D-3D0D-4ACA-ACFA-875B6CF2B513}" destId="{F6FF177C-4210-43D1-8578-296B3BEFBCC0}" srcOrd="13" destOrd="0" presId="urn:microsoft.com/office/officeart/2005/8/layout/list1"/>
    <dgm:cxn modelId="{3C6E54D5-2E0D-4007-B6F5-C2593D35036F}" type="presParOf" srcId="{49FBAF2D-3D0D-4ACA-ACFA-875B6CF2B513}" destId="{A07097AB-475E-472E-A394-B107564F16FD}" srcOrd="14"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75DC0A9-10B3-4DDB-94E8-1870C105A026}" type="doc">
      <dgm:prSet loTypeId="urn:microsoft.com/office/officeart/2008/layout/LinedList" loCatId="list" qsTypeId="urn:microsoft.com/office/officeart/2005/8/quickstyle/simple1" qsCatId="simple" csTypeId="urn:microsoft.com/office/officeart/2005/8/colors/accent2_2" csCatId="accent2"/>
      <dgm:spPr/>
      <dgm:t>
        <a:bodyPr/>
        <a:lstStyle/>
        <a:p>
          <a:endParaRPr lang="en-US"/>
        </a:p>
      </dgm:t>
    </dgm:pt>
    <dgm:pt modelId="{8653CE70-D9C9-462A-BFE9-8F84F5F506A4}">
      <dgm:prSet/>
      <dgm:spPr/>
      <dgm:t>
        <a:bodyPr/>
        <a:lstStyle/>
        <a:p>
          <a:r>
            <a:rPr lang="en-US" b="0" i="0" baseline="0"/>
            <a:t>Common concerns: </a:t>
          </a:r>
          <a:endParaRPr lang="en-US"/>
        </a:p>
      </dgm:t>
    </dgm:pt>
    <dgm:pt modelId="{FD55ACAD-AA3C-4FB5-936E-3AA39FA77E59}" type="parTrans" cxnId="{0B05B3BF-285A-43C0-9A58-2D3C3337C615}">
      <dgm:prSet/>
      <dgm:spPr/>
      <dgm:t>
        <a:bodyPr/>
        <a:lstStyle/>
        <a:p>
          <a:endParaRPr lang="en-US"/>
        </a:p>
      </dgm:t>
    </dgm:pt>
    <dgm:pt modelId="{B8604EAA-676E-41CB-991C-1A69FE673D08}" type="sibTrans" cxnId="{0B05B3BF-285A-43C0-9A58-2D3C3337C615}">
      <dgm:prSet/>
      <dgm:spPr/>
      <dgm:t>
        <a:bodyPr/>
        <a:lstStyle/>
        <a:p>
          <a:endParaRPr lang="en-US"/>
        </a:p>
      </dgm:t>
    </dgm:pt>
    <dgm:pt modelId="{B619B513-4F1F-4884-99AD-541BED635FA5}">
      <dgm:prSet/>
      <dgm:spPr/>
      <dgm:t>
        <a:bodyPr/>
        <a:lstStyle/>
        <a:p>
          <a:r>
            <a:rPr lang="en-US" b="0" i="0" baseline="0"/>
            <a:t>"My child is too shy" </a:t>
          </a:r>
          <a:endParaRPr lang="en-US"/>
        </a:p>
      </dgm:t>
    </dgm:pt>
    <dgm:pt modelId="{13D1EA00-1670-41F2-BCF8-1C329AD08E9B}" type="parTrans" cxnId="{90841F7C-6E22-48DB-AB4F-F254FEEAE1B2}">
      <dgm:prSet/>
      <dgm:spPr/>
      <dgm:t>
        <a:bodyPr/>
        <a:lstStyle/>
        <a:p>
          <a:endParaRPr lang="en-US"/>
        </a:p>
      </dgm:t>
    </dgm:pt>
    <dgm:pt modelId="{559AA1CC-865B-4A8A-8376-905114AA4F5C}" type="sibTrans" cxnId="{90841F7C-6E22-48DB-AB4F-F254FEEAE1B2}">
      <dgm:prSet/>
      <dgm:spPr/>
      <dgm:t>
        <a:bodyPr/>
        <a:lstStyle/>
        <a:p>
          <a:endParaRPr lang="en-US"/>
        </a:p>
      </dgm:t>
    </dgm:pt>
    <dgm:pt modelId="{7BA96ED2-1B7F-46B5-9AB2-CB08F7858517}">
      <dgm:prSet/>
      <dgm:spPr/>
      <dgm:t>
        <a:bodyPr/>
        <a:lstStyle/>
        <a:p>
          <a:r>
            <a:rPr lang="en-US" b="0" i="0" baseline="0" dirty="0"/>
            <a:t>"This seems like too much pressure" </a:t>
          </a:r>
          <a:endParaRPr lang="en-US" dirty="0"/>
        </a:p>
      </dgm:t>
    </dgm:pt>
    <dgm:pt modelId="{B057101C-E8F1-4289-8B44-C17FAE9B71AD}" type="parTrans" cxnId="{0ACC1CDF-4D33-4459-9064-933E639486C8}">
      <dgm:prSet/>
      <dgm:spPr/>
      <dgm:t>
        <a:bodyPr/>
        <a:lstStyle/>
        <a:p>
          <a:endParaRPr lang="en-US"/>
        </a:p>
      </dgm:t>
    </dgm:pt>
    <dgm:pt modelId="{7FAD7FDC-3703-4BC4-A7F7-760C980B85EA}" type="sibTrans" cxnId="{0ACC1CDF-4D33-4459-9064-933E639486C8}">
      <dgm:prSet/>
      <dgm:spPr/>
      <dgm:t>
        <a:bodyPr/>
        <a:lstStyle/>
        <a:p>
          <a:endParaRPr lang="en-US"/>
        </a:p>
      </dgm:t>
    </dgm:pt>
    <dgm:pt modelId="{9D26D685-054E-4916-ADB7-5803E1D2A1AA}">
      <dgm:prSet/>
      <dgm:spPr/>
      <dgm:t>
        <a:bodyPr/>
        <a:lstStyle/>
        <a:p>
          <a:r>
            <a:rPr lang="en-US" b="0" i="0" baseline="0"/>
            <a:t>"Will important information be missed?" </a:t>
          </a:r>
          <a:endParaRPr lang="en-US"/>
        </a:p>
      </dgm:t>
    </dgm:pt>
    <dgm:pt modelId="{829B483B-E29E-4C3B-80E3-D60C0111554A}" type="parTrans" cxnId="{40E42C5D-E749-40C2-87FC-BAE95B92DBE7}">
      <dgm:prSet/>
      <dgm:spPr/>
      <dgm:t>
        <a:bodyPr/>
        <a:lstStyle/>
        <a:p>
          <a:endParaRPr lang="en-US"/>
        </a:p>
      </dgm:t>
    </dgm:pt>
    <dgm:pt modelId="{990FDF64-139F-45B0-9041-79872DF7DE0C}" type="sibTrans" cxnId="{40E42C5D-E749-40C2-87FC-BAE95B92DBE7}">
      <dgm:prSet/>
      <dgm:spPr/>
      <dgm:t>
        <a:bodyPr/>
        <a:lstStyle/>
        <a:p>
          <a:endParaRPr lang="en-US"/>
        </a:p>
      </dgm:t>
    </dgm:pt>
    <dgm:pt modelId="{24598F51-1287-4C3A-98AD-22C02A7C46ED}">
      <dgm:prSet/>
      <dgm:spPr/>
      <dgm:t>
        <a:bodyPr/>
        <a:lstStyle/>
        <a:p>
          <a:r>
            <a:rPr lang="en-US" b="0" i="0" baseline="0"/>
            <a:t>"My child doesn't understand their disability" </a:t>
          </a:r>
          <a:endParaRPr lang="en-US"/>
        </a:p>
      </dgm:t>
    </dgm:pt>
    <dgm:pt modelId="{FA21E8AC-36F4-4232-8BF6-490524C33176}" type="parTrans" cxnId="{AD3ECF3B-613F-4A0E-95FF-921778DA2A09}">
      <dgm:prSet/>
      <dgm:spPr/>
      <dgm:t>
        <a:bodyPr/>
        <a:lstStyle/>
        <a:p>
          <a:endParaRPr lang="en-US"/>
        </a:p>
      </dgm:t>
    </dgm:pt>
    <dgm:pt modelId="{E0A52102-1A3E-4787-B883-E34C45FF7251}" type="sibTrans" cxnId="{AD3ECF3B-613F-4A0E-95FF-921778DA2A09}">
      <dgm:prSet/>
      <dgm:spPr/>
      <dgm:t>
        <a:bodyPr/>
        <a:lstStyle/>
        <a:p>
          <a:endParaRPr lang="en-US"/>
        </a:p>
      </dgm:t>
    </dgm:pt>
    <dgm:pt modelId="{43613A04-FCA3-49B4-8E1F-308ECBE93795}">
      <dgm:prSet/>
      <dgm:spPr/>
      <dgm:t>
        <a:bodyPr/>
        <a:lstStyle/>
        <a:p>
          <a:r>
            <a:rPr lang="en-US" b="1" i="0" baseline="0"/>
            <a:t>🤯You have answers for each of these! </a:t>
          </a:r>
          <a:endParaRPr lang="en-US"/>
        </a:p>
      </dgm:t>
    </dgm:pt>
    <dgm:pt modelId="{68392A18-9B76-40E1-843D-4AAEA4F28D15}" type="parTrans" cxnId="{115C68A3-C8AE-4CF4-98AA-8FD23C9FC9F9}">
      <dgm:prSet/>
      <dgm:spPr/>
      <dgm:t>
        <a:bodyPr/>
        <a:lstStyle/>
        <a:p>
          <a:endParaRPr lang="en-US"/>
        </a:p>
      </dgm:t>
    </dgm:pt>
    <dgm:pt modelId="{547B223B-8D10-4D07-8F2A-1401E80B930D}" type="sibTrans" cxnId="{115C68A3-C8AE-4CF4-98AA-8FD23C9FC9F9}">
      <dgm:prSet/>
      <dgm:spPr/>
      <dgm:t>
        <a:bodyPr/>
        <a:lstStyle/>
        <a:p>
          <a:endParaRPr lang="en-US"/>
        </a:p>
      </dgm:t>
    </dgm:pt>
    <dgm:pt modelId="{975A1065-01B6-4147-B7FB-C99A411C5E7D}" type="pres">
      <dgm:prSet presAssocID="{975DC0A9-10B3-4DDB-94E8-1870C105A026}" presName="vert0" presStyleCnt="0">
        <dgm:presLayoutVars>
          <dgm:dir/>
          <dgm:animOne val="branch"/>
          <dgm:animLvl val="lvl"/>
        </dgm:presLayoutVars>
      </dgm:prSet>
      <dgm:spPr/>
    </dgm:pt>
    <dgm:pt modelId="{7075F27F-2FFA-4AA9-A41D-E85BBB2408C7}" type="pres">
      <dgm:prSet presAssocID="{8653CE70-D9C9-462A-BFE9-8F84F5F506A4}" presName="thickLine" presStyleLbl="alignNode1" presStyleIdx="0" presStyleCnt="6"/>
      <dgm:spPr/>
    </dgm:pt>
    <dgm:pt modelId="{8D167EE3-6A5D-406E-B1FD-C8C5657D35F5}" type="pres">
      <dgm:prSet presAssocID="{8653CE70-D9C9-462A-BFE9-8F84F5F506A4}" presName="horz1" presStyleCnt="0"/>
      <dgm:spPr/>
    </dgm:pt>
    <dgm:pt modelId="{D2D04B1B-D73C-4CCA-B758-15DF65C5BFAD}" type="pres">
      <dgm:prSet presAssocID="{8653CE70-D9C9-462A-BFE9-8F84F5F506A4}" presName="tx1" presStyleLbl="revTx" presStyleIdx="0" presStyleCnt="6"/>
      <dgm:spPr/>
    </dgm:pt>
    <dgm:pt modelId="{6D9DBEE8-3FA2-4AB2-83FA-230BF5DDE11F}" type="pres">
      <dgm:prSet presAssocID="{8653CE70-D9C9-462A-BFE9-8F84F5F506A4}" presName="vert1" presStyleCnt="0"/>
      <dgm:spPr/>
    </dgm:pt>
    <dgm:pt modelId="{157E0190-8B9E-4517-B98D-059069382A47}" type="pres">
      <dgm:prSet presAssocID="{B619B513-4F1F-4884-99AD-541BED635FA5}" presName="thickLine" presStyleLbl="alignNode1" presStyleIdx="1" presStyleCnt="6"/>
      <dgm:spPr/>
    </dgm:pt>
    <dgm:pt modelId="{D1EE1F1F-C77F-4282-AFA4-017046263B37}" type="pres">
      <dgm:prSet presAssocID="{B619B513-4F1F-4884-99AD-541BED635FA5}" presName="horz1" presStyleCnt="0"/>
      <dgm:spPr/>
    </dgm:pt>
    <dgm:pt modelId="{55131B86-4768-40B5-BE6F-A3CB8A54AE43}" type="pres">
      <dgm:prSet presAssocID="{B619B513-4F1F-4884-99AD-541BED635FA5}" presName="tx1" presStyleLbl="revTx" presStyleIdx="1" presStyleCnt="6"/>
      <dgm:spPr/>
    </dgm:pt>
    <dgm:pt modelId="{167E0888-AA71-4A1C-81E8-012F86376191}" type="pres">
      <dgm:prSet presAssocID="{B619B513-4F1F-4884-99AD-541BED635FA5}" presName="vert1" presStyleCnt="0"/>
      <dgm:spPr/>
    </dgm:pt>
    <dgm:pt modelId="{A8A1AA80-6823-431A-A61C-717BA3C6756B}" type="pres">
      <dgm:prSet presAssocID="{7BA96ED2-1B7F-46B5-9AB2-CB08F7858517}" presName="thickLine" presStyleLbl="alignNode1" presStyleIdx="2" presStyleCnt="6"/>
      <dgm:spPr/>
    </dgm:pt>
    <dgm:pt modelId="{E7D6678F-28A7-4688-A3FB-C3F38BC24193}" type="pres">
      <dgm:prSet presAssocID="{7BA96ED2-1B7F-46B5-9AB2-CB08F7858517}" presName="horz1" presStyleCnt="0"/>
      <dgm:spPr/>
    </dgm:pt>
    <dgm:pt modelId="{11A05417-F72A-4B07-8EE1-1A63FC0435FC}" type="pres">
      <dgm:prSet presAssocID="{7BA96ED2-1B7F-46B5-9AB2-CB08F7858517}" presName="tx1" presStyleLbl="revTx" presStyleIdx="2" presStyleCnt="6"/>
      <dgm:spPr/>
    </dgm:pt>
    <dgm:pt modelId="{2CA1D6C8-F3AF-4D61-8C64-034B678C6FA0}" type="pres">
      <dgm:prSet presAssocID="{7BA96ED2-1B7F-46B5-9AB2-CB08F7858517}" presName="vert1" presStyleCnt="0"/>
      <dgm:spPr/>
    </dgm:pt>
    <dgm:pt modelId="{DA673C3F-F2D1-4095-B693-A40B8104E880}" type="pres">
      <dgm:prSet presAssocID="{9D26D685-054E-4916-ADB7-5803E1D2A1AA}" presName="thickLine" presStyleLbl="alignNode1" presStyleIdx="3" presStyleCnt="6"/>
      <dgm:spPr/>
    </dgm:pt>
    <dgm:pt modelId="{2FE92AAF-A8CA-448A-A0D5-511E8A27A632}" type="pres">
      <dgm:prSet presAssocID="{9D26D685-054E-4916-ADB7-5803E1D2A1AA}" presName="horz1" presStyleCnt="0"/>
      <dgm:spPr/>
    </dgm:pt>
    <dgm:pt modelId="{E9898EB2-64EA-4878-9026-311DCA8DFB41}" type="pres">
      <dgm:prSet presAssocID="{9D26D685-054E-4916-ADB7-5803E1D2A1AA}" presName="tx1" presStyleLbl="revTx" presStyleIdx="3" presStyleCnt="6"/>
      <dgm:spPr/>
    </dgm:pt>
    <dgm:pt modelId="{053C6A11-9D1C-48D5-B1CF-DC49A1B3C31F}" type="pres">
      <dgm:prSet presAssocID="{9D26D685-054E-4916-ADB7-5803E1D2A1AA}" presName="vert1" presStyleCnt="0"/>
      <dgm:spPr/>
    </dgm:pt>
    <dgm:pt modelId="{84800069-839D-4FEE-8611-209768111389}" type="pres">
      <dgm:prSet presAssocID="{24598F51-1287-4C3A-98AD-22C02A7C46ED}" presName="thickLine" presStyleLbl="alignNode1" presStyleIdx="4" presStyleCnt="6"/>
      <dgm:spPr/>
    </dgm:pt>
    <dgm:pt modelId="{9473D7DE-73DC-4AF9-99AD-14A35EE56C65}" type="pres">
      <dgm:prSet presAssocID="{24598F51-1287-4C3A-98AD-22C02A7C46ED}" presName="horz1" presStyleCnt="0"/>
      <dgm:spPr/>
    </dgm:pt>
    <dgm:pt modelId="{D1855E06-CF8A-4DC6-8257-D36439B057E9}" type="pres">
      <dgm:prSet presAssocID="{24598F51-1287-4C3A-98AD-22C02A7C46ED}" presName="tx1" presStyleLbl="revTx" presStyleIdx="4" presStyleCnt="6"/>
      <dgm:spPr/>
    </dgm:pt>
    <dgm:pt modelId="{D920B3FA-3381-40C7-AB25-27E9CDAED7E3}" type="pres">
      <dgm:prSet presAssocID="{24598F51-1287-4C3A-98AD-22C02A7C46ED}" presName="vert1" presStyleCnt="0"/>
      <dgm:spPr/>
    </dgm:pt>
    <dgm:pt modelId="{D8DCEDD3-8539-4684-9E00-DEC3AA39733F}" type="pres">
      <dgm:prSet presAssocID="{43613A04-FCA3-49B4-8E1F-308ECBE93795}" presName="thickLine" presStyleLbl="alignNode1" presStyleIdx="5" presStyleCnt="6"/>
      <dgm:spPr/>
    </dgm:pt>
    <dgm:pt modelId="{8A367B05-E345-4D5E-ADB6-03D03BB2E5D9}" type="pres">
      <dgm:prSet presAssocID="{43613A04-FCA3-49B4-8E1F-308ECBE93795}" presName="horz1" presStyleCnt="0"/>
      <dgm:spPr/>
    </dgm:pt>
    <dgm:pt modelId="{3F571436-69B5-481A-8531-466735D82BD5}" type="pres">
      <dgm:prSet presAssocID="{43613A04-FCA3-49B4-8E1F-308ECBE93795}" presName="tx1" presStyleLbl="revTx" presStyleIdx="5" presStyleCnt="6"/>
      <dgm:spPr/>
    </dgm:pt>
    <dgm:pt modelId="{CBB43FC6-13CF-4034-9D22-2EBCEB99C406}" type="pres">
      <dgm:prSet presAssocID="{43613A04-FCA3-49B4-8E1F-308ECBE93795}" presName="vert1" presStyleCnt="0"/>
      <dgm:spPr/>
    </dgm:pt>
  </dgm:ptLst>
  <dgm:cxnLst>
    <dgm:cxn modelId="{39DB8716-DFFB-4677-AAB5-A7232F600656}" type="presOf" srcId="{7BA96ED2-1B7F-46B5-9AB2-CB08F7858517}" destId="{11A05417-F72A-4B07-8EE1-1A63FC0435FC}" srcOrd="0" destOrd="0" presId="urn:microsoft.com/office/officeart/2008/layout/LinedList"/>
    <dgm:cxn modelId="{BDAE9320-21D2-45C8-8909-397C3E06C626}" type="presOf" srcId="{9D26D685-054E-4916-ADB7-5803E1D2A1AA}" destId="{E9898EB2-64EA-4878-9026-311DCA8DFB41}" srcOrd="0" destOrd="0" presId="urn:microsoft.com/office/officeart/2008/layout/LinedList"/>
    <dgm:cxn modelId="{AD3ECF3B-613F-4A0E-95FF-921778DA2A09}" srcId="{975DC0A9-10B3-4DDB-94E8-1870C105A026}" destId="{24598F51-1287-4C3A-98AD-22C02A7C46ED}" srcOrd="4" destOrd="0" parTransId="{FA21E8AC-36F4-4232-8BF6-490524C33176}" sibTransId="{E0A52102-1A3E-4787-B883-E34C45FF7251}"/>
    <dgm:cxn modelId="{40E42C5D-E749-40C2-87FC-BAE95B92DBE7}" srcId="{975DC0A9-10B3-4DDB-94E8-1870C105A026}" destId="{9D26D685-054E-4916-ADB7-5803E1D2A1AA}" srcOrd="3" destOrd="0" parTransId="{829B483B-E29E-4C3B-80E3-D60C0111554A}" sibTransId="{990FDF64-139F-45B0-9041-79872DF7DE0C}"/>
    <dgm:cxn modelId="{143B3761-485E-4FCA-9367-60F1DE3C8192}" type="presOf" srcId="{43613A04-FCA3-49B4-8E1F-308ECBE93795}" destId="{3F571436-69B5-481A-8531-466735D82BD5}" srcOrd="0" destOrd="0" presId="urn:microsoft.com/office/officeart/2008/layout/LinedList"/>
    <dgm:cxn modelId="{1D4F8D6D-9892-4D24-A379-9271C5F153B0}" type="presOf" srcId="{975DC0A9-10B3-4DDB-94E8-1870C105A026}" destId="{975A1065-01B6-4147-B7FB-C99A411C5E7D}" srcOrd="0" destOrd="0" presId="urn:microsoft.com/office/officeart/2008/layout/LinedList"/>
    <dgm:cxn modelId="{90841F7C-6E22-48DB-AB4F-F254FEEAE1B2}" srcId="{975DC0A9-10B3-4DDB-94E8-1870C105A026}" destId="{B619B513-4F1F-4884-99AD-541BED635FA5}" srcOrd="1" destOrd="0" parTransId="{13D1EA00-1670-41F2-BCF8-1C329AD08E9B}" sibTransId="{559AA1CC-865B-4A8A-8376-905114AA4F5C}"/>
    <dgm:cxn modelId="{48B03A96-CFC5-4374-A112-6E6932BFA769}" type="presOf" srcId="{24598F51-1287-4C3A-98AD-22C02A7C46ED}" destId="{D1855E06-CF8A-4DC6-8257-D36439B057E9}" srcOrd="0" destOrd="0" presId="urn:microsoft.com/office/officeart/2008/layout/LinedList"/>
    <dgm:cxn modelId="{115C68A3-C8AE-4CF4-98AA-8FD23C9FC9F9}" srcId="{975DC0A9-10B3-4DDB-94E8-1870C105A026}" destId="{43613A04-FCA3-49B4-8E1F-308ECBE93795}" srcOrd="5" destOrd="0" parTransId="{68392A18-9B76-40E1-843D-4AAEA4F28D15}" sibTransId="{547B223B-8D10-4D07-8F2A-1401E80B930D}"/>
    <dgm:cxn modelId="{0B05B3BF-285A-43C0-9A58-2D3C3337C615}" srcId="{975DC0A9-10B3-4DDB-94E8-1870C105A026}" destId="{8653CE70-D9C9-462A-BFE9-8F84F5F506A4}" srcOrd="0" destOrd="0" parTransId="{FD55ACAD-AA3C-4FB5-936E-3AA39FA77E59}" sibTransId="{B8604EAA-676E-41CB-991C-1A69FE673D08}"/>
    <dgm:cxn modelId="{0ACC1CDF-4D33-4459-9064-933E639486C8}" srcId="{975DC0A9-10B3-4DDB-94E8-1870C105A026}" destId="{7BA96ED2-1B7F-46B5-9AB2-CB08F7858517}" srcOrd="2" destOrd="0" parTransId="{B057101C-E8F1-4289-8B44-C17FAE9B71AD}" sibTransId="{7FAD7FDC-3703-4BC4-A7F7-760C980B85EA}"/>
    <dgm:cxn modelId="{982EE5E0-3832-4233-A59F-C0B86DE82C55}" type="presOf" srcId="{B619B513-4F1F-4884-99AD-541BED635FA5}" destId="{55131B86-4768-40B5-BE6F-A3CB8A54AE43}" srcOrd="0" destOrd="0" presId="urn:microsoft.com/office/officeart/2008/layout/LinedList"/>
    <dgm:cxn modelId="{5A27CCFE-A3F2-4C77-BB60-AFB17FCDB5ED}" type="presOf" srcId="{8653CE70-D9C9-462A-BFE9-8F84F5F506A4}" destId="{D2D04B1B-D73C-4CCA-B758-15DF65C5BFAD}" srcOrd="0" destOrd="0" presId="urn:microsoft.com/office/officeart/2008/layout/LinedList"/>
    <dgm:cxn modelId="{2583F610-A209-437E-BA2D-D2C4EE056426}" type="presParOf" srcId="{975A1065-01B6-4147-B7FB-C99A411C5E7D}" destId="{7075F27F-2FFA-4AA9-A41D-E85BBB2408C7}" srcOrd="0" destOrd="0" presId="urn:microsoft.com/office/officeart/2008/layout/LinedList"/>
    <dgm:cxn modelId="{3FD90589-2F5C-4069-95F2-560F47DAEE9E}" type="presParOf" srcId="{975A1065-01B6-4147-B7FB-C99A411C5E7D}" destId="{8D167EE3-6A5D-406E-B1FD-C8C5657D35F5}" srcOrd="1" destOrd="0" presId="urn:microsoft.com/office/officeart/2008/layout/LinedList"/>
    <dgm:cxn modelId="{C76A3EA3-B69D-446E-878C-5C5E774D7477}" type="presParOf" srcId="{8D167EE3-6A5D-406E-B1FD-C8C5657D35F5}" destId="{D2D04B1B-D73C-4CCA-B758-15DF65C5BFAD}" srcOrd="0" destOrd="0" presId="urn:microsoft.com/office/officeart/2008/layout/LinedList"/>
    <dgm:cxn modelId="{C0A65D66-8B77-43B9-8DB8-47645ECF395A}" type="presParOf" srcId="{8D167EE3-6A5D-406E-B1FD-C8C5657D35F5}" destId="{6D9DBEE8-3FA2-4AB2-83FA-230BF5DDE11F}" srcOrd="1" destOrd="0" presId="urn:microsoft.com/office/officeart/2008/layout/LinedList"/>
    <dgm:cxn modelId="{9F7F4C6D-A9B0-4FA6-B430-2D01CB43AC45}" type="presParOf" srcId="{975A1065-01B6-4147-B7FB-C99A411C5E7D}" destId="{157E0190-8B9E-4517-B98D-059069382A47}" srcOrd="2" destOrd="0" presId="urn:microsoft.com/office/officeart/2008/layout/LinedList"/>
    <dgm:cxn modelId="{B1750415-BD8B-4618-8ACB-5A4C7BA4F57C}" type="presParOf" srcId="{975A1065-01B6-4147-B7FB-C99A411C5E7D}" destId="{D1EE1F1F-C77F-4282-AFA4-017046263B37}" srcOrd="3" destOrd="0" presId="urn:microsoft.com/office/officeart/2008/layout/LinedList"/>
    <dgm:cxn modelId="{A2D1982B-6604-4025-B34F-3F307C5A1C68}" type="presParOf" srcId="{D1EE1F1F-C77F-4282-AFA4-017046263B37}" destId="{55131B86-4768-40B5-BE6F-A3CB8A54AE43}" srcOrd="0" destOrd="0" presId="urn:microsoft.com/office/officeart/2008/layout/LinedList"/>
    <dgm:cxn modelId="{36410ED1-BEA2-44FE-BEC3-566DCF672848}" type="presParOf" srcId="{D1EE1F1F-C77F-4282-AFA4-017046263B37}" destId="{167E0888-AA71-4A1C-81E8-012F86376191}" srcOrd="1" destOrd="0" presId="urn:microsoft.com/office/officeart/2008/layout/LinedList"/>
    <dgm:cxn modelId="{00F1E27B-9224-4463-B965-E02ADF9A36C9}" type="presParOf" srcId="{975A1065-01B6-4147-B7FB-C99A411C5E7D}" destId="{A8A1AA80-6823-431A-A61C-717BA3C6756B}" srcOrd="4" destOrd="0" presId="urn:microsoft.com/office/officeart/2008/layout/LinedList"/>
    <dgm:cxn modelId="{A697274E-9185-45BE-83F2-FB0294951FD3}" type="presParOf" srcId="{975A1065-01B6-4147-B7FB-C99A411C5E7D}" destId="{E7D6678F-28A7-4688-A3FB-C3F38BC24193}" srcOrd="5" destOrd="0" presId="urn:microsoft.com/office/officeart/2008/layout/LinedList"/>
    <dgm:cxn modelId="{F335F527-0FD4-476C-8330-A6B3B6C5D0D5}" type="presParOf" srcId="{E7D6678F-28A7-4688-A3FB-C3F38BC24193}" destId="{11A05417-F72A-4B07-8EE1-1A63FC0435FC}" srcOrd="0" destOrd="0" presId="urn:microsoft.com/office/officeart/2008/layout/LinedList"/>
    <dgm:cxn modelId="{0F5E16AD-2C97-4406-9469-9118317FBD03}" type="presParOf" srcId="{E7D6678F-28A7-4688-A3FB-C3F38BC24193}" destId="{2CA1D6C8-F3AF-4D61-8C64-034B678C6FA0}" srcOrd="1" destOrd="0" presId="urn:microsoft.com/office/officeart/2008/layout/LinedList"/>
    <dgm:cxn modelId="{6278EC27-B914-4C59-8E4A-80F73AC7FF46}" type="presParOf" srcId="{975A1065-01B6-4147-B7FB-C99A411C5E7D}" destId="{DA673C3F-F2D1-4095-B693-A40B8104E880}" srcOrd="6" destOrd="0" presId="urn:microsoft.com/office/officeart/2008/layout/LinedList"/>
    <dgm:cxn modelId="{B5360C3F-15E4-4D64-8A28-1FA8EE97A7F2}" type="presParOf" srcId="{975A1065-01B6-4147-B7FB-C99A411C5E7D}" destId="{2FE92AAF-A8CA-448A-A0D5-511E8A27A632}" srcOrd="7" destOrd="0" presId="urn:microsoft.com/office/officeart/2008/layout/LinedList"/>
    <dgm:cxn modelId="{939309F4-4BAA-4BFC-A2D2-44A4DE26ACA9}" type="presParOf" srcId="{2FE92AAF-A8CA-448A-A0D5-511E8A27A632}" destId="{E9898EB2-64EA-4878-9026-311DCA8DFB41}" srcOrd="0" destOrd="0" presId="urn:microsoft.com/office/officeart/2008/layout/LinedList"/>
    <dgm:cxn modelId="{AAF82F25-6BB1-4A74-92BA-FE0F73601370}" type="presParOf" srcId="{2FE92AAF-A8CA-448A-A0D5-511E8A27A632}" destId="{053C6A11-9D1C-48D5-B1CF-DC49A1B3C31F}" srcOrd="1" destOrd="0" presId="urn:microsoft.com/office/officeart/2008/layout/LinedList"/>
    <dgm:cxn modelId="{5831008A-0305-4D8C-8BC6-2E0D716C5F32}" type="presParOf" srcId="{975A1065-01B6-4147-B7FB-C99A411C5E7D}" destId="{84800069-839D-4FEE-8611-209768111389}" srcOrd="8" destOrd="0" presId="urn:microsoft.com/office/officeart/2008/layout/LinedList"/>
    <dgm:cxn modelId="{CE7D6B49-A4DB-4CDE-8F62-5DC1D6D20D5B}" type="presParOf" srcId="{975A1065-01B6-4147-B7FB-C99A411C5E7D}" destId="{9473D7DE-73DC-4AF9-99AD-14A35EE56C65}" srcOrd="9" destOrd="0" presId="urn:microsoft.com/office/officeart/2008/layout/LinedList"/>
    <dgm:cxn modelId="{7691A4F9-BEA7-441A-B174-FABD7BB26D38}" type="presParOf" srcId="{9473D7DE-73DC-4AF9-99AD-14A35EE56C65}" destId="{D1855E06-CF8A-4DC6-8257-D36439B057E9}" srcOrd="0" destOrd="0" presId="urn:microsoft.com/office/officeart/2008/layout/LinedList"/>
    <dgm:cxn modelId="{EC27D9F2-3369-4CA5-9A67-89D5748CA708}" type="presParOf" srcId="{9473D7DE-73DC-4AF9-99AD-14A35EE56C65}" destId="{D920B3FA-3381-40C7-AB25-27E9CDAED7E3}" srcOrd="1" destOrd="0" presId="urn:microsoft.com/office/officeart/2008/layout/LinedList"/>
    <dgm:cxn modelId="{04933917-5BDC-4A6B-8875-94A9FB884806}" type="presParOf" srcId="{975A1065-01B6-4147-B7FB-C99A411C5E7D}" destId="{D8DCEDD3-8539-4684-9E00-DEC3AA39733F}" srcOrd="10" destOrd="0" presId="urn:microsoft.com/office/officeart/2008/layout/LinedList"/>
    <dgm:cxn modelId="{C283A4B8-C40E-4260-9B09-A81BE82EBBD6}" type="presParOf" srcId="{975A1065-01B6-4147-B7FB-C99A411C5E7D}" destId="{8A367B05-E345-4D5E-ADB6-03D03BB2E5D9}" srcOrd="11" destOrd="0" presId="urn:microsoft.com/office/officeart/2008/layout/LinedList"/>
    <dgm:cxn modelId="{7B29A794-86E4-4937-934C-E3F514E828E7}" type="presParOf" srcId="{8A367B05-E345-4D5E-ADB6-03D03BB2E5D9}" destId="{3F571436-69B5-481A-8531-466735D82BD5}" srcOrd="0" destOrd="0" presId="urn:microsoft.com/office/officeart/2008/layout/LinedList"/>
    <dgm:cxn modelId="{CD3F2041-DFB2-40C2-B873-3886EDD4AB43}" type="presParOf" srcId="{8A367B05-E345-4D5E-ADB6-03D03BB2E5D9}" destId="{CBB43FC6-13CF-4034-9D22-2EBCEB99C40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CC59E0-892F-4CF3-921A-B3B83A322B96}">
      <dsp:nvSpPr>
        <dsp:cNvPr id="0" name=""/>
        <dsp:cNvSpPr/>
      </dsp:nvSpPr>
      <dsp:spPr>
        <a:xfrm>
          <a:off x="0" y="899152"/>
          <a:ext cx="3886200" cy="252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AD348FD-D354-43CA-ADE6-F7C6ACD31009}">
      <dsp:nvSpPr>
        <dsp:cNvPr id="0" name=""/>
        <dsp:cNvSpPr/>
      </dsp:nvSpPr>
      <dsp:spPr>
        <a:xfrm>
          <a:off x="194310" y="751552"/>
          <a:ext cx="2720340" cy="29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2822" tIns="0" rIns="102822" bIns="0" numCol="1" spcCol="1270" anchor="ctr" anchorCtr="0">
          <a:noAutofit/>
        </a:bodyPr>
        <a:lstStyle/>
        <a:p>
          <a:pPr marL="0" lvl="0" indent="0" algn="l" defTabSz="444500">
            <a:lnSpc>
              <a:spcPct val="90000"/>
            </a:lnSpc>
            <a:spcBef>
              <a:spcPct val="0"/>
            </a:spcBef>
            <a:spcAft>
              <a:spcPct val="35000"/>
            </a:spcAft>
            <a:buNone/>
          </a:pPr>
          <a:r>
            <a:rPr lang="en-US" sz="1000" kern="1200"/>
            <a:t>One-pagers</a:t>
          </a:r>
        </a:p>
      </dsp:txBody>
      <dsp:txXfrm>
        <a:off x="208720" y="765962"/>
        <a:ext cx="2691520" cy="266380"/>
      </dsp:txXfrm>
    </dsp:sp>
    <dsp:sp modelId="{73990D55-494C-4B7E-AE10-C841A5F4244A}">
      <dsp:nvSpPr>
        <dsp:cNvPr id="0" name=""/>
        <dsp:cNvSpPr/>
      </dsp:nvSpPr>
      <dsp:spPr>
        <a:xfrm>
          <a:off x="0" y="1352752"/>
          <a:ext cx="3886200" cy="252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39873F-B2C7-46D2-800C-3482C43686B0}">
      <dsp:nvSpPr>
        <dsp:cNvPr id="0" name=""/>
        <dsp:cNvSpPr/>
      </dsp:nvSpPr>
      <dsp:spPr>
        <a:xfrm>
          <a:off x="194310" y="1205152"/>
          <a:ext cx="2720340" cy="29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2822" tIns="0" rIns="102822" bIns="0" numCol="1" spcCol="1270" anchor="ctr" anchorCtr="0">
          <a:noAutofit/>
        </a:bodyPr>
        <a:lstStyle/>
        <a:p>
          <a:pPr marL="0" lvl="0" indent="0" algn="l" defTabSz="444500">
            <a:lnSpc>
              <a:spcPct val="90000"/>
            </a:lnSpc>
            <a:spcBef>
              <a:spcPct val="0"/>
            </a:spcBef>
            <a:spcAft>
              <a:spcPct val="35000"/>
            </a:spcAft>
            <a:buNone/>
          </a:pPr>
          <a:r>
            <a:rPr lang="en-US" sz="1000" kern="1200"/>
            <a:t>Intro to Transition Bell Ringers</a:t>
          </a:r>
        </a:p>
      </dsp:txBody>
      <dsp:txXfrm>
        <a:off x="208720" y="1219562"/>
        <a:ext cx="2691520" cy="266380"/>
      </dsp:txXfrm>
    </dsp:sp>
    <dsp:sp modelId="{2DDA7C6A-6D0C-45A1-93E6-355E0A757248}">
      <dsp:nvSpPr>
        <dsp:cNvPr id="0" name=""/>
        <dsp:cNvSpPr/>
      </dsp:nvSpPr>
      <dsp:spPr>
        <a:xfrm>
          <a:off x="0" y="1806352"/>
          <a:ext cx="3886200" cy="252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72CD71-FF4E-4356-A0DC-4B302F3A24D8}">
      <dsp:nvSpPr>
        <dsp:cNvPr id="0" name=""/>
        <dsp:cNvSpPr/>
      </dsp:nvSpPr>
      <dsp:spPr>
        <a:xfrm>
          <a:off x="194310" y="1658752"/>
          <a:ext cx="2720340" cy="29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2822" tIns="0" rIns="102822" bIns="0" numCol="1" spcCol="1270" anchor="ctr" anchorCtr="0">
          <a:noAutofit/>
        </a:bodyPr>
        <a:lstStyle/>
        <a:p>
          <a:pPr marL="0" lvl="0" indent="0" algn="l" defTabSz="444500">
            <a:lnSpc>
              <a:spcPct val="90000"/>
            </a:lnSpc>
            <a:spcBef>
              <a:spcPct val="0"/>
            </a:spcBef>
            <a:spcAft>
              <a:spcPct val="35000"/>
            </a:spcAft>
            <a:buNone/>
          </a:pPr>
          <a:r>
            <a:rPr lang="en-US" sz="1000" kern="1200"/>
            <a:t>Literature </a:t>
          </a:r>
        </a:p>
      </dsp:txBody>
      <dsp:txXfrm>
        <a:off x="208720" y="1673162"/>
        <a:ext cx="2691520" cy="266380"/>
      </dsp:txXfrm>
    </dsp:sp>
    <dsp:sp modelId="{A07097AB-475E-472E-A394-B107564F16FD}">
      <dsp:nvSpPr>
        <dsp:cNvPr id="0" name=""/>
        <dsp:cNvSpPr/>
      </dsp:nvSpPr>
      <dsp:spPr>
        <a:xfrm>
          <a:off x="0" y="2259952"/>
          <a:ext cx="3886200" cy="252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B415AC2-D60B-475B-BF41-FC4D85F673FC}">
      <dsp:nvSpPr>
        <dsp:cNvPr id="0" name=""/>
        <dsp:cNvSpPr/>
      </dsp:nvSpPr>
      <dsp:spPr>
        <a:xfrm>
          <a:off x="194310" y="2112352"/>
          <a:ext cx="2720340" cy="29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2822" tIns="0" rIns="102822" bIns="0" numCol="1" spcCol="1270" anchor="ctr" anchorCtr="0">
          <a:noAutofit/>
        </a:bodyPr>
        <a:lstStyle/>
        <a:p>
          <a:pPr marL="0" lvl="0" indent="0" algn="l" defTabSz="444500">
            <a:lnSpc>
              <a:spcPct val="90000"/>
            </a:lnSpc>
            <a:spcBef>
              <a:spcPct val="0"/>
            </a:spcBef>
            <a:spcAft>
              <a:spcPct val="35000"/>
            </a:spcAft>
            <a:buNone/>
          </a:pPr>
          <a:r>
            <a:rPr lang="en-US" sz="1000" kern="1200"/>
            <a:t>Start with 1 to 2 steps of the Self-Directed IEP</a:t>
          </a:r>
        </a:p>
      </dsp:txBody>
      <dsp:txXfrm>
        <a:off x="208720" y="2126762"/>
        <a:ext cx="2691520" cy="2663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75F27F-2FFA-4AA9-A41D-E85BBB2408C7}">
      <dsp:nvSpPr>
        <dsp:cNvPr id="0" name=""/>
        <dsp:cNvSpPr/>
      </dsp:nvSpPr>
      <dsp:spPr>
        <a:xfrm>
          <a:off x="0" y="1592"/>
          <a:ext cx="7165975"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D04B1B-D73C-4CCA-B758-15DF65C5BFAD}">
      <dsp:nvSpPr>
        <dsp:cNvPr id="0" name=""/>
        <dsp:cNvSpPr/>
      </dsp:nvSpPr>
      <dsp:spPr>
        <a:xfrm>
          <a:off x="0" y="1592"/>
          <a:ext cx="7165975" cy="543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0" i="0" kern="1200" baseline="0"/>
            <a:t>Common concerns: </a:t>
          </a:r>
          <a:endParaRPr lang="en-US" sz="2300" kern="1200"/>
        </a:p>
      </dsp:txBody>
      <dsp:txXfrm>
        <a:off x="0" y="1592"/>
        <a:ext cx="7165975" cy="543187"/>
      </dsp:txXfrm>
    </dsp:sp>
    <dsp:sp modelId="{157E0190-8B9E-4517-B98D-059069382A47}">
      <dsp:nvSpPr>
        <dsp:cNvPr id="0" name=""/>
        <dsp:cNvSpPr/>
      </dsp:nvSpPr>
      <dsp:spPr>
        <a:xfrm>
          <a:off x="0" y="544780"/>
          <a:ext cx="7165975"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131B86-4768-40B5-BE6F-A3CB8A54AE43}">
      <dsp:nvSpPr>
        <dsp:cNvPr id="0" name=""/>
        <dsp:cNvSpPr/>
      </dsp:nvSpPr>
      <dsp:spPr>
        <a:xfrm>
          <a:off x="0" y="544780"/>
          <a:ext cx="7165975" cy="543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0" i="0" kern="1200" baseline="0"/>
            <a:t>"My child is too shy" </a:t>
          </a:r>
          <a:endParaRPr lang="en-US" sz="2300" kern="1200"/>
        </a:p>
      </dsp:txBody>
      <dsp:txXfrm>
        <a:off x="0" y="544780"/>
        <a:ext cx="7165975" cy="543187"/>
      </dsp:txXfrm>
    </dsp:sp>
    <dsp:sp modelId="{A8A1AA80-6823-431A-A61C-717BA3C6756B}">
      <dsp:nvSpPr>
        <dsp:cNvPr id="0" name=""/>
        <dsp:cNvSpPr/>
      </dsp:nvSpPr>
      <dsp:spPr>
        <a:xfrm>
          <a:off x="0" y="1087968"/>
          <a:ext cx="7165975"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A05417-F72A-4B07-8EE1-1A63FC0435FC}">
      <dsp:nvSpPr>
        <dsp:cNvPr id="0" name=""/>
        <dsp:cNvSpPr/>
      </dsp:nvSpPr>
      <dsp:spPr>
        <a:xfrm>
          <a:off x="0" y="1087968"/>
          <a:ext cx="7165975" cy="543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0" i="0" kern="1200" baseline="0" dirty="0"/>
            <a:t>"This seems like too much pressure" </a:t>
          </a:r>
          <a:endParaRPr lang="en-US" sz="2300" kern="1200" dirty="0"/>
        </a:p>
      </dsp:txBody>
      <dsp:txXfrm>
        <a:off x="0" y="1087968"/>
        <a:ext cx="7165975" cy="543187"/>
      </dsp:txXfrm>
    </dsp:sp>
    <dsp:sp modelId="{DA673C3F-F2D1-4095-B693-A40B8104E880}">
      <dsp:nvSpPr>
        <dsp:cNvPr id="0" name=""/>
        <dsp:cNvSpPr/>
      </dsp:nvSpPr>
      <dsp:spPr>
        <a:xfrm>
          <a:off x="0" y="1631156"/>
          <a:ext cx="7165975"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898EB2-64EA-4878-9026-311DCA8DFB41}">
      <dsp:nvSpPr>
        <dsp:cNvPr id="0" name=""/>
        <dsp:cNvSpPr/>
      </dsp:nvSpPr>
      <dsp:spPr>
        <a:xfrm>
          <a:off x="0" y="1631155"/>
          <a:ext cx="7165975" cy="543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0" i="0" kern="1200" baseline="0"/>
            <a:t>"Will important information be missed?" </a:t>
          </a:r>
          <a:endParaRPr lang="en-US" sz="2300" kern="1200"/>
        </a:p>
      </dsp:txBody>
      <dsp:txXfrm>
        <a:off x="0" y="1631155"/>
        <a:ext cx="7165975" cy="543187"/>
      </dsp:txXfrm>
    </dsp:sp>
    <dsp:sp modelId="{84800069-839D-4FEE-8611-209768111389}">
      <dsp:nvSpPr>
        <dsp:cNvPr id="0" name=""/>
        <dsp:cNvSpPr/>
      </dsp:nvSpPr>
      <dsp:spPr>
        <a:xfrm>
          <a:off x="0" y="2174343"/>
          <a:ext cx="7165975"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855E06-CF8A-4DC6-8257-D36439B057E9}">
      <dsp:nvSpPr>
        <dsp:cNvPr id="0" name=""/>
        <dsp:cNvSpPr/>
      </dsp:nvSpPr>
      <dsp:spPr>
        <a:xfrm>
          <a:off x="0" y="2174343"/>
          <a:ext cx="7165975" cy="543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0" i="0" kern="1200" baseline="0"/>
            <a:t>"My child doesn't understand their disability" </a:t>
          </a:r>
          <a:endParaRPr lang="en-US" sz="2300" kern="1200"/>
        </a:p>
      </dsp:txBody>
      <dsp:txXfrm>
        <a:off x="0" y="2174343"/>
        <a:ext cx="7165975" cy="543187"/>
      </dsp:txXfrm>
    </dsp:sp>
    <dsp:sp modelId="{D8DCEDD3-8539-4684-9E00-DEC3AA39733F}">
      <dsp:nvSpPr>
        <dsp:cNvPr id="0" name=""/>
        <dsp:cNvSpPr/>
      </dsp:nvSpPr>
      <dsp:spPr>
        <a:xfrm>
          <a:off x="0" y="2717531"/>
          <a:ext cx="7165975"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571436-69B5-481A-8531-466735D82BD5}">
      <dsp:nvSpPr>
        <dsp:cNvPr id="0" name=""/>
        <dsp:cNvSpPr/>
      </dsp:nvSpPr>
      <dsp:spPr>
        <a:xfrm>
          <a:off x="0" y="2717531"/>
          <a:ext cx="7165975" cy="543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i="0" kern="1200" baseline="0"/>
            <a:t>🤯You have answers for each of these! </a:t>
          </a:r>
          <a:endParaRPr lang="en-US" sz="2300" kern="1200"/>
        </a:p>
      </dsp:txBody>
      <dsp:txXfrm>
        <a:off x="0" y="2717531"/>
        <a:ext cx="7165975" cy="543187"/>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Welcome to Module 6—our final module! This is where we put everything together.</a:t>
            </a:r>
          </a:p>
          <a:p>
            <a:r>
              <a:rPr lang="en-US" dirty="0"/>
              <a:t>Throughout this training, you've learned the "what" and "why" of student involvement. You've explored barriers and facilitators. You've discovered one-shot activities, mini lessons, bell ringers, and comprehensive curricula. You've thought about age-appropriate progressions.</a:t>
            </a:r>
          </a:p>
          <a:p>
            <a:r>
              <a:rPr lang="en-US" dirty="0"/>
              <a:t>Now, in this module, we're going to focus on three critical areas:</a:t>
            </a:r>
          </a:p>
          <a:p>
            <a:r>
              <a:rPr lang="en-US" b="1" dirty="0"/>
              <a:t>Implementation at multiple levels</a:t>
            </a:r>
            <a:r>
              <a:rPr lang="en-US" dirty="0"/>
              <a:t>—how to move from individual classroom practices to school-wide systems</a:t>
            </a:r>
          </a:p>
          <a:p>
            <a:r>
              <a:rPr lang="en-US" b="1" dirty="0"/>
              <a:t>Parent and family resources</a:t>
            </a:r>
            <a:r>
              <a:rPr lang="en-US" dirty="0"/>
              <a:t>—because student involvement works best when families are partners</a:t>
            </a:r>
          </a:p>
          <a:p>
            <a:r>
              <a:rPr lang="en-US" b="1" dirty="0"/>
              <a:t>Sustainability</a:t>
            </a:r>
            <a:r>
              <a:rPr lang="en-US" dirty="0"/>
              <a:t>—how to make these practices stick long-term</a:t>
            </a:r>
          </a:p>
          <a:p>
            <a:r>
              <a:rPr lang="en-US" dirty="0"/>
              <a:t>By the end of this module, you'll have a clear roadmap for implementation AND a toolkit of parent resources you can share immediately.</a:t>
            </a:r>
          </a:p>
          <a:p>
            <a:r>
              <a:rPr lang="en-US" dirty="0"/>
              <a:t>Let's get started!</a:t>
            </a:r>
          </a:p>
          <a:p>
            <a:endParaRPr lang="en-US" dirty="0"/>
          </a:p>
        </p:txBody>
      </p:sp>
    </p:spTree>
    <p:extLst>
      <p:ext uri="{BB962C8B-B14F-4D97-AF65-F5344CB8AC3E}">
        <p14:creationId xmlns:p14="http://schemas.microsoft.com/office/powerpoint/2010/main" val="4202363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Let's break down what student involvement looks like across the age span, starting with early elementary.</a:t>
            </a:r>
          </a:p>
          <a:p>
            <a:r>
              <a:rPr lang="en-US" dirty="0"/>
              <a:t>At the early elementary level, we're planting seeds. We're building foundational self-awareness and introducing students to the concept of having a voice in their own education.</a:t>
            </a:r>
          </a:p>
          <a:p>
            <a:r>
              <a:rPr lang="en-US" b="1" dirty="0"/>
              <a:t>What can early elementary students do?</a:t>
            </a:r>
            <a:endParaRPr lang="en-US" dirty="0"/>
          </a:p>
          <a:p>
            <a:r>
              <a:rPr lang="en-US" b="1" dirty="0"/>
              <a:t>One-pagers:</a:t>
            </a:r>
            <a:r>
              <a:rPr lang="en-US" dirty="0"/>
              <a:t> Even our youngest students can create visual one-pagers showing their likes, dislikes, strengths, and preferences. Use lots of pictures, drawings, and simple words. Students can present these at the beginning of the year or share them at IEP meetings.</a:t>
            </a:r>
          </a:p>
          <a:p>
            <a:r>
              <a:rPr lang="en-US" b="1" dirty="0"/>
              <a:t>Intro to Transition Bell Ringers WITH VISUALS:</a:t>
            </a:r>
            <a:r>
              <a:rPr lang="en-US" dirty="0"/>
              <a:t> These are specifically designed with picture supports for non-readers or emerging readers. Topics like "things I like," "what makes me happy," and "what I'm good at" are developmentally appropriate and build self-awareness.</a:t>
            </a:r>
          </a:p>
          <a:p>
            <a:r>
              <a:rPr lang="en-US" b="1" dirty="0"/>
              <a:t>Literature:</a:t>
            </a:r>
            <a:r>
              <a:rPr lang="en-US" dirty="0"/>
              <a:t> Use picture books that feature characters making choices, solving problems, advocating for themselves, or showing persistence. The "Tying the Knot" resource we discussed has Pre-K through 1st grade selections. Picture books are powerful teaching tools!</a:t>
            </a:r>
          </a:p>
          <a:p>
            <a:r>
              <a:rPr lang="en-US" b="1" dirty="0"/>
              <a:t>1-2 Steps of the Self-Directed IEP:</a:t>
            </a:r>
            <a:r>
              <a:rPr lang="en-US" dirty="0"/>
              <a:t> Even a kindergartener can introduce themselves and say "Thank you for coming to my meeting." That's steps 1 and 11 of the Self-Directed IEP! You're building toward more steps over time.</a:t>
            </a:r>
          </a:p>
          <a:p>
            <a:r>
              <a:rPr lang="en-US" dirty="0"/>
              <a:t>The key at this level is keeping it simple, visual, and positive. We're building confidence and comfort with the concept of sharing about themselves.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951704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As students move into later elementary—roughly 3rd through 5th grade—we're building on that foundation and adding complexity.</a:t>
            </a:r>
          </a:p>
          <a:p>
            <a:r>
              <a:rPr lang="en-US" b="1" dirty="0"/>
              <a:t>One-pagers expand:</a:t>
            </a:r>
            <a:r>
              <a:rPr lang="en-US" dirty="0"/>
              <a:t> Now students might include their goals, what helps them learn, or what they want adults to know. You might introduce the "Good Day Plan" from I'm Determined, where students map out what makes a successful day.</a:t>
            </a:r>
          </a:p>
          <a:p>
            <a:r>
              <a:rPr lang="en-US" b="1" dirty="0"/>
              <a:t>Early Transition Bell Ringers:</a:t>
            </a:r>
            <a:r>
              <a:rPr lang="en-US" dirty="0"/>
              <a:t> These are slightly more advanced than the Intro series. Categories include "All About Me," "Taking Care of Myself," "Who I Want to Be," and scenario-based questions like "What Should You Do?"</a:t>
            </a:r>
          </a:p>
          <a:p>
            <a:r>
              <a:rPr lang="en-US" b="1" dirty="0"/>
              <a:t>Literature continues:</a:t>
            </a:r>
            <a:r>
              <a:rPr lang="en-US" dirty="0"/>
              <a:t> Move to chapter books or longer picture books. Students can identify how characters demonstrate self-determination skills and connect it to their own lives.</a:t>
            </a:r>
          </a:p>
          <a:p>
            <a:r>
              <a:rPr lang="en-US" b="1" dirty="0"/>
              <a:t>Me! Curriculum for disability awareness:</a:t>
            </a:r>
            <a:r>
              <a:rPr lang="en-US" dirty="0"/>
              <a:t> This is a great time to introduce what special education IS and what their disability means—in a strength-based, empowering way. The Me! Curriculum has age-appropriate activities for building self-awareness and self-advocacy.</a:t>
            </a:r>
          </a:p>
          <a:p>
            <a:r>
              <a:rPr lang="en-US" b="1" dirty="0"/>
              <a:t>Research famous people with disabilities:</a:t>
            </a:r>
            <a:r>
              <a:rPr lang="en-US" dirty="0"/>
              <a:t> I love this activity! Students research celebrities, athletes, historical figures, or current stars who have disabilities. Think about athletes with learning disabilities, actors who use hearing aids, scientists with autism. This builds disability pride and shows students that disability doesn't limit potential.</a:t>
            </a:r>
          </a:p>
          <a:p>
            <a:r>
              <a:rPr lang="en-US" b="1" dirty="0"/>
              <a:t>More Self-Directed IEP steps:</a:t>
            </a:r>
            <a:r>
              <a:rPr lang="en-US" dirty="0"/>
              <a:t> Now students might review their past goals, state what they're working on, or ask a question. You're adding steps gradually.</a:t>
            </a:r>
          </a:p>
          <a:p>
            <a:r>
              <a:rPr lang="en-US" b="1" dirty="0"/>
              <a:t>IEP script or presentation:</a:t>
            </a:r>
            <a:r>
              <a:rPr lang="en-US" dirty="0"/>
              <a:t> Introduce the concept of a script or presentation template that guides students through what to say at their meeting.</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04937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Middle school is where we really accelerate student ownership. Students are developmentally ready for more abstract thinking about their futures, and Oklahoma requires transition planning to begin before 9th grade—so this is critical.</a:t>
            </a:r>
          </a:p>
          <a:p>
            <a:r>
              <a:rPr lang="en-US" b="1" dirty="0"/>
              <a:t>One-pagers get more sophisticated:</a:t>
            </a:r>
            <a:r>
              <a:rPr lang="en-US" dirty="0"/>
              <a:t> I've seen middle schoolers create digital one-pagers using apps, incorporate photos and graphics, and really personalize their presentations. Some connect their one-pagers directly to their post-secondary goals.</a:t>
            </a:r>
          </a:p>
          <a:p>
            <a:r>
              <a:rPr lang="en-US" b="1" dirty="0"/>
              <a:t>Fundamental Transition Bell Ringers:</a:t>
            </a:r>
            <a:r>
              <a:rPr lang="en-US" dirty="0"/>
              <a:t> These cover topics like "How I See Myself," "Disability Information," "IEP Knowledge," "Improvement Skills," and "My Future." Categories are more directly connected to transition planning.</a:t>
            </a:r>
          </a:p>
          <a:p>
            <a:r>
              <a:rPr lang="en-US" b="1" dirty="0"/>
              <a:t>Literature expands:</a:t>
            </a:r>
            <a:r>
              <a:rPr lang="en-US" dirty="0"/>
              <a:t> Use the literature guide for 6th-8th grade selections. Students can do book reports or reading responses focused on self-determination themes. Consider having students create their own discussion questions.</a:t>
            </a:r>
          </a:p>
          <a:p>
            <a:r>
              <a:rPr lang="en-US" b="1" dirty="0"/>
              <a:t>Majority of Self-Directed IEP steps:</a:t>
            </a:r>
            <a:r>
              <a:rPr lang="en-US" dirty="0"/>
              <a:t> By middle school, students should be handling most of the 11 steps. They're introducing people, reviewing goals, stating what support they need, and summarizing.</a:t>
            </a:r>
          </a:p>
          <a:p>
            <a:r>
              <a:rPr lang="en-US" b="1" dirty="0"/>
              <a:t>Mock IEPs:</a:t>
            </a:r>
            <a:r>
              <a:rPr lang="en-US" dirty="0"/>
              <a:t> This is HUGE. Practice makes perfect! Before the actual IEP meeting, have students practice their presentations with you, with peers, or even with parents at home. The more they practice, the more confident they'll be.</a:t>
            </a:r>
          </a:p>
          <a:p>
            <a:r>
              <a:rPr lang="en-US" b="1" dirty="0"/>
              <a:t>Transition Assessments:</a:t>
            </a:r>
            <a:r>
              <a:rPr lang="en-US" dirty="0"/>
              <a:t> Start integrating formal and informal assessments. The AIR Self-Determination Scale, interest inventories, and skills assessments all provide data that students can present at their meetings.</a:t>
            </a:r>
          </a:p>
          <a:p>
            <a:r>
              <a:rPr lang="en-US" b="1" dirty="0"/>
              <a:t>SDLMI or </a:t>
            </a:r>
            <a:r>
              <a:rPr lang="en-US" b="1" dirty="0" err="1"/>
              <a:t>ChoiceMaker</a:t>
            </a:r>
            <a:r>
              <a:rPr lang="en-US" b="1" dirty="0"/>
              <a:t> Curriculum:</a:t>
            </a:r>
            <a:r>
              <a:rPr lang="en-US" dirty="0"/>
              <a:t> This is the perfect time for structured curriculum. SDLMI's 15 minutes twice a week fits into most schedules, and </a:t>
            </a:r>
            <a:r>
              <a:rPr lang="en-US" dirty="0" err="1"/>
              <a:t>ChoiceMaker's</a:t>
            </a:r>
            <a:r>
              <a:rPr lang="en-US" dirty="0"/>
              <a:t> modules can be spread throughout the year.</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5294208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High school is where everything comes together. We're preparing students for life after school, so student involvement should be at its highest level.</a:t>
            </a:r>
          </a:p>
          <a:p>
            <a:r>
              <a:rPr lang="en-US" b="1" dirty="0"/>
              <a:t>One-pagers are comprehensive:</a:t>
            </a:r>
            <a:r>
              <a:rPr lang="en-US" dirty="0"/>
              <a:t> High school one-pagers should connect directly to post-secondary goals—the Live, Learn, Work, and Participate domains. Students might have different versions for different purposes: one for IEP meetings, one for job interviews, one for college applications.</a:t>
            </a:r>
          </a:p>
          <a:p>
            <a:r>
              <a:rPr lang="en-US" b="1" dirty="0"/>
              <a:t>Specialized Bell Ringers:</a:t>
            </a:r>
            <a:r>
              <a:rPr lang="en-US" dirty="0"/>
              <a:t> High schoolers benefit from skill-specific bell ringers:</a:t>
            </a:r>
          </a:p>
          <a:p>
            <a:r>
              <a:rPr lang="en-US" b="1" dirty="0"/>
              <a:t>Daily &amp; Independent Living:</a:t>
            </a:r>
            <a:r>
              <a:rPr lang="en-US" dirty="0"/>
              <a:t> Housing, transportation, self-care, health management</a:t>
            </a:r>
          </a:p>
          <a:p>
            <a:r>
              <a:rPr lang="en-US" b="1" dirty="0"/>
              <a:t>Personal Financial Literacy:</a:t>
            </a:r>
            <a:r>
              <a:rPr lang="en-US" dirty="0"/>
              <a:t> Earning income, taxes, banking, budgeting, credit</a:t>
            </a:r>
          </a:p>
          <a:p>
            <a:r>
              <a:rPr lang="en-US" b="1" dirty="0"/>
              <a:t>Social Skills:</a:t>
            </a:r>
            <a:r>
              <a:rPr lang="en-US" dirty="0"/>
              <a:t> Workplace relationships, conflict resolution, professional communication</a:t>
            </a:r>
          </a:p>
          <a:p>
            <a:r>
              <a:rPr lang="en-US" b="1" dirty="0"/>
              <a:t>Literature and Media:</a:t>
            </a:r>
            <a:r>
              <a:rPr lang="en-US" dirty="0"/>
              <a:t> High schoolers can analyze podcasts, documentaries, and young adult literature for self-determination themes. The Big Fib podcast and similar resources work great.</a:t>
            </a:r>
          </a:p>
          <a:p>
            <a:r>
              <a:rPr lang="en-US" b="1" dirty="0"/>
              <a:t>Fully Implemented Self-Directed IEP:</a:t>
            </a:r>
            <a:r>
              <a:rPr lang="en-US" dirty="0"/>
              <a:t> Students should be leading their meetings. All 11 steps. They're opening, presenting, facilitating discussion, and closing.</a:t>
            </a:r>
          </a:p>
          <a:p>
            <a:r>
              <a:rPr lang="en-US" b="1" dirty="0"/>
              <a:t>Student leadership in logistics:</a:t>
            </a:r>
            <a:r>
              <a:rPr lang="en-US" dirty="0"/>
              <a:t> Take this further! Have students:</a:t>
            </a:r>
          </a:p>
          <a:p>
            <a:r>
              <a:rPr lang="en-US" dirty="0"/>
              <a:t>Create their own PowerPoint presentations</a:t>
            </a:r>
          </a:p>
          <a:p>
            <a:r>
              <a:rPr lang="en-US" dirty="0"/>
              <a:t>Help draft the meeting invitation</a:t>
            </a:r>
          </a:p>
          <a:p>
            <a:r>
              <a:rPr lang="en-US" dirty="0"/>
              <a:t>Suggest who should be invited</a:t>
            </a:r>
          </a:p>
          <a:p>
            <a:r>
              <a:rPr lang="en-US" dirty="0"/>
              <a:t>Write or revise their own post-secondary goals</a:t>
            </a:r>
          </a:p>
          <a:p>
            <a:r>
              <a:rPr lang="en-US" b="1" dirty="0"/>
              <a:t>Comprehensive Transition Assessments:</a:t>
            </a:r>
            <a:r>
              <a:rPr lang="en-US" dirty="0"/>
              <a:t> By high school, you're using assessments across ALL domains—education/training interests, employment preferences and skills, and independent living abilities. Students should be familiar with their assessment results and able to explain them.</a:t>
            </a:r>
          </a:p>
          <a:p>
            <a:r>
              <a:rPr lang="en-US" dirty="0"/>
              <a:t>The goal by graduation? Students who can advocate for themselves in college, at work, and in life.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1576208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We've just reviewed age-appropriate progressions from early elementary through high school. Now I want you to pause and think about YOUR specific situation.</a:t>
            </a:r>
          </a:p>
          <a:p>
            <a:r>
              <a:rPr lang="en-US" b="1" dirty="0"/>
              <a:t>Pause the video here</a:t>
            </a:r>
            <a:r>
              <a:rPr lang="en-US" dirty="0"/>
              <a:t> and complete </a:t>
            </a:r>
            <a:r>
              <a:rPr lang="en-US"/>
              <a:t>the Implementation </a:t>
            </a:r>
            <a:r>
              <a:rPr lang="en-US" dirty="0"/>
              <a:t>Planning Activity.</a:t>
            </a:r>
          </a:p>
          <a:p>
            <a:r>
              <a:rPr lang="en-US" dirty="0"/>
              <a:t>This activity will help you:</a:t>
            </a:r>
          </a:p>
          <a:p>
            <a:r>
              <a:rPr lang="en-US" dirty="0"/>
              <a:t>Assess your current status—compare your confidence before and after this training</a:t>
            </a:r>
          </a:p>
          <a:p>
            <a:r>
              <a:rPr lang="en-US" dirty="0"/>
              <a:t>Identify your current strengths—what's already working</a:t>
            </a:r>
          </a:p>
          <a:p>
            <a:r>
              <a:rPr lang="en-US" dirty="0"/>
              <a:t>Set SMART goals at classroom, school, and district levels</a:t>
            </a:r>
          </a:p>
          <a:p>
            <a:r>
              <a:rPr lang="en-US" dirty="0"/>
              <a:t>Create a realistic timeline for implementation</a:t>
            </a:r>
          </a:p>
          <a:p>
            <a:r>
              <a:rPr lang="en-US" dirty="0"/>
              <a:t>Plan for family engagement</a:t>
            </a:r>
          </a:p>
          <a:p>
            <a:r>
              <a:rPr lang="en-US" dirty="0"/>
              <a:t>Build sustainability into your practice</a:t>
            </a:r>
          </a:p>
          <a:p>
            <a:r>
              <a:rPr lang="en-US" b="1" dirty="0"/>
              <a:t>This activity is for YOUR planning—you do NOT need to submit it.</a:t>
            </a:r>
            <a:r>
              <a:rPr lang="en-US" dirty="0"/>
              <a:t> This is your personal roadmap for making student involvement happen in your setting.</a:t>
            </a:r>
          </a:p>
          <a:p>
            <a:r>
              <a:rPr lang="en-US" dirty="0"/>
              <a:t>You've already created a Classroom Implementation Plan in Module 5. This activity builds on that by adding goal-setting at multiple levels and sustainability planning.</a:t>
            </a:r>
          </a:p>
          <a:p>
            <a:r>
              <a:rPr lang="en-US" dirty="0"/>
              <a:t>Remember: You don't have to do everything. Pick what makes sense for YOUR students, YOUR schedule, and YOUR setting. Start small, be consistent, and build from there.</a:t>
            </a:r>
          </a:p>
          <a:p>
            <a:r>
              <a:rPr lang="en-US" dirty="0"/>
              <a:t>Take 15-20 minutes to complete this activity. Use either the interactive online version with auto-save or the printable Word document. Then resume the video!</a:t>
            </a:r>
          </a:p>
        </p:txBody>
      </p:sp>
    </p:spTree>
    <p:extLst>
      <p:ext uri="{BB962C8B-B14F-4D97-AF65-F5344CB8AC3E}">
        <p14:creationId xmlns:p14="http://schemas.microsoft.com/office/powerpoint/2010/main" val="3218756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g77a667ef0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5" name="Google Shape;745;g77a667ef0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I'm going to walk you through four categories of parent resources. Each one serves a slightly different purpose, so let me explain when you might use each one.</a:t>
            </a:r>
          </a:p>
          <a:p>
            <a:r>
              <a:rPr lang="en-US" dirty="0"/>
              <a:t>Think of it this way:</a:t>
            </a:r>
          </a:p>
          <a:p>
            <a:r>
              <a:rPr lang="en-US" b="1" dirty="0"/>
              <a:t>Parent Center Hub</a:t>
            </a:r>
            <a:r>
              <a:rPr lang="en-US" dirty="0"/>
              <a:t> is your comprehensive starting point—great for parents who want to understand the big picture of transition</a:t>
            </a:r>
          </a:p>
          <a:p>
            <a:r>
              <a:rPr lang="en-US" b="1" dirty="0"/>
              <a:t>National Parent Center (PACER)</a:t>
            </a:r>
            <a:r>
              <a:rPr lang="en-US" dirty="0"/>
              <a:t> offers an organized learning center with modules parents can work through</a:t>
            </a:r>
          </a:p>
          <a:p>
            <a:r>
              <a:rPr lang="en-US" b="1" dirty="0"/>
              <a:t>Parent Guide to Transition Planning</a:t>
            </a:r>
            <a:r>
              <a:rPr lang="en-US" dirty="0"/>
              <a:t> is a practical PDF you can print or email—perfect for busy parents who want quick reference</a:t>
            </a:r>
          </a:p>
          <a:p>
            <a:r>
              <a:rPr lang="en-US" b="1" dirty="0"/>
              <a:t>Transition ABCs Resource</a:t>
            </a:r>
            <a:r>
              <a:rPr lang="en-US" dirty="0"/>
              <a:t> is an alphabetical reference guide parents can look up specific topics in</a:t>
            </a:r>
          </a:p>
          <a:p>
            <a:r>
              <a:rPr lang="en-US" dirty="0"/>
              <a:t>Let's look at each one in more detail.</a:t>
            </a:r>
          </a:p>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a:t>
            </a:r>
            <a:r>
              <a:rPr lang="en-US" b="1" dirty="0"/>
              <a:t>Parent Center Hub</a:t>
            </a:r>
            <a:r>
              <a:rPr lang="en-US" dirty="0"/>
              <a:t> is created by the Center for Parent Information and Resources. This is an excellent comprehensive resource.</a:t>
            </a:r>
          </a:p>
          <a:p>
            <a:r>
              <a:rPr lang="en-US" dirty="0"/>
              <a:t>What I love about this resource:</a:t>
            </a:r>
          </a:p>
          <a:p>
            <a:r>
              <a:rPr lang="en-US" dirty="0"/>
              <a:t>It's available in </a:t>
            </a:r>
            <a:r>
              <a:rPr lang="en-US" b="1" dirty="0"/>
              <a:t>English AND Spanish</a:t>
            </a:r>
            <a:endParaRPr lang="en-US" dirty="0"/>
          </a:p>
          <a:p>
            <a:r>
              <a:rPr lang="en-US" dirty="0"/>
              <a:t>It starts with the big picture—"life is full of transitions"—which helps parents see this as part of normal development</a:t>
            </a:r>
          </a:p>
          <a:p>
            <a:r>
              <a:rPr lang="en-US" dirty="0"/>
              <a:t>It explains what IDEA says about transition in parent-friendly language</a:t>
            </a:r>
          </a:p>
          <a:p>
            <a:r>
              <a:rPr lang="en-US" dirty="0"/>
              <a:t>Most importantly, it emphasizes that </a:t>
            </a:r>
            <a:r>
              <a:rPr lang="en-US" b="1" dirty="0"/>
              <a:t>students should be at the heart</a:t>
            </a:r>
            <a:r>
              <a:rPr lang="en-US" dirty="0"/>
              <a:t> of transition planning</a:t>
            </a:r>
          </a:p>
          <a:p>
            <a:r>
              <a:rPr lang="en-US" dirty="0"/>
              <a:t>The resource covers:</a:t>
            </a:r>
          </a:p>
          <a:p>
            <a:r>
              <a:rPr lang="en-US" dirty="0"/>
              <a:t>What transition services are</a:t>
            </a:r>
          </a:p>
          <a:p>
            <a:r>
              <a:rPr lang="en-US" dirty="0"/>
              <a:t>What must be included in transition planning</a:t>
            </a:r>
          </a:p>
          <a:p>
            <a:r>
              <a:rPr lang="en-US" dirty="0"/>
              <a:t>The five domains families need to consider: education/training, employment, independent living, community participation, and social relationships</a:t>
            </a:r>
          </a:p>
          <a:p>
            <a:r>
              <a:rPr lang="en-US" dirty="0"/>
              <a:t>Actual activities families can do at home to support their child's self-determination</a:t>
            </a:r>
          </a:p>
          <a:p>
            <a:r>
              <a:rPr lang="en-US" b="1" dirty="0"/>
              <a:t>When to use this:</a:t>
            </a:r>
            <a:r>
              <a:rPr lang="en-US" dirty="0"/>
              <a:t> Share this with parents who want a thorough understanding of transition. It's great for families who are just starting the transition process or who have lots of questions about what this all means.</a:t>
            </a:r>
          </a:p>
          <a:p>
            <a:endParaRPr lang="en-US" dirty="0"/>
          </a:p>
        </p:txBody>
      </p:sp>
    </p:spTree>
    <p:extLst>
      <p:ext uri="{BB962C8B-B14F-4D97-AF65-F5344CB8AC3E}">
        <p14:creationId xmlns:p14="http://schemas.microsoft.com/office/powerpoint/2010/main" val="3366998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a:t>
            </a:r>
            <a:r>
              <a:rPr lang="en-US" b="1" dirty="0"/>
              <a:t>PACER National Parent Center</a:t>
            </a:r>
            <a:r>
              <a:rPr lang="en-US" dirty="0"/>
              <a:t> has a whole learning center dedicated to transition planning for middle and high school students.</a:t>
            </a:r>
          </a:p>
          <a:p>
            <a:r>
              <a:rPr lang="en-US" dirty="0"/>
              <a:t>What makes PACER special:</a:t>
            </a:r>
          </a:p>
          <a:p>
            <a:r>
              <a:rPr lang="en-US" dirty="0"/>
              <a:t>Content is organized into </a:t>
            </a:r>
            <a:r>
              <a:rPr lang="en-US" b="1" dirty="0"/>
              <a:t>modules</a:t>
            </a:r>
            <a:r>
              <a:rPr lang="en-US" dirty="0"/>
              <a:t> parents can work through at their own pace</a:t>
            </a:r>
          </a:p>
          <a:p>
            <a:r>
              <a:rPr lang="en-US" dirty="0"/>
              <a:t>Very practical, action-oriented guidance</a:t>
            </a:r>
          </a:p>
          <a:p>
            <a:r>
              <a:rPr lang="en-US" dirty="0"/>
              <a:t>Covers the range of post-secondary options—not just college</a:t>
            </a:r>
          </a:p>
          <a:p>
            <a:r>
              <a:rPr lang="en-US" dirty="0"/>
              <a:t>Topics include:</a:t>
            </a:r>
          </a:p>
          <a:p>
            <a:r>
              <a:rPr lang="en-US" dirty="0"/>
              <a:t>Understanding IDEA requirements (what schools must do)</a:t>
            </a:r>
          </a:p>
          <a:p>
            <a:r>
              <a:rPr lang="en-US" dirty="0"/>
              <a:t>How parents can effectively be part of the IEP team</a:t>
            </a:r>
          </a:p>
          <a:p>
            <a:r>
              <a:rPr lang="en-US" dirty="0"/>
              <a:t>Planning for college or other post-secondary education</a:t>
            </a:r>
          </a:p>
          <a:p>
            <a:r>
              <a:rPr lang="en-US" dirty="0"/>
              <a:t>Employment preparation and options</a:t>
            </a:r>
          </a:p>
          <a:p>
            <a:r>
              <a:rPr lang="en-US" dirty="0"/>
              <a:t>Understanding the difference between high school services and adult services</a:t>
            </a:r>
          </a:p>
          <a:p>
            <a:r>
              <a:rPr lang="en-US" b="1" dirty="0"/>
              <a:t>When to use this:</a:t>
            </a:r>
            <a:r>
              <a:rPr lang="en-US" dirty="0"/>
              <a:t> Share this with parents of middle school and high school students who want to actively participate in transition planning. It's especially helpful for parents who want structured learning they can do on their own time.</a:t>
            </a:r>
          </a:p>
          <a:p>
            <a:endParaRPr lang="en-US" dirty="0"/>
          </a:p>
        </p:txBody>
      </p:sp>
    </p:spTree>
    <p:extLst>
      <p:ext uri="{BB962C8B-B14F-4D97-AF65-F5344CB8AC3E}">
        <p14:creationId xmlns:p14="http://schemas.microsoft.com/office/powerpoint/2010/main" val="1956028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a:t>
            </a:r>
            <a:r>
              <a:rPr lang="en-US" b="1" dirty="0"/>
              <a:t>Parent Guide to Transition Planning</a:t>
            </a:r>
            <a:r>
              <a:rPr lang="en-US" dirty="0"/>
              <a:t> is a PDF document—perfect for parents who want something they can print out, keep in a binder, or reference quickly.</a:t>
            </a:r>
          </a:p>
          <a:p>
            <a:r>
              <a:rPr lang="en-US" dirty="0"/>
              <a:t>This guide covers:</a:t>
            </a:r>
          </a:p>
          <a:p>
            <a:r>
              <a:rPr lang="en-US" b="1" dirty="0"/>
              <a:t>Transition planning for ALL youth</a:t>
            </a:r>
            <a:r>
              <a:rPr lang="en-US" dirty="0"/>
              <a:t>—emphasizing that every student benefits from planning for adulthood</a:t>
            </a:r>
          </a:p>
          <a:p>
            <a:r>
              <a:rPr lang="en-US" b="1" dirty="0"/>
              <a:t>Common parent concerns</a:t>
            </a:r>
            <a:r>
              <a:rPr lang="en-US" dirty="0"/>
              <a:t> and how to address them—this is gold when you have hesitant parents</a:t>
            </a:r>
          </a:p>
          <a:p>
            <a:r>
              <a:rPr lang="en-US" b="1" dirty="0"/>
              <a:t>The four domains of adult life:</a:t>
            </a:r>
            <a:r>
              <a:rPr lang="en-US" dirty="0"/>
              <a:t> education, employment, community participation, and independent living—with explanations of what each means</a:t>
            </a:r>
          </a:p>
          <a:p>
            <a:r>
              <a:rPr lang="en-US" dirty="0"/>
              <a:t>What I particularly appreciate is how it frames the </a:t>
            </a:r>
            <a:r>
              <a:rPr lang="en-US" b="1" dirty="0"/>
              <a:t>parent's role</a:t>
            </a:r>
            <a:r>
              <a:rPr lang="en-US" dirty="0"/>
              <a:t>:</a:t>
            </a:r>
          </a:p>
          <a:p>
            <a:r>
              <a:rPr lang="en-US" b="1" dirty="0"/>
              <a:t>Advocate:</a:t>
            </a:r>
            <a:r>
              <a:rPr lang="en-US" dirty="0"/>
              <a:t> Speaking up for their child's needs and rights</a:t>
            </a:r>
          </a:p>
          <a:p>
            <a:r>
              <a:rPr lang="en-US" b="1" dirty="0"/>
              <a:t>Mentor:</a:t>
            </a:r>
            <a:r>
              <a:rPr lang="en-US" dirty="0"/>
              <a:t> Sharing life experiences and wisdom</a:t>
            </a:r>
          </a:p>
          <a:p>
            <a:r>
              <a:rPr lang="en-US" b="1" dirty="0"/>
              <a:t>Life Coach:</a:t>
            </a:r>
            <a:r>
              <a:rPr lang="en-US" dirty="0"/>
              <a:t> Helping their child set and work toward goals</a:t>
            </a:r>
          </a:p>
          <a:p>
            <a:r>
              <a:rPr lang="en-US" dirty="0"/>
              <a:t>This framing helps parents see themselves as partners in the process, not just recipients of information.</a:t>
            </a:r>
          </a:p>
          <a:p>
            <a:r>
              <a:rPr lang="en-US" b="1" dirty="0"/>
              <a:t>When to use this:</a:t>
            </a:r>
            <a:r>
              <a:rPr lang="en-US" dirty="0"/>
              <a:t> Send this to parents before IEP meetings, especially annual reviews where transition will be discussed. It's also great for parents who prefer having a physical document they can highlight and take notes on.</a:t>
            </a:r>
          </a:p>
          <a:p>
            <a:endParaRPr lang="en-US" dirty="0"/>
          </a:p>
        </p:txBody>
      </p:sp>
    </p:spTree>
    <p:extLst>
      <p:ext uri="{BB962C8B-B14F-4D97-AF65-F5344CB8AC3E}">
        <p14:creationId xmlns:p14="http://schemas.microsoft.com/office/powerpoint/2010/main" val="11382344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a:t>
            </a:r>
            <a:r>
              <a:rPr lang="en-US" b="1" dirty="0"/>
              <a:t>Transition Resources for Parents</a:t>
            </a:r>
            <a:r>
              <a:rPr lang="en-US" dirty="0"/>
              <a:t> document from NASET (National Association of Special Education Teachers) is a comprehensive collection of web-based resources that parents can bookmark and return to throughout the transition years.</a:t>
            </a:r>
          </a:p>
          <a:p>
            <a:r>
              <a:rPr lang="en-US" dirty="0"/>
              <a:t>This resource is organized into two main sections:</a:t>
            </a:r>
          </a:p>
          <a:p>
            <a:r>
              <a:rPr lang="en-US" b="1" dirty="0"/>
              <a:t>Section 1: The ABCs of Transition</a:t>
            </a:r>
            <a:r>
              <a:rPr lang="en-US" dirty="0"/>
              <a:t> This section provides foundational understanding of transition planning. It includes links to resources about:</a:t>
            </a:r>
          </a:p>
          <a:p>
            <a:r>
              <a:rPr lang="en-US" dirty="0"/>
              <a:t>Understanding the basics of transition planning—what it is, who's involved, and the process</a:t>
            </a:r>
          </a:p>
          <a:p>
            <a:r>
              <a:rPr lang="en-US" dirty="0"/>
              <a:t>Your role as a parent in the IEP process and how to do your homework before meetings</a:t>
            </a:r>
          </a:p>
          <a:p>
            <a:r>
              <a:rPr lang="en-US" dirty="0"/>
              <a:t>How to support your child's development during transition</a:t>
            </a:r>
          </a:p>
          <a:p>
            <a:r>
              <a:rPr lang="en-US" dirty="0"/>
              <a:t>Parent brief series from NCSET on topics like Age of Majority, preparing for employment, and SSI</a:t>
            </a:r>
          </a:p>
          <a:p>
            <a:r>
              <a:rPr lang="en-US" dirty="0"/>
              <a:t>Self-determination—what it is, why it matters, and how to help your child develop these skills</a:t>
            </a:r>
          </a:p>
          <a:p>
            <a:r>
              <a:rPr lang="en-US" dirty="0"/>
              <a:t>How to help your child become an active participant in their own IEP meetings</a:t>
            </a:r>
          </a:p>
          <a:p>
            <a:r>
              <a:rPr lang="en-US" b="1" dirty="0"/>
              <a:t>Section 2: Looking at Specific Aspects of Transition</a:t>
            </a:r>
            <a:r>
              <a:rPr lang="en-US" dirty="0"/>
              <a:t> This section dives deeper into specific areas parents need to know about as their child approaches adulthood:</a:t>
            </a:r>
          </a:p>
          <a:p>
            <a:r>
              <a:rPr lang="en-US" b="1" dirty="0"/>
              <a:t>Legal and Financial Topics:</a:t>
            </a:r>
            <a:endParaRPr lang="en-US" dirty="0"/>
          </a:p>
          <a:p>
            <a:r>
              <a:rPr lang="en-US" dirty="0"/>
              <a:t>Age of Majority—understanding upcoming changes in your child's legal status</a:t>
            </a:r>
          </a:p>
          <a:p>
            <a:r>
              <a:rPr lang="en-US" dirty="0"/>
              <a:t>SSI and Social Security benefits—how they work during transition years</a:t>
            </a:r>
          </a:p>
          <a:p>
            <a:r>
              <a:rPr lang="en-US" dirty="0"/>
              <a:t>Financial aid options for students with disabilities pursuing postsecondary education</a:t>
            </a:r>
          </a:p>
          <a:p>
            <a:r>
              <a:rPr lang="en-US" b="1" dirty="0"/>
              <a:t>Employment Topics:</a:t>
            </a:r>
            <a:endParaRPr lang="en-US" dirty="0"/>
          </a:p>
          <a:p>
            <a:r>
              <a:rPr lang="en-US" dirty="0"/>
              <a:t>Functional vocational evaluation</a:t>
            </a:r>
          </a:p>
          <a:p>
            <a:r>
              <a:rPr lang="en-US" dirty="0"/>
              <a:t>Work-based learning opportunities</a:t>
            </a:r>
          </a:p>
          <a:p>
            <a:r>
              <a:rPr lang="en-US" dirty="0"/>
              <a:t>Supported employment and the adult service system</a:t>
            </a:r>
          </a:p>
          <a:p>
            <a:r>
              <a:rPr lang="en-US" dirty="0"/>
              <a:t>Personal assistance services in the workplace</a:t>
            </a:r>
          </a:p>
          <a:p>
            <a:r>
              <a:rPr lang="en-US" dirty="0"/>
              <a:t>Frequently asked questions about youth entering the workforce</a:t>
            </a:r>
          </a:p>
          <a:p>
            <a:r>
              <a:rPr lang="en-US" b="1" dirty="0"/>
              <a:t>Education and Testing:</a:t>
            </a:r>
            <a:endParaRPr lang="en-US" dirty="0"/>
          </a:p>
          <a:p>
            <a:r>
              <a:rPr lang="en-US" dirty="0"/>
              <a:t>Accommodations for GED testing</a:t>
            </a:r>
          </a:p>
          <a:p>
            <a:r>
              <a:rPr lang="en-US" dirty="0"/>
              <a:t>Accommodations for SAT, AP, and PSAT testing</a:t>
            </a:r>
          </a:p>
          <a:p>
            <a:r>
              <a:rPr lang="en-US" dirty="0"/>
              <a:t>Postsecondary education options</a:t>
            </a:r>
          </a:p>
          <a:p>
            <a:r>
              <a:rPr lang="en-US" dirty="0"/>
              <a:t>Non-degree postsecondary programs</a:t>
            </a:r>
          </a:p>
          <a:p>
            <a:r>
              <a:rPr lang="en-US" b="1" dirty="0"/>
              <a:t>Health and Daily Living:</a:t>
            </a:r>
            <a:endParaRPr lang="en-US" dirty="0"/>
          </a:p>
          <a:p>
            <a:r>
              <a:rPr lang="en-US" dirty="0"/>
              <a:t>Why health matters in transition planning</a:t>
            </a:r>
          </a:p>
          <a:p>
            <a:r>
              <a:rPr lang="en-US" dirty="0"/>
              <a:t>Planning for independent living</a:t>
            </a:r>
          </a:p>
          <a:p>
            <a:r>
              <a:rPr lang="en-US" b="1" dirty="0"/>
              <a:t>What makes this resource special:</a:t>
            </a:r>
            <a:r>
              <a:rPr lang="en-US" dirty="0"/>
              <a:t> Every topic includes direct web links to more detailed information. Parents can start with the overview and then click through to get more depth on the topics that are most relevant to their child's situation.</a:t>
            </a:r>
          </a:p>
          <a:p>
            <a:r>
              <a:rPr lang="en-US" b="1" dirty="0"/>
              <a:t>When to use this:</a:t>
            </a:r>
            <a:r>
              <a:rPr lang="en-US" dirty="0"/>
              <a:t> This is perfect for parents who want a comprehensive resource they can bookmark and return to as different questions arise. It's especially helpful for parents who are just beginning to think about transition or who have specific concerns about topics like employment, college, or benefits.</a:t>
            </a:r>
          </a:p>
          <a:p>
            <a:r>
              <a:rPr lang="en-US" dirty="0"/>
              <a:t>Tell parents: "Think of this as your transition planning roadmap. You don't need to read everything at once—just go to the sections that are most relevant to where your child is right now. Bookmark it so you can come back as new questions come up."</a:t>
            </a:r>
          </a:p>
          <a:p>
            <a:endParaRPr lang="en-US" dirty="0"/>
          </a:p>
        </p:txBody>
      </p:sp>
    </p:spTree>
    <p:extLst>
      <p:ext uri="{BB962C8B-B14F-4D97-AF65-F5344CB8AC3E}">
        <p14:creationId xmlns:p14="http://schemas.microsoft.com/office/powerpoint/2010/main" val="32351626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Finally, I want to highlight the </a:t>
            </a:r>
            <a:r>
              <a:rPr lang="en-US" b="1" dirty="0"/>
              <a:t>I'm Determined Parent Path to Success Video Series</a:t>
            </a:r>
            <a:r>
              <a:rPr lang="en-US" dirty="0"/>
              <a:t>. This is one of my favorite parent resources.</a:t>
            </a:r>
          </a:p>
          <a:p>
            <a:r>
              <a:rPr lang="en-US" b="1" dirty="0"/>
              <a:t>What it is:</a:t>
            </a:r>
            <a:endParaRPr lang="en-US" dirty="0"/>
          </a:p>
          <a:p>
            <a:r>
              <a:rPr lang="en-US" dirty="0"/>
              <a:t>Short videos—most are under 5 minutes</a:t>
            </a:r>
          </a:p>
          <a:p>
            <a:r>
              <a:rPr lang="en-US" dirty="0"/>
              <a:t>Specifically designed FOR parents, BY professionals who work with families</a:t>
            </a:r>
          </a:p>
          <a:p>
            <a:r>
              <a:rPr lang="en-US" dirty="0"/>
              <a:t>Professional production quality</a:t>
            </a:r>
          </a:p>
          <a:p>
            <a:r>
              <a:rPr lang="en-US" dirty="0"/>
              <a:t>Covers a range of topics related to student self-determination</a:t>
            </a:r>
          </a:p>
          <a:p>
            <a:r>
              <a:rPr lang="en-US" b="1" dirty="0"/>
              <a:t>Why video works:</a:t>
            </a:r>
            <a:endParaRPr lang="en-US" dirty="0"/>
          </a:p>
          <a:p>
            <a:r>
              <a:rPr lang="en-US" dirty="0"/>
              <a:t>Parents can watch on their phones during lunch breaks, commutes, or after the kids go to bed</a:t>
            </a:r>
          </a:p>
          <a:p>
            <a:r>
              <a:rPr lang="en-US" dirty="0"/>
              <a:t>More engaging than reading lengthy documents</a:t>
            </a:r>
          </a:p>
          <a:p>
            <a:r>
              <a:rPr lang="en-US" dirty="0"/>
              <a:t>Can be watched multiple times for reinforcement</a:t>
            </a:r>
          </a:p>
          <a:p>
            <a:r>
              <a:rPr lang="en-US" dirty="0"/>
              <a:t>Easy to share with other family members—grandparents, step-parents, anyone involved</a:t>
            </a:r>
          </a:p>
          <a:p>
            <a:r>
              <a:rPr lang="en-US" b="1" dirty="0"/>
              <a:t>How to use it:</a:t>
            </a:r>
            <a:endParaRPr lang="en-US" dirty="0"/>
          </a:p>
          <a:p>
            <a:r>
              <a:rPr lang="en-US" dirty="0"/>
              <a:t>Share the link to the entire series and let parents explore</a:t>
            </a:r>
          </a:p>
          <a:p>
            <a:r>
              <a:rPr lang="en-US" dirty="0"/>
              <a:t>Send individual videos that address specific concerns a parent has raised</a:t>
            </a:r>
          </a:p>
          <a:p>
            <a:r>
              <a:rPr lang="en-US" dirty="0"/>
              <a:t>Use videos during parent nights or workshops</a:t>
            </a:r>
          </a:p>
          <a:p>
            <a:r>
              <a:rPr lang="en-US" dirty="0"/>
              <a:t>Reference them during IEP meetings when discussing student involvement</a:t>
            </a:r>
          </a:p>
          <a:p>
            <a:r>
              <a:rPr lang="en-US" b="1" dirty="0"/>
              <a:t>Example:</a:t>
            </a:r>
            <a:r>
              <a:rPr lang="en-US" dirty="0"/>
              <a:t> If a parent says, "I don't think my child is ready to be involved," you can respond: "I have a great 3-minute video that explains how we can start small and build from there. Can I send it to you?"</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5147211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(Be sure to play with subtitles) Let's take a couple of minutes to watch the introduction video from the Parent Path to Success series.</a:t>
            </a:r>
          </a:p>
          <a:p>
            <a:r>
              <a:rPr lang="en-US" dirty="0"/>
              <a:t>[Play video - approximately 2 minutes]</a:t>
            </a:r>
          </a:p>
          <a:p>
            <a:r>
              <a:rPr lang="en-US" dirty="0"/>
              <a:t>What did you notice?</a:t>
            </a:r>
          </a:p>
          <a:p>
            <a:r>
              <a:rPr lang="en-US" dirty="0"/>
              <a:t>The tone is welcoming and supportive</a:t>
            </a:r>
          </a:p>
          <a:p>
            <a:r>
              <a:rPr lang="en-US" dirty="0"/>
              <a:t>It emphasizes partnership</a:t>
            </a:r>
          </a:p>
          <a:p>
            <a:r>
              <a:rPr lang="en-US" dirty="0"/>
              <a:t>It acknowledges that this might be new for families</a:t>
            </a:r>
          </a:p>
          <a:p>
            <a:r>
              <a:rPr lang="en-US" dirty="0"/>
              <a:t>It frames student involvement as an opportunity, not a burden</a:t>
            </a:r>
          </a:p>
          <a:p>
            <a:r>
              <a:rPr lang="en-US" dirty="0"/>
              <a:t>This is the kind of resource that can change a hesitant parent into an enthusiastic partner.</a:t>
            </a:r>
          </a:p>
          <a:p>
            <a:r>
              <a:rPr lang="en-US" dirty="0"/>
              <a:t>After watching, think about which families on your caseload might benefit from this series. Consider sharing the link in your next parent communication.</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2944866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it's time to put these parent resources into action. </a:t>
            </a:r>
            <a:r>
              <a:rPr lang="en-US" b="1" dirty="0"/>
              <a:t>Pause the video here</a:t>
            </a:r>
            <a:r>
              <a:rPr lang="en-US" dirty="0"/>
              <a:t> and complete the Parent Communication Planning Tool.</a:t>
            </a:r>
          </a:p>
          <a:p>
            <a:r>
              <a:rPr lang="en-US" dirty="0"/>
              <a:t>This activity will help you:</a:t>
            </a:r>
          </a:p>
          <a:p>
            <a:r>
              <a:rPr lang="en-US" dirty="0"/>
              <a:t>Review all five parent resources and check which ones you'll use</a:t>
            </a:r>
          </a:p>
          <a:p>
            <a:r>
              <a:rPr lang="en-US" dirty="0"/>
              <a:t>Think about 2-3 specific families on your caseload and plan what to share with each</a:t>
            </a:r>
          </a:p>
          <a:p>
            <a:r>
              <a:rPr lang="en-US" dirty="0"/>
              <a:t>Practice your responses to common parent concerns like "my child is too shy" or "this is too much pressure"</a:t>
            </a:r>
          </a:p>
          <a:p>
            <a:r>
              <a:rPr lang="en-US" dirty="0"/>
              <a:t>Create an action plan for ongoing family communication</a:t>
            </a:r>
          </a:p>
          <a:p>
            <a:r>
              <a:rPr lang="en-US" b="1" dirty="0"/>
              <a:t>This activity is for YOUR professional planning—you do NOT need to submit it.</a:t>
            </a:r>
            <a:r>
              <a:rPr lang="en-US" dirty="0"/>
              <a:t> Keep it handy as a reference when communicating with families.</a:t>
            </a:r>
          </a:p>
          <a:p>
            <a:r>
              <a:rPr lang="en-US" dirty="0"/>
              <a:t>Choose either the interactive online version with auto-save or the printable Word document. Take 10-15 minutes to complete this activity, then resume the video.</a:t>
            </a:r>
          </a:p>
          <a:p>
            <a:endParaRPr lang="en-US" dirty="0"/>
          </a:p>
        </p:txBody>
      </p:sp>
    </p:spTree>
    <p:extLst>
      <p:ext uri="{BB962C8B-B14F-4D97-AF65-F5344CB8AC3E}">
        <p14:creationId xmlns:p14="http://schemas.microsoft.com/office/powerpoint/2010/main" val="3280546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Before we wrap up the parent resources section, let's talk about how to address common concerns families raise.</a:t>
            </a:r>
          </a:p>
          <a:p>
            <a:r>
              <a:rPr lang="en-US" dirty="0"/>
              <a:t>When you introduce the idea of student involvement, some parents will be enthusiastic. Others will have concerns. That's normal! Here's how to respond:</a:t>
            </a:r>
          </a:p>
          <a:p>
            <a:r>
              <a:rPr lang="en-US" b="1" dirty="0"/>
              <a:t>"My child is too shy"</a:t>
            </a:r>
            <a:endParaRPr lang="en-US" dirty="0"/>
          </a:p>
          <a:p>
            <a:r>
              <a:rPr lang="en-US" dirty="0"/>
              <a:t>Start with written or recorded input—students can prepare notes or a video ahead of time</a:t>
            </a:r>
          </a:p>
          <a:p>
            <a:r>
              <a:rPr lang="en-US" dirty="0"/>
              <a:t>Practice in safe environments before the meeting</a:t>
            </a:r>
          </a:p>
          <a:p>
            <a:r>
              <a:rPr lang="en-US" dirty="0"/>
              <a:t>Celebrate small steps—even reading one sentence is progress</a:t>
            </a:r>
          </a:p>
          <a:p>
            <a:r>
              <a:rPr lang="en-US" dirty="0"/>
              <a:t>Remind parents that shy students often bloom when given structure and practice</a:t>
            </a:r>
          </a:p>
          <a:p>
            <a:r>
              <a:rPr lang="en-US" b="1" dirty="0"/>
              <a:t>"This seems like too much pressure"</a:t>
            </a:r>
            <a:endParaRPr lang="en-US" dirty="0"/>
          </a:p>
          <a:p>
            <a:r>
              <a:rPr lang="en-US" dirty="0"/>
              <a:t>Emphasize gradual progression—we don't start by having them lead the whole meeting</a:t>
            </a:r>
          </a:p>
          <a:p>
            <a:r>
              <a:rPr lang="en-US" dirty="0"/>
              <a:t>Focus on strengths first—students share what they're good at before challenges</a:t>
            </a:r>
          </a:p>
          <a:p>
            <a:r>
              <a:rPr lang="en-US" dirty="0"/>
              <a:t>Multiple supports are available—scripts, visuals, practice sessions</a:t>
            </a:r>
          </a:p>
          <a:p>
            <a:r>
              <a:rPr lang="en-US" dirty="0"/>
              <a:t>The goal is empowerment, not stress</a:t>
            </a:r>
          </a:p>
          <a:p>
            <a:r>
              <a:rPr lang="en-US" b="1" dirty="0"/>
              <a:t>"Will important information be missed?"</a:t>
            </a:r>
            <a:endParaRPr lang="en-US" dirty="0"/>
          </a:p>
          <a:p>
            <a:r>
              <a:rPr lang="en-US" dirty="0"/>
              <a:t>Structured formats ensure all legal requirements are covered</a:t>
            </a:r>
          </a:p>
          <a:p>
            <a:r>
              <a:rPr lang="en-US" dirty="0"/>
              <a:t>Adults still guide the process—students participate, they don't replace professionals</a:t>
            </a:r>
          </a:p>
          <a:p>
            <a:r>
              <a:rPr lang="en-US" dirty="0"/>
              <a:t>All required information is still documented</a:t>
            </a:r>
          </a:p>
          <a:p>
            <a:r>
              <a:rPr lang="en-US" dirty="0"/>
              <a:t>Student involvement actually ADDS information—their perspective and preferences</a:t>
            </a:r>
          </a:p>
          <a:p>
            <a:r>
              <a:rPr lang="en-US" b="1" dirty="0"/>
              <a:t>"My child doesn't understand their disability"</a:t>
            </a:r>
            <a:endParaRPr lang="en-US" dirty="0"/>
          </a:p>
          <a:p>
            <a:r>
              <a:rPr lang="en-US" dirty="0"/>
              <a:t>That's exactly why we teach self-awareness</a:t>
            </a:r>
          </a:p>
          <a:p>
            <a:r>
              <a:rPr lang="en-US" dirty="0"/>
              <a:t>We start with strengths, not deficits</a:t>
            </a:r>
          </a:p>
          <a:p>
            <a:r>
              <a:rPr lang="en-US" dirty="0"/>
              <a:t>Understanding their disability empowers better self-advocacy</a:t>
            </a:r>
          </a:p>
          <a:p>
            <a:r>
              <a:rPr lang="en-US" dirty="0"/>
              <a:t>Age-appropriate explanations build understanding over time</a:t>
            </a:r>
          </a:p>
          <a:p>
            <a:r>
              <a:rPr lang="en-US" dirty="0"/>
              <a:t>Having these responses ready helps you confidently invite families into partnership.</a:t>
            </a:r>
          </a:p>
          <a:p>
            <a:endParaRPr lang="en-US" dirty="0"/>
          </a:p>
        </p:txBody>
      </p:sp>
    </p:spTree>
    <p:extLst>
      <p:ext uri="{BB962C8B-B14F-4D97-AF65-F5344CB8AC3E}">
        <p14:creationId xmlns:p14="http://schemas.microsoft.com/office/powerpoint/2010/main" val="10538810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Our final topic is sustainability. How do we make student involvement stick? How do we prevent this from being a one-time training that fades away?</a:t>
            </a:r>
          </a:p>
          <a:p>
            <a:r>
              <a:rPr lang="en-US" b="1" dirty="0"/>
              <a:t>Key strategies for sustainability:</a:t>
            </a:r>
            <a:endParaRPr lang="en-US" dirty="0"/>
          </a:p>
          <a:p>
            <a:r>
              <a:rPr lang="en-US" b="1" dirty="0"/>
              <a:t>1. Embed, don't add.</a:t>
            </a:r>
            <a:r>
              <a:rPr lang="en-US" dirty="0"/>
              <a:t> Don't think of this as "one more thing" to do. Bell ringers can be your existing morning meeting or warm-up time. One-pagers can be part of your beginning-of-year activities. SDLMI can be integrated into goal-setting you're already doing. Find existing slots and give them new purpose.</a:t>
            </a:r>
          </a:p>
          <a:p>
            <a:r>
              <a:rPr lang="en-US" b="1" dirty="0"/>
              <a:t>2. Start small and build momentum.</a:t>
            </a:r>
            <a:r>
              <a:rPr lang="en-US" dirty="0"/>
              <a:t> You don't have to do everything. Pick ONE bell ringer set. Pick ONE activity for IEP preparation. Do that consistently for a semester. Then add something else. Momentum matters more than comprehensiveness.</a:t>
            </a:r>
          </a:p>
          <a:p>
            <a:r>
              <a:rPr lang="en-US" b="1" dirty="0"/>
              <a:t>3. Share successes with colleagues.</a:t>
            </a:r>
            <a:r>
              <a:rPr lang="en-US" dirty="0"/>
              <a:t> When a student leads their first IEP introduction, tell someone! When a parent sends an excited email, share it (with permission). Success stories spread, and other teachers will want to know how you did it.</a:t>
            </a:r>
          </a:p>
          <a:p>
            <a:r>
              <a:rPr lang="en-US" b="1" dirty="0"/>
              <a:t>4. Involve administration.</a:t>
            </a:r>
            <a:r>
              <a:rPr lang="en-US" dirty="0"/>
              <a:t> Keep your administrators in the loop. Share the research benefits. Invite them to observe a student-led IEP. When admin supports student involvement, it becomes systemic rather than individual.</a:t>
            </a:r>
          </a:p>
          <a:p>
            <a:r>
              <a:rPr lang="en-US" b="1" dirty="0"/>
              <a:t>5. Celebrate progress—students AND staff.</a:t>
            </a:r>
            <a:r>
              <a:rPr lang="en-US" dirty="0"/>
              <a:t> Create IEP participation certificates. Recognize students who take leadership steps. But also recognize staff who implement these practices. Celebration reinforces behavior.</a:t>
            </a:r>
          </a:p>
          <a:p>
            <a:r>
              <a:rPr lang="en-US" dirty="0"/>
              <a:t>The quote I want you to remember: </a:t>
            </a:r>
            <a:r>
              <a:rPr lang="en-US" b="1" dirty="0"/>
              <a:t>"Small steps daily lead to big changes yearly."</a:t>
            </a:r>
            <a:r>
              <a:rPr lang="en-US" dirty="0"/>
              <a:t> Five minutes of bell ringers every day adds up to hours of self-determination instruction over a year. Consistency beats intensity.</a:t>
            </a:r>
          </a:p>
          <a:p>
            <a:endParaRPr lang="en-US" dirty="0"/>
          </a:p>
        </p:txBody>
      </p:sp>
    </p:spTree>
    <p:extLst>
      <p:ext uri="{BB962C8B-B14F-4D97-AF65-F5344CB8AC3E}">
        <p14:creationId xmlns:p14="http://schemas.microsoft.com/office/powerpoint/2010/main" val="27015305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Before we wrap up, let's make sure you have a plan for long-term success. </a:t>
            </a:r>
            <a:r>
              <a:rPr lang="en-US" b="1" dirty="0"/>
              <a:t>Pause the video here</a:t>
            </a:r>
            <a:r>
              <a:rPr lang="en-US" dirty="0"/>
              <a:t> and complete the Sustainability Self-Assessment.</a:t>
            </a:r>
          </a:p>
          <a:p>
            <a:r>
              <a:rPr lang="en-US" dirty="0"/>
              <a:t>This self-assessment will help you:</a:t>
            </a:r>
          </a:p>
          <a:p>
            <a:r>
              <a:rPr lang="en-US" dirty="0"/>
              <a:t>Rate how embedded your current practices are on a 1-5 scale</a:t>
            </a:r>
          </a:p>
          <a:p>
            <a:r>
              <a:rPr lang="en-US" dirty="0"/>
              <a:t>Identify your specific barriers and create solutions for each</a:t>
            </a:r>
          </a:p>
          <a:p>
            <a:r>
              <a:rPr lang="en-US" dirty="0"/>
              <a:t>Build your support system—colleagues, administrators, and celebration plans</a:t>
            </a:r>
          </a:p>
          <a:p>
            <a:r>
              <a:rPr lang="en-US" dirty="0"/>
              <a:t>Create your long-term vision for 6 months, 1 year, and beyond</a:t>
            </a:r>
          </a:p>
          <a:p>
            <a:r>
              <a:rPr lang="en-US" b="1" dirty="0"/>
              <a:t>This activity is for YOUR professional reflection—you do NOT need to submit it.</a:t>
            </a:r>
            <a:r>
              <a:rPr lang="en-US" dirty="0"/>
              <a:t> Consider revisiting it monthly or quarterly to track your progress. As your practices become more embedded, your ratings should increase!</a:t>
            </a:r>
          </a:p>
          <a:p>
            <a:r>
              <a:rPr lang="en-US" dirty="0"/>
              <a:t>Choose either the interactive online version with auto-save or the printable Word document. Take 10-15 minutes to complete this activity, then resume the video.</a:t>
            </a:r>
          </a:p>
          <a:p>
            <a:endParaRPr lang="en-US" dirty="0"/>
          </a:p>
        </p:txBody>
      </p:sp>
    </p:spTree>
    <p:extLst>
      <p:ext uri="{BB962C8B-B14F-4D97-AF65-F5344CB8AC3E}">
        <p14:creationId xmlns:p14="http://schemas.microsoft.com/office/powerpoint/2010/main" val="26674057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recap what we've covered in Module 6.</a:t>
            </a:r>
          </a:p>
          <a:p>
            <a:r>
              <a:rPr lang="en-US" b="1" dirty="0"/>
              <a:t>Age-Appropriate Progressions:</a:t>
            </a:r>
            <a:r>
              <a:rPr lang="en-US" dirty="0"/>
              <a:t> We walked through what student involvement looks like from early elementary through high school. Remember—we start with simple activities like introducing yourself and creating visual one-pagers, and we build toward students fully leading their own IEP meetings by high school.</a:t>
            </a:r>
          </a:p>
          <a:p>
            <a:r>
              <a:rPr lang="en-US" b="1" dirty="0"/>
              <a:t>Parent Resources:</a:t>
            </a:r>
            <a:r>
              <a:rPr lang="en-US" dirty="0"/>
              <a:t> You now have a toolkit of family resources:</a:t>
            </a:r>
          </a:p>
          <a:p>
            <a:r>
              <a:rPr lang="en-US" dirty="0"/>
              <a:t>Parent Center Hub for comprehensive understanding</a:t>
            </a:r>
          </a:p>
          <a:p>
            <a:r>
              <a:rPr lang="en-US" dirty="0"/>
              <a:t>PACER's learning center for structured modules</a:t>
            </a:r>
          </a:p>
          <a:p>
            <a:r>
              <a:rPr lang="en-US" dirty="0"/>
              <a:t>Parent Guide to Transition Planning for print reference</a:t>
            </a:r>
          </a:p>
          <a:p>
            <a:r>
              <a:rPr lang="en-US" dirty="0"/>
              <a:t>Transition Resources for Parents (NASET) for comprehensive topic coverage</a:t>
            </a:r>
          </a:p>
          <a:p>
            <a:r>
              <a:rPr lang="en-US" dirty="0"/>
              <a:t>I'm Determined video series for engaging, accessible content</a:t>
            </a:r>
          </a:p>
          <a:p>
            <a:r>
              <a:rPr lang="en-US" dirty="0"/>
              <a:t>And you know how to address common parent concerns.</a:t>
            </a:r>
          </a:p>
          <a:p>
            <a:r>
              <a:rPr lang="en-US" b="1" dirty="0"/>
              <a:t>Sustainable Implementation:</a:t>
            </a:r>
            <a:r>
              <a:rPr lang="en-US" dirty="0"/>
              <a:t> We discussed strategies for making this stick—embedding in existing routines, starting small, sharing successes, involving administration, and celebrating progress.</a:t>
            </a:r>
          </a:p>
          <a:p>
            <a:r>
              <a:rPr lang="en-US" b="1" dirty="0"/>
              <a:t>The key takeaway from this entire training:</a:t>
            </a:r>
            <a:r>
              <a:rPr lang="en-US" dirty="0"/>
              <a:t> "Start where you are, use what you have, do what you can."</a:t>
            </a:r>
          </a:p>
          <a:p>
            <a:r>
              <a:rPr lang="en-US" dirty="0"/>
              <a:t>You don't need perfect conditions. You don't need every resource. You don't need every colleague on board. You need to START. Pick one strategy. Try it with one student. See what happens. Build from there.</a:t>
            </a:r>
          </a:p>
          <a:p>
            <a:endParaRPr lang="en-US" dirty="0"/>
          </a:p>
        </p:txBody>
      </p:sp>
    </p:spTree>
    <p:extLst>
      <p:ext uri="{BB962C8B-B14F-4D97-AF65-F5344CB8AC3E}">
        <p14:creationId xmlns:p14="http://schemas.microsoft.com/office/powerpoint/2010/main" val="10583300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Congratulations—you've completed the Student Involvement in IEP training!</a:t>
            </a:r>
          </a:p>
          <a:p>
            <a:r>
              <a:rPr lang="en-US" dirty="0"/>
              <a:t>Here's what comes next:</a:t>
            </a:r>
          </a:p>
          <a:p>
            <a:r>
              <a:rPr lang="en-US" b="1" dirty="0"/>
              <a:t>1. Complete the Module 6 Assessment.</a:t>
            </a:r>
            <a:r>
              <a:rPr lang="en-US" dirty="0"/>
              <a:t> </a:t>
            </a:r>
          </a:p>
          <a:p>
            <a:r>
              <a:rPr lang="en-US" dirty="0"/>
              <a:t>Double check that you have completed all module activities and printed or e-mailed them to yourself for your own records</a:t>
            </a:r>
          </a:p>
          <a:p>
            <a:r>
              <a:rPr lang="en-US" b="1" dirty="0"/>
              <a:t>Apply one strategy THIS WEEK.</a:t>
            </a:r>
            <a:r>
              <a:rPr lang="en-US" dirty="0"/>
              <a:t> Don't wait. Pick ONE thing from this training and try it within the next week. Maybe it's a bell ringer. Maybe it's sharing a parent video. Maybe it's having a student introduce themselves at an upcoming meeting. Action creates momentum.</a:t>
            </a:r>
          </a:p>
          <a:p>
            <a:r>
              <a:rPr lang="en-US" b="1" dirty="0"/>
              <a:t>Share what you've learned.</a:t>
            </a:r>
            <a:r>
              <a:rPr lang="en-US" dirty="0"/>
              <a:t> Tell a colleague about something you learned. Offer to share a resource. Consider presenting at a team meeting. When you share, you reinforce your own learning AND spread these practices.</a:t>
            </a:r>
          </a:p>
          <a:p>
            <a:r>
              <a:rPr lang="en-US" dirty="0"/>
              <a:t>Upon successful completion of all module assessments and the course survey, you'll receive a certificate of completion recognizing 6 hours of professional learning in student involvement and self-determination.</a:t>
            </a:r>
          </a:p>
          <a:p>
            <a:r>
              <a:rPr lang="en-US" dirty="0"/>
              <a:t>The three planning activities you completed in this module (Implementation Planning, Parent Communication Planning, and Sustainability Self-Assessment) are yours to keep and use as professional tools. Refer back to them as you implement student involvement practices throughout the year.</a:t>
            </a:r>
          </a:p>
          <a:p>
            <a:endParaRPr lang="en-US" dirty="0"/>
          </a:p>
        </p:txBody>
      </p:sp>
    </p:spTree>
    <p:extLst>
      <p:ext uri="{BB962C8B-B14F-4D97-AF65-F5344CB8AC3E}">
        <p14:creationId xmlns:p14="http://schemas.microsoft.com/office/powerpoint/2010/main" val="25182051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Thank you for your commitment to empowering students through IEP involvement.</a:t>
            </a:r>
          </a:p>
          <a:p>
            <a:r>
              <a:rPr lang="en-US" dirty="0"/>
              <a:t>I want to leave you with this thought: </a:t>
            </a:r>
            <a:r>
              <a:rPr lang="en-US" b="1" dirty="0"/>
              <a:t>You're not just changing IEP meetings—you're changing lives.</a:t>
            </a:r>
            <a:endParaRPr lang="en-US" dirty="0"/>
          </a:p>
          <a:p>
            <a:r>
              <a:rPr lang="en-US" dirty="0"/>
              <a:t>Every time a student says "I'm good at..." instead of hearing what they can't do...</a:t>
            </a:r>
          </a:p>
          <a:p>
            <a:r>
              <a:rPr lang="en-US" dirty="0"/>
              <a:t>Every time a student states their own goal instead of having adults decide for them...</a:t>
            </a:r>
          </a:p>
          <a:p>
            <a:r>
              <a:rPr lang="en-US" dirty="0"/>
              <a:t>Every time a student thanks their team and walks out of an IEP meeting with their head held high...</a:t>
            </a:r>
          </a:p>
          <a:p>
            <a:r>
              <a:rPr lang="en-US" dirty="0"/>
              <a:t>You're building skills that last a lifetime. Self-advocacy. Goal-setting. Problem-solving. These aren't just IEP skills—they're LIFE skills.</a:t>
            </a:r>
          </a:p>
          <a:p>
            <a:r>
              <a:rPr lang="en-US" dirty="0"/>
              <a:t>The work you do today will echo in students' college interviews, job applications, relationships, and independent living for decades to come.</a:t>
            </a:r>
          </a:p>
          <a:p>
            <a:r>
              <a:rPr lang="en-US" dirty="0"/>
              <a:t>If you have questions as you implement these strategies, please reach out. We're here to support you.</a:t>
            </a:r>
          </a:p>
          <a:p>
            <a:r>
              <a:rPr lang="en-US" dirty="0"/>
              <a:t>Thank you for everything you do for students.</a:t>
            </a:r>
          </a:p>
          <a:p>
            <a:pPr marL="158750" indent="0">
              <a:buNone/>
            </a:pPr>
            <a:endParaRPr lang="en-US" dirty="0"/>
          </a:p>
        </p:txBody>
      </p:sp>
    </p:spTree>
    <p:extLst>
      <p:ext uri="{BB962C8B-B14F-4D97-AF65-F5344CB8AC3E}">
        <p14:creationId xmlns:p14="http://schemas.microsoft.com/office/powerpoint/2010/main" val="18235810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098285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9" name="Picture 18" descr="Plan Your Way OK - Pathways to Partnership Branding">
            <a:extLst>
              <a:ext uri="{FF2B5EF4-FFF2-40B4-BE49-F238E27FC236}">
                <a16:creationId xmlns:a16="http://schemas.microsoft.com/office/drawing/2014/main" id="{139458B0-30E7-2183-E0BC-314754192B05}"/>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0" y="0"/>
            <a:ext cx="9144000" cy="51435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4" name="Date Placeholder 3">
            <a:extLst>
              <a:ext uri="{FF2B5EF4-FFF2-40B4-BE49-F238E27FC236}">
                <a16:creationId xmlns:a16="http://schemas.microsoft.com/office/drawing/2014/main" id="{BECE081B-8AFD-D5FC-5BDA-93266454635F}"/>
              </a:ext>
            </a:extLst>
          </p:cNvPr>
          <p:cNvSpPr>
            <a:spLocks noGrp="1"/>
          </p:cNvSpPr>
          <p:nvPr>
            <p:ph type="dt" sz="half" idx="10"/>
          </p:nvPr>
        </p:nvSpPr>
        <p:spPr/>
        <p:txBody>
          <a:bodyPr/>
          <a:lstStyle/>
          <a:p>
            <a:fld id="{5A0FCB29-5841-415B-8794-5F64FD0A6698}" type="datetimeFigureOut">
              <a:rPr lang="en-US" smtClean="0"/>
              <a:t>6/9/2026</a:t>
            </a:fld>
            <a:endParaRPr lang="en-US" dirty="0"/>
          </a:p>
        </p:txBody>
      </p:sp>
      <p:sp>
        <p:nvSpPr>
          <p:cNvPr id="5" name="Footer Placeholder 4">
            <a:extLst>
              <a:ext uri="{FF2B5EF4-FFF2-40B4-BE49-F238E27FC236}">
                <a16:creationId xmlns:a16="http://schemas.microsoft.com/office/drawing/2014/main" id="{4D2B0962-935E-E563-68DF-7E0D400F6C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4B47A3-5400-C06D-FC82-EDF5C8B0CE6F}"/>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9" name="Picture 8" descr="Blue and white sign&#10;&#10;">
            <a:extLst>
              <a:ext uri="{FF2B5EF4-FFF2-40B4-BE49-F238E27FC236}">
                <a16:creationId xmlns:a16="http://schemas.microsoft.com/office/drawing/2014/main" id="{88FB3550-3282-2683-4046-E0A6CAF7B85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5615306" cy="1596465"/>
          </a:xfrm>
          <a:prstGeom prst="rect">
            <a:avLst/>
          </a:prstGeom>
        </p:spPr>
      </p:pic>
      <p:sp>
        <p:nvSpPr>
          <p:cNvPr id="10" name="TextBox 9">
            <a:extLst>
              <a:ext uri="{FF2B5EF4-FFF2-40B4-BE49-F238E27FC236}">
                <a16:creationId xmlns:a16="http://schemas.microsoft.com/office/drawing/2014/main" id="{B5896585-3E93-1142-5556-DB1C5C7297CF}"/>
              </a:ext>
            </a:extLst>
          </p:cNvPr>
          <p:cNvSpPr txBox="1">
            <a:spLocks/>
          </p:cNvSpPr>
          <p:nvPr/>
        </p:nvSpPr>
        <p:spPr>
          <a:xfrm>
            <a:off x="5021745" y="3079692"/>
            <a:ext cx="3766931" cy="1661993"/>
          </a:xfrm>
          <a:prstGeom prst="rect">
            <a:avLst/>
          </a:prstGeom>
          <a:noFill/>
        </p:spPr>
        <p:txBody>
          <a:bodyPr wrap="square" rtlCol="0">
            <a:spAutoFit/>
          </a:bodyPr>
          <a:lstStyle/>
          <a:p>
            <a:r>
              <a:rPr lang="en-US" sz="1200" b="1" dirty="0">
                <a:latin typeface="Atkinson Hyperlegible Next" pitchFamily="50" charset="0"/>
              </a:rPr>
              <a:t>OKLAHOMA STATE DEPARTMENT OF EDUCATION</a:t>
            </a:r>
          </a:p>
          <a:p>
            <a:r>
              <a:rPr lang="en-US" sz="4500" b="1" dirty="0">
                <a:solidFill>
                  <a:schemeClr val="bg1"/>
                </a:solidFill>
                <a:latin typeface="Atkinson Hyperlegible Next" pitchFamily="50" charset="0"/>
              </a:rPr>
              <a:t>Pathways to Partnership</a:t>
            </a:r>
          </a:p>
        </p:txBody>
      </p:sp>
    </p:spTree>
    <p:extLst>
      <p:ext uri="{BB962C8B-B14F-4D97-AF65-F5344CB8AC3E}">
        <p14:creationId xmlns:p14="http://schemas.microsoft.com/office/powerpoint/2010/main" val="124047004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7" name="Picture 6" descr="A picture containing text, sign&#10;&#10;AI-generated content may be incorrect.">
            <a:extLst>
              <a:ext uri="{FF2B5EF4-FFF2-40B4-BE49-F238E27FC236}">
                <a16:creationId xmlns:a16="http://schemas.microsoft.com/office/drawing/2014/main" id="{57B7DEBE-00D3-4BD0-C762-E00DE9C300F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pic>
        <p:nvPicPr>
          <p:cNvPr id="10" name="Picture 9">
            <a:extLst>
              <a:ext uri="{FF2B5EF4-FFF2-40B4-BE49-F238E27FC236}">
                <a16:creationId xmlns:a16="http://schemas.microsoft.com/office/drawing/2014/main" id="{95D2809E-2FF8-ED01-3B87-17DF6F59A1A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4506685"/>
            <a:ext cx="3221736" cy="636815"/>
          </a:xfrm>
          <a:prstGeom prst="rect">
            <a:avLst/>
          </a:prstGeom>
        </p:spPr>
      </p:pic>
    </p:spTree>
    <p:extLst>
      <p:ext uri="{BB962C8B-B14F-4D97-AF65-F5344CB8AC3E}">
        <p14:creationId xmlns:p14="http://schemas.microsoft.com/office/powerpoint/2010/main" val="253752419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a:xfrm>
            <a:off x="628650" y="273844"/>
            <a:ext cx="7166508" cy="994172"/>
          </a:xfrm>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a:xfrm>
            <a:off x="628650" y="1369219"/>
            <a:ext cx="7166508"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3" name="Rectangle 12">
            <a:extLst>
              <a:ext uri="{FF2B5EF4-FFF2-40B4-BE49-F238E27FC236}">
                <a16:creationId xmlns:a16="http://schemas.microsoft.com/office/drawing/2014/main" id="{89B9583A-406C-A9D9-1041-5F6E4A7AACCD}"/>
              </a:ext>
            </a:extLst>
          </p:cNvPr>
          <p:cNvSpPr/>
          <p:nvPr/>
        </p:nvSpPr>
        <p:spPr>
          <a:xfrm>
            <a:off x="7795158" y="0"/>
            <a:ext cx="1348842" cy="5143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4" name="Picture 13" descr="Plan Your Way OK Logo">
            <a:extLst>
              <a:ext uri="{FF2B5EF4-FFF2-40B4-BE49-F238E27FC236}">
                <a16:creationId xmlns:a16="http://schemas.microsoft.com/office/drawing/2014/main" id="{47FC278A-E5C4-C003-38CF-8DC7285E66B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95158" y="4712442"/>
            <a:ext cx="1348842" cy="383484"/>
          </a:xfrm>
          <a:prstGeom prst="rect">
            <a:avLst/>
          </a:prstGeom>
        </p:spPr>
      </p:pic>
      <p:pic>
        <p:nvPicPr>
          <p:cNvPr id="23" name="Picture 22" descr="Icon&#10;&#10;AI-generated content may be incorrect.">
            <a:extLst>
              <a:ext uri="{FF2B5EF4-FFF2-40B4-BE49-F238E27FC236}">
                <a16:creationId xmlns:a16="http://schemas.microsoft.com/office/drawing/2014/main" id="{0A7B53E6-04A1-72A3-5FED-8ACC283AD8A2}"/>
              </a:ext>
            </a:extLst>
          </p:cNvPr>
          <p:cNvPicPr>
            <a:picLocks noChangeAspect="1"/>
          </p:cNvPicPr>
          <p:nvPr/>
        </p:nvPicPr>
        <p:blipFill>
          <a:blip r:embed="rId3" cstate="email">
            <a:extLst>
              <a:ext uri="{28A0092B-C50C-407E-A947-70E740481C1C}">
                <a14:useLocalDpi xmlns:a14="http://schemas.microsoft.com/office/drawing/2010/main"/>
              </a:ext>
            </a:extLst>
          </a:blip>
          <a:srcRect r="43033"/>
          <a:stretch>
            <a:fillRect/>
          </a:stretch>
        </p:blipFill>
        <p:spPr>
          <a:xfrm>
            <a:off x="7610302" y="273844"/>
            <a:ext cx="1533698" cy="2692241"/>
          </a:xfrm>
          <a:custGeom>
            <a:avLst/>
            <a:gdLst>
              <a:gd name="connsiteX0" fmla="*/ 0 w 2044930"/>
              <a:gd name="connsiteY0" fmla="*/ 0 h 3589655"/>
              <a:gd name="connsiteX1" fmla="*/ 2044930 w 2044930"/>
              <a:gd name="connsiteY1" fmla="*/ 0 h 3589655"/>
              <a:gd name="connsiteX2" fmla="*/ 2044930 w 2044930"/>
              <a:gd name="connsiteY2" fmla="*/ 3589655 h 3589655"/>
              <a:gd name="connsiteX3" fmla="*/ 0 w 2044930"/>
              <a:gd name="connsiteY3" fmla="*/ 3589655 h 3589655"/>
            </a:gdLst>
            <a:ahLst/>
            <a:cxnLst>
              <a:cxn ang="0">
                <a:pos x="connsiteX0" y="connsiteY0"/>
              </a:cxn>
              <a:cxn ang="0">
                <a:pos x="connsiteX1" y="connsiteY1"/>
              </a:cxn>
              <a:cxn ang="0">
                <a:pos x="connsiteX2" y="connsiteY2"/>
              </a:cxn>
              <a:cxn ang="0">
                <a:pos x="connsiteX3" y="connsiteY3"/>
              </a:cxn>
            </a:cxnLst>
            <a:rect l="l" t="t" r="r" b="b"/>
            <a:pathLst>
              <a:path w="2044930" h="3589655">
                <a:moveTo>
                  <a:pt x="0" y="0"/>
                </a:moveTo>
                <a:lnTo>
                  <a:pt x="2044930" y="0"/>
                </a:lnTo>
                <a:lnTo>
                  <a:pt x="2044930" y="3589655"/>
                </a:lnTo>
                <a:lnTo>
                  <a:pt x="0" y="3589655"/>
                </a:lnTo>
                <a:close/>
              </a:path>
            </a:pathLst>
          </a:custGeom>
        </p:spPr>
      </p:pic>
    </p:spTree>
    <p:extLst>
      <p:ext uri="{BB962C8B-B14F-4D97-AF65-F5344CB8AC3E}">
        <p14:creationId xmlns:p14="http://schemas.microsoft.com/office/powerpoint/2010/main" val="36033533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a:xfrm>
            <a:off x="2143125" y="273844"/>
            <a:ext cx="6372225" cy="994172"/>
          </a:xfrm>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a:xfrm>
            <a:off x="2143125" y="1369219"/>
            <a:ext cx="6372225"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3" name="Rectangle 12">
            <a:extLst>
              <a:ext uri="{FF2B5EF4-FFF2-40B4-BE49-F238E27FC236}">
                <a16:creationId xmlns:a16="http://schemas.microsoft.com/office/drawing/2014/main" id="{89B9583A-406C-A9D9-1041-5F6E4A7AACCD}"/>
              </a:ext>
            </a:extLst>
          </p:cNvPr>
          <p:cNvSpPr/>
          <p:nvPr/>
        </p:nvSpPr>
        <p:spPr>
          <a:xfrm>
            <a:off x="0" y="0"/>
            <a:ext cx="2057400" cy="5143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9" descr="Background pattern&#10;&#10;AI-generated content may be incorrect.">
            <a:extLst>
              <a:ext uri="{FF2B5EF4-FFF2-40B4-BE49-F238E27FC236}">
                <a16:creationId xmlns:a16="http://schemas.microsoft.com/office/drawing/2014/main" id="{C72F8F3C-7D49-A158-EC5F-3022C950E63C}"/>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 y="0"/>
            <a:ext cx="1828304" cy="5143500"/>
          </a:xfrm>
          <a:custGeom>
            <a:avLst/>
            <a:gdLst>
              <a:gd name="connsiteX0" fmla="*/ 0 w 2437739"/>
              <a:gd name="connsiteY0" fmla="*/ 0 h 6858000"/>
              <a:gd name="connsiteX1" fmla="*/ 2437739 w 2437739"/>
              <a:gd name="connsiteY1" fmla="*/ 0 h 6858000"/>
              <a:gd name="connsiteX2" fmla="*/ 2437739 w 2437739"/>
              <a:gd name="connsiteY2" fmla="*/ 6858000 h 6858000"/>
              <a:gd name="connsiteX3" fmla="*/ 0 w 243773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437739" h="6858000">
                <a:moveTo>
                  <a:pt x="0" y="0"/>
                </a:moveTo>
                <a:lnTo>
                  <a:pt x="2437739" y="0"/>
                </a:lnTo>
                <a:lnTo>
                  <a:pt x="2437739" y="6858000"/>
                </a:lnTo>
                <a:lnTo>
                  <a:pt x="0" y="6858000"/>
                </a:lnTo>
                <a:close/>
              </a:path>
            </a:pathLst>
          </a:custGeom>
        </p:spPr>
      </p:pic>
      <p:pic>
        <p:nvPicPr>
          <p:cNvPr id="11" name="Picture 10" descr="A picture containing text, sign&#10;&#10;AI-generated content may be incorrect.">
            <a:extLst>
              <a:ext uri="{FF2B5EF4-FFF2-40B4-BE49-F238E27FC236}">
                <a16:creationId xmlns:a16="http://schemas.microsoft.com/office/drawing/2014/main" id="{CD69CD18-3F01-36C8-B47D-93F8D18A3B1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spTree>
    <p:extLst>
      <p:ext uri="{BB962C8B-B14F-4D97-AF65-F5344CB8AC3E}">
        <p14:creationId xmlns:p14="http://schemas.microsoft.com/office/powerpoint/2010/main" val="42565775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2CE63-E0AC-12D5-504E-D5E0649AC35D}"/>
              </a:ext>
            </a:extLst>
          </p:cNvPr>
          <p:cNvSpPr>
            <a:spLocks noGrp="1"/>
          </p:cNvSpPr>
          <p:nvPr>
            <p:ph type="title"/>
          </p:nvPr>
        </p:nvSpPr>
        <p:spPr>
          <a:xfrm>
            <a:off x="623888" y="1282304"/>
            <a:ext cx="7886700" cy="2139553"/>
          </a:xfrm>
        </p:spPr>
        <p:txBody>
          <a:bodyPr anchor="b"/>
          <a:lstStyle>
            <a:lvl1pPr>
              <a:defRPr sz="45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41C9AB-DF52-8ECD-BBD1-A316181026E7}"/>
              </a:ext>
            </a:extLst>
          </p:cNvPr>
          <p:cNvSpPr>
            <a:spLocks noGrp="1"/>
          </p:cNvSpPr>
          <p:nvPr>
            <p:ph type="body" idx="1"/>
          </p:nvPr>
        </p:nvSpPr>
        <p:spPr>
          <a:xfrm>
            <a:off x="623888" y="3442098"/>
            <a:ext cx="7886700" cy="1125140"/>
          </a:xfrm>
        </p:spPr>
        <p:txBody>
          <a:bodyPr/>
          <a:lstStyle>
            <a:lvl1pPr marL="0" indent="0">
              <a:buNone/>
              <a:defRPr sz="180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6B21C6-CC72-77B5-9E5F-0C13AAD88DE0}"/>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FBAE9409-FC1C-D8F6-C164-6757762B13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FFD45-8A77-BD59-0A42-4632D180202C}"/>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13" name="Picture 12" descr="Background pattern&#10;&#10;AI-generated content may be incorrect.">
            <a:extLst>
              <a:ext uri="{FF2B5EF4-FFF2-40B4-BE49-F238E27FC236}">
                <a16:creationId xmlns:a16="http://schemas.microsoft.com/office/drawing/2014/main" id="{6DB361EA-32F9-14D2-D833-8C99C098F498}"/>
              </a:ext>
            </a:extLst>
          </p:cNvPr>
          <p:cNvPicPr/>
          <p:nvPr/>
        </p:nvPicPr>
        <p:blipFill>
          <a:blip r:embed="rId2" cstate="email">
            <a:extLst>
              <a:ext uri="{28A0092B-C50C-407E-A947-70E740481C1C}">
                <a14:useLocalDpi xmlns:a14="http://schemas.microsoft.com/office/drawing/2010/main"/>
              </a:ext>
            </a:extLst>
          </a:blip>
          <a:srcRect/>
          <a:stretch>
            <a:fillRect/>
          </a:stretch>
        </p:blipFill>
        <p:spPr>
          <a:xfrm>
            <a:off x="7942869" y="0"/>
            <a:ext cx="1201131" cy="4567238"/>
          </a:xfrm>
          <a:custGeom>
            <a:avLst/>
            <a:gdLst>
              <a:gd name="connsiteX0" fmla="*/ 0 w 1601508"/>
              <a:gd name="connsiteY0" fmla="*/ 0 h 6089650"/>
              <a:gd name="connsiteX1" fmla="*/ 1601508 w 1601508"/>
              <a:gd name="connsiteY1" fmla="*/ 0 h 6089650"/>
              <a:gd name="connsiteX2" fmla="*/ 1601508 w 1601508"/>
              <a:gd name="connsiteY2" fmla="*/ 6089650 h 6089650"/>
              <a:gd name="connsiteX3" fmla="*/ 0 w 1601508"/>
              <a:gd name="connsiteY3" fmla="*/ 6089650 h 6089650"/>
            </a:gdLst>
            <a:ahLst/>
            <a:cxnLst>
              <a:cxn ang="0">
                <a:pos x="connsiteX0" y="connsiteY0"/>
              </a:cxn>
              <a:cxn ang="0">
                <a:pos x="connsiteX1" y="connsiteY1"/>
              </a:cxn>
              <a:cxn ang="0">
                <a:pos x="connsiteX2" y="connsiteY2"/>
              </a:cxn>
              <a:cxn ang="0">
                <a:pos x="connsiteX3" y="connsiteY3"/>
              </a:cxn>
            </a:cxnLst>
            <a:rect l="l" t="t" r="r" b="b"/>
            <a:pathLst>
              <a:path w="1601508" h="6089650">
                <a:moveTo>
                  <a:pt x="0" y="0"/>
                </a:moveTo>
                <a:lnTo>
                  <a:pt x="1601508" y="0"/>
                </a:lnTo>
                <a:lnTo>
                  <a:pt x="1601508" y="6089650"/>
                </a:lnTo>
                <a:lnTo>
                  <a:pt x="0" y="6089650"/>
                </a:lnTo>
                <a:close/>
              </a:path>
            </a:pathLst>
          </a:custGeom>
        </p:spPr>
      </p:pic>
      <p:pic>
        <p:nvPicPr>
          <p:cNvPr id="9" name="Picture 8" descr="Plan Your Way OK Logo">
            <a:extLst>
              <a:ext uri="{FF2B5EF4-FFF2-40B4-BE49-F238E27FC236}">
                <a16:creationId xmlns:a16="http://schemas.microsoft.com/office/drawing/2014/main" id="{0D2C000A-F6E0-0CEB-2F25-076E4646A9E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95158" y="4712442"/>
            <a:ext cx="1348842" cy="383484"/>
          </a:xfrm>
          <a:prstGeom prst="rect">
            <a:avLst/>
          </a:prstGeom>
        </p:spPr>
      </p:pic>
    </p:spTree>
    <p:extLst>
      <p:ext uri="{BB962C8B-B14F-4D97-AF65-F5344CB8AC3E}">
        <p14:creationId xmlns:p14="http://schemas.microsoft.com/office/powerpoint/2010/main" val="83709801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BAB54-1C3C-EBFA-9FBE-4D7D8D8CFFF3}"/>
              </a:ext>
            </a:extLst>
          </p:cNvPr>
          <p:cNvSpPr>
            <a:spLocks noGrp="1"/>
          </p:cNvSpPr>
          <p:nvPr>
            <p:ph type="title"/>
          </p:nvPr>
        </p:nvSpPr>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951D450-080D-55DB-32BC-50A1BA631553}"/>
              </a:ext>
            </a:extLst>
          </p:cNvPr>
          <p:cNvSpPr>
            <a:spLocks noGrp="1"/>
          </p:cNvSpPr>
          <p:nvPr>
            <p:ph sz="half" idx="1"/>
          </p:nvPr>
        </p:nvSpPr>
        <p:spPr>
          <a:xfrm>
            <a:off x="628650" y="1369219"/>
            <a:ext cx="3886200"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43D435D-C710-F2F3-4FB5-35A38A3377B7}"/>
              </a:ext>
            </a:extLst>
          </p:cNvPr>
          <p:cNvSpPr>
            <a:spLocks noGrp="1"/>
          </p:cNvSpPr>
          <p:nvPr>
            <p:ph sz="half" idx="2"/>
          </p:nvPr>
        </p:nvSpPr>
        <p:spPr>
          <a:xfrm>
            <a:off x="4629150" y="1369219"/>
            <a:ext cx="3886200"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6F8D41F-AE74-8968-9E13-DCA755771664}"/>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6" name="Footer Placeholder 5">
            <a:extLst>
              <a:ext uri="{FF2B5EF4-FFF2-40B4-BE49-F238E27FC236}">
                <a16:creationId xmlns:a16="http://schemas.microsoft.com/office/drawing/2014/main" id="{DE2B0B74-9008-0E52-1626-31E76F078B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C21EAB-BA46-BD81-25AD-22C0F01182E8}"/>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13" name="Picture 12" descr="A picture containing text, sign&#10;&#10;AI-generated content may be incorrect.">
            <a:extLst>
              <a:ext uri="{FF2B5EF4-FFF2-40B4-BE49-F238E27FC236}">
                <a16:creationId xmlns:a16="http://schemas.microsoft.com/office/drawing/2014/main" id="{1ED425B4-C0E5-001A-AB15-05901F4518B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pic>
        <p:nvPicPr>
          <p:cNvPr id="11" name="Picture 10">
            <a:extLst>
              <a:ext uri="{FF2B5EF4-FFF2-40B4-BE49-F238E27FC236}">
                <a16:creationId xmlns:a16="http://schemas.microsoft.com/office/drawing/2014/main" id="{A7DD659E-7975-D958-C65B-1D20286CF5F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V="1">
            <a:off x="1" y="-1"/>
            <a:ext cx="3232181" cy="510778"/>
          </a:xfrm>
          <a:prstGeom prst="rect">
            <a:avLst/>
          </a:prstGeom>
        </p:spPr>
      </p:pic>
    </p:spTree>
    <p:extLst>
      <p:ext uri="{BB962C8B-B14F-4D97-AF65-F5344CB8AC3E}">
        <p14:creationId xmlns:p14="http://schemas.microsoft.com/office/powerpoint/2010/main" val="30249642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2A6B0-58AE-7AD4-384A-A21D35E6B19C}"/>
              </a:ext>
            </a:extLst>
          </p:cNvPr>
          <p:cNvSpPr>
            <a:spLocks noGrp="1"/>
          </p:cNvSpPr>
          <p:nvPr>
            <p:ph type="title"/>
          </p:nvPr>
        </p:nvSpPr>
        <p:spPr>
          <a:xfrm>
            <a:off x="629841" y="273844"/>
            <a:ext cx="7886700" cy="994172"/>
          </a:xfrm>
        </p:spPr>
        <p:txBody>
          <a:bodyPr/>
          <a:lstStyle>
            <a:lvl1pPr>
              <a:defRPr>
                <a:solidFill>
                  <a:schemeClr val="accent6"/>
                </a:solidFill>
              </a:defRPr>
            </a:lvl1pPr>
          </a:lstStyle>
          <a:p>
            <a:r>
              <a:rPr lang="en-US"/>
              <a:t>Click to edit Master title style</a:t>
            </a:r>
          </a:p>
        </p:txBody>
      </p:sp>
      <p:sp>
        <p:nvSpPr>
          <p:cNvPr id="3" name="Text Placeholder 2">
            <a:extLst>
              <a:ext uri="{FF2B5EF4-FFF2-40B4-BE49-F238E27FC236}">
                <a16:creationId xmlns:a16="http://schemas.microsoft.com/office/drawing/2014/main" id="{0A7448A3-DD01-65AD-EBBC-7146509143B7}"/>
              </a:ext>
            </a:extLst>
          </p:cNvPr>
          <p:cNvSpPr>
            <a:spLocks noGrp="1"/>
          </p:cNvSpPr>
          <p:nvPr>
            <p:ph type="body" idx="1"/>
          </p:nvPr>
        </p:nvSpPr>
        <p:spPr>
          <a:xfrm>
            <a:off x="629842" y="1260872"/>
            <a:ext cx="3868340" cy="617934"/>
          </a:xfrm>
        </p:spPr>
        <p:txBody>
          <a:bodyPr anchor="b"/>
          <a:lstStyle>
            <a:lvl1pPr marL="0" indent="0">
              <a:buNone/>
              <a:defRPr sz="1800" b="1">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9D8997E1-A745-FAAC-DEE1-7FE99E3AB411}"/>
              </a:ext>
            </a:extLst>
          </p:cNvPr>
          <p:cNvSpPr>
            <a:spLocks noGrp="1"/>
          </p:cNvSpPr>
          <p:nvPr>
            <p:ph sz="half" idx="2"/>
          </p:nvPr>
        </p:nvSpPr>
        <p:spPr>
          <a:xfrm>
            <a:off x="629842" y="1878806"/>
            <a:ext cx="3868340" cy="2763441"/>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DE8BDB-7D3C-FCD3-7E11-4BE954110A37}"/>
              </a:ext>
            </a:extLst>
          </p:cNvPr>
          <p:cNvSpPr>
            <a:spLocks noGrp="1"/>
          </p:cNvSpPr>
          <p:nvPr>
            <p:ph type="body" sz="quarter" idx="3"/>
          </p:nvPr>
        </p:nvSpPr>
        <p:spPr>
          <a:xfrm>
            <a:off x="4629150" y="1260872"/>
            <a:ext cx="3887391" cy="617934"/>
          </a:xfrm>
        </p:spPr>
        <p:txBody>
          <a:bodyPr anchor="b"/>
          <a:lstStyle>
            <a:lvl1pPr marL="0" indent="0">
              <a:buNone/>
              <a:defRPr sz="1800" b="1">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84E6A2-92F9-ECE9-702A-B8DDD2817B63}"/>
              </a:ext>
            </a:extLst>
          </p:cNvPr>
          <p:cNvSpPr>
            <a:spLocks noGrp="1"/>
          </p:cNvSpPr>
          <p:nvPr>
            <p:ph sz="quarter" idx="4"/>
          </p:nvPr>
        </p:nvSpPr>
        <p:spPr>
          <a:xfrm>
            <a:off x="4629150" y="1878806"/>
            <a:ext cx="3887391" cy="2763441"/>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5470B1-DD5D-7EFA-E52D-4F5F033F5A48}"/>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8" name="Footer Placeholder 7">
            <a:extLst>
              <a:ext uri="{FF2B5EF4-FFF2-40B4-BE49-F238E27FC236}">
                <a16:creationId xmlns:a16="http://schemas.microsoft.com/office/drawing/2014/main" id="{3A21A241-ADD2-048D-336D-BCC674FA1B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813FFE-0983-8DC3-73F9-E49D9828F91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63869001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31F2B-EEA9-F8B4-57A5-A5733646EA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4C9FEC-72DF-3A11-BCF3-6D245B236A12}"/>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4" name="Footer Placeholder 3">
            <a:extLst>
              <a:ext uri="{FF2B5EF4-FFF2-40B4-BE49-F238E27FC236}">
                <a16:creationId xmlns:a16="http://schemas.microsoft.com/office/drawing/2014/main" id="{BDF47FED-2725-1A2D-459D-4C914B792E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E8D104-AEB0-9A03-8B60-2E9F1C2156AE}"/>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166314239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C971A4-F4E4-3E29-C3AE-27CC38CAFB9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3" name="Footer Placeholder 2">
            <a:extLst>
              <a:ext uri="{FF2B5EF4-FFF2-40B4-BE49-F238E27FC236}">
                <a16:creationId xmlns:a16="http://schemas.microsoft.com/office/drawing/2014/main" id="{7F3C2477-D402-582E-9AB3-E781F52A98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AF667D-D414-EFAA-C9A9-8BC6F0C752E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9" name="TextBox 18">
            <a:extLst>
              <a:ext uri="{FF2B5EF4-FFF2-40B4-BE49-F238E27FC236}">
                <a16:creationId xmlns:a16="http://schemas.microsoft.com/office/drawing/2014/main" id="{0C825D5E-9956-F8F0-E3CC-882E78B1B24A}"/>
              </a:ext>
            </a:extLst>
          </p:cNvPr>
          <p:cNvSpPr txBox="1"/>
          <p:nvPr/>
        </p:nvSpPr>
        <p:spPr>
          <a:xfrm>
            <a:off x="0" y="2851354"/>
            <a:ext cx="9144000" cy="1938992"/>
          </a:xfrm>
          <a:prstGeom prst="rect">
            <a:avLst/>
          </a:prstGeom>
          <a:noFill/>
        </p:spPr>
        <p:txBody>
          <a:bodyPr wrap="square">
            <a:spAutoFit/>
          </a:bodyPr>
          <a:lstStyle/>
          <a:p>
            <a:pPr marL="0" marR="0">
              <a:buNone/>
            </a:pPr>
            <a:r>
              <a:rPr lang="en-US" sz="1500" kern="100" dirty="0">
                <a:solidFill>
                  <a:schemeClr val="bg1"/>
                </a:solidFill>
                <a:effectLst/>
                <a:latin typeface="Atkinson Hyperlegible Next" pitchFamily="50" charset="0"/>
                <a:ea typeface="Aptos" panose="020B0004020202020204" pitchFamily="34" charset="0"/>
                <a:cs typeface="Arial" panose="020B0604020202020204" pitchFamily="34" charset="0"/>
              </a:rPr>
              <a:t>The contents of this presentation were developed under grant HR421E230012 from the U.S. Department of Education (Department). The Department does not mandate or prescribe practices, models, or other activities described or discussed in this resource. The contents of this presentation may contain examples of, adaptations of, and links to resources created and maintained by another public or private organization. The Department does not control or guarantee the accuracy, relevance, timeliness, or completeness of this outside information. The content of this guide does not necessarily represent the policy of the Department. This presentation is not intended to represent the views or policy of or be an endorsement of any views expressed, or materials provided by any Federal agency. (EDGAR 75.620)</a:t>
            </a:r>
          </a:p>
        </p:txBody>
      </p:sp>
      <p:pic>
        <p:nvPicPr>
          <p:cNvPr id="20" name="Picture 19" descr="Blue and white sign&#10;&#10;">
            <a:extLst>
              <a:ext uri="{FF2B5EF4-FFF2-40B4-BE49-F238E27FC236}">
                <a16:creationId xmlns:a16="http://schemas.microsoft.com/office/drawing/2014/main" id="{5BEC89F8-650B-4C6A-0956-98114467CA4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5615306" cy="1596465"/>
          </a:xfrm>
          <a:prstGeom prst="rect">
            <a:avLst/>
          </a:prstGeom>
        </p:spPr>
      </p:pic>
    </p:spTree>
    <p:extLst>
      <p:ext uri="{BB962C8B-B14F-4D97-AF65-F5344CB8AC3E}">
        <p14:creationId xmlns:p14="http://schemas.microsoft.com/office/powerpoint/2010/main" val="3272293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797E-20D0-2A98-ED8E-A966D6B04645}"/>
              </a:ext>
            </a:extLst>
          </p:cNvPr>
          <p:cNvSpPr>
            <a:spLocks noGrp="1"/>
          </p:cNvSpPr>
          <p:nvPr>
            <p:ph type="title"/>
          </p:nvPr>
        </p:nvSpPr>
        <p:spPr>
          <a:xfrm>
            <a:off x="629841" y="342900"/>
            <a:ext cx="2949178" cy="1200150"/>
          </a:xfrm>
        </p:spPr>
        <p:txBody>
          <a:bodyPr anchor="b"/>
          <a:lstStyle>
            <a:lvl1pPr>
              <a:defRPr sz="2400">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E474DB-4646-51C7-D0B2-D2B4A7F40B3E}"/>
              </a:ext>
            </a:extLst>
          </p:cNvPr>
          <p:cNvSpPr>
            <a:spLocks noGrp="1"/>
          </p:cNvSpPr>
          <p:nvPr>
            <p:ph idx="1"/>
          </p:nvPr>
        </p:nvSpPr>
        <p:spPr>
          <a:xfrm>
            <a:off x="3887391" y="740569"/>
            <a:ext cx="4629150" cy="3655219"/>
          </a:xfrm>
        </p:spPr>
        <p:txBody>
          <a:bodyPr/>
          <a:lstStyle>
            <a:lvl1pPr>
              <a:defRPr sz="2400">
                <a:solidFill>
                  <a:schemeClr val="accent6"/>
                </a:solidFill>
              </a:defRPr>
            </a:lvl1pPr>
            <a:lvl2pPr>
              <a:defRPr sz="2100">
                <a:solidFill>
                  <a:schemeClr val="accent6"/>
                </a:solidFill>
              </a:defRPr>
            </a:lvl2pPr>
            <a:lvl3pPr>
              <a:defRPr sz="1800">
                <a:solidFill>
                  <a:schemeClr val="accent6"/>
                </a:solidFill>
              </a:defRPr>
            </a:lvl3pPr>
            <a:lvl4pPr>
              <a:defRPr sz="1500">
                <a:solidFill>
                  <a:schemeClr val="accent6"/>
                </a:solidFill>
              </a:defRPr>
            </a:lvl4pPr>
            <a:lvl5pPr>
              <a:defRPr sz="1500">
                <a:solidFill>
                  <a:schemeClr val="accent6"/>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A0E6259-55A1-5ECB-E304-8B5D09E3D655}"/>
              </a:ext>
            </a:extLst>
          </p:cNvPr>
          <p:cNvSpPr>
            <a:spLocks noGrp="1"/>
          </p:cNvSpPr>
          <p:nvPr>
            <p:ph type="body" sz="half" idx="2"/>
          </p:nvPr>
        </p:nvSpPr>
        <p:spPr>
          <a:xfrm>
            <a:off x="629841" y="1543050"/>
            <a:ext cx="2949178" cy="2858691"/>
          </a:xfrm>
        </p:spPr>
        <p:txBody>
          <a:bodyPr/>
          <a:lstStyle>
            <a:lvl1pPr marL="0" indent="0">
              <a:buNone/>
              <a:defRPr sz="1200">
                <a:solidFill>
                  <a:schemeClr val="accent6"/>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4555984-9C93-D302-B247-0B332F3E3327}"/>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6" name="Footer Placeholder 5">
            <a:extLst>
              <a:ext uri="{FF2B5EF4-FFF2-40B4-BE49-F238E27FC236}">
                <a16:creationId xmlns:a16="http://schemas.microsoft.com/office/drawing/2014/main" id="{CA023BDF-FA82-E879-700A-49DB7947A8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82CF2F-24FE-9AB7-8E00-E1422BB7D2D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0999283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01CB0-D132-956C-437E-AA8483FF3C1E}"/>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5F91019-239B-5254-23D0-7BFF0BB7EECA}"/>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19D27294-CA0E-5F41-3E77-B1E93821B14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5CBA06-0262-5CCA-896C-315678CA03CB}"/>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6" name="Footer Placeholder 5">
            <a:extLst>
              <a:ext uri="{FF2B5EF4-FFF2-40B4-BE49-F238E27FC236}">
                <a16:creationId xmlns:a16="http://schemas.microsoft.com/office/drawing/2014/main" id="{14A559DD-E897-2037-B8D3-87F77163AF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2C6381-C81F-0B65-9751-34AF66EB0438}"/>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152533581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6B1B8-B1FB-F610-2A5A-55443DC99ABC}"/>
              </a:ext>
            </a:extLst>
          </p:cNvPr>
          <p:cNvSpPr>
            <a:spLocks noGrp="1"/>
          </p:cNvSpPr>
          <p:nvPr>
            <p:ph type="title"/>
          </p:nvPr>
        </p:nvSpPr>
        <p:spPr>
          <a:xfrm>
            <a:off x="628650" y="273844"/>
            <a:ext cx="7886700" cy="994172"/>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012450-33DB-46B2-C9F1-991A0B7D90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25530D-6B47-F166-43BF-A9A7852922F6}"/>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919DBC34-0E2C-CD97-F397-4BF8166D8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973274-6134-DF2D-8DDD-83A46F94656D}"/>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08431801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EB3855-56F0-C304-A6DF-0CC85FFF957A}"/>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C01C01-BA2B-E96A-7162-000D9E215165}"/>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B8FEF-5B76-9F7B-D574-FBB4E29C12A1}"/>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D5324E18-936A-ACDC-0523-1FF03EBC0C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A9CD96-9B36-D774-9148-7AA16D6B27B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96690363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6"/>
        <p:cNvGrpSpPr/>
        <p:nvPr/>
      </p:nvGrpSpPr>
      <p:grpSpPr>
        <a:xfrm>
          <a:off x="0" y="0"/>
          <a:ext cx="0" cy="0"/>
          <a:chOff x="0" y="0"/>
          <a:chExt cx="0" cy="0"/>
        </a:xfrm>
      </p:grpSpPr>
      <p:sp>
        <p:nvSpPr>
          <p:cNvPr id="28" name="Google Shape;28;p4"/>
          <p:cNvSpPr txBox="1">
            <a:spLocks noGrp="1"/>
          </p:cNvSpPr>
          <p:nvPr>
            <p:ph type="subTitle" idx="1"/>
          </p:nvPr>
        </p:nvSpPr>
        <p:spPr>
          <a:xfrm>
            <a:off x="621575" y="1228437"/>
            <a:ext cx="7878300" cy="365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200"/>
            </a:lvl1pPr>
            <a:lvl2pPr lvl="1" rtl="0">
              <a:lnSpc>
                <a:spcPct val="100000"/>
              </a:lnSpc>
              <a:spcBef>
                <a:spcPts val="0"/>
              </a:spcBef>
              <a:spcAft>
                <a:spcPts val="0"/>
              </a:spcAft>
              <a:buNone/>
              <a:defRPr sz="1200"/>
            </a:lvl2pPr>
            <a:lvl3pPr lvl="2" rtl="0">
              <a:lnSpc>
                <a:spcPct val="100000"/>
              </a:lnSpc>
              <a:spcBef>
                <a:spcPts val="0"/>
              </a:spcBef>
              <a:spcAft>
                <a:spcPts val="0"/>
              </a:spcAft>
              <a:buNone/>
              <a:defRPr sz="1200"/>
            </a:lvl3pPr>
            <a:lvl4pPr lvl="3" rtl="0">
              <a:lnSpc>
                <a:spcPct val="100000"/>
              </a:lnSpc>
              <a:spcBef>
                <a:spcPts val="0"/>
              </a:spcBef>
              <a:spcAft>
                <a:spcPts val="0"/>
              </a:spcAft>
              <a:buNone/>
              <a:defRPr sz="1200"/>
            </a:lvl4pPr>
            <a:lvl5pPr lvl="4" rtl="0">
              <a:lnSpc>
                <a:spcPct val="100000"/>
              </a:lnSpc>
              <a:spcBef>
                <a:spcPts val="0"/>
              </a:spcBef>
              <a:spcAft>
                <a:spcPts val="0"/>
              </a:spcAft>
              <a:buNone/>
              <a:defRPr sz="1200"/>
            </a:lvl5pPr>
            <a:lvl6pPr lvl="5" rtl="0">
              <a:lnSpc>
                <a:spcPct val="100000"/>
              </a:lnSpc>
              <a:spcBef>
                <a:spcPts val="0"/>
              </a:spcBef>
              <a:spcAft>
                <a:spcPts val="0"/>
              </a:spcAft>
              <a:buNone/>
              <a:defRPr sz="1200"/>
            </a:lvl6pPr>
            <a:lvl7pPr lvl="6" rtl="0">
              <a:lnSpc>
                <a:spcPct val="100000"/>
              </a:lnSpc>
              <a:spcBef>
                <a:spcPts val="0"/>
              </a:spcBef>
              <a:spcAft>
                <a:spcPts val="0"/>
              </a:spcAft>
              <a:buNone/>
              <a:defRPr sz="1200"/>
            </a:lvl7pPr>
            <a:lvl8pPr lvl="7" rtl="0">
              <a:lnSpc>
                <a:spcPct val="100000"/>
              </a:lnSpc>
              <a:spcBef>
                <a:spcPts val="0"/>
              </a:spcBef>
              <a:spcAft>
                <a:spcPts val="0"/>
              </a:spcAft>
              <a:buNone/>
              <a:defRPr sz="1200"/>
            </a:lvl8pPr>
            <a:lvl9pPr lvl="8" rtl="0">
              <a:lnSpc>
                <a:spcPct val="100000"/>
              </a:lnSpc>
              <a:spcBef>
                <a:spcPts val="0"/>
              </a:spcBef>
              <a:spcAft>
                <a:spcPts val="0"/>
              </a:spcAft>
              <a:buNone/>
              <a:defRPr sz="1200"/>
            </a:lvl9pPr>
          </a:lstStyle>
          <a:p>
            <a:endParaRPr/>
          </a:p>
        </p:txBody>
      </p:sp>
      <p:sp>
        <p:nvSpPr>
          <p:cNvPr id="29" name="Google Shape;29;p4"/>
          <p:cNvSpPr txBox="1">
            <a:spLocks noGrp="1"/>
          </p:cNvSpPr>
          <p:nvPr>
            <p:ph type="title"/>
          </p:nvPr>
        </p:nvSpPr>
        <p:spPr>
          <a:xfrm>
            <a:off x="625300" y="315813"/>
            <a:ext cx="7704000" cy="707700"/>
          </a:xfrm>
          <a:prstGeom prst="rect">
            <a:avLst/>
          </a:prstGeom>
        </p:spPr>
        <p:txBody>
          <a:bodyPr spcFirstLastPara="1" wrap="square" lIns="91425" tIns="91425" rIns="91425" bIns="91425" anchor="t" anchorCtr="0">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38589019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2">
  <p:cSld name="Title and four columns 2">
    <p:spTree>
      <p:nvGrpSpPr>
        <p:cNvPr id="1" name="Shape 274"/>
        <p:cNvGrpSpPr/>
        <p:nvPr/>
      </p:nvGrpSpPr>
      <p:grpSpPr>
        <a:xfrm>
          <a:off x="0" y="0"/>
          <a:ext cx="0" cy="0"/>
          <a:chOff x="0" y="0"/>
          <a:chExt cx="0" cy="0"/>
        </a:xfrm>
      </p:grpSpPr>
      <p:sp>
        <p:nvSpPr>
          <p:cNvPr id="276" name="Google Shape;276;p45"/>
          <p:cNvSpPr txBox="1">
            <a:spLocks noGrp="1"/>
          </p:cNvSpPr>
          <p:nvPr>
            <p:ph type="subTitle" idx="1"/>
          </p:nvPr>
        </p:nvSpPr>
        <p:spPr>
          <a:xfrm>
            <a:off x="3845043" y="1000523"/>
            <a:ext cx="1627500" cy="21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a:endParaRPr/>
          </a:p>
        </p:txBody>
      </p:sp>
      <p:sp>
        <p:nvSpPr>
          <p:cNvPr id="277" name="Google Shape;277;p45"/>
          <p:cNvSpPr txBox="1">
            <a:spLocks noGrp="1"/>
          </p:cNvSpPr>
          <p:nvPr>
            <p:ph type="subTitle" idx="2"/>
          </p:nvPr>
        </p:nvSpPr>
        <p:spPr>
          <a:xfrm>
            <a:off x="3845043" y="1263389"/>
            <a:ext cx="1645500" cy="87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6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600">
                <a:solidFill>
                  <a:schemeClr val="lt1"/>
                </a:solidFill>
              </a:defRPr>
            </a:lvl2pPr>
            <a:lvl3pPr lvl="2" rtl="0">
              <a:lnSpc>
                <a:spcPct val="100000"/>
              </a:lnSpc>
              <a:spcBef>
                <a:spcPts val="0"/>
              </a:spcBef>
              <a:spcAft>
                <a:spcPts val="0"/>
              </a:spcAft>
              <a:buNone/>
              <a:defRPr sz="1600">
                <a:solidFill>
                  <a:schemeClr val="lt1"/>
                </a:solidFill>
              </a:defRPr>
            </a:lvl3pPr>
            <a:lvl4pPr lvl="3" rtl="0">
              <a:lnSpc>
                <a:spcPct val="100000"/>
              </a:lnSpc>
              <a:spcBef>
                <a:spcPts val="0"/>
              </a:spcBef>
              <a:spcAft>
                <a:spcPts val="0"/>
              </a:spcAft>
              <a:buNone/>
              <a:defRPr sz="1600">
                <a:solidFill>
                  <a:schemeClr val="lt1"/>
                </a:solidFill>
              </a:defRPr>
            </a:lvl4pPr>
            <a:lvl5pPr lvl="4" rtl="0">
              <a:lnSpc>
                <a:spcPct val="100000"/>
              </a:lnSpc>
              <a:spcBef>
                <a:spcPts val="0"/>
              </a:spcBef>
              <a:spcAft>
                <a:spcPts val="0"/>
              </a:spcAft>
              <a:buNone/>
              <a:defRPr sz="1600">
                <a:solidFill>
                  <a:schemeClr val="lt1"/>
                </a:solidFill>
              </a:defRPr>
            </a:lvl5pPr>
            <a:lvl6pPr lvl="5" rtl="0">
              <a:lnSpc>
                <a:spcPct val="100000"/>
              </a:lnSpc>
              <a:spcBef>
                <a:spcPts val="0"/>
              </a:spcBef>
              <a:spcAft>
                <a:spcPts val="0"/>
              </a:spcAft>
              <a:buNone/>
              <a:defRPr sz="1600">
                <a:solidFill>
                  <a:schemeClr val="lt1"/>
                </a:solidFill>
              </a:defRPr>
            </a:lvl6pPr>
            <a:lvl7pPr lvl="6" rtl="0">
              <a:lnSpc>
                <a:spcPct val="100000"/>
              </a:lnSpc>
              <a:spcBef>
                <a:spcPts val="0"/>
              </a:spcBef>
              <a:spcAft>
                <a:spcPts val="0"/>
              </a:spcAft>
              <a:buNone/>
              <a:defRPr sz="1600">
                <a:solidFill>
                  <a:schemeClr val="lt1"/>
                </a:solidFill>
              </a:defRPr>
            </a:lvl7pPr>
            <a:lvl8pPr lvl="7" rtl="0">
              <a:lnSpc>
                <a:spcPct val="100000"/>
              </a:lnSpc>
              <a:spcBef>
                <a:spcPts val="0"/>
              </a:spcBef>
              <a:spcAft>
                <a:spcPts val="0"/>
              </a:spcAft>
              <a:buNone/>
              <a:defRPr sz="1600">
                <a:solidFill>
                  <a:schemeClr val="lt1"/>
                </a:solidFill>
              </a:defRPr>
            </a:lvl8pPr>
            <a:lvl9pPr lvl="8" rtl="0">
              <a:lnSpc>
                <a:spcPct val="100000"/>
              </a:lnSpc>
              <a:spcBef>
                <a:spcPts val="0"/>
              </a:spcBef>
              <a:spcAft>
                <a:spcPts val="0"/>
              </a:spcAft>
              <a:buNone/>
              <a:defRPr sz="1600">
                <a:solidFill>
                  <a:schemeClr val="lt1"/>
                </a:solidFill>
              </a:defRPr>
            </a:lvl9pPr>
          </a:lstStyle>
          <a:p>
            <a:endParaRPr/>
          </a:p>
        </p:txBody>
      </p:sp>
      <p:sp>
        <p:nvSpPr>
          <p:cNvPr id="278" name="Google Shape;278;p45"/>
          <p:cNvSpPr txBox="1">
            <a:spLocks noGrp="1"/>
          </p:cNvSpPr>
          <p:nvPr>
            <p:ph type="subTitle" idx="3"/>
          </p:nvPr>
        </p:nvSpPr>
        <p:spPr>
          <a:xfrm>
            <a:off x="3845043" y="3088289"/>
            <a:ext cx="1627500" cy="21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a:endParaRPr/>
          </a:p>
        </p:txBody>
      </p:sp>
      <p:sp>
        <p:nvSpPr>
          <p:cNvPr id="279" name="Google Shape;279;p45"/>
          <p:cNvSpPr txBox="1">
            <a:spLocks noGrp="1"/>
          </p:cNvSpPr>
          <p:nvPr>
            <p:ph type="subTitle" idx="4"/>
          </p:nvPr>
        </p:nvSpPr>
        <p:spPr>
          <a:xfrm>
            <a:off x="6411818" y="1263378"/>
            <a:ext cx="1645500" cy="87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6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600">
                <a:solidFill>
                  <a:schemeClr val="lt1"/>
                </a:solidFill>
              </a:defRPr>
            </a:lvl2pPr>
            <a:lvl3pPr lvl="2" rtl="0">
              <a:lnSpc>
                <a:spcPct val="100000"/>
              </a:lnSpc>
              <a:spcBef>
                <a:spcPts val="0"/>
              </a:spcBef>
              <a:spcAft>
                <a:spcPts val="0"/>
              </a:spcAft>
              <a:buNone/>
              <a:defRPr sz="1600">
                <a:solidFill>
                  <a:schemeClr val="lt1"/>
                </a:solidFill>
              </a:defRPr>
            </a:lvl3pPr>
            <a:lvl4pPr lvl="3" rtl="0">
              <a:lnSpc>
                <a:spcPct val="100000"/>
              </a:lnSpc>
              <a:spcBef>
                <a:spcPts val="0"/>
              </a:spcBef>
              <a:spcAft>
                <a:spcPts val="0"/>
              </a:spcAft>
              <a:buNone/>
              <a:defRPr sz="1600">
                <a:solidFill>
                  <a:schemeClr val="lt1"/>
                </a:solidFill>
              </a:defRPr>
            </a:lvl4pPr>
            <a:lvl5pPr lvl="4" rtl="0">
              <a:lnSpc>
                <a:spcPct val="100000"/>
              </a:lnSpc>
              <a:spcBef>
                <a:spcPts val="0"/>
              </a:spcBef>
              <a:spcAft>
                <a:spcPts val="0"/>
              </a:spcAft>
              <a:buNone/>
              <a:defRPr sz="1600">
                <a:solidFill>
                  <a:schemeClr val="lt1"/>
                </a:solidFill>
              </a:defRPr>
            </a:lvl5pPr>
            <a:lvl6pPr lvl="5" rtl="0">
              <a:lnSpc>
                <a:spcPct val="100000"/>
              </a:lnSpc>
              <a:spcBef>
                <a:spcPts val="0"/>
              </a:spcBef>
              <a:spcAft>
                <a:spcPts val="0"/>
              </a:spcAft>
              <a:buNone/>
              <a:defRPr sz="1600">
                <a:solidFill>
                  <a:schemeClr val="lt1"/>
                </a:solidFill>
              </a:defRPr>
            </a:lvl6pPr>
            <a:lvl7pPr lvl="6" rtl="0">
              <a:lnSpc>
                <a:spcPct val="100000"/>
              </a:lnSpc>
              <a:spcBef>
                <a:spcPts val="0"/>
              </a:spcBef>
              <a:spcAft>
                <a:spcPts val="0"/>
              </a:spcAft>
              <a:buNone/>
              <a:defRPr sz="1600">
                <a:solidFill>
                  <a:schemeClr val="lt1"/>
                </a:solidFill>
              </a:defRPr>
            </a:lvl7pPr>
            <a:lvl8pPr lvl="7" rtl="0">
              <a:lnSpc>
                <a:spcPct val="100000"/>
              </a:lnSpc>
              <a:spcBef>
                <a:spcPts val="0"/>
              </a:spcBef>
              <a:spcAft>
                <a:spcPts val="0"/>
              </a:spcAft>
              <a:buNone/>
              <a:defRPr sz="1600">
                <a:solidFill>
                  <a:schemeClr val="lt1"/>
                </a:solidFill>
              </a:defRPr>
            </a:lvl8pPr>
            <a:lvl9pPr lvl="8" rtl="0">
              <a:lnSpc>
                <a:spcPct val="100000"/>
              </a:lnSpc>
              <a:spcBef>
                <a:spcPts val="0"/>
              </a:spcBef>
              <a:spcAft>
                <a:spcPts val="0"/>
              </a:spcAft>
              <a:buNone/>
              <a:defRPr sz="1600">
                <a:solidFill>
                  <a:schemeClr val="lt1"/>
                </a:solidFill>
              </a:defRPr>
            </a:lvl9pPr>
          </a:lstStyle>
          <a:p>
            <a:endParaRPr/>
          </a:p>
        </p:txBody>
      </p:sp>
      <p:sp>
        <p:nvSpPr>
          <p:cNvPr id="280" name="Google Shape;280;p45"/>
          <p:cNvSpPr txBox="1">
            <a:spLocks noGrp="1"/>
          </p:cNvSpPr>
          <p:nvPr>
            <p:ph type="subTitle" idx="5"/>
          </p:nvPr>
        </p:nvSpPr>
        <p:spPr>
          <a:xfrm>
            <a:off x="6411068" y="999173"/>
            <a:ext cx="1629000" cy="222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a:endParaRPr/>
          </a:p>
        </p:txBody>
      </p:sp>
      <p:sp>
        <p:nvSpPr>
          <p:cNvPr id="281" name="Google Shape;281;p45"/>
          <p:cNvSpPr txBox="1">
            <a:spLocks noGrp="1"/>
          </p:cNvSpPr>
          <p:nvPr>
            <p:ph type="subTitle" idx="6"/>
          </p:nvPr>
        </p:nvSpPr>
        <p:spPr>
          <a:xfrm>
            <a:off x="3845043" y="3350418"/>
            <a:ext cx="1649400" cy="878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6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600">
                <a:solidFill>
                  <a:schemeClr val="lt1"/>
                </a:solidFill>
              </a:defRPr>
            </a:lvl2pPr>
            <a:lvl3pPr lvl="2" rtl="0">
              <a:lnSpc>
                <a:spcPct val="100000"/>
              </a:lnSpc>
              <a:spcBef>
                <a:spcPts val="0"/>
              </a:spcBef>
              <a:spcAft>
                <a:spcPts val="0"/>
              </a:spcAft>
              <a:buNone/>
              <a:defRPr sz="1600">
                <a:solidFill>
                  <a:schemeClr val="lt1"/>
                </a:solidFill>
              </a:defRPr>
            </a:lvl3pPr>
            <a:lvl4pPr lvl="3" rtl="0">
              <a:lnSpc>
                <a:spcPct val="100000"/>
              </a:lnSpc>
              <a:spcBef>
                <a:spcPts val="0"/>
              </a:spcBef>
              <a:spcAft>
                <a:spcPts val="0"/>
              </a:spcAft>
              <a:buNone/>
              <a:defRPr sz="1600">
                <a:solidFill>
                  <a:schemeClr val="lt1"/>
                </a:solidFill>
              </a:defRPr>
            </a:lvl4pPr>
            <a:lvl5pPr lvl="4" rtl="0">
              <a:lnSpc>
                <a:spcPct val="100000"/>
              </a:lnSpc>
              <a:spcBef>
                <a:spcPts val="0"/>
              </a:spcBef>
              <a:spcAft>
                <a:spcPts val="0"/>
              </a:spcAft>
              <a:buNone/>
              <a:defRPr sz="1600">
                <a:solidFill>
                  <a:schemeClr val="lt1"/>
                </a:solidFill>
              </a:defRPr>
            </a:lvl5pPr>
            <a:lvl6pPr lvl="5" rtl="0">
              <a:lnSpc>
                <a:spcPct val="100000"/>
              </a:lnSpc>
              <a:spcBef>
                <a:spcPts val="0"/>
              </a:spcBef>
              <a:spcAft>
                <a:spcPts val="0"/>
              </a:spcAft>
              <a:buNone/>
              <a:defRPr sz="1600">
                <a:solidFill>
                  <a:schemeClr val="lt1"/>
                </a:solidFill>
              </a:defRPr>
            </a:lvl6pPr>
            <a:lvl7pPr lvl="6" rtl="0">
              <a:lnSpc>
                <a:spcPct val="100000"/>
              </a:lnSpc>
              <a:spcBef>
                <a:spcPts val="0"/>
              </a:spcBef>
              <a:spcAft>
                <a:spcPts val="0"/>
              </a:spcAft>
              <a:buNone/>
              <a:defRPr sz="1600">
                <a:solidFill>
                  <a:schemeClr val="lt1"/>
                </a:solidFill>
              </a:defRPr>
            </a:lvl7pPr>
            <a:lvl8pPr lvl="7" rtl="0">
              <a:lnSpc>
                <a:spcPct val="100000"/>
              </a:lnSpc>
              <a:spcBef>
                <a:spcPts val="0"/>
              </a:spcBef>
              <a:spcAft>
                <a:spcPts val="0"/>
              </a:spcAft>
              <a:buNone/>
              <a:defRPr sz="1600">
                <a:solidFill>
                  <a:schemeClr val="lt1"/>
                </a:solidFill>
              </a:defRPr>
            </a:lvl8pPr>
            <a:lvl9pPr lvl="8" rtl="0">
              <a:lnSpc>
                <a:spcPct val="100000"/>
              </a:lnSpc>
              <a:spcBef>
                <a:spcPts val="0"/>
              </a:spcBef>
              <a:spcAft>
                <a:spcPts val="0"/>
              </a:spcAft>
              <a:buNone/>
              <a:defRPr sz="1600">
                <a:solidFill>
                  <a:schemeClr val="lt1"/>
                </a:solidFill>
              </a:defRPr>
            </a:lvl9pPr>
          </a:lstStyle>
          <a:p>
            <a:endParaRPr/>
          </a:p>
        </p:txBody>
      </p:sp>
      <p:sp>
        <p:nvSpPr>
          <p:cNvPr id="282" name="Google Shape;282;p45"/>
          <p:cNvSpPr txBox="1">
            <a:spLocks noGrp="1"/>
          </p:cNvSpPr>
          <p:nvPr>
            <p:ph type="subTitle" idx="7"/>
          </p:nvPr>
        </p:nvSpPr>
        <p:spPr>
          <a:xfrm>
            <a:off x="6411818" y="3088289"/>
            <a:ext cx="1627500" cy="21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solidFill>
                  <a:schemeClr val="lt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lt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lt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lt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lt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lt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lt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lt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lt1"/>
                </a:solidFill>
                <a:latin typeface="Bebas Neue"/>
                <a:ea typeface="Bebas Neue"/>
                <a:cs typeface="Bebas Neue"/>
                <a:sym typeface="Bebas Neue"/>
              </a:defRPr>
            </a:lvl9pPr>
          </a:lstStyle>
          <a:p>
            <a:endParaRPr/>
          </a:p>
        </p:txBody>
      </p:sp>
      <p:sp>
        <p:nvSpPr>
          <p:cNvPr id="283" name="Google Shape;283;p45"/>
          <p:cNvSpPr txBox="1">
            <a:spLocks noGrp="1"/>
          </p:cNvSpPr>
          <p:nvPr>
            <p:ph type="subTitle" idx="8"/>
          </p:nvPr>
        </p:nvSpPr>
        <p:spPr>
          <a:xfrm>
            <a:off x="6411818" y="3351760"/>
            <a:ext cx="1645500" cy="87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600">
                <a:solidFill>
                  <a:schemeClr val="lt1"/>
                </a:solidFill>
                <a:latin typeface="Overpass Light"/>
                <a:ea typeface="Overpass Light"/>
                <a:cs typeface="Overpass Light"/>
                <a:sym typeface="Overpass Light"/>
              </a:defRPr>
            </a:lvl1pPr>
            <a:lvl2pPr lvl="1" rtl="0">
              <a:lnSpc>
                <a:spcPct val="100000"/>
              </a:lnSpc>
              <a:spcBef>
                <a:spcPts val="0"/>
              </a:spcBef>
              <a:spcAft>
                <a:spcPts val="0"/>
              </a:spcAft>
              <a:buNone/>
              <a:defRPr sz="1600">
                <a:solidFill>
                  <a:schemeClr val="lt1"/>
                </a:solidFill>
              </a:defRPr>
            </a:lvl2pPr>
            <a:lvl3pPr lvl="2" rtl="0">
              <a:lnSpc>
                <a:spcPct val="100000"/>
              </a:lnSpc>
              <a:spcBef>
                <a:spcPts val="0"/>
              </a:spcBef>
              <a:spcAft>
                <a:spcPts val="0"/>
              </a:spcAft>
              <a:buNone/>
              <a:defRPr sz="1600">
                <a:solidFill>
                  <a:schemeClr val="lt1"/>
                </a:solidFill>
              </a:defRPr>
            </a:lvl3pPr>
            <a:lvl4pPr lvl="3" rtl="0">
              <a:lnSpc>
                <a:spcPct val="100000"/>
              </a:lnSpc>
              <a:spcBef>
                <a:spcPts val="0"/>
              </a:spcBef>
              <a:spcAft>
                <a:spcPts val="0"/>
              </a:spcAft>
              <a:buNone/>
              <a:defRPr sz="1600">
                <a:solidFill>
                  <a:schemeClr val="lt1"/>
                </a:solidFill>
              </a:defRPr>
            </a:lvl4pPr>
            <a:lvl5pPr lvl="4" rtl="0">
              <a:lnSpc>
                <a:spcPct val="100000"/>
              </a:lnSpc>
              <a:spcBef>
                <a:spcPts val="0"/>
              </a:spcBef>
              <a:spcAft>
                <a:spcPts val="0"/>
              </a:spcAft>
              <a:buNone/>
              <a:defRPr sz="1600">
                <a:solidFill>
                  <a:schemeClr val="lt1"/>
                </a:solidFill>
              </a:defRPr>
            </a:lvl5pPr>
            <a:lvl6pPr lvl="5" rtl="0">
              <a:lnSpc>
                <a:spcPct val="100000"/>
              </a:lnSpc>
              <a:spcBef>
                <a:spcPts val="0"/>
              </a:spcBef>
              <a:spcAft>
                <a:spcPts val="0"/>
              </a:spcAft>
              <a:buNone/>
              <a:defRPr sz="1600">
                <a:solidFill>
                  <a:schemeClr val="lt1"/>
                </a:solidFill>
              </a:defRPr>
            </a:lvl6pPr>
            <a:lvl7pPr lvl="6" rtl="0">
              <a:lnSpc>
                <a:spcPct val="100000"/>
              </a:lnSpc>
              <a:spcBef>
                <a:spcPts val="0"/>
              </a:spcBef>
              <a:spcAft>
                <a:spcPts val="0"/>
              </a:spcAft>
              <a:buNone/>
              <a:defRPr sz="1600">
                <a:solidFill>
                  <a:schemeClr val="lt1"/>
                </a:solidFill>
              </a:defRPr>
            </a:lvl7pPr>
            <a:lvl8pPr lvl="7" rtl="0">
              <a:lnSpc>
                <a:spcPct val="100000"/>
              </a:lnSpc>
              <a:spcBef>
                <a:spcPts val="0"/>
              </a:spcBef>
              <a:spcAft>
                <a:spcPts val="0"/>
              </a:spcAft>
              <a:buNone/>
              <a:defRPr sz="1600">
                <a:solidFill>
                  <a:schemeClr val="lt1"/>
                </a:solidFill>
              </a:defRPr>
            </a:lvl8pPr>
            <a:lvl9pPr lvl="8" rtl="0">
              <a:lnSpc>
                <a:spcPct val="100000"/>
              </a:lnSpc>
              <a:spcBef>
                <a:spcPts val="0"/>
              </a:spcBef>
              <a:spcAft>
                <a:spcPts val="0"/>
              </a:spcAft>
              <a:buNone/>
              <a:defRPr sz="1600">
                <a:solidFill>
                  <a:schemeClr val="lt1"/>
                </a:solidFill>
              </a:defRPr>
            </a:lvl9pPr>
          </a:lstStyle>
          <a:p>
            <a:endParaRPr/>
          </a:p>
        </p:txBody>
      </p:sp>
      <p:sp>
        <p:nvSpPr>
          <p:cNvPr id="284" name="Google Shape;284;p45"/>
          <p:cNvSpPr txBox="1">
            <a:spLocks noGrp="1"/>
          </p:cNvSpPr>
          <p:nvPr>
            <p:ph type="title"/>
          </p:nvPr>
        </p:nvSpPr>
        <p:spPr>
          <a:xfrm>
            <a:off x="696450" y="1555800"/>
            <a:ext cx="1857600" cy="2031900"/>
          </a:xfrm>
          <a:prstGeom prst="rect">
            <a:avLst/>
          </a:prstGeom>
        </p:spPr>
        <p:txBody>
          <a:bodyPr spcFirstLastPara="1" wrap="square" lIns="91425" tIns="91425" rIns="91425" bIns="91425" anchor="ctr" anchorCtr="0">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551052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E16F9E-B503-4375-8A4D-6043A8332E55}"/>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E8DFE7B-6603-70CF-9AEE-795CEF9F1610}"/>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3302374-0F3E-D7EA-9840-D41A1B5E2838}"/>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081E32A8-3DF3-98E8-9BAA-72AE74CEF600}"/>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51C83A0-7ED6-646B-993E-492C43B64389}"/>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2B5664E2-3A40-4D1A-BF40-1793ED3F7EF0}" type="slidenum">
              <a:rPr lang="en-US" smtClean="0"/>
              <a:t>‹#›</a:t>
            </a:fld>
            <a:endParaRPr lang="en-US"/>
          </a:p>
        </p:txBody>
      </p:sp>
    </p:spTree>
    <p:extLst>
      <p:ext uri="{BB962C8B-B14F-4D97-AF65-F5344CB8AC3E}">
        <p14:creationId xmlns:p14="http://schemas.microsoft.com/office/powerpoint/2010/main" val="1464357206"/>
      </p:ext>
    </p:extLst>
  </p:cSld>
  <p:clrMap bg1="lt1" tx1="dk1" bg2="lt2" tx2="dk2" accent1="accent1" accent2="accent2" accent3="accent3" accent4="accent4" accent5="accent5" accent6="accent6" hlink="hlink" folHlink="folHlink"/>
  <p:sldLayoutIdLst>
    <p:sldLayoutId id="2147483946" r:id="rId1"/>
    <p:sldLayoutId id="2147483947" r:id="rId2"/>
    <p:sldLayoutId id="2147483948" r:id="rId3"/>
    <p:sldLayoutId id="2147483949" r:id="rId4"/>
    <p:sldLayoutId id="2147483950" r:id="rId5"/>
    <p:sldLayoutId id="2147483951" r:id="rId6"/>
    <p:sldLayoutId id="2147483952" r:id="rId7"/>
    <p:sldLayoutId id="2147483953" r:id="rId8"/>
    <p:sldLayoutId id="2147483954" r:id="rId9"/>
    <p:sldLayoutId id="2147483955" r:id="rId10"/>
    <p:sldLayoutId id="2147483956" r:id="rId11"/>
    <p:sldLayoutId id="2147483957" r:id="rId12"/>
    <p:sldLayoutId id="2147483958" r:id="rId13"/>
    <p:sldLayoutId id="2147483964" r:id="rId14"/>
    <p:sldLayoutId id="2147483968" r:id="rId15"/>
  </p:sldLayoutIdLst>
  <p:transition spd="slow">
    <p:push/>
  </p:transition>
  <p:hf sldNum="0" hdr="0" ftr="0" dt="0"/>
  <p:txStyles>
    <p:titleStyle>
      <a:lvl1pPr algn="l" defTabSz="685800" rtl="0" eaLnBrk="1" latinLnBrk="0" hangingPunct="1">
        <a:lnSpc>
          <a:spcPct val="90000"/>
        </a:lnSpc>
        <a:spcBef>
          <a:spcPct val="0"/>
        </a:spcBef>
        <a:buNone/>
        <a:defRPr sz="3300" kern="1200">
          <a:solidFill>
            <a:schemeClr val="accent6"/>
          </a:solidFill>
          <a:latin typeface="Atkinson Hyperlegible Next" pitchFamily="50"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accent6"/>
          </a:solidFill>
          <a:latin typeface="Atkinson Hyperlegible Next"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accent6"/>
          </a:solidFill>
          <a:latin typeface="Atkinson Hyperlegible Next"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accent6"/>
          </a:solidFill>
          <a:latin typeface="Atkinson Hyperlegible Next"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accent6"/>
          </a:solidFill>
          <a:latin typeface="Atkinson Hyperlegible Next"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accent6"/>
          </a:solidFill>
          <a:latin typeface="Atkinson Hyperlegible Next"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0.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tags" Target="../tags/tag1.xml"/><Relationship Id="rId4" Type="http://schemas.openxmlformats.org/officeDocument/2006/relationships/hyperlink" Target="https://imdetermined.org/tool/parent-path-to-success/"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8" Type="http://schemas.openxmlformats.org/officeDocument/2006/relationships/hyperlink" Target="mailto:ryan.beaty@sde.ok.gov" TargetMode="External"/><Relationship Id="rId3" Type="http://schemas.openxmlformats.org/officeDocument/2006/relationships/hyperlink" Target="mailto:lori.chesnut@sde.ok.gov" TargetMode="External"/><Relationship Id="rId7" Type="http://schemas.openxmlformats.org/officeDocument/2006/relationships/hyperlink" Target="mailto:april.bowden@sde.ok.gov" TargetMode="External"/><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hyperlink" Target="mailto:erin.berry@sde.ok.gov" TargetMode="External"/><Relationship Id="rId5" Type="http://schemas.openxmlformats.org/officeDocument/2006/relationships/hyperlink" Target="mailto:claudia.beckner@sde.ok.gov" TargetMode="External"/><Relationship Id="rId4" Type="http://schemas.openxmlformats.org/officeDocument/2006/relationships/hyperlink" Target="mailto:donna.tye-lewis@sde.ok.gov"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1D72FB-26BF-6F83-7E47-461DDFCFF105}"/>
              </a:ext>
            </a:extLst>
          </p:cNvPr>
          <p:cNvSpPr>
            <a:spLocks noGrp="1"/>
          </p:cNvSpPr>
          <p:nvPr>
            <p:ph type="title"/>
          </p:nvPr>
        </p:nvSpPr>
        <p:spPr/>
        <p:txBody>
          <a:bodyPr/>
          <a:lstStyle/>
          <a:p>
            <a:r>
              <a:rPr lang="en-US" sz="4800" dirty="0"/>
              <a:t>Module 6: Implementation &amp; Parent Resources</a:t>
            </a:r>
          </a:p>
        </p:txBody>
      </p:sp>
      <p:sp>
        <p:nvSpPr>
          <p:cNvPr id="4" name="Rectangle 3">
            <a:extLst>
              <a:ext uri="{FF2B5EF4-FFF2-40B4-BE49-F238E27FC236}">
                <a16:creationId xmlns:a16="http://schemas.microsoft.com/office/drawing/2014/main" id="{8607043A-606A-7BB1-0CAB-1C5B5DC03003}"/>
              </a:ext>
              <a:ext uri="{C183D7F6-B498-43B3-948B-1728B52AA6E4}">
                <adec:decorative xmlns:adec="http://schemas.microsoft.com/office/drawing/2017/decorative" val="1"/>
              </a:ext>
            </a:extLst>
          </p:cNvPr>
          <p:cNvSpPr/>
          <p:nvPr/>
        </p:nvSpPr>
        <p:spPr>
          <a:xfrm>
            <a:off x="-58271" y="2474258"/>
            <a:ext cx="5020236" cy="15912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9453820"/>
      </p:ext>
    </p:extLst>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a:t>Early Elementary</a:t>
            </a:r>
          </a:p>
        </p:txBody>
      </p:sp>
      <p:pic>
        <p:nvPicPr>
          <p:cNvPr id="3" name="Content Placeholder 2" descr="Child raising hand in classroom">
            <a:extLst>
              <a:ext uri="{FF2B5EF4-FFF2-40B4-BE49-F238E27FC236}">
                <a16:creationId xmlns:a16="http://schemas.microsoft.com/office/drawing/2014/main" id="{DB882807-955A-1617-1276-25579D01C5BA}"/>
              </a:ext>
            </a:extLst>
          </p:cNvPr>
          <p:cNvPicPr>
            <a:picLocks noGrp="1" noChangeAspect="1"/>
          </p:cNvPicPr>
          <p:nvPr>
            <p:ph sz="half" idx="1"/>
          </p:nvPr>
        </p:nvPicPr>
        <p:blipFill>
          <a:blip r:embed="rId3" cstate="email">
            <a:extLst>
              <a:ext uri="{28A0092B-C50C-407E-A947-70E740481C1C}">
                <a14:useLocalDpi xmlns:a14="http://schemas.microsoft.com/office/drawing/2010/main"/>
              </a:ext>
            </a:extLst>
          </a:blip>
          <a:stretch>
            <a:fillRect/>
          </a:stretch>
        </p:blipFill>
        <p:spPr>
          <a:xfrm>
            <a:off x="628650" y="1705769"/>
            <a:ext cx="3886200" cy="2590800"/>
          </a:xfrm>
        </p:spPr>
      </p:pic>
      <p:graphicFrame>
        <p:nvGraphicFramePr>
          <p:cNvPr id="468" name="Google Shape;466;p65" descr="One-pagers&#10;Intro to Transition Bell Ringers&#10;Literature&#10;Start with 1 to 2 steps of the self-directed IEP">
            <a:extLst>
              <a:ext uri="{FF2B5EF4-FFF2-40B4-BE49-F238E27FC236}">
                <a16:creationId xmlns:a16="http://schemas.microsoft.com/office/drawing/2014/main" id="{91BBDCA9-C1C5-80E0-64CA-6AD1643828AC}"/>
              </a:ext>
            </a:extLst>
          </p:cNvPr>
          <p:cNvGraphicFramePr/>
          <p:nvPr>
            <p:extLst>
              <p:ext uri="{D42A27DB-BD31-4B8C-83A1-F6EECF244321}">
                <p14:modId xmlns:p14="http://schemas.microsoft.com/office/powerpoint/2010/main" val="2949501119"/>
              </p:ext>
            </p:extLst>
          </p:nvPr>
        </p:nvGraphicFramePr>
        <p:xfrm>
          <a:off x="4629150" y="1369219"/>
          <a:ext cx="3886200" cy="32635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50363661"/>
      </p:ext>
    </p:extLst>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dirty="0"/>
              <a:t>Later Elementary</a:t>
            </a:r>
          </a:p>
        </p:txBody>
      </p:sp>
      <p:sp>
        <p:nvSpPr>
          <p:cNvPr id="466" name="Google Shape;466;p65"/>
          <p:cNvSpPr txBox="1">
            <a:spLocks noGrp="1"/>
          </p:cNvSpPr>
          <p:nvPr>
            <p:ph idx="1"/>
          </p:nvPr>
        </p:nvSpPr>
        <p:spPr/>
        <p:txBody>
          <a:bodyPr spcFirstLastPara="1" lIns="91425" tIns="91425" rIns="91425" bIns="91425" anchorCtr="0">
            <a:normAutofit/>
          </a:bodyPr>
          <a:lstStyle/>
          <a:p>
            <a:pPr marL="342900" lvl="0" rtl="0">
              <a:spcBef>
                <a:spcPts val="0"/>
              </a:spcBef>
              <a:spcAft>
                <a:spcPts val="0"/>
              </a:spcAft>
              <a:buClr>
                <a:schemeClr val="dk1"/>
              </a:buClr>
              <a:buSzPts val="1100"/>
              <a:buFont typeface="Arial" panose="020B0604020202020204" pitchFamily="34" charset="0"/>
              <a:buChar char="•"/>
            </a:pPr>
            <a:r>
              <a:rPr lang="en-US" dirty="0"/>
              <a:t>One-pagers expanded</a:t>
            </a:r>
          </a:p>
          <a:p>
            <a:pPr marL="342900" lvl="0" rtl="0">
              <a:spcBef>
                <a:spcPts val="0"/>
              </a:spcBef>
              <a:spcAft>
                <a:spcPts val="0"/>
              </a:spcAft>
              <a:buClr>
                <a:schemeClr val="dk1"/>
              </a:buClr>
              <a:buSzPts val="1100"/>
              <a:buFont typeface="Arial" panose="020B0604020202020204" pitchFamily="34" charset="0"/>
              <a:buChar char="•"/>
            </a:pPr>
            <a:r>
              <a:rPr lang="en-US" dirty="0"/>
              <a:t>Early Transition Bell Ringers</a:t>
            </a:r>
          </a:p>
          <a:p>
            <a:pPr marL="342900" lvl="0" rtl="0">
              <a:spcBef>
                <a:spcPts val="0"/>
              </a:spcBef>
              <a:spcAft>
                <a:spcPts val="0"/>
              </a:spcAft>
              <a:buClr>
                <a:schemeClr val="dk1"/>
              </a:buClr>
              <a:buSzPts val="1100"/>
              <a:buFont typeface="Arial" panose="020B0604020202020204" pitchFamily="34" charset="0"/>
              <a:buChar char="•"/>
            </a:pPr>
            <a:r>
              <a:rPr lang="en-US" dirty="0"/>
              <a:t>Literature </a:t>
            </a:r>
          </a:p>
          <a:p>
            <a:pPr marL="342900" lvl="0" rtl="0">
              <a:spcBef>
                <a:spcPts val="0"/>
              </a:spcBef>
              <a:spcAft>
                <a:spcPts val="0"/>
              </a:spcAft>
              <a:buClr>
                <a:schemeClr val="dk1"/>
              </a:buClr>
              <a:buSzPts val="1100"/>
              <a:buFont typeface="Arial" panose="020B0604020202020204" pitchFamily="34" charset="0"/>
              <a:buChar char="•"/>
            </a:pPr>
            <a:r>
              <a:rPr lang="en-US" dirty="0"/>
              <a:t>Introduce students to special education and disability awareness using the Me! Curriculum</a:t>
            </a:r>
          </a:p>
          <a:p>
            <a:pPr marL="800100" lvl="1">
              <a:buSzPts val="1100"/>
              <a:buFont typeface="Arial" panose="020B0604020202020204" pitchFamily="34" charset="0"/>
              <a:buChar char="•"/>
            </a:pPr>
            <a:r>
              <a:rPr lang="en-US" sz="2100" dirty="0"/>
              <a:t>Research disabilities</a:t>
            </a:r>
          </a:p>
          <a:p>
            <a:pPr marL="342900" lvl="0" rtl="0">
              <a:spcBef>
                <a:spcPts val="0"/>
              </a:spcBef>
              <a:spcAft>
                <a:spcPts val="0"/>
              </a:spcAft>
              <a:buClr>
                <a:schemeClr val="dk1"/>
              </a:buClr>
              <a:buSzPts val="1100"/>
              <a:buFont typeface="Arial" panose="020B0604020202020204" pitchFamily="34" charset="0"/>
              <a:buChar char="•"/>
            </a:pPr>
            <a:r>
              <a:rPr lang="en-US" dirty="0"/>
              <a:t>Add in more steps of the Self-Directed IEP</a:t>
            </a:r>
          </a:p>
          <a:p>
            <a:pPr marL="800100" lvl="1">
              <a:buSzPts val="1100"/>
              <a:buFont typeface="Arial" panose="020B0604020202020204" pitchFamily="34" charset="0"/>
              <a:buChar char="•"/>
            </a:pPr>
            <a:r>
              <a:rPr lang="en-US" sz="2100" dirty="0"/>
              <a:t>Introduce an IEP script or IEP presentation</a:t>
            </a:r>
          </a:p>
          <a:p>
            <a:pPr marL="342900" lvl="0" rtl="0">
              <a:spcBef>
                <a:spcPts val="0"/>
              </a:spcBef>
              <a:spcAft>
                <a:spcPts val="0"/>
              </a:spcAft>
              <a:buClr>
                <a:schemeClr val="dk1"/>
              </a:buClr>
              <a:buSzPts val="1100"/>
              <a:buFont typeface="Arial" panose="020B0604020202020204" pitchFamily="34" charset="0"/>
              <a:buChar char="•"/>
            </a:pPr>
            <a:endParaRPr lang="en-US" dirty="0"/>
          </a:p>
        </p:txBody>
      </p:sp>
    </p:spTree>
    <p:extLst>
      <p:ext uri="{BB962C8B-B14F-4D97-AF65-F5344CB8AC3E}">
        <p14:creationId xmlns:p14="http://schemas.microsoft.com/office/powerpoint/2010/main" val="1733848199"/>
      </p:ext>
    </p:extLst>
  </p:cSld>
  <p:clrMapOvr>
    <a:masterClrMapping/>
  </p:clrMapOvr>
  <p:transition spd="slow">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dirty="0"/>
              <a:t>Middle School</a:t>
            </a:r>
          </a:p>
        </p:txBody>
      </p:sp>
      <p:sp>
        <p:nvSpPr>
          <p:cNvPr id="466" name="Google Shape;466;p65"/>
          <p:cNvSpPr txBox="1">
            <a:spLocks noGrp="1"/>
          </p:cNvSpPr>
          <p:nvPr>
            <p:ph sz="half" idx="1"/>
          </p:nvPr>
        </p:nvSpPr>
        <p:spPr/>
        <p:txBody>
          <a:bodyPr spcFirstLastPara="1" lIns="91425" tIns="91425" rIns="91425" bIns="91425" anchorCtr="0">
            <a:normAutofit/>
          </a:bodyPr>
          <a:lstStyle/>
          <a:p>
            <a:pPr marL="342900" lvl="0" rtl="0">
              <a:spcBef>
                <a:spcPts val="0"/>
              </a:spcBef>
              <a:spcAft>
                <a:spcPts val="0"/>
              </a:spcAft>
              <a:buClr>
                <a:schemeClr val="dk1"/>
              </a:buClr>
              <a:buSzPts val="1100"/>
              <a:buFont typeface="Arial" panose="020B0604020202020204" pitchFamily="34" charset="0"/>
              <a:buChar char="•"/>
            </a:pPr>
            <a:r>
              <a:rPr lang="en-US" sz="1600" dirty="0"/>
              <a:t>One-pagers</a:t>
            </a:r>
          </a:p>
          <a:p>
            <a:pPr marL="342900" lvl="0" rtl="0">
              <a:spcBef>
                <a:spcPts val="0"/>
              </a:spcBef>
              <a:spcAft>
                <a:spcPts val="0"/>
              </a:spcAft>
              <a:buClr>
                <a:schemeClr val="dk1"/>
              </a:buClr>
              <a:buSzPts val="1100"/>
              <a:buFont typeface="Arial" panose="020B0604020202020204" pitchFamily="34" charset="0"/>
              <a:buChar char="•"/>
            </a:pPr>
            <a:r>
              <a:rPr lang="en-US" sz="1600" dirty="0"/>
              <a:t>Start the Fundamental Transition Bell Ringers</a:t>
            </a:r>
          </a:p>
          <a:p>
            <a:pPr marL="342900" lvl="0" rtl="0">
              <a:spcBef>
                <a:spcPts val="0"/>
              </a:spcBef>
              <a:spcAft>
                <a:spcPts val="0"/>
              </a:spcAft>
              <a:buClr>
                <a:schemeClr val="dk1"/>
              </a:buClr>
              <a:buSzPts val="1100"/>
              <a:buFont typeface="Arial" panose="020B0604020202020204" pitchFamily="34" charset="0"/>
              <a:buChar char="•"/>
            </a:pPr>
            <a:r>
              <a:rPr lang="en-US" sz="1600" dirty="0"/>
              <a:t>Literature </a:t>
            </a:r>
          </a:p>
          <a:p>
            <a:pPr marL="342900" lvl="0" rtl="0">
              <a:spcBef>
                <a:spcPts val="0"/>
              </a:spcBef>
              <a:spcAft>
                <a:spcPts val="0"/>
              </a:spcAft>
              <a:buClr>
                <a:schemeClr val="dk1"/>
              </a:buClr>
              <a:buSzPts val="1100"/>
              <a:buFont typeface="Arial" panose="020B0604020202020204" pitchFamily="34" charset="0"/>
              <a:buChar char="•"/>
            </a:pPr>
            <a:r>
              <a:rPr lang="en-US" sz="1600" dirty="0"/>
              <a:t>Implement the majority of the steps of the Self-Directed IEP</a:t>
            </a:r>
          </a:p>
          <a:p>
            <a:pPr marL="800100" lvl="1">
              <a:buSzPts val="1100"/>
              <a:buFont typeface="Arial" panose="020B0604020202020204" pitchFamily="34" charset="0"/>
              <a:buChar char="•"/>
            </a:pPr>
            <a:r>
              <a:rPr lang="en-US" sz="1600" dirty="0"/>
              <a:t>Use Mock IEPS to practice the IEP Script and Presentations</a:t>
            </a:r>
          </a:p>
          <a:p>
            <a:pPr marL="342900" lvl="0" rtl="0">
              <a:spcBef>
                <a:spcPts val="0"/>
              </a:spcBef>
              <a:spcAft>
                <a:spcPts val="0"/>
              </a:spcAft>
              <a:buClr>
                <a:schemeClr val="dk1"/>
              </a:buClr>
              <a:buSzPts val="1100"/>
              <a:buFont typeface="Arial" panose="020B0604020202020204" pitchFamily="34" charset="0"/>
              <a:buChar char="•"/>
            </a:pPr>
            <a:r>
              <a:rPr lang="en-US" sz="1600" dirty="0"/>
              <a:t>Integrate Transition Assessments</a:t>
            </a:r>
          </a:p>
          <a:p>
            <a:pPr marL="342900" lvl="0" rtl="0">
              <a:spcBef>
                <a:spcPts val="0"/>
              </a:spcBef>
              <a:spcAft>
                <a:spcPts val="0"/>
              </a:spcAft>
              <a:buClr>
                <a:schemeClr val="dk1"/>
              </a:buClr>
              <a:buSzPts val="1100"/>
              <a:buFont typeface="Arial" panose="020B0604020202020204" pitchFamily="34" charset="0"/>
              <a:buChar char="•"/>
            </a:pPr>
            <a:r>
              <a:rPr lang="en-US" sz="1600" dirty="0"/>
              <a:t>Utilize a curriculum like the SDLMI to expand student's knowledge and application abilities</a:t>
            </a:r>
          </a:p>
        </p:txBody>
      </p:sp>
      <p:pic>
        <p:nvPicPr>
          <p:cNvPr id="3" name="Content Placeholder 2" descr="Teacher helping students in classroom.">
            <a:extLst>
              <a:ext uri="{FF2B5EF4-FFF2-40B4-BE49-F238E27FC236}">
                <a16:creationId xmlns:a16="http://schemas.microsoft.com/office/drawing/2014/main" id="{E98E23E6-C3A1-3FE3-C641-9B959144206C}"/>
              </a:ext>
            </a:extLst>
          </p:cNvPr>
          <p:cNvPicPr>
            <a:picLocks noGrp="1" noChangeAspect="1"/>
          </p:cNvPicPr>
          <p:nvPr>
            <p:ph sz="half" idx="2"/>
          </p:nvPr>
        </p:nvPicPr>
        <p:blipFill>
          <a:blip r:embed="rId3" cstate="email">
            <a:extLst>
              <a:ext uri="{28A0092B-C50C-407E-A947-70E740481C1C}">
                <a14:useLocalDpi xmlns:a14="http://schemas.microsoft.com/office/drawing/2010/main"/>
              </a:ext>
            </a:extLst>
          </a:blip>
          <a:stretch>
            <a:fillRect/>
          </a:stretch>
        </p:blipFill>
        <p:spPr>
          <a:xfrm>
            <a:off x="4629150" y="1705769"/>
            <a:ext cx="3886200" cy="2590800"/>
          </a:xfrm>
        </p:spPr>
      </p:pic>
    </p:spTree>
    <p:extLst>
      <p:ext uri="{BB962C8B-B14F-4D97-AF65-F5344CB8AC3E}">
        <p14:creationId xmlns:p14="http://schemas.microsoft.com/office/powerpoint/2010/main" val="3568703937"/>
      </p:ext>
    </p:extLst>
  </p:cSld>
  <p:clrMapOvr>
    <a:masterClrMapping/>
  </p:clrMapOvr>
  <p:transition spd="slow">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dirty="0"/>
              <a:t>High School</a:t>
            </a:r>
          </a:p>
        </p:txBody>
      </p:sp>
      <p:sp>
        <p:nvSpPr>
          <p:cNvPr id="466" name="Google Shape;466;p65"/>
          <p:cNvSpPr txBox="1">
            <a:spLocks noGrp="1"/>
          </p:cNvSpPr>
          <p:nvPr>
            <p:ph idx="1"/>
          </p:nvPr>
        </p:nvSpPr>
        <p:spPr/>
        <p:txBody>
          <a:bodyPr spcFirstLastPara="1" lIns="91425" tIns="91425" rIns="91425" bIns="91425" anchorCtr="0">
            <a:normAutofit/>
          </a:bodyPr>
          <a:lstStyle/>
          <a:p>
            <a:pPr marL="342900" lvl="0" rtl="0">
              <a:spcBef>
                <a:spcPts val="0"/>
              </a:spcBef>
              <a:spcAft>
                <a:spcPts val="0"/>
              </a:spcAft>
              <a:buClr>
                <a:schemeClr val="dk1"/>
              </a:buClr>
              <a:buSzPts val="1100"/>
              <a:buFont typeface="Arial" panose="020B0604020202020204" pitchFamily="34" charset="0"/>
              <a:buChar char="•"/>
            </a:pPr>
            <a:r>
              <a:rPr lang="en-US" sz="1900" dirty="0"/>
              <a:t>One-pagers</a:t>
            </a:r>
          </a:p>
          <a:p>
            <a:pPr marL="342900" lvl="0" rtl="0">
              <a:spcBef>
                <a:spcPts val="0"/>
              </a:spcBef>
              <a:spcAft>
                <a:spcPts val="0"/>
              </a:spcAft>
              <a:buClr>
                <a:schemeClr val="dk1"/>
              </a:buClr>
              <a:buSzPts val="1100"/>
              <a:buFont typeface="Arial" panose="020B0604020202020204" pitchFamily="34" charset="0"/>
              <a:buChar char="•"/>
            </a:pPr>
            <a:r>
              <a:rPr lang="en-US" sz="1900" dirty="0"/>
              <a:t>Daily &amp; Independent Living Bell Ringers</a:t>
            </a:r>
          </a:p>
          <a:p>
            <a:pPr marL="342900" lvl="0" rtl="0">
              <a:spcBef>
                <a:spcPts val="0"/>
              </a:spcBef>
              <a:spcAft>
                <a:spcPts val="0"/>
              </a:spcAft>
              <a:buClr>
                <a:schemeClr val="dk1"/>
              </a:buClr>
              <a:buSzPts val="1100"/>
              <a:buFont typeface="Arial" panose="020B0604020202020204" pitchFamily="34" charset="0"/>
              <a:buChar char="•"/>
            </a:pPr>
            <a:r>
              <a:rPr lang="en-US" sz="1900" dirty="0"/>
              <a:t>Life Skills Bell Ringers</a:t>
            </a:r>
          </a:p>
          <a:p>
            <a:pPr marL="342900" lvl="0" rtl="0">
              <a:spcBef>
                <a:spcPts val="0"/>
              </a:spcBef>
              <a:spcAft>
                <a:spcPts val="0"/>
              </a:spcAft>
              <a:buClr>
                <a:schemeClr val="dk1"/>
              </a:buClr>
              <a:buSzPts val="1100"/>
              <a:buFont typeface="Arial" panose="020B0604020202020204" pitchFamily="34" charset="0"/>
              <a:buChar char="•"/>
            </a:pPr>
            <a:r>
              <a:rPr lang="en-US" sz="1900" dirty="0"/>
              <a:t>Personal Financial Literacy Bell Ringers</a:t>
            </a:r>
          </a:p>
          <a:p>
            <a:pPr marL="342900" lvl="0" rtl="0">
              <a:spcBef>
                <a:spcPts val="0"/>
              </a:spcBef>
              <a:spcAft>
                <a:spcPts val="0"/>
              </a:spcAft>
              <a:buClr>
                <a:schemeClr val="dk1"/>
              </a:buClr>
              <a:buSzPts val="1100"/>
              <a:buFont typeface="Arial" panose="020B0604020202020204" pitchFamily="34" charset="0"/>
              <a:buChar char="•"/>
            </a:pPr>
            <a:r>
              <a:rPr lang="en-US" sz="1900" dirty="0"/>
              <a:t>Literature </a:t>
            </a:r>
          </a:p>
          <a:p>
            <a:pPr marL="342900" lvl="0" rtl="0">
              <a:spcBef>
                <a:spcPts val="0"/>
              </a:spcBef>
              <a:spcAft>
                <a:spcPts val="0"/>
              </a:spcAft>
              <a:buClr>
                <a:schemeClr val="dk1"/>
              </a:buClr>
              <a:buSzPts val="1100"/>
              <a:buFont typeface="Arial" panose="020B0604020202020204" pitchFamily="34" charset="0"/>
              <a:buChar char="•"/>
            </a:pPr>
            <a:r>
              <a:rPr lang="en-US" sz="1900" dirty="0"/>
              <a:t>Fully Implement a Self-Directed IEP</a:t>
            </a:r>
          </a:p>
          <a:p>
            <a:pPr marL="800100" lvl="1">
              <a:buSzPts val="1100"/>
              <a:buFont typeface="Arial" panose="020B0604020202020204" pitchFamily="34" charset="0"/>
              <a:buChar char="•"/>
            </a:pPr>
            <a:r>
              <a:rPr lang="en-US" sz="1900" dirty="0"/>
              <a:t>Have students take the lead on creating PowerPoint, sending invites, and crafting postsecondary goals</a:t>
            </a:r>
          </a:p>
          <a:p>
            <a:pPr marL="342900">
              <a:buSzPts val="1100"/>
              <a:buFont typeface="Arial" panose="020B0604020202020204" pitchFamily="34" charset="0"/>
              <a:buChar char="•"/>
            </a:pPr>
            <a:r>
              <a:rPr lang="en-US" sz="1900" dirty="0"/>
              <a:t>Utilize more transition assessments across areas (education, employment, independent living)</a:t>
            </a:r>
          </a:p>
        </p:txBody>
      </p:sp>
    </p:spTree>
    <p:extLst>
      <p:ext uri="{BB962C8B-B14F-4D97-AF65-F5344CB8AC3E}">
        <p14:creationId xmlns:p14="http://schemas.microsoft.com/office/powerpoint/2010/main" val="784839952"/>
      </p:ext>
    </p:extLst>
  </p:cSld>
  <p:clrMapOvr>
    <a:masterClrMapping/>
  </p:clrMapOvr>
  <p:transition spd="slow">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7B2C894-4D43-0541-3FDD-17FCF88218FE}"/>
              </a:ext>
            </a:extLst>
          </p:cNvPr>
          <p:cNvSpPr>
            <a:spLocks noGrp="1"/>
          </p:cNvSpPr>
          <p:nvPr>
            <p:ph type="title"/>
          </p:nvPr>
        </p:nvSpPr>
        <p:spPr/>
        <p:txBody>
          <a:bodyPr anchor="ctr">
            <a:normAutofit/>
          </a:bodyPr>
          <a:lstStyle/>
          <a:p>
            <a:r>
              <a:rPr lang="en-US" sz="3100" dirty="0"/>
              <a:t>Creating Your Implementation Plan</a:t>
            </a:r>
          </a:p>
        </p:txBody>
      </p:sp>
      <p:sp>
        <p:nvSpPr>
          <p:cNvPr id="2" name="Subtitle 1">
            <a:extLst>
              <a:ext uri="{FF2B5EF4-FFF2-40B4-BE49-F238E27FC236}">
                <a16:creationId xmlns:a16="http://schemas.microsoft.com/office/drawing/2014/main" id="{84874D84-B0B9-4109-BC73-CFEB6BBDF86A}"/>
              </a:ext>
            </a:extLst>
          </p:cNvPr>
          <p:cNvSpPr>
            <a:spLocks noGrp="1"/>
          </p:cNvSpPr>
          <p:nvPr>
            <p:ph idx="1"/>
          </p:nvPr>
        </p:nvSpPr>
        <p:spPr/>
        <p:txBody>
          <a:bodyPr>
            <a:normAutofit/>
          </a:bodyPr>
          <a:lstStyle/>
          <a:p>
            <a:pPr marL="342900" indent="-342900">
              <a:buFont typeface="Arial" panose="020B0604020202020204" pitchFamily="34" charset="0"/>
              <a:buChar char="•"/>
            </a:pPr>
            <a:r>
              <a:rPr lang="en-US" sz="1300" dirty="0"/>
              <a:t>Identify your setting</a:t>
            </a:r>
          </a:p>
          <a:p>
            <a:pPr marL="342900" indent="-342900">
              <a:buFont typeface="Arial" panose="020B0604020202020204" pitchFamily="34" charset="0"/>
              <a:buChar char="•"/>
            </a:pPr>
            <a:endParaRPr lang="en-US" sz="1300" dirty="0"/>
          </a:p>
          <a:p>
            <a:pPr marL="342900" indent="-342900">
              <a:buFont typeface="Arial" panose="020B0604020202020204" pitchFamily="34" charset="0"/>
              <a:buChar char="•"/>
            </a:pPr>
            <a:r>
              <a:rPr lang="en-US" sz="1300" dirty="0"/>
              <a:t>Choose your priorities</a:t>
            </a:r>
          </a:p>
          <a:p>
            <a:pPr marL="342900" indent="-342900">
              <a:buFont typeface="Arial" panose="020B0604020202020204" pitchFamily="34" charset="0"/>
              <a:buChar char="•"/>
            </a:pPr>
            <a:endParaRPr lang="en-US" sz="1300" dirty="0"/>
          </a:p>
          <a:p>
            <a:pPr marL="342900" indent="-342900">
              <a:buFont typeface="Arial" panose="020B0604020202020204" pitchFamily="34" charset="0"/>
              <a:buChar char="•"/>
            </a:pPr>
            <a:r>
              <a:rPr lang="en-US" sz="1300" dirty="0"/>
              <a:t>Create your timeline</a:t>
            </a:r>
          </a:p>
          <a:p>
            <a:pPr marL="342900" indent="-342900">
              <a:buFont typeface="Arial" panose="020B0604020202020204" pitchFamily="34" charset="0"/>
              <a:buChar char="•"/>
            </a:pPr>
            <a:endParaRPr lang="en-US" sz="1300" dirty="0"/>
          </a:p>
          <a:p>
            <a:pPr marL="342900" indent="-342900">
              <a:buFont typeface="Arial" panose="020B0604020202020204" pitchFamily="34" charset="0"/>
              <a:buChar char="•"/>
            </a:pPr>
            <a:r>
              <a:rPr lang="en-US" sz="1300" dirty="0"/>
              <a:t>Identify needed resources</a:t>
            </a:r>
          </a:p>
          <a:p>
            <a:pPr marL="342900" indent="-342900">
              <a:buFont typeface="Arial" panose="020B0604020202020204" pitchFamily="34" charset="0"/>
              <a:buChar char="•"/>
            </a:pPr>
            <a:endParaRPr lang="en-US" sz="1300" dirty="0"/>
          </a:p>
          <a:p>
            <a:pPr marL="342900" indent="-342900">
              <a:buFont typeface="Arial" panose="020B0604020202020204" pitchFamily="34" charset="0"/>
              <a:buChar char="•"/>
            </a:pPr>
            <a:r>
              <a:rPr lang="en-US" sz="1300" dirty="0"/>
              <a:t>Make a SMART Goal</a:t>
            </a:r>
          </a:p>
          <a:p>
            <a:pPr marL="342900" indent="-342900">
              <a:buFont typeface="Arial" panose="020B0604020202020204" pitchFamily="34" charset="0"/>
              <a:buChar char="•"/>
            </a:pPr>
            <a:endParaRPr lang="en-US" sz="1300" dirty="0"/>
          </a:p>
          <a:p>
            <a:pPr marL="342900" indent="-342900">
              <a:buFont typeface="Arial" panose="020B0604020202020204" pitchFamily="34" charset="0"/>
              <a:buChar char="•"/>
            </a:pPr>
            <a:r>
              <a:rPr lang="en-US" sz="1300" dirty="0"/>
              <a:t>Identify your accountability</a:t>
            </a:r>
          </a:p>
          <a:p>
            <a:endParaRPr lang="en-US" sz="1300" dirty="0"/>
          </a:p>
        </p:txBody>
      </p:sp>
    </p:spTree>
    <p:extLst>
      <p:ext uri="{BB962C8B-B14F-4D97-AF65-F5344CB8AC3E}">
        <p14:creationId xmlns:p14="http://schemas.microsoft.com/office/powerpoint/2010/main" val="1684306289"/>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57" name="Google Shape;757;p81"/>
          <p:cNvSpPr txBox="1">
            <a:spLocks noGrp="1"/>
          </p:cNvSpPr>
          <p:nvPr>
            <p:ph type="title"/>
          </p:nvPr>
        </p:nvSpPr>
        <p:spPr>
          <a:xfrm>
            <a:off x="111138" y="1555800"/>
            <a:ext cx="2621046" cy="20319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spcFirstLastPara="1" wrap="square" lIns="91425" tIns="91425" rIns="91425" bIns="91425" anchor="ctr" anchorCtr="0">
            <a:noAutofit/>
          </a:bodyPr>
          <a:lstStyle/>
          <a:p>
            <a:pPr marL="0" lvl="0" indent="0" algn="l" rtl="0">
              <a:spcBef>
                <a:spcPts val="0"/>
              </a:spcBef>
              <a:spcAft>
                <a:spcPts val="0"/>
              </a:spcAft>
              <a:buNone/>
            </a:pPr>
            <a:r>
              <a:rPr lang="en-US" sz="3200" dirty="0">
                <a:latin typeface="Verdana Pro" panose="020B0604030504040204" pitchFamily="34" charset="0"/>
              </a:rPr>
              <a:t>Resources for Families</a:t>
            </a:r>
            <a:endParaRPr sz="3200" dirty="0">
              <a:latin typeface="Verdana Pro" panose="020B0604030504040204" pitchFamily="34" charset="0"/>
            </a:endParaRPr>
          </a:p>
        </p:txBody>
      </p:sp>
      <p:sp>
        <p:nvSpPr>
          <p:cNvPr id="5" name="Google Shape;502;p67">
            <a:extLst>
              <a:ext uri="{FF2B5EF4-FFF2-40B4-BE49-F238E27FC236}">
                <a16:creationId xmlns:a16="http://schemas.microsoft.com/office/drawing/2014/main" id="{C07EEA51-02F6-71AE-73CB-4D8997B170A4}"/>
              </a:ext>
            </a:extLst>
          </p:cNvPr>
          <p:cNvSpPr txBox="1">
            <a:spLocks/>
          </p:cNvSpPr>
          <p:nvPr/>
        </p:nvSpPr>
        <p:spPr>
          <a:xfrm>
            <a:off x="3348350" y="1228034"/>
            <a:ext cx="2340900" cy="32776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400" b="0" i="0" u="none" strike="noStrike" cap="none">
                <a:solidFill>
                  <a:schemeClr val="dk1"/>
                </a:solidFill>
                <a:latin typeface="Overpass Light"/>
                <a:ea typeface="Overpass Light"/>
                <a:cs typeface="Overpass Light"/>
                <a:sym typeface="Overpass Light"/>
              </a:defRPr>
            </a:lvl1pPr>
            <a:lvl2pPr marL="914400" marR="0" lvl="1"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9pPr>
          </a:lstStyle>
          <a:p>
            <a:pPr marL="0" indent="0" algn="ctr"/>
            <a:r>
              <a:rPr lang="en" sz="1200" dirty="0">
                <a:solidFill>
                  <a:schemeClr val="accent6"/>
                </a:solidFill>
                <a:latin typeface="Verdana Pro" panose="020B0604030504040204" pitchFamily="34" charset="0"/>
              </a:rPr>
              <a:t>Parent Center Hub</a:t>
            </a:r>
          </a:p>
          <a:p>
            <a:pPr marL="0" indent="0" algn="ctr"/>
            <a:r>
              <a:rPr lang="en-US" sz="1200" dirty="0">
                <a:solidFill>
                  <a:schemeClr val="accent6"/>
                </a:solidFill>
                <a:latin typeface="Verdana Pro" panose="020B0604030504040204" pitchFamily="34" charset="0"/>
              </a:rPr>
              <a:t>T</a:t>
            </a:r>
            <a:r>
              <a:rPr lang="en" sz="1200" dirty="0">
                <a:solidFill>
                  <a:schemeClr val="accent6"/>
                </a:solidFill>
                <a:latin typeface="Verdana Pro" panose="020B0604030504040204" pitchFamily="34" charset="0"/>
              </a:rPr>
              <a:t>inyurl.com/s2k5ujra</a:t>
            </a:r>
          </a:p>
        </p:txBody>
      </p:sp>
      <p:pic>
        <p:nvPicPr>
          <p:cNvPr id="17" name="Picture 16" descr="A qr code for https://www.parentcenterhub.org/transitionadult/">
            <a:extLst>
              <a:ext uri="{FF2B5EF4-FFF2-40B4-BE49-F238E27FC236}">
                <a16:creationId xmlns:a16="http://schemas.microsoft.com/office/drawing/2014/main" id="{82F3A62C-6341-72B7-E9A4-B1330A5567A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951026" y="1675178"/>
            <a:ext cx="1135549" cy="1135549"/>
          </a:xfrm>
          <a:prstGeom prst="rect">
            <a:avLst/>
          </a:prstGeom>
        </p:spPr>
      </p:pic>
      <p:sp>
        <p:nvSpPr>
          <p:cNvPr id="10" name="TextBox 9">
            <a:extLst>
              <a:ext uri="{FF2B5EF4-FFF2-40B4-BE49-F238E27FC236}">
                <a16:creationId xmlns:a16="http://schemas.microsoft.com/office/drawing/2014/main" id="{67ADD93C-DFD7-CAD3-F86B-B71838BD624C}"/>
              </a:ext>
            </a:extLst>
          </p:cNvPr>
          <p:cNvSpPr txBox="1"/>
          <p:nvPr/>
        </p:nvSpPr>
        <p:spPr>
          <a:xfrm>
            <a:off x="6687638" y="1061221"/>
            <a:ext cx="1298753" cy="461665"/>
          </a:xfrm>
          <a:prstGeom prst="rect">
            <a:avLst/>
          </a:prstGeom>
          <a:noFill/>
        </p:spPr>
        <p:txBody>
          <a:bodyPr wrap="none" rtlCol="0">
            <a:spAutoFit/>
          </a:bodyPr>
          <a:lstStyle/>
          <a:p>
            <a:r>
              <a:rPr lang="en-US" sz="1200" dirty="0">
                <a:solidFill>
                  <a:schemeClr val="accent6"/>
                </a:solidFill>
                <a:latin typeface="Verdana Pro" panose="020B0604030504040204" pitchFamily="34" charset="0"/>
              </a:rPr>
              <a:t>Pacer Center</a:t>
            </a:r>
          </a:p>
          <a:p>
            <a:r>
              <a:rPr lang="en-US" sz="1200" dirty="0">
                <a:solidFill>
                  <a:schemeClr val="accent6"/>
                </a:solidFill>
                <a:latin typeface="Verdana Pro" panose="020B0604030504040204" pitchFamily="34" charset="0"/>
              </a:rPr>
              <a:t>bit.ly/2pCK3?r</a:t>
            </a:r>
          </a:p>
        </p:txBody>
      </p:sp>
      <p:pic>
        <p:nvPicPr>
          <p:cNvPr id="3" name="Picture 2" descr="Qr code for Pacer Center&#10;bit.ly/2pCK3?r&#10;&#10;">
            <a:extLst>
              <a:ext uri="{FF2B5EF4-FFF2-40B4-BE49-F238E27FC236}">
                <a16:creationId xmlns:a16="http://schemas.microsoft.com/office/drawing/2014/main" id="{EC4B2D43-8484-05A5-ECBF-FD5B62915DD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flipH="1">
            <a:off x="6574449" y="1522886"/>
            <a:ext cx="1411942" cy="1411942"/>
          </a:xfrm>
          <a:prstGeom prst="rect">
            <a:avLst/>
          </a:prstGeom>
        </p:spPr>
      </p:pic>
      <p:sp>
        <p:nvSpPr>
          <p:cNvPr id="9" name="Subtitle 8">
            <a:extLst>
              <a:ext uri="{FF2B5EF4-FFF2-40B4-BE49-F238E27FC236}">
                <a16:creationId xmlns:a16="http://schemas.microsoft.com/office/drawing/2014/main" id="{15C22620-3575-4657-94EA-C8AE13AA3042}"/>
              </a:ext>
              <a:ext uri="{C183D7F6-B498-43B3-948B-1728B52AA6E4}">
                <adec:decorative xmlns:adec="http://schemas.microsoft.com/office/drawing/2017/decorative" val="0"/>
              </a:ext>
            </a:extLst>
          </p:cNvPr>
          <p:cNvSpPr>
            <a:spLocks noGrp="1"/>
          </p:cNvSpPr>
          <p:nvPr>
            <p:ph type="subTitle" idx="2"/>
          </p:nvPr>
        </p:nvSpPr>
        <p:spPr>
          <a:xfrm>
            <a:off x="2891117" y="3064934"/>
            <a:ext cx="3361765" cy="508232"/>
          </a:xfrm>
        </p:spPr>
        <p:txBody>
          <a:bodyPr/>
          <a:lstStyle/>
          <a:p>
            <a:pPr algn="ctr"/>
            <a:r>
              <a:rPr lang="en-US" sz="1200" b="0" dirty="0">
                <a:solidFill>
                  <a:schemeClr val="accent6"/>
                </a:solidFill>
                <a:latin typeface="Verdana Pro" panose="020B0604030504040204" pitchFamily="34" charset="0"/>
              </a:rPr>
              <a:t>Parent Guide to Transition Planning</a:t>
            </a:r>
          </a:p>
          <a:p>
            <a:pPr algn="ctr"/>
            <a:r>
              <a:rPr lang="en-US" sz="1200" b="0" dirty="0">
                <a:solidFill>
                  <a:schemeClr val="accent6"/>
                </a:solidFill>
                <a:latin typeface="Verdana Pro" panose="020B0604030504040204" pitchFamily="34" charset="0"/>
              </a:rPr>
              <a:t>Tinyurl.com/</a:t>
            </a:r>
            <a:r>
              <a:rPr lang="en-US" sz="1200" b="0" dirty="0" err="1">
                <a:solidFill>
                  <a:schemeClr val="accent6"/>
                </a:solidFill>
                <a:latin typeface="Verdana Pro" panose="020B0604030504040204" pitchFamily="34" charset="0"/>
              </a:rPr>
              <a:t>ITPparentguide</a:t>
            </a:r>
            <a:endParaRPr lang="en-US" sz="1200" b="0" dirty="0">
              <a:solidFill>
                <a:schemeClr val="accent6"/>
              </a:solidFill>
              <a:latin typeface="Verdana Pro" panose="020B0604030504040204" pitchFamily="34" charset="0"/>
            </a:endParaRPr>
          </a:p>
        </p:txBody>
      </p:sp>
      <p:pic>
        <p:nvPicPr>
          <p:cNvPr id="11" name="Picture 10" descr="A qr code for https://tinyurl.com/ITPparentguide">
            <a:extLst>
              <a:ext uri="{FF2B5EF4-FFF2-40B4-BE49-F238E27FC236}">
                <a16:creationId xmlns:a16="http://schemas.microsoft.com/office/drawing/2014/main" id="{B930501B-B414-6BE3-3B3B-C47E6D254C6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075419" y="3640667"/>
            <a:ext cx="1143077" cy="1143077"/>
          </a:xfrm>
          <a:prstGeom prst="rect">
            <a:avLst/>
          </a:prstGeom>
        </p:spPr>
      </p:pic>
      <p:sp>
        <p:nvSpPr>
          <p:cNvPr id="755" name="Google Shape;755;p81"/>
          <p:cNvSpPr txBox="1">
            <a:spLocks noGrp="1"/>
          </p:cNvSpPr>
          <p:nvPr>
            <p:ph type="subTitle" idx="3"/>
          </p:nvPr>
        </p:nvSpPr>
        <p:spPr>
          <a:xfrm>
            <a:off x="5963380" y="3257372"/>
            <a:ext cx="2949388" cy="33601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200" b="0" dirty="0">
                <a:solidFill>
                  <a:schemeClr val="accent6"/>
                </a:solidFill>
                <a:latin typeface="Verdana Pro" panose="020B0604030504040204" pitchFamily="34" charset="0"/>
              </a:rPr>
              <a:t>The ABC’s of Transitionansition Resource</a:t>
            </a:r>
          </a:p>
          <a:p>
            <a:pPr marL="0" lvl="0" indent="0" algn="ctr" rtl="0">
              <a:spcBef>
                <a:spcPts val="0"/>
              </a:spcBef>
              <a:spcAft>
                <a:spcPts val="0"/>
              </a:spcAft>
              <a:buNone/>
            </a:pPr>
            <a:r>
              <a:rPr lang="en-US" sz="1200" b="0" dirty="0">
                <a:solidFill>
                  <a:schemeClr val="accent6"/>
                </a:solidFill>
                <a:latin typeface="Verdana Pro" panose="020B0604030504040204" pitchFamily="34" charset="0"/>
              </a:rPr>
              <a:t>T</a:t>
            </a:r>
            <a:r>
              <a:rPr lang="en" sz="1200" b="0" dirty="0">
                <a:solidFill>
                  <a:schemeClr val="accent6"/>
                </a:solidFill>
                <a:latin typeface="Verdana Pro" panose="020B0604030504040204" pitchFamily="34" charset="0"/>
              </a:rPr>
              <a:t>inyurl.com/TR4parents</a:t>
            </a:r>
          </a:p>
          <a:p>
            <a:pPr marL="0" lvl="0" indent="0" algn="ctr" rtl="0">
              <a:spcBef>
                <a:spcPts val="0"/>
              </a:spcBef>
              <a:spcAft>
                <a:spcPts val="0"/>
              </a:spcAft>
              <a:buNone/>
            </a:pPr>
            <a:endParaRPr sz="1200" dirty="0">
              <a:solidFill>
                <a:schemeClr val="accent6"/>
              </a:solidFill>
              <a:latin typeface="Verdana Pro" panose="020B0604030504040204" pitchFamily="34" charset="0"/>
            </a:endParaRPr>
          </a:p>
        </p:txBody>
      </p:sp>
      <p:pic>
        <p:nvPicPr>
          <p:cNvPr id="21" name="Picture 20" descr="A qr code for https://tinyurl.com/TR4parents">
            <a:extLst>
              <a:ext uri="{FF2B5EF4-FFF2-40B4-BE49-F238E27FC236}">
                <a16:creationId xmlns:a16="http://schemas.microsoft.com/office/drawing/2014/main" id="{83E95B1F-2F5D-FA06-1C3F-7AAEA827AAD8}"/>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750086" y="3707084"/>
            <a:ext cx="1060669" cy="1060669"/>
          </a:xfrm>
          <a:prstGeom prst="rect">
            <a:avLst/>
          </a:prstGeom>
        </p:spPr>
      </p:pic>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4394B62-AB35-0E5C-F0A7-D8A656AED35F}"/>
              </a:ext>
            </a:extLst>
          </p:cNvPr>
          <p:cNvSpPr>
            <a:spLocks noGrp="1"/>
          </p:cNvSpPr>
          <p:nvPr>
            <p:ph type="title"/>
          </p:nvPr>
        </p:nvSpPr>
        <p:spPr/>
        <p:txBody>
          <a:bodyPr anchor="ctr">
            <a:normAutofit/>
          </a:bodyPr>
          <a:lstStyle/>
          <a:p>
            <a:r>
              <a:rPr lang="en-US" dirty="0"/>
              <a:t>Parent Center Hub</a:t>
            </a:r>
          </a:p>
        </p:txBody>
      </p:sp>
      <p:sp>
        <p:nvSpPr>
          <p:cNvPr id="4" name="Rectangle 1">
            <a:extLst>
              <a:ext uri="{FF2B5EF4-FFF2-40B4-BE49-F238E27FC236}">
                <a16:creationId xmlns:a16="http://schemas.microsoft.com/office/drawing/2014/main" id="{0D34D30B-F257-742A-DF4A-A63AB102F135}"/>
              </a:ext>
            </a:extLst>
          </p:cNvPr>
          <p:cNvSpPr>
            <a:spLocks noGrp="1" noChangeArrowheads="1"/>
          </p:cNvSpPr>
          <p:nvPr>
            <p:ph sz="half" idx="1"/>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US" altLang="en-US" sz="1500"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Char char="•"/>
              <a:tabLst/>
            </a:pPr>
            <a:r>
              <a:rPr kumimoji="0" lang="en-US" altLang="en-US" sz="1500" b="0" i="0" u="none" strike="noStrike" cap="none" normalizeH="0" baseline="0" dirty="0">
                <a:ln>
                  <a:noFill/>
                </a:ln>
                <a:effectLst/>
              </a:rPr>
              <a:t>Center for Parent Information and Resources </a:t>
            </a:r>
          </a:p>
          <a:p>
            <a:pPr marL="0" marR="0" lvl="0" indent="0" defTabSz="914400" rtl="0" eaLnBrk="0" fontAlgn="base" latinLnBrk="0" hangingPunct="0">
              <a:spcBef>
                <a:spcPct val="0"/>
              </a:spcBef>
              <a:spcAft>
                <a:spcPts val="600"/>
              </a:spcAft>
              <a:buClrTx/>
              <a:buSzTx/>
              <a:buFontTx/>
              <a:buChar char="•"/>
              <a:tabLst/>
            </a:pPr>
            <a:r>
              <a:rPr kumimoji="0" lang="en-US" altLang="en-US" sz="1500" b="0" i="0" u="none" strike="noStrike" cap="none" normalizeH="0" baseline="0" dirty="0">
                <a:ln>
                  <a:noFill/>
                </a:ln>
                <a:effectLst/>
              </a:rPr>
              <a:t>Available in English and Spanish </a:t>
            </a:r>
          </a:p>
          <a:p>
            <a:pPr marL="0" marR="0" lvl="0" indent="0" defTabSz="914400" rtl="0" eaLnBrk="0" fontAlgn="base" latinLnBrk="0" hangingPunct="0">
              <a:spcBef>
                <a:spcPct val="0"/>
              </a:spcBef>
              <a:spcAft>
                <a:spcPts val="600"/>
              </a:spcAft>
              <a:buClrTx/>
              <a:buSzTx/>
              <a:buFontTx/>
              <a:buChar char="•"/>
              <a:tabLst/>
            </a:pPr>
            <a:r>
              <a:rPr kumimoji="0" lang="en-US" altLang="en-US" sz="1500" b="0" i="0" u="none" strike="noStrike" cap="none" normalizeH="0" baseline="0" dirty="0">
                <a:ln>
                  <a:noFill/>
                </a:ln>
                <a:effectLst/>
              </a:rPr>
              <a:t>Covers: </a:t>
            </a:r>
          </a:p>
          <a:p>
            <a:pPr marL="342900" lvl="1" indent="0" defTabSz="914400" eaLnBrk="0" fontAlgn="base" hangingPunct="0">
              <a:spcBef>
                <a:spcPct val="0"/>
              </a:spcBef>
              <a:spcAft>
                <a:spcPts val="600"/>
              </a:spcAft>
              <a:buFontTx/>
              <a:buChar char="•"/>
            </a:pPr>
            <a:r>
              <a:rPr kumimoji="0" lang="en-US" altLang="en-US" sz="1200" b="0" i="0" u="none" strike="noStrike" cap="none" normalizeH="0" baseline="0" dirty="0">
                <a:ln>
                  <a:noFill/>
                </a:ln>
                <a:effectLst/>
              </a:rPr>
              <a:t>Why life is full of transitions </a:t>
            </a:r>
          </a:p>
          <a:p>
            <a:pPr marL="342900" lvl="1" indent="0" defTabSz="914400" eaLnBrk="0" fontAlgn="base" hangingPunct="0">
              <a:spcBef>
                <a:spcPct val="0"/>
              </a:spcBef>
              <a:spcAft>
                <a:spcPts val="600"/>
              </a:spcAft>
              <a:buFontTx/>
              <a:buChar char="•"/>
            </a:pPr>
            <a:r>
              <a:rPr kumimoji="0" lang="en-US" altLang="en-US" sz="1200" b="0" i="0" u="none" strike="noStrike" cap="none" normalizeH="0" baseline="0" dirty="0">
                <a:ln>
                  <a:noFill/>
                </a:ln>
                <a:effectLst/>
              </a:rPr>
              <a:t>IDEA definition of transition </a:t>
            </a:r>
          </a:p>
          <a:p>
            <a:pPr marL="342900" lvl="1" indent="0" defTabSz="914400" eaLnBrk="0" fontAlgn="base" hangingPunct="0">
              <a:spcBef>
                <a:spcPct val="0"/>
              </a:spcBef>
              <a:spcAft>
                <a:spcPts val="600"/>
              </a:spcAft>
              <a:buFontTx/>
              <a:buChar char="•"/>
            </a:pPr>
            <a:r>
              <a:rPr kumimoji="0" lang="en-US" altLang="en-US" sz="1200" b="0" i="0" u="none" strike="noStrike" cap="none" normalizeH="0" baseline="0" dirty="0">
                <a:ln>
                  <a:noFill/>
                </a:ln>
                <a:effectLst/>
              </a:rPr>
              <a:t>Students at the heart of transition </a:t>
            </a:r>
          </a:p>
          <a:p>
            <a:pPr marL="342900" lvl="1" indent="0" defTabSz="914400" eaLnBrk="0" fontAlgn="base" hangingPunct="0">
              <a:spcBef>
                <a:spcPct val="0"/>
              </a:spcBef>
              <a:spcAft>
                <a:spcPts val="600"/>
              </a:spcAft>
              <a:buFontTx/>
              <a:buChar char="•"/>
            </a:pPr>
            <a:r>
              <a:rPr kumimoji="0" lang="en-US" altLang="en-US" sz="1200" b="0" i="0" u="none" strike="noStrike" cap="none" normalizeH="0" baseline="0" dirty="0">
                <a:ln>
                  <a:noFill/>
                </a:ln>
                <a:effectLst/>
              </a:rPr>
              <a:t>What transition services include </a:t>
            </a:r>
          </a:p>
          <a:p>
            <a:pPr marL="342900" lvl="1" indent="0" defTabSz="914400" eaLnBrk="0" fontAlgn="base" hangingPunct="0">
              <a:spcBef>
                <a:spcPct val="0"/>
              </a:spcBef>
              <a:spcAft>
                <a:spcPts val="600"/>
              </a:spcAft>
              <a:buFontTx/>
              <a:buChar char="•"/>
            </a:pPr>
            <a:r>
              <a:rPr kumimoji="0" lang="en-US" altLang="en-US" sz="1200" b="0" i="0" u="none" strike="noStrike" cap="none" normalizeH="0" baseline="0" dirty="0">
                <a:ln>
                  <a:noFill/>
                </a:ln>
                <a:effectLst/>
              </a:rPr>
              <a:t>The five domains of adult life </a:t>
            </a:r>
          </a:p>
          <a:p>
            <a:pPr marL="342900" lvl="1" indent="0" defTabSz="914400" eaLnBrk="0" fontAlgn="base" hangingPunct="0">
              <a:spcBef>
                <a:spcPct val="0"/>
              </a:spcBef>
              <a:spcAft>
                <a:spcPts val="600"/>
              </a:spcAft>
              <a:buFontTx/>
              <a:buChar char="•"/>
            </a:pPr>
            <a:r>
              <a:rPr kumimoji="0" lang="en-US" altLang="en-US" sz="1200" b="0" i="0" u="none" strike="noStrike" cap="none" normalizeH="0" baseline="0" dirty="0">
                <a:ln>
                  <a:noFill/>
                </a:ln>
                <a:effectLst/>
              </a:rPr>
              <a:t>Activities families can do at home</a:t>
            </a:r>
          </a:p>
          <a:p>
            <a:pPr marL="0" marR="0" lvl="0" indent="0" defTabSz="914400" rtl="0" eaLnBrk="0" fontAlgn="base" latinLnBrk="0" hangingPunct="0">
              <a:spcBef>
                <a:spcPct val="0"/>
              </a:spcBef>
              <a:spcAft>
                <a:spcPts val="600"/>
              </a:spcAft>
              <a:buClrTx/>
              <a:buSzTx/>
              <a:buFontTx/>
              <a:buNone/>
              <a:tabLst/>
            </a:pPr>
            <a:endParaRPr kumimoji="0" lang="en-US" altLang="en-US" sz="1500" b="0" i="0" u="none" strike="noStrike" cap="none" normalizeH="0" baseline="0" dirty="0">
              <a:ln>
                <a:noFill/>
              </a:ln>
              <a:effectLst/>
            </a:endParaRPr>
          </a:p>
        </p:txBody>
      </p:sp>
      <p:pic>
        <p:nvPicPr>
          <p:cNvPr id="6" name="Content Placeholder 5" descr="Center for Parent Information &amp; Resources Logo">
            <a:extLst>
              <a:ext uri="{FF2B5EF4-FFF2-40B4-BE49-F238E27FC236}">
                <a16:creationId xmlns:a16="http://schemas.microsoft.com/office/drawing/2014/main" id="{41970875-5753-6640-C537-EE552FB3F257}"/>
              </a:ext>
            </a:extLst>
          </p:cNvPr>
          <p:cNvPicPr>
            <a:picLocks noGrp="1" noChangeAspect="1"/>
          </p:cNvPicPr>
          <p:nvPr>
            <p:ph sz="half" idx="2"/>
          </p:nvPr>
        </p:nvPicPr>
        <p:blipFill>
          <a:blip r:embed="rId3" cstate="email">
            <a:extLst>
              <a:ext uri="{28A0092B-C50C-407E-A947-70E740481C1C}">
                <a14:useLocalDpi xmlns:a14="http://schemas.microsoft.com/office/drawing/2010/main"/>
              </a:ext>
            </a:extLst>
          </a:blip>
          <a:stretch>
            <a:fillRect/>
          </a:stretch>
        </p:blipFill>
        <p:spPr>
          <a:xfrm>
            <a:off x="4445082" y="1512863"/>
            <a:ext cx="3886200" cy="1812830"/>
          </a:xfrm>
        </p:spPr>
      </p:pic>
    </p:spTree>
    <p:extLst>
      <p:ext uri="{BB962C8B-B14F-4D97-AF65-F5344CB8AC3E}">
        <p14:creationId xmlns:p14="http://schemas.microsoft.com/office/powerpoint/2010/main" val="1316296510"/>
      </p:ext>
    </p:extLst>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150C8-CFA0-872F-1196-9DA1723231ED}"/>
              </a:ext>
            </a:extLst>
          </p:cNvPr>
          <p:cNvSpPr>
            <a:spLocks noGrp="1"/>
          </p:cNvSpPr>
          <p:nvPr>
            <p:ph type="title"/>
          </p:nvPr>
        </p:nvSpPr>
        <p:spPr>
          <a:xfrm>
            <a:off x="628650" y="471067"/>
            <a:ext cx="7886700" cy="994172"/>
          </a:xfrm>
        </p:spPr>
        <p:txBody>
          <a:bodyPr>
            <a:normAutofit fontScale="90000"/>
          </a:bodyPr>
          <a:lstStyle/>
          <a:p>
            <a:r>
              <a:rPr lang="en-US" dirty="0"/>
              <a:t>Pacer National Parent Center</a:t>
            </a:r>
            <a:br>
              <a:rPr lang="en-US" dirty="0"/>
            </a:br>
            <a:r>
              <a:rPr lang="en-US" altLang="en-US" sz="2200" dirty="0">
                <a:solidFill>
                  <a:schemeClr val="tx1"/>
                </a:solidFill>
                <a:latin typeface="Arial" panose="020B0604020202020204" pitchFamily="34" charset="0"/>
              </a:rPr>
              <a:t>Learning center focused on middle school and high school transition </a:t>
            </a:r>
            <a:br>
              <a:rPr lang="en-US" altLang="en-US" sz="3600" dirty="0">
                <a:solidFill>
                  <a:schemeClr val="tx1"/>
                </a:solidFill>
                <a:latin typeface="Arial" panose="020B0604020202020204" pitchFamily="34" charset="0"/>
              </a:rPr>
            </a:br>
            <a:endParaRPr lang="en-US" dirty="0"/>
          </a:p>
        </p:txBody>
      </p:sp>
      <p:sp>
        <p:nvSpPr>
          <p:cNvPr id="5" name="Rectangle 1">
            <a:extLst>
              <a:ext uri="{FF2B5EF4-FFF2-40B4-BE49-F238E27FC236}">
                <a16:creationId xmlns:a16="http://schemas.microsoft.com/office/drawing/2014/main" id="{43E63CCB-C123-D67C-BBB9-6975CF85A30D}"/>
              </a:ext>
            </a:extLst>
          </p:cNvPr>
          <p:cNvSpPr>
            <a:spLocks noGrp="1" noChangeArrowheads="1"/>
          </p:cNvSpPr>
          <p:nvPr>
            <p:ph sz="half" idx="1"/>
          </p:nvPr>
        </p:nvSpPr>
        <p:spPr bwMode="auto">
          <a:xfrm>
            <a:off x="409014" y="1784717"/>
            <a:ext cx="365199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Topics include: </a:t>
            </a:r>
          </a:p>
          <a:p>
            <a:pPr marL="342900" lvl="1" indent="0" defTabSz="914400" eaLnBrk="0" fontAlgn="base" hangingPunct="0">
              <a:lnSpc>
                <a:spcPct val="100000"/>
              </a:lnSpc>
              <a:spcBef>
                <a:spcPct val="0"/>
              </a:spcBef>
              <a:spcAft>
                <a:spcPct val="0"/>
              </a:spcAft>
              <a:buFontTx/>
              <a:buChar char="•"/>
            </a:pPr>
            <a:r>
              <a:rPr kumimoji="0" lang="en-US" altLang="en-US" sz="1500" b="0" i="0" u="none" strike="noStrike" cap="none" normalizeH="0" baseline="0" dirty="0">
                <a:ln>
                  <a:noFill/>
                </a:ln>
                <a:solidFill>
                  <a:schemeClr val="tx1"/>
                </a:solidFill>
                <a:effectLst/>
                <a:latin typeface="Arial" panose="020B0604020202020204" pitchFamily="34" charset="0"/>
              </a:rPr>
              <a:t>Understanding IDEA and IEPs </a:t>
            </a:r>
          </a:p>
          <a:p>
            <a:pPr marL="342900" lvl="1" indent="0" defTabSz="914400" eaLnBrk="0" fontAlgn="base" hangingPunct="0">
              <a:lnSpc>
                <a:spcPct val="100000"/>
              </a:lnSpc>
              <a:spcBef>
                <a:spcPct val="0"/>
              </a:spcBef>
              <a:spcAft>
                <a:spcPct val="0"/>
              </a:spcAft>
              <a:buFontTx/>
              <a:buChar char="•"/>
            </a:pPr>
            <a:r>
              <a:rPr kumimoji="0" lang="en-US" altLang="en-US" sz="1500" b="0" i="0" u="none" strike="noStrike" cap="none" normalizeH="0" baseline="0" dirty="0">
                <a:ln>
                  <a:noFill/>
                </a:ln>
                <a:solidFill>
                  <a:schemeClr val="tx1"/>
                </a:solidFill>
                <a:effectLst/>
                <a:latin typeface="Arial" panose="020B0604020202020204" pitchFamily="34" charset="0"/>
              </a:rPr>
              <a:t>How to support your child's IEP team </a:t>
            </a:r>
          </a:p>
          <a:p>
            <a:pPr marL="342900" lvl="1" indent="0" defTabSz="914400" eaLnBrk="0" fontAlgn="base" hangingPunct="0">
              <a:lnSpc>
                <a:spcPct val="100000"/>
              </a:lnSpc>
              <a:spcBef>
                <a:spcPct val="0"/>
              </a:spcBef>
              <a:spcAft>
                <a:spcPct val="0"/>
              </a:spcAft>
              <a:buFontTx/>
              <a:buChar char="•"/>
            </a:pPr>
            <a:r>
              <a:rPr kumimoji="0" lang="en-US" altLang="en-US" sz="1500" b="0" i="0" u="none" strike="noStrike" cap="none" normalizeH="0" baseline="0" dirty="0">
                <a:ln>
                  <a:noFill/>
                </a:ln>
                <a:solidFill>
                  <a:schemeClr val="tx1"/>
                </a:solidFill>
                <a:effectLst/>
                <a:latin typeface="Arial" panose="020B0604020202020204" pitchFamily="34" charset="0"/>
              </a:rPr>
              <a:t>Preparing and planning for college </a:t>
            </a:r>
          </a:p>
          <a:p>
            <a:pPr marL="342900" lvl="1" indent="0" defTabSz="914400" eaLnBrk="0" fontAlgn="base" hangingPunct="0">
              <a:lnSpc>
                <a:spcPct val="100000"/>
              </a:lnSpc>
              <a:spcBef>
                <a:spcPct val="0"/>
              </a:spcBef>
              <a:spcAft>
                <a:spcPct val="0"/>
              </a:spcAft>
              <a:buFontTx/>
              <a:buChar char="•"/>
            </a:pPr>
            <a:r>
              <a:rPr kumimoji="0" lang="en-US" altLang="en-US" sz="1500" b="0" i="0" u="none" strike="noStrike" cap="none" normalizeH="0" baseline="0" dirty="0">
                <a:ln>
                  <a:noFill/>
                </a:ln>
                <a:solidFill>
                  <a:schemeClr val="tx1"/>
                </a:solidFill>
                <a:effectLst/>
                <a:latin typeface="Arial" panose="020B0604020202020204" pitchFamily="34" charset="0"/>
              </a:rPr>
              <a:t>Employment options </a:t>
            </a:r>
          </a:p>
          <a:p>
            <a:pPr marL="342900" lvl="1" indent="0" defTabSz="914400" eaLnBrk="0" fontAlgn="base" hangingPunct="0">
              <a:lnSpc>
                <a:spcPct val="100000"/>
              </a:lnSpc>
              <a:spcBef>
                <a:spcPct val="0"/>
              </a:spcBef>
              <a:spcAft>
                <a:spcPct val="0"/>
              </a:spcAft>
              <a:buFontTx/>
              <a:buChar char="•"/>
            </a:pPr>
            <a:r>
              <a:rPr kumimoji="0" lang="en-US" altLang="en-US" sz="1500" b="0" i="0" u="none" strike="noStrike" cap="none" normalizeH="0" baseline="0" dirty="0">
                <a:ln>
                  <a:noFill/>
                </a:ln>
                <a:solidFill>
                  <a:schemeClr val="tx1"/>
                </a:solidFill>
                <a:effectLst/>
                <a:latin typeface="Arial" panose="020B0604020202020204" pitchFamily="34" charset="0"/>
              </a:rPr>
              <a:t>Post-secondary education options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Content Placeholder 6" descr="Pacer Center Logo">
            <a:extLst>
              <a:ext uri="{FF2B5EF4-FFF2-40B4-BE49-F238E27FC236}">
                <a16:creationId xmlns:a16="http://schemas.microsoft.com/office/drawing/2014/main" id="{1E296333-CF84-E974-74D0-92E0C77BC320}"/>
              </a:ext>
            </a:extLst>
          </p:cNvPr>
          <p:cNvPicPr>
            <a:picLocks noGrp="1" noChangeAspect="1"/>
          </p:cNvPicPr>
          <p:nvPr>
            <p:ph sz="half" idx="2"/>
          </p:nvPr>
        </p:nvPicPr>
        <p:blipFill>
          <a:blip r:embed="rId3" cstate="email">
            <a:extLst>
              <a:ext uri="{28A0092B-C50C-407E-A947-70E740481C1C}">
                <a14:useLocalDpi xmlns:a14="http://schemas.microsoft.com/office/drawing/2010/main"/>
              </a:ext>
            </a:extLst>
          </a:blip>
          <a:stretch>
            <a:fillRect/>
          </a:stretch>
        </p:blipFill>
        <p:spPr>
          <a:xfrm>
            <a:off x="4732244" y="2209302"/>
            <a:ext cx="3886200" cy="589406"/>
          </a:xfrm>
        </p:spPr>
      </p:pic>
    </p:spTree>
    <p:extLst>
      <p:ext uri="{BB962C8B-B14F-4D97-AF65-F5344CB8AC3E}">
        <p14:creationId xmlns:p14="http://schemas.microsoft.com/office/powerpoint/2010/main" val="1811848133"/>
      </p:ext>
    </p:extLst>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980D6-2158-BB0D-39CB-51463CDC13AC}"/>
              </a:ext>
            </a:extLst>
          </p:cNvPr>
          <p:cNvSpPr>
            <a:spLocks noGrp="1"/>
          </p:cNvSpPr>
          <p:nvPr>
            <p:ph type="title"/>
          </p:nvPr>
        </p:nvSpPr>
        <p:spPr/>
        <p:txBody>
          <a:bodyPr/>
          <a:lstStyle/>
          <a:p>
            <a:r>
              <a:rPr lang="en-US" dirty="0"/>
              <a:t>Parent Guide to Transition Planning</a:t>
            </a:r>
          </a:p>
        </p:txBody>
      </p:sp>
      <p:sp>
        <p:nvSpPr>
          <p:cNvPr id="5" name="Rectangle 1">
            <a:extLst>
              <a:ext uri="{FF2B5EF4-FFF2-40B4-BE49-F238E27FC236}">
                <a16:creationId xmlns:a16="http://schemas.microsoft.com/office/drawing/2014/main" id="{FC01133B-D98C-B05B-F069-14ECA226AE6F}"/>
              </a:ext>
            </a:extLst>
          </p:cNvPr>
          <p:cNvSpPr>
            <a:spLocks noGrp="1" noChangeArrowheads="1"/>
          </p:cNvSpPr>
          <p:nvPr>
            <p:ph sz="half" idx="1"/>
          </p:nvPr>
        </p:nvSpPr>
        <p:spPr bwMode="auto">
          <a:xfrm>
            <a:off x="628650" y="1408228"/>
            <a:ext cx="4198457" cy="318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PDF format - easy to print or email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Content includes: </a:t>
            </a:r>
          </a:p>
          <a:p>
            <a:pPr marL="342900" lvl="1" indent="0" defTabSz="914400" eaLnBrk="0" fontAlgn="base" hangingPunct="0">
              <a:lnSpc>
                <a:spcPct val="100000"/>
              </a:lnSpc>
              <a:spcBef>
                <a:spcPct val="0"/>
              </a:spcBef>
              <a:spcAft>
                <a:spcPct val="0"/>
              </a:spcAft>
              <a:buFontTx/>
              <a:buChar char="•"/>
            </a:pPr>
            <a:r>
              <a:rPr kumimoji="0" lang="en-US" altLang="en-US" sz="1500" b="0" i="0" u="none" strike="noStrike" cap="none" normalizeH="0" baseline="0" dirty="0">
                <a:ln>
                  <a:noFill/>
                </a:ln>
                <a:solidFill>
                  <a:schemeClr val="tx1"/>
                </a:solidFill>
                <a:effectLst/>
                <a:latin typeface="Arial" panose="020B0604020202020204" pitchFamily="34" charset="0"/>
              </a:rPr>
              <a:t>What is transition planning for ALL youth? </a:t>
            </a:r>
          </a:p>
          <a:p>
            <a:pPr marL="342900" lvl="1" indent="0" defTabSz="914400" eaLnBrk="0" fontAlgn="base" hangingPunct="0">
              <a:lnSpc>
                <a:spcPct val="100000"/>
              </a:lnSpc>
              <a:spcBef>
                <a:spcPct val="0"/>
              </a:spcBef>
              <a:spcAft>
                <a:spcPct val="0"/>
              </a:spcAft>
              <a:buFontTx/>
              <a:buChar char="•"/>
            </a:pPr>
            <a:r>
              <a:rPr kumimoji="0" lang="en-US" altLang="en-US" sz="1500" b="0" i="0" u="none" strike="noStrike" cap="none" normalizeH="0" baseline="0" dirty="0">
                <a:ln>
                  <a:noFill/>
                </a:ln>
                <a:solidFill>
                  <a:schemeClr val="tx1"/>
                </a:solidFill>
                <a:effectLst/>
                <a:latin typeface="Arial" panose="020B0604020202020204" pitchFamily="34" charset="0"/>
              </a:rPr>
              <a:t>Addressing common parent concerns </a:t>
            </a:r>
          </a:p>
          <a:p>
            <a:pPr marL="342900" lvl="1" indent="0" defTabSz="914400" eaLnBrk="0" fontAlgn="base" hangingPunct="0">
              <a:lnSpc>
                <a:spcPct val="100000"/>
              </a:lnSpc>
              <a:spcBef>
                <a:spcPct val="0"/>
              </a:spcBef>
              <a:spcAft>
                <a:spcPct val="0"/>
              </a:spcAft>
              <a:buFontTx/>
              <a:buChar char="•"/>
            </a:pPr>
            <a:r>
              <a:rPr kumimoji="0" lang="en-US" altLang="en-US" sz="1500" b="0" i="0" u="none" strike="noStrike" cap="none" normalizeH="0" baseline="0" dirty="0">
                <a:ln>
                  <a:noFill/>
                </a:ln>
                <a:solidFill>
                  <a:schemeClr val="tx1"/>
                </a:solidFill>
                <a:effectLst/>
                <a:latin typeface="Arial" panose="020B0604020202020204" pitchFamily="34" charset="0"/>
              </a:rPr>
              <a:t>The four domains: </a:t>
            </a:r>
          </a:p>
          <a:p>
            <a:pPr marL="685800" lvl="2" indent="0" defTabSz="914400" eaLnBrk="0" fontAlgn="base" hangingPunct="0">
              <a:lnSpc>
                <a:spcPct val="100000"/>
              </a:lnSpc>
              <a:spcBef>
                <a:spcPct val="0"/>
              </a:spcBef>
              <a:spcAft>
                <a:spcPct val="0"/>
              </a:spcAft>
              <a:buFontTx/>
              <a:buChar char="•"/>
            </a:pPr>
            <a:r>
              <a:rPr kumimoji="0" lang="en-US" altLang="en-US" sz="1200" b="0" i="0" u="none" strike="noStrike" cap="none" normalizeH="0" baseline="0" dirty="0">
                <a:ln>
                  <a:noFill/>
                </a:ln>
                <a:solidFill>
                  <a:schemeClr val="tx1"/>
                </a:solidFill>
                <a:effectLst/>
                <a:latin typeface="Arial" panose="020B0604020202020204" pitchFamily="34" charset="0"/>
              </a:rPr>
              <a:t>Education</a:t>
            </a:r>
            <a:endParaRPr lang="en-US" altLang="en-US" sz="1200" dirty="0">
              <a:solidFill>
                <a:schemeClr val="tx1"/>
              </a:solidFill>
              <a:latin typeface="Arial" panose="020B0604020202020204" pitchFamily="34" charset="0"/>
            </a:endParaRPr>
          </a:p>
          <a:p>
            <a:pPr marL="685800" lvl="2" indent="0" defTabSz="914400" eaLnBrk="0" fontAlgn="base" hangingPunct="0">
              <a:lnSpc>
                <a:spcPct val="100000"/>
              </a:lnSpc>
              <a:spcBef>
                <a:spcPct val="0"/>
              </a:spcBef>
              <a:spcAft>
                <a:spcPct val="0"/>
              </a:spcAft>
              <a:buFontTx/>
              <a:buChar char="•"/>
            </a:pPr>
            <a:r>
              <a:rPr kumimoji="0" lang="en-US" altLang="en-US" sz="1200" b="0" i="0" u="none" strike="noStrike" cap="none" normalizeH="0" baseline="0" dirty="0">
                <a:ln>
                  <a:noFill/>
                </a:ln>
                <a:solidFill>
                  <a:schemeClr val="tx1"/>
                </a:solidFill>
                <a:effectLst/>
                <a:latin typeface="Arial" panose="020B0604020202020204" pitchFamily="34" charset="0"/>
              </a:rPr>
              <a:t> Employment</a:t>
            </a:r>
          </a:p>
          <a:p>
            <a:pPr marL="685800" lvl="2" indent="0" defTabSz="914400" eaLnBrk="0" fontAlgn="base" hangingPunct="0">
              <a:lnSpc>
                <a:spcPct val="100000"/>
              </a:lnSpc>
              <a:spcBef>
                <a:spcPct val="0"/>
              </a:spcBef>
              <a:spcAft>
                <a:spcPct val="0"/>
              </a:spcAft>
              <a:buFontTx/>
              <a:buChar char="•"/>
            </a:pPr>
            <a:r>
              <a:rPr kumimoji="0" lang="en-US" altLang="en-US" sz="1200" b="0" i="0" u="none" strike="noStrike" cap="none" normalizeH="0" baseline="0" dirty="0">
                <a:ln>
                  <a:noFill/>
                </a:ln>
                <a:solidFill>
                  <a:schemeClr val="tx1"/>
                </a:solidFill>
                <a:effectLst/>
                <a:latin typeface="Arial" panose="020B0604020202020204" pitchFamily="34" charset="0"/>
              </a:rPr>
              <a:t> Community Participation</a:t>
            </a:r>
          </a:p>
          <a:p>
            <a:pPr marL="685800" lvl="2" indent="0" defTabSz="914400" eaLnBrk="0" fontAlgn="base" hangingPunct="0">
              <a:lnSpc>
                <a:spcPct val="100000"/>
              </a:lnSpc>
              <a:spcBef>
                <a:spcPct val="0"/>
              </a:spcBef>
              <a:spcAft>
                <a:spcPct val="0"/>
              </a:spcAft>
              <a:buFontTx/>
              <a:buChar char="•"/>
            </a:pPr>
            <a:r>
              <a:rPr kumimoji="0" lang="en-US" altLang="en-US" sz="1200" b="0" i="0" u="none" strike="noStrike" cap="none" normalizeH="0" baseline="0" dirty="0">
                <a:ln>
                  <a:noFill/>
                </a:ln>
                <a:solidFill>
                  <a:schemeClr val="tx1"/>
                </a:solidFill>
                <a:effectLst/>
                <a:latin typeface="Arial" panose="020B0604020202020204" pitchFamily="34" charset="0"/>
              </a:rPr>
              <a:t> Independent Living </a:t>
            </a:r>
          </a:p>
          <a:p>
            <a:pPr marL="342900" lvl="1" indent="0" defTabSz="914400" eaLnBrk="0" fontAlgn="base" hangingPunct="0">
              <a:lnSpc>
                <a:spcPct val="100000"/>
              </a:lnSpc>
              <a:spcBef>
                <a:spcPct val="0"/>
              </a:spcBef>
              <a:spcAft>
                <a:spcPct val="0"/>
              </a:spcAft>
              <a:buFontTx/>
              <a:buChar char="•"/>
            </a:pPr>
            <a:r>
              <a:rPr kumimoji="0" lang="en-US" altLang="en-US" sz="1500" b="0" i="0" u="none" strike="noStrike" cap="none" normalizeH="0" baseline="0" dirty="0">
                <a:ln>
                  <a:noFill/>
                </a:ln>
                <a:solidFill>
                  <a:schemeClr val="tx1"/>
                </a:solidFill>
                <a:effectLst/>
                <a:latin typeface="Arial" panose="020B0604020202020204" pitchFamily="34" charset="0"/>
              </a:rPr>
              <a:t>The parent's role: </a:t>
            </a:r>
          </a:p>
          <a:p>
            <a:pPr marL="685800" lvl="2" indent="0" defTabSz="914400" eaLnBrk="0" fontAlgn="base" hangingPunct="0">
              <a:lnSpc>
                <a:spcPct val="100000"/>
              </a:lnSpc>
              <a:spcBef>
                <a:spcPct val="0"/>
              </a:spcBef>
              <a:spcAft>
                <a:spcPct val="0"/>
              </a:spcAft>
              <a:buFontTx/>
              <a:buChar char="•"/>
            </a:pPr>
            <a:r>
              <a:rPr kumimoji="0" lang="en-US" altLang="en-US" sz="1200" b="0" i="0" u="none" strike="noStrike" cap="none" normalizeH="0" baseline="0" dirty="0">
                <a:ln>
                  <a:noFill/>
                </a:ln>
                <a:solidFill>
                  <a:schemeClr val="tx1"/>
                </a:solidFill>
                <a:effectLst/>
                <a:latin typeface="Arial" panose="020B0604020202020204" pitchFamily="34" charset="0"/>
              </a:rPr>
              <a:t>Advocat</a:t>
            </a:r>
            <a:r>
              <a:rPr lang="en-US" altLang="en-US" sz="1200" dirty="0">
                <a:solidFill>
                  <a:schemeClr val="tx1"/>
                </a:solidFill>
                <a:latin typeface="Arial" panose="020B0604020202020204" pitchFamily="34" charset="0"/>
              </a:rPr>
              <a:t>e</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685800" lvl="2" indent="0" defTabSz="914400" eaLnBrk="0" fontAlgn="base" hangingPunct="0">
              <a:lnSpc>
                <a:spcPct val="100000"/>
              </a:lnSpc>
              <a:spcBef>
                <a:spcPct val="0"/>
              </a:spcBef>
              <a:spcAft>
                <a:spcPct val="0"/>
              </a:spcAft>
              <a:buFontTx/>
              <a:buChar char="•"/>
            </a:pPr>
            <a:r>
              <a:rPr kumimoji="0" lang="en-US" altLang="en-US" sz="1200" b="0" i="0" u="none" strike="noStrike" cap="none" normalizeH="0" baseline="0" dirty="0">
                <a:ln>
                  <a:noFill/>
                </a:ln>
                <a:solidFill>
                  <a:schemeClr val="tx1"/>
                </a:solidFill>
                <a:effectLst/>
                <a:latin typeface="Arial" panose="020B0604020202020204" pitchFamily="34" charset="0"/>
              </a:rPr>
              <a:t>Mentor</a:t>
            </a:r>
          </a:p>
          <a:p>
            <a:pPr marL="685800" lvl="2" indent="0" defTabSz="914400" eaLnBrk="0" fontAlgn="base" hangingPunct="0">
              <a:lnSpc>
                <a:spcPct val="100000"/>
              </a:lnSpc>
              <a:spcBef>
                <a:spcPct val="0"/>
              </a:spcBef>
              <a:spcAft>
                <a:spcPct val="0"/>
              </a:spcAft>
              <a:buFontTx/>
              <a:buChar char="•"/>
            </a:pPr>
            <a:r>
              <a:rPr kumimoji="0" lang="en-US" altLang="en-US" sz="1200" b="0" i="0" u="none" strike="noStrike" cap="none" normalizeH="0" baseline="0" dirty="0">
                <a:ln>
                  <a:noFill/>
                </a:ln>
                <a:solidFill>
                  <a:schemeClr val="tx1"/>
                </a:solidFill>
                <a:effectLst/>
                <a:latin typeface="Arial" panose="020B0604020202020204" pitchFamily="34" charset="0"/>
              </a:rPr>
              <a:t>Life Coach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Content Placeholder 6" descr="Screenshot of First Page of Transition Planning Ideas for Parents PDF. ">
            <a:extLst>
              <a:ext uri="{FF2B5EF4-FFF2-40B4-BE49-F238E27FC236}">
                <a16:creationId xmlns:a16="http://schemas.microsoft.com/office/drawing/2014/main" id="{B0746B84-9BD8-8D58-0E42-6FD0148E2F5F}"/>
              </a:ext>
            </a:extLst>
          </p:cNvPr>
          <p:cNvPicPr>
            <a:picLocks noGrp="1" noChangeAspect="1"/>
          </p:cNvPicPr>
          <p:nvPr>
            <p:ph sz="half" idx="2"/>
          </p:nvPr>
        </p:nvPicPr>
        <p:blipFill>
          <a:blip r:embed="rId3" cstate="email">
            <a:extLst>
              <a:ext uri="{28A0092B-C50C-407E-A947-70E740481C1C}">
                <a14:useLocalDpi xmlns:a14="http://schemas.microsoft.com/office/drawing/2010/main"/>
              </a:ext>
            </a:extLst>
          </a:blip>
          <a:stretch>
            <a:fillRect/>
          </a:stretch>
        </p:blipFill>
        <p:spPr>
          <a:xfrm>
            <a:off x="5101126" y="1370013"/>
            <a:ext cx="2942247" cy="3262312"/>
          </a:xfrm>
        </p:spPr>
      </p:pic>
    </p:spTree>
    <p:extLst>
      <p:ext uri="{BB962C8B-B14F-4D97-AF65-F5344CB8AC3E}">
        <p14:creationId xmlns:p14="http://schemas.microsoft.com/office/powerpoint/2010/main" val="2948056483"/>
      </p:ext>
    </p:extLst>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60DC7-2BD3-E1DF-75C2-CE0D3FBDBD1C}"/>
              </a:ext>
            </a:extLst>
          </p:cNvPr>
          <p:cNvSpPr>
            <a:spLocks noGrp="1"/>
          </p:cNvSpPr>
          <p:nvPr>
            <p:ph type="title"/>
          </p:nvPr>
        </p:nvSpPr>
        <p:spPr/>
        <p:txBody>
          <a:bodyPr/>
          <a:lstStyle/>
          <a:p>
            <a:r>
              <a:rPr lang="en-US" dirty="0"/>
              <a:t>Transition Resources for Parents</a:t>
            </a:r>
          </a:p>
        </p:txBody>
      </p:sp>
      <p:sp>
        <p:nvSpPr>
          <p:cNvPr id="9" name="Rectangle 4">
            <a:extLst>
              <a:ext uri="{FF2B5EF4-FFF2-40B4-BE49-F238E27FC236}">
                <a16:creationId xmlns:a16="http://schemas.microsoft.com/office/drawing/2014/main" id="{B23FDF80-7D95-A82E-57D7-E72439054D4A}"/>
              </a:ext>
            </a:extLst>
          </p:cNvPr>
          <p:cNvSpPr>
            <a:spLocks noGrp="1" noChangeArrowheads="1"/>
          </p:cNvSpPr>
          <p:nvPr>
            <p:ph sz="half" idx="1"/>
          </p:nvPr>
        </p:nvSpPr>
        <p:spPr bwMode="auto">
          <a:xfrm>
            <a:off x="628650" y="1492867"/>
            <a:ext cx="4815164"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Comprehensive NASET resource collection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b="0" i="0" u="none" strike="noStrike" cap="none" normalizeH="0" baseline="0" dirty="0">
                <a:ln>
                  <a:noFill/>
                </a:ln>
                <a:solidFill>
                  <a:schemeClr val="tx1"/>
                </a:solidFill>
                <a:effectLst/>
                <a:latin typeface="Arial" panose="020B0604020202020204" pitchFamily="34" charset="0"/>
              </a:rPr>
              <a:t>Two main sections: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The ABCs of Transition (foundational understanding)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Looking at Specific Aspects of Transition (detailed topics)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b="0" i="0" u="none" strike="noStrike" cap="none" normalizeH="0" baseline="0" dirty="0">
                <a:ln>
                  <a:noFill/>
                </a:ln>
                <a:solidFill>
                  <a:schemeClr val="tx1"/>
                </a:solidFill>
                <a:effectLst/>
                <a:latin typeface="Arial" panose="020B0604020202020204" pitchFamily="34" charset="0"/>
              </a:rPr>
              <a:t>Key areas covered: </a:t>
            </a:r>
          </a:p>
          <a:p>
            <a:pPr defTabSz="914400" eaLnBrk="0" fontAlgn="base" hangingPunct="0">
              <a:lnSpc>
                <a:spcPct val="100000"/>
              </a:lnSpc>
              <a:spcBef>
                <a:spcPct val="0"/>
              </a:spcBef>
              <a:spcAft>
                <a:spcPct val="0"/>
              </a:spcAft>
            </a:pPr>
            <a:r>
              <a:rPr kumimoji="0" lang="en-US" altLang="en-US" sz="1400" b="0" i="0" u="none" strike="noStrike" cap="none" normalizeH="0" baseline="0" dirty="0">
                <a:ln>
                  <a:noFill/>
                </a:ln>
                <a:solidFill>
                  <a:schemeClr val="tx1"/>
                </a:solidFill>
                <a:effectLst/>
                <a:latin typeface="Arial" panose="020B0604020202020204" pitchFamily="34" charset="0"/>
              </a:rPr>
              <a:t>Age of Majority and legal status changes </a:t>
            </a:r>
          </a:p>
          <a:p>
            <a:pPr defTabSz="914400" eaLnBrk="0" fontAlgn="base" hangingPunct="0">
              <a:lnSpc>
                <a:spcPct val="100000"/>
              </a:lnSpc>
              <a:spcBef>
                <a:spcPct val="0"/>
              </a:spcBef>
              <a:spcAft>
                <a:spcPct val="0"/>
              </a:spcAft>
            </a:pPr>
            <a:r>
              <a:rPr kumimoji="0" lang="en-US" altLang="en-US" sz="1400" b="0" i="0" u="none" strike="noStrike" cap="none" normalizeH="0" baseline="0" dirty="0">
                <a:ln>
                  <a:noFill/>
                </a:ln>
                <a:solidFill>
                  <a:schemeClr val="tx1"/>
                </a:solidFill>
                <a:effectLst/>
                <a:latin typeface="Arial" panose="020B0604020202020204" pitchFamily="34" charset="0"/>
              </a:rPr>
              <a:t>Employment and work-based learning </a:t>
            </a:r>
          </a:p>
          <a:p>
            <a:pPr defTabSz="914400" eaLnBrk="0" fontAlgn="base" hangingPunct="0">
              <a:lnSpc>
                <a:spcPct val="100000"/>
              </a:lnSpc>
              <a:spcBef>
                <a:spcPct val="0"/>
              </a:spcBef>
              <a:spcAft>
                <a:spcPct val="0"/>
              </a:spcAft>
            </a:pPr>
            <a:r>
              <a:rPr kumimoji="0" lang="en-US" altLang="en-US" sz="1400" b="0" i="0" u="none" strike="noStrike" cap="none" normalizeH="0" baseline="0" dirty="0">
                <a:ln>
                  <a:noFill/>
                </a:ln>
                <a:solidFill>
                  <a:schemeClr val="tx1"/>
                </a:solidFill>
                <a:effectLst/>
                <a:latin typeface="Arial" panose="020B0604020202020204" pitchFamily="34" charset="0"/>
              </a:rPr>
              <a:t>Postsecondary education and testing accommodations </a:t>
            </a:r>
          </a:p>
          <a:p>
            <a:pPr defTabSz="914400" eaLnBrk="0" fontAlgn="base" hangingPunct="0">
              <a:lnSpc>
                <a:spcPct val="100000"/>
              </a:lnSpc>
              <a:spcBef>
                <a:spcPct val="0"/>
              </a:spcBef>
              <a:spcAft>
                <a:spcPct val="0"/>
              </a:spcAft>
            </a:pPr>
            <a:r>
              <a:rPr kumimoji="0" lang="en-US" altLang="en-US" sz="1400" b="0" i="0" u="none" strike="noStrike" cap="none" normalizeH="0" baseline="0" dirty="0">
                <a:ln>
                  <a:noFill/>
                </a:ln>
                <a:solidFill>
                  <a:schemeClr val="tx1"/>
                </a:solidFill>
                <a:effectLst/>
                <a:latin typeface="Arial" panose="020B0604020202020204" pitchFamily="34" charset="0"/>
              </a:rPr>
              <a:t>SSI and Social Security benefits </a:t>
            </a:r>
          </a:p>
          <a:p>
            <a:pPr defTabSz="914400" eaLnBrk="0" fontAlgn="base" hangingPunct="0">
              <a:lnSpc>
                <a:spcPct val="100000"/>
              </a:lnSpc>
              <a:spcBef>
                <a:spcPct val="0"/>
              </a:spcBef>
              <a:spcAft>
                <a:spcPct val="0"/>
              </a:spcAft>
            </a:pPr>
            <a:r>
              <a:rPr kumimoji="0" lang="en-US" altLang="en-US" sz="1400" b="0" i="0" u="none" strike="noStrike" cap="none" normalizeH="0" baseline="0" dirty="0">
                <a:ln>
                  <a:noFill/>
                </a:ln>
                <a:solidFill>
                  <a:schemeClr val="tx1"/>
                </a:solidFill>
                <a:effectLst/>
                <a:latin typeface="Arial" panose="020B0604020202020204" pitchFamily="34" charset="0"/>
              </a:rPr>
              <a:t>Self-determination resources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1" name="Content Placeholder 10" descr="National Association of Special Education Teachers (NASET) logo.">
            <a:extLst>
              <a:ext uri="{FF2B5EF4-FFF2-40B4-BE49-F238E27FC236}">
                <a16:creationId xmlns:a16="http://schemas.microsoft.com/office/drawing/2014/main" id="{8298568F-9F1A-EBC0-8FD2-D8F06A41C992}"/>
              </a:ext>
            </a:extLst>
          </p:cNvPr>
          <p:cNvPicPr>
            <a:picLocks noGrp="1" noChangeAspect="1"/>
          </p:cNvPicPr>
          <p:nvPr>
            <p:ph sz="half" idx="2"/>
          </p:nvPr>
        </p:nvPicPr>
        <p:blipFill>
          <a:blip r:embed="rId3" cstate="email">
            <a:extLst>
              <a:ext uri="{28A0092B-C50C-407E-A947-70E740481C1C}">
                <a14:useLocalDpi xmlns:a14="http://schemas.microsoft.com/office/drawing/2010/main"/>
              </a:ext>
            </a:extLst>
          </a:blip>
          <a:stretch>
            <a:fillRect/>
          </a:stretch>
        </p:blipFill>
        <p:spPr>
          <a:xfrm>
            <a:off x="5257800" y="1988020"/>
            <a:ext cx="3886200" cy="1501396"/>
          </a:xfrm>
        </p:spPr>
      </p:pic>
    </p:spTree>
    <p:extLst>
      <p:ext uri="{BB962C8B-B14F-4D97-AF65-F5344CB8AC3E}">
        <p14:creationId xmlns:p14="http://schemas.microsoft.com/office/powerpoint/2010/main" val="1961777"/>
      </p:ext>
    </p:extLst>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I’m Determined’s Parent Path to Success Video Series</a:t>
            </a:r>
            <a:endParaRPr sz="4000" dirty="0">
              <a:latin typeface="Verdana Pro" panose="020B0604030504040204" pitchFamily="34" charset="0"/>
            </a:endParaRPr>
          </a:p>
        </p:txBody>
      </p:sp>
      <p:pic>
        <p:nvPicPr>
          <p:cNvPr id="8" name="Picture 7" descr="A screenshot of the Parent Path to Success VIdeo Series stating &quot;We've broken down key ideas about how to support your child in their journey toward self-determination at school, home, and in the community. The modules below can be accessed whenever it suits you!&quot;">
            <a:extLst>
              <a:ext uri="{FF2B5EF4-FFF2-40B4-BE49-F238E27FC236}">
                <a16:creationId xmlns:a16="http://schemas.microsoft.com/office/drawing/2014/main" id="{857663FF-A926-2613-8D9C-9C80EE571A9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1708229"/>
            <a:ext cx="6171553" cy="2419936"/>
          </a:xfrm>
          <a:prstGeom prst="rect">
            <a:avLst/>
          </a:prstGeom>
        </p:spPr>
      </p:pic>
      <p:pic>
        <p:nvPicPr>
          <p:cNvPr id="2" name="Picture 1" descr="QR code for https://tinyurl.com/IDparents">
            <a:extLst>
              <a:ext uri="{FF2B5EF4-FFF2-40B4-BE49-F238E27FC236}">
                <a16:creationId xmlns:a16="http://schemas.microsoft.com/office/drawing/2014/main" id="{BF4F25EA-792F-F698-DDDA-6A0A3C012C8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418063" y="1708814"/>
            <a:ext cx="2419351" cy="2419351"/>
          </a:xfrm>
          <a:prstGeom prst="rect">
            <a:avLst/>
          </a:prstGeom>
        </p:spPr>
      </p:pic>
      <p:sp>
        <p:nvSpPr>
          <p:cNvPr id="4" name="Google Shape;466;p65">
            <a:extLst>
              <a:ext uri="{FF2B5EF4-FFF2-40B4-BE49-F238E27FC236}">
                <a16:creationId xmlns:a16="http://schemas.microsoft.com/office/drawing/2014/main" id="{8FE3EBC1-FB15-FA00-364A-B10F72ECA927}"/>
              </a:ext>
            </a:extLst>
          </p:cNvPr>
          <p:cNvSpPr txBox="1">
            <a:spLocks/>
          </p:cNvSpPr>
          <p:nvPr/>
        </p:nvSpPr>
        <p:spPr>
          <a:xfrm>
            <a:off x="738176" y="4256363"/>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dirty="0">
                <a:latin typeface="Arial"/>
                <a:ea typeface="Overpass Light"/>
                <a:cs typeface="Overpass Light"/>
                <a:sym typeface="Overpass Light"/>
              </a:rPr>
              <a:t>https://tinyurl.com/IDparents</a:t>
            </a:r>
            <a:endParaRPr lang="en-US" sz="2400" dirty="0">
              <a:latin typeface="Arial"/>
            </a:endParaRPr>
          </a:p>
        </p:txBody>
      </p:sp>
    </p:spTree>
    <p:extLst>
      <p:ext uri="{BB962C8B-B14F-4D97-AF65-F5344CB8AC3E}">
        <p14:creationId xmlns:p14="http://schemas.microsoft.com/office/powerpoint/2010/main" val="2364957714"/>
      </p:ext>
    </p:extLst>
  </p:cSld>
  <p:clrMapOvr>
    <a:masterClrMapping/>
  </p:clrMapOvr>
  <p:transition spd="slow">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46194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latin typeface="Verdana Pro" panose="020B0604030504040204" pitchFamily="34" charset="0"/>
              </a:rPr>
              <a:t>I’m Determined’s Parent Path to Success Introduction Video</a:t>
            </a:r>
            <a:endParaRPr sz="2000" dirty="0">
              <a:latin typeface="Verdana Pro" panose="020B0604030504040204" pitchFamily="34" charset="0"/>
            </a:endParaRPr>
          </a:p>
        </p:txBody>
      </p:sp>
      <p:sp>
        <p:nvSpPr>
          <p:cNvPr id="3" name="TextBox 2">
            <a:extLst>
              <a:ext uri="{FF2B5EF4-FFF2-40B4-BE49-F238E27FC236}">
                <a16:creationId xmlns:a16="http://schemas.microsoft.com/office/drawing/2014/main" id="{AF7AF089-C4E6-BF5B-091E-153B9DC00CFA}"/>
              </a:ext>
            </a:extLst>
          </p:cNvPr>
          <p:cNvSpPr txBox="1"/>
          <p:nvPr/>
        </p:nvSpPr>
        <p:spPr>
          <a:xfrm>
            <a:off x="2286000" y="2247464"/>
            <a:ext cx="4572000" cy="646331"/>
          </a:xfrm>
          <a:prstGeom prst="rect">
            <a:avLst/>
          </a:prstGeom>
          <a:noFill/>
        </p:spPr>
        <p:txBody>
          <a:bodyPr wrap="square">
            <a:spAutoFit/>
          </a:bodyPr>
          <a:lstStyle/>
          <a:p>
            <a:r>
              <a:rPr lang="en-US" dirty="0">
                <a:hlinkClick r:id="rId4"/>
              </a:rPr>
              <a:t>https://imdetermined.org/tool/parent-path-to-success/</a:t>
            </a:r>
            <a:endParaRPr lang="en-US" dirty="0"/>
          </a:p>
        </p:txBody>
      </p:sp>
    </p:spTree>
    <p:custDataLst>
      <p:tags r:id="rId1"/>
    </p:custDataLst>
    <p:extLst>
      <p:ext uri="{BB962C8B-B14F-4D97-AF65-F5344CB8AC3E}">
        <p14:creationId xmlns:p14="http://schemas.microsoft.com/office/powerpoint/2010/main" val="2541039831"/>
      </p:ext>
    </p:extLst>
  </p:cSld>
  <p:clrMapOvr>
    <a:masterClrMapping/>
  </p:clrMapOvr>
  <p:transition spd="slow">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C26D2F-655D-50EC-37C8-5094FFF35F05}"/>
              </a:ext>
            </a:extLst>
          </p:cNvPr>
          <p:cNvSpPr>
            <a:spLocks noGrp="1"/>
          </p:cNvSpPr>
          <p:nvPr>
            <p:ph type="title"/>
          </p:nvPr>
        </p:nvSpPr>
        <p:spPr/>
        <p:txBody>
          <a:bodyPr anchor="ctr">
            <a:normAutofit/>
          </a:bodyPr>
          <a:lstStyle/>
          <a:p>
            <a:r>
              <a:rPr lang="en-US" sz="3100" dirty="0"/>
              <a:t>Activity: Plan Your Parent Communication Planning Tool</a:t>
            </a:r>
          </a:p>
        </p:txBody>
      </p:sp>
      <p:sp>
        <p:nvSpPr>
          <p:cNvPr id="4" name="Rectangle 1">
            <a:extLst>
              <a:ext uri="{FF2B5EF4-FFF2-40B4-BE49-F238E27FC236}">
                <a16:creationId xmlns:a16="http://schemas.microsoft.com/office/drawing/2014/main" id="{F889BF20-DEF5-4B6D-6069-678BEC952C51}"/>
              </a:ext>
            </a:extLst>
          </p:cNvPr>
          <p:cNvSpPr>
            <a:spLocks noGrp="1" noChangeArrowheads="1"/>
          </p:cNvSpPr>
          <p:nvPr>
            <p:ph idx="1"/>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b="0" i="0" u="none" strike="noStrike" cap="none" normalizeH="0" baseline="0" dirty="0">
                <a:ln>
                  <a:noFill/>
                </a:ln>
                <a:effectLst/>
              </a:rPr>
              <a:t>Review the parent resources we just covered </a:t>
            </a:r>
          </a:p>
          <a:p>
            <a:pPr marL="0" marR="0" lvl="0" indent="0" defTabSz="914400" rtl="0" eaLnBrk="0" fontAlgn="base" latinLnBrk="0" hangingPunct="0">
              <a:spcBef>
                <a:spcPct val="0"/>
              </a:spcBef>
              <a:spcAft>
                <a:spcPts val="600"/>
              </a:spcAft>
              <a:buClrTx/>
              <a:buSzTx/>
              <a:buFontTx/>
              <a:buChar char="•"/>
              <a:tabLst/>
            </a:pPr>
            <a:r>
              <a:rPr kumimoji="0" lang="en-US" altLang="en-US" b="0" i="0" u="none" strike="noStrike" cap="none" normalizeH="0" baseline="0" dirty="0">
                <a:ln>
                  <a:noFill/>
                </a:ln>
                <a:effectLst/>
              </a:rPr>
              <a:t>Plan which resources to share with specific families </a:t>
            </a:r>
          </a:p>
          <a:p>
            <a:pPr marL="0" marR="0" lvl="0" indent="0" defTabSz="914400" rtl="0" eaLnBrk="0" fontAlgn="base" latinLnBrk="0" hangingPunct="0">
              <a:spcBef>
                <a:spcPct val="0"/>
              </a:spcBef>
              <a:spcAft>
                <a:spcPts val="600"/>
              </a:spcAft>
              <a:buClrTx/>
              <a:buSzTx/>
              <a:buFontTx/>
              <a:buChar char="•"/>
              <a:tabLst/>
            </a:pPr>
            <a:r>
              <a:rPr kumimoji="0" lang="en-US" altLang="en-US" b="0" i="0" u="none" strike="noStrike" cap="none" normalizeH="0" baseline="0" dirty="0">
                <a:ln>
                  <a:noFill/>
                </a:ln>
                <a:effectLst/>
              </a:rPr>
              <a:t>Prepare responses for common parent concerns </a:t>
            </a:r>
          </a:p>
          <a:p>
            <a:pPr marL="0" marR="0" lvl="0" indent="0" defTabSz="914400" rtl="0" eaLnBrk="0" fontAlgn="base" latinLnBrk="0" hangingPunct="0">
              <a:spcBef>
                <a:spcPct val="0"/>
              </a:spcBef>
              <a:spcAft>
                <a:spcPts val="600"/>
              </a:spcAft>
              <a:buClrTx/>
              <a:buSzTx/>
              <a:buFontTx/>
              <a:buChar char="•"/>
              <a:tabLst/>
            </a:pPr>
            <a:endParaRPr lang="en-US" altLang="en-US" dirty="0"/>
          </a:p>
          <a:p>
            <a:pPr marL="0" marR="0" lvl="0" indent="0" defTabSz="914400" rtl="0" eaLnBrk="0" fontAlgn="base" latinLnBrk="0" hangingPunct="0">
              <a:spcBef>
                <a:spcPct val="0"/>
              </a:spcBef>
              <a:spcAft>
                <a:spcPts val="600"/>
              </a:spcAft>
              <a:buClrTx/>
              <a:buSzTx/>
              <a:tabLst/>
            </a:pPr>
            <a:r>
              <a:rPr kumimoji="0" lang="en-US" altLang="en-US" b="0" i="0" u="none" strike="noStrike" cap="none" normalizeH="0" baseline="0" dirty="0">
                <a:ln>
                  <a:noFill/>
                </a:ln>
                <a:effectLst/>
              </a:rPr>
              <a:t>⏸️Pause the video and complete the Parent Communication Planning Tool</a:t>
            </a:r>
          </a:p>
          <a:p>
            <a:pPr marL="0" marR="0" lvl="0" indent="0" defTabSz="914400" rtl="0" eaLnBrk="0" fontAlgn="base" latinLnBrk="0" hangingPunct="0">
              <a:spcBef>
                <a:spcPct val="0"/>
              </a:spcBef>
              <a:spcAft>
                <a:spcPts val="600"/>
              </a:spcAft>
              <a:buClrTx/>
              <a:buSzTx/>
              <a:tabLst/>
            </a:pPr>
            <a:r>
              <a:rPr kumimoji="0" lang="en-US" altLang="en-US" b="0" i="0" u="none" strike="noStrike" cap="none" normalizeH="0" baseline="0" dirty="0">
                <a:ln>
                  <a:noFill/>
                </a:ln>
                <a:effectLst/>
              </a:rPr>
              <a:t>⚠️Note: This activity is for your own use—it does not need to be submitted</a:t>
            </a:r>
          </a:p>
        </p:txBody>
      </p:sp>
    </p:spTree>
    <p:extLst>
      <p:ext uri="{BB962C8B-B14F-4D97-AF65-F5344CB8AC3E}">
        <p14:creationId xmlns:p14="http://schemas.microsoft.com/office/powerpoint/2010/main" val="3559686087"/>
      </p:ext>
    </p:extLst>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A4D11-EF15-098E-2EA1-692DE6795588}"/>
              </a:ext>
            </a:extLst>
          </p:cNvPr>
          <p:cNvSpPr>
            <a:spLocks noGrp="1"/>
          </p:cNvSpPr>
          <p:nvPr>
            <p:ph type="title"/>
          </p:nvPr>
        </p:nvSpPr>
        <p:spPr/>
        <p:txBody>
          <a:bodyPr anchor="ctr">
            <a:normAutofit/>
          </a:bodyPr>
          <a:lstStyle/>
          <a:p>
            <a:r>
              <a:rPr lang="en-US" dirty="0"/>
              <a:t>Addressing Parent Concerns</a:t>
            </a:r>
          </a:p>
        </p:txBody>
      </p:sp>
      <p:graphicFrame>
        <p:nvGraphicFramePr>
          <p:cNvPr id="6" name="Rectangle 1" descr="Common Concerns:&#10;&quot;My child is too shy.&quot;&#10;&quot;This seems like too much pressure.&quot;&#10;:Will important information be missed?&quot;&#10;&quot;My child doesn't understand their disability.&quot;&#10;You have answer for each of these!">
            <a:extLst>
              <a:ext uri="{FF2B5EF4-FFF2-40B4-BE49-F238E27FC236}">
                <a16:creationId xmlns:a16="http://schemas.microsoft.com/office/drawing/2014/main" id="{A844B66F-2249-DD0C-C183-B47398FA9AAD}"/>
              </a:ext>
            </a:extLst>
          </p:cNvPr>
          <p:cNvGraphicFramePr>
            <a:graphicFrameLocks noGrp="1"/>
          </p:cNvGraphicFramePr>
          <p:nvPr>
            <p:ph idx="1"/>
            <p:extLst>
              <p:ext uri="{D42A27DB-BD31-4B8C-83A1-F6EECF244321}">
                <p14:modId xmlns:p14="http://schemas.microsoft.com/office/powerpoint/2010/main" val="2668468384"/>
              </p:ext>
            </p:extLst>
          </p:nvPr>
        </p:nvGraphicFramePr>
        <p:xfrm>
          <a:off x="628650" y="1370013"/>
          <a:ext cx="7165975" cy="32623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29857837"/>
      </p:ext>
    </p:extLst>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84D46-1458-C333-2A05-AACF2BB98118}"/>
              </a:ext>
            </a:extLst>
          </p:cNvPr>
          <p:cNvSpPr>
            <a:spLocks noGrp="1"/>
          </p:cNvSpPr>
          <p:nvPr>
            <p:ph type="title"/>
          </p:nvPr>
        </p:nvSpPr>
        <p:spPr>
          <a:xfrm>
            <a:off x="215993" y="73704"/>
            <a:ext cx="7886700" cy="1125140"/>
          </a:xfrm>
        </p:spPr>
        <p:txBody>
          <a:bodyPr/>
          <a:lstStyle/>
          <a:p>
            <a:r>
              <a:rPr lang="en-US" dirty="0"/>
              <a:t>Building Sustainable Systems</a:t>
            </a:r>
          </a:p>
        </p:txBody>
      </p:sp>
      <p:sp>
        <p:nvSpPr>
          <p:cNvPr id="4" name="Rectangle 1">
            <a:extLst>
              <a:ext uri="{FF2B5EF4-FFF2-40B4-BE49-F238E27FC236}">
                <a16:creationId xmlns:a16="http://schemas.microsoft.com/office/drawing/2014/main" id="{2AF6789D-31AE-635C-AA3F-7B8FE7D7959A}"/>
              </a:ext>
            </a:extLst>
          </p:cNvPr>
          <p:cNvSpPr>
            <a:spLocks noGrp="1" noChangeArrowheads="1"/>
          </p:cNvSpPr>
          <p:nvPr>
            <p:ph type="body" idx="1"/>
          </p:nvPr>
        </p:nvSpPr>
        <p:spPr bwMode="auto">
          <a:xfrm>
            <a:off x="215993" y="1324116"/>
            <a:ext cx="5522666"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effectLst/>
                <a:latin typeface="Arial" panose="020B0604020202020204" pitchFamily="34" charset="0"/>
              </a:rPr>
              <a:t>Key Strategies: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Key strategies: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latin typeface="Arial" panose="020B0604020202020204" pitchFamily="34" charset="0"/>
              </a:rPr>
              <a:t>Embed in existing routines (don't add—integrate)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latin typeface="Arial" panose="020B0604020202020204" pitchFamily="34" charset="0"/>
              </a:rPr>
              <a:t>Start small and build momentum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latin typeface="Arial" panose="020B0604020202020204" pitchFamily="34" charset="0"/>
              </a:rPr>
              <a:t>Share successes with colleagues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latin typeface="Arial" panose="020B0604020202020204" pitchFamily="34" charset="0"/>
              </a:rPr>
              <a:t>Involve administration </a:t>
            </a:r>
          </a:p>
          <a:p>
            <a:pPr lvl="0" defTabSz="914400" eaLnBrk="0" fontAlgn="base" hangingPunct="0">
              <a:lnSpc>
                <a:spcPct val="100000"/>
              </a:lnSpc>
              <a:spcBef>
                <a:spcPct val="0"/>
              </a:spcBef>
              <a:spcAft>
                <a:spcPct val="0"/>
              </a:spcAft>
              <a:buFontTx/>
              <a:buChar char="•"/>
            </a:pPr>
            <a:r>
              <a:rPr lang="en-US" dirty="0"/>
              <a:t>Celebrate progress—students AND staff</a:t>
            </a:r>
          </a:p>
          <a:p>
            <a:pPr lvl="0" defTabSz="914400" eaLnBrk="0" fontAlgn="base" hangingPunct="0">
              <a:lnSpc>
                <a:spcPct val="100000"/>
              </a:lnSpc>
              <a:spcBef>
                <a:spcPct val="0"/>
              </a:spcBef>
              <a:spcAft>
                <a:spcPct val="0"/>
              </a:spcAft>
              <a:buFontTx/>
              <a:buChar char="•"/>
            </a:pPr>
            <a:endParaRPr kumimoji="0" lang="en-US" altLang="en-US" sz="1800" b="0" i="0" u="none" strike="noStrike" cap="none" normalizeH="0" baseline="0" dirty="0">
              <a:ln>
                <a:noFill/>
              </a:ln>
              <a:effectLst/>
              <a:latin typeface="Arial" panose="020B0604020202020204" pitchFamily="34" charset="0"/>
            </a:endParaRPr>
          </a:p>
          <a:p>
            <a:pPr lvl="0" defTabSz="914400" eaLnBrk="0" fontAlgn="base" hangingPunct="0">
              <a:lnSpc>
                <a:spcPct val="100000"/>
              </a:lnSpc>
              <a:spcBef>
                <a:spcPct val="0"/>
              </a:spcBef>
              <a:spcAft>
                <a:spcPct val="0"/>
              </a:spcAft>
            </a:pPr>
            <a:r>
              <a:rPr lang="en-US" b="1" dirty="0"/>
              <a:t>Small steps daily lead to big changes yearly</a:t>
            </a:r>
            <a:r>
              <a:rPr kumimoji="0" lang="en-US" altLang="en-US" sz="1800" b="1" i="0" u="none" strike="noStrike" cap="none" normalizeH="0" baseline="0" dirty="0">
                <a:ln>
                  <a:noFill/>
                </a:ln>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"Small steps daily lead to big changes yearly" </a:t>
            </a:r>
          </a:p>
        </p:txBody>
      </p:sp>
    </p:spTree>
    <p:extLst>
      <p:ext uri="{BB962C8B-B14F-4D97-AF65-F5344CB8AC3E}">
        <p14:creationId xmlns:p14="http://schemas.microsoft.com/office/powerpoint/2010/main" val="1338780870"/>
      </p:ext>
    </p:extLst>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FABC2C9-FC52-4B37-D258-9BF306B746C4}"/>
              </a:ext>
            </a:extLst>
          </p:cNvPr>
          <p:cNvSpPr>
            <a:spLocks noGrp="1"/>
          </p:cNvSpPr>
          <p:nvPr>
            <p:ph type="title"/>
          </p:nvPr>
        </p:nvSpPr>
        <p:spPr/>
        <p:txBody>
          <a:bodyPr>
            <a:normAutofit fontScale="90000"/>
          </a:bodyPr>
          <a:lstStyle/>
          <a:p>
            <a:r>
              <a:rPr lang="en-US" dirty="0"/>
              <a:t>Activity: Assess Your Sustainability Readiness</a:t>
            </a:r>
          </a:p>
        </p:txBody>
      </p:sp>
      <p:sp>
        <p:nvSpPr>
          <p:cNvPr id="4" name="Rectangle 1">
            <a:extLst>
              <a:ext uri="{FF2B5EF4-FFF2-40B4-BE49-F238E27FC236}">
                <a16:creationId xmlns:a16="http://schemas.microsoft.com/office/drawing/2014/main" id="{82D5BE1D-C637-056E-A7E0-4A189E94B9CA}"/>
              </a:ext>
            </a:extLst>
          </p:cNvPr>
          <p:cNvSpPr>
            <a:spLocks noGrp="1" noChangeArrowheads="1"/>
          </p:cNvSpPr>
          <p:nvPr>
            <p:ph idx="1"/>
          </p:nvPr>
        </p:nvSpPr>
        <p:spPr bwMode="auto">
          <a:xfrm>
            <a:off x="597274" y="1456135"/>
            <a:ext cx="840165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Rate how embedded your current practices are </a:t>
            </a:r>
          </a:p>
          <a:p>
            <a:pPr defTabSz="914400"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Identify barriers and solutions </a:t>
            </a:r>
          </a:p>
          <a:p>
            <a:pPr defTabSz="914400"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Build your support system </a:t>
            </a:r>
          </a:p>
          <a:p>
            <a:pPr defTabSz="914400"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Create your long-term vision </a:t>
            </a:r>
          </a:p>
          <a:p>
            <a:pPr marL="0" indent="0" defTabSz="914400" eaLnBrk="0" fontAlgn="base" hangingPunct="0">
              <a:lnSpc>
                <a:spcPct val="100000"/>
              </a:lnSpc>
              <a:spcBef>
                <a:spcPct val="0"/>
              </a:spcBef>
              <a:spcAft>
                <a:spcPct val="0"/>
              </a:spcAft>
              <a:buNone/>
            </a:pPr>
            <a:r>
              <a:rPr lang="en-US" altLang="en-US" sz="1800" dirty="0">
                <a:solidFill>
                  <a:schemeClr val="tx1"/>
                </a:solidFill>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Pause the video and complete the Sustainability Self-Assessment" </a:t>
            </a:r>
          </a:p>
          <a:p>
            <a:pPr marL="0" indent="0" defTabSz="914400" eaLnBrk="0" fontAlgn="base" hangingPunct="0">
              <a:lnSpc>
                <a:spcPct val="100000"/>
              </a:lnSpc>
              <a:spcBef>
                <a:spcPct val="0"/>
              </a:spcBef>
              <a:spcAft>
                <a:spcPct val="0"/>
              </a:spcAft>
              <a:buNone/>
            </a:pPr>
            <a:r>
              <a:rPr kumimoji="0" lang="en-US" altLang="en-US" sz="1800" b="0" i="0" u="none" strike="noStrike" cap="none" normalizeH="0" baseline="0" dirty="0">
                <a:ln>
                  <a:noFill/>
                </a:ln>
                <a:solidFill>
                  <a:schemeClr val="tx1"/>
                </a:solidFill>
                <a:effectLst/>
                <a:latin typeface="Arial" panose="020B0604020202020204" pitchFamily="34" charset="0"/>
              </a:rPr>
              <a:t>⚠️Note: This activity is for your own reflection—it does not need to be submitted</a:t>
            </a:r>
          </a:p>
        </p:txBody>
      </p:sp>
    </p:spTree>
    <p:extLst>
      <p:ext uri="{BB962C8B-B14F-4D97-AF65-F5344CB8AC3E}">
        <p14:creationId xmlns:p14="http://schemas.microsoft.com/office/powerpoint/2010/main" val="318322489"/>
      </p:ext>
    </p:extLst>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5FA4B-71F1-6D4D-E748-C6D3783B243C}"/>
              </a:ext>
            </a:extLst>
          </p:cNvPr>
          <p:cNvSpPr>
            <a:spLocks noGrp="1"/>
          </p:cNvSpPr>
          <p:nvPr>
            <p:ph type="title"/>
          </p:nvPr>
        </p:nvSpPr>
        <p:spPr>
          <a:xfrm>
            <a:off x="628650" y="273844"/>
            <a:ext cx="7886700" cy="994172"/>
          </a:xfrm>
        </p:spPr>
        <p:txBody>
          <a:bodyPr anchor="ctr">
            <a:normAutofit/>
          </a:bodyPr>
          <a:lstStyle/>
          <a:p>
            <a:r>
              <a:rPr lang="en-US" sz="3100" dirty="0"/>
              <a:t>Module 6 Complete</a:t>
            </a:r>
            <a:br>
              <a:rPr lang="en-US" sz="3100" dirty="0"/>
            </a:br>
            <a:r>
              <a:rPr lang="en-US" sz="3100" dirty="0"/>
              <a:t>Next Step: Complete Module 6 Quiz</a:t>
            </a:r>
          </a:p>
        </p:txBody>
      </p:sp>
      <p:pic>
        <p:nvPicPr>
          <p:cNvPr id="5" name="Picture 4" descr="Close up of checklist">
            <a:extLst>
              <a:ext uri="{FF2B5EF4-FFF2-40B4-BE49-F238E27FC236}">
                <a16:creationId xmlns:a16="http://schemas.microsoft.com/office/drawing/2014/main" id="{96B07837-30E9-600B-FC62-64B99684D6A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127428" y="1369219"/>
            <a:ext cx="4889144" cy="3263504"/>
          </a:xfrm>
          <a:prstGeom prst="rect">
            <a:avLst/>
          </a:prstGeom>
          <a:noFill/>
        </p:spPr>
      </p:pic>
    </p:spTree>
    <p:extLst>
      <p:ext uri="{BB962C8B-B14F-4D97-AF65-F5344CB8AC3E}">
        <p14:creationId xmlns:p14="http://schemas.microsoft.com/office/powerpoint/2010/main" val="770865169"/>
      </p:ext>
    </p:extLst>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CECBB-ADC4-F905-DC0C-04C0903AF7C0}"/>
              </a:ext>
            </a:extLst>
          </p:cNvPr>
          <p:cNvSpPr>
            <a:spLocks noGrp="1"/>
          </p:cNvSpPr>
          <p:nvPr>
            <p:ph type="title"/>
          </p:nvPr>
        </p:nvSpPr>
        <p:spPr/>
        <p:txBody>
          <a:bodyPr anchor="ctr">
            <a:normAutofit/>
          </a:bodyPr>
          <a:lstStyle/>
          <a:p>
            <a:r>
              <a:rPr lang="en-US" dirty="0"/>
              <a:t>You've Completed the Training!🎉🎊</a:t>
            </a:r>
          </a:p>
        </p:txBody>
      </p:sp>
      <p:sp>
        <p:nvSpPr>
          <p:cNvPr id="4" name="Text Placeholder 3">
            <a:extLst>
              <a:ext uri="{FF2B5EF4-FFF2-40B4-BE49-F238E27FC236}">
                <a16:creationId xmlns:a16="http://schemas.microsoft.com/office/drawing/2014/main" id="{6BCC716E-82A0-AD8A-4476-466AFCAB1587}"/>
              </a:ext>
            </a:extLst>
          </p:cNvPr>
          <p:cNvSpPr>
            <a:spLocks noGrp="1"/>
          </p:cNvSpPr>
          <p:nvPr>
            <p:ph sz="half" idx="2"/>
          </p:nvPr>
        </p:nvSpPr>
        <p:spPr/>
        <p:txBody>
          <a:bodyPr>
            <a:normAutofit/>
          </a:bodyPr>
          <a:lstStyle/>
          <a:p>
            <a:r>
              <a:rPr lang="en-US" dirty="0"/>
              <a:t>Next steps: </a:t>
            </a:r>
          </a:p>
          <a:p>
            <a:pPr marL="171450" indent="-171450">
              <a:buFont typeface="Arial" panose="020B0604020202020204" pitchFamily="34" charset="0"/>
              <a:buChar char="•"/>
            </a:pPr>
            <a:r>
              <a:rPr lang="en-US" dirty="0"/>
              <a:t>Complete the Module 6 Assessment</a:t>
            </a:r>
          </a:p>
          <a:p>
            <a:pPr marL="171450" indent="-171450">
              <a:buFont typeface="Arial" panose="020B0604020202020204" pitchFamily="34" charset="0"/>
              <a:buChar char="•"/>
            </a:pPr>
            <a:r>
              <a:rPr lang="en-US" dirty="0"/>
              <a:t>Check completion all module activities</a:t>
            </a:r>
          </a:p>
          <a:p>
            <a:pPr marL="171450" indent="-171450">
              <a:buFont typeface="Arial" panose="020B0604020202020204" pitchFamily="34" charset="0"/>
              <a:buChar char="•"/>
            </a:pPr>
            <a:r>
              <a:rPr lang="en-US" dirty="0"/>
              <a:t>Apply one strategy THIS WEEK</a:t>
            </a:r>
          </a:p>
          <a:p>
            <a:pPr marL="171450" indent="-171450">
              <a:buFont typeface="Arial" panose="020B0604020202020204" pitchFamily="34" charset="0"/>
              <a:buChar char="•"/>
            </a:pPr>
            <a:r>
              <a:rPr lang="en-US" dirty="0"/>
              <a:t>Share what you've learned with a colleague</a:t>
            </a:r>
          </a:p>
          <a:p>
            <a:endParaRPr lang="en-US" dirty="0"/>
          </a:p>
        </p:txBody>
      </p:sp>
      <p:pic>
        <p:nvPicPr>
          <p:cNvPr id="6" name="Content Placeholder 5" descr="Fireworks lighting up sky at night">
            <a:extLst>
              <a:ext uri="{FF2B5EF4-FFF2-40B4-BE49-F238E27FC236}">
                <a16:creationId xmlns:a16="http://schemas.microsoft.com/office/drawing/2014/main" id="{61A24F62-605F-0216-3728-6BDB2011B6A3}"/>
              </a:ext>
            </a:extLst>
          </p:cNvPr>
          <p:cNvPicPr>
            <a:picLocks noGrp="1" noChangeAspect="1"/>
          </p:cNvPicPr>
          <p:nvPr>
            <p:ph sz="half" idx="1"/>
          </p:nvPr>
        </p:nvPicPr>
        <p:blipFill>
          <a:blip r:embed="rId3" cstate="email">
            <a:extLst>
              <a:ext uri="{28A0092B-C50C-407E-A947-70E740481C1C}">
                <a14:useLocalDpi xmlns:a14="http://schemas.microsoft.com/office/drawing/2010/main"/>
              </a:ext>
            </a:extLst>
          </a:blip>
          <a:stretch>
            <a:fillRect/>
          </a:stretch>
        </p:blipFill>
        <p:spPr>
          <a:xfrm>
            <a:off x="628650" y="1700264"/>
            <a:ext cx="3886200" cy="2601810"/>
          </a:xfrm>
          <a:noFill/>
        </p:spPr>
      </p:pic>
    </p:spTree>
    <p:extLst>
      <p:ext uri="{BB962C8B-B14F-4D97-AF65-F5344CB8AC3E}">
        <p14:creationId xmlns:p14="http://schemas.microsoft.com/office/powerpoint/2010/main" val="1055123413"/>
      </p:ext>
    </p:extLst>
  </p:cSld>
  <p:clrMapOvr>
    <a:masterClrMapping/>
  </p:clrMapOvr>
  <p:transition spd="slow">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0DEDDE4-ACF2-D0AF-9AAF-8FA33118DB19}"/>
              </a:ext>
            </a:extLst>
          </p:cNvPr>
          <p:cNvSpPr>
            <a:spLocks noGrp="1"/>
          </p:cNvSpPr>
          <p:nvPr>
            <p:ph type="title"/>
          </p:nvPr>
        </p:nvSpPr>
        <p:spPr/>
        <p:txBody>
          <a:bodyPr/>
          <a:lstStyle/>
          <a:p>
            <a:r>
              <a:rPr lang="en-US" dirty="0"/>
              <a:t>THANK YOU!</a:t>
            </a:r>
          </a:p>
        </p:txBody>
      </p:sp>
      <p:sp>
        <p:nvSpPr>
          <p:cNvPr id="11" name="Content Placeholder 2">
            <a:extLst>
              <a:ext uri="{FF2B5EF4-FFF2-40B4-BE49-F238E27FC236}">
                <a16:creationId xmlns:a16="http://schemas.microsoft.com/office/drawing/2014/main" id="{93CD3634-B0AB-8237-3866-F114F2437970}"/>
              </a:ext>
            </a:extLst>
          </p:cNvPr>
          <p:cNvSpPr>
            <a:spLocks noGrp="1"/>
          </p:cNvSpPr>
          <p:nvPr>
            <p:ph idx="1"/>
          </p:nvPr>
        </p:nvSpPr>
        <p:spPr/>
        <p:txBody>
          <a:bodyPr>
            <a:normAutofit lnSpcReduction="10000"/>
          </a:bodyPr>
          <a:lstStyle/>
          <a:p>
            <a:pPr marL="0" indent="0">
              <a:buNone/>
            </a:pPr>
            <a:r>
              <a:rPr lang="en-US" dirty="0"/>
              <a:t>You're not just changing IEP meetings—you're changing lives!</a:t>
            </a:r>
          </a:p>
          <a:p>
            <a:pPr marL="0" indent="0">
              <a:buNone/>
            </a:pPr>
            <a:endParaRPr lang="en-US" b="1" dirty="0"/>
          </a:p>
          <a:p>
            <a:pPr marL="0" indent="0">
              <a:buNone/>
            </a:pPr>
            <a:r>
              <a:rPr lang="en-US" b="1" dirty="0"/>
              <a:t>Oklahoma Pathways to Partnerships Grant Staff:</a:t>
            </a:r>
          </a:p>
          <a:p>
            <a:pPr marL="0" indent="0">
              <a:buNone/>
            </a:pPr>
            <a:r>
              <a:rPr lang="en-US" sz="1600" dirty="0">
                <a:solidFill>
                  <a:schemeClr val="accent3"/>
                </a:solidFill>
              </a:rPr>
              <a:t>Program Manager-Lori Chesnut </a:t>
            </a:r>
            <a:r>
              <a:rPr lang="en-US" sz="1600" dirty="0">
                <a:solidFill>
                  <a:schemeClr val="accent3"/>
                </a:solidFill>
                <a:hlinkClick r:id="rId3"/>
              </a:rPr>
              <a:t>lori.chesnut@sde.ok.gov</a:t>
            </a:r>
            <a:endParaRPr lang="en-US" sz="1600" dirty="0">
              <a:solidFill>
                <a:schemeClr val="accent3"/>
              </a:solidFill>
            </a:endParaRPr>
          </a:p>
          <a:p>
            <a:pPr marL="0" indent="0">
              <a:buNone/>
            </a:pPr>
            <a:r>
              <a:rPr lang="en-US" sz="1600" dirty="0">
                <a:solidFill>
                  <a:schemeClr val="accent3"/>
                </a:solidFill>
              </a:rPr>
              <a:t>Project Manager-Donna Tye-Lewis </a:t>
            </a:r>
            <a:r>
              <a:rPr lang="en-US" sz="1600" dirty="0">
                <a:solidFill>
                  <a:schemeClr val="accent3"/>
                </a:solidFill>
                <a:hlinkClick r:id="rId4"/>
              </a:rPr>
              <a:t>donna.tye-lewis@sde.ok.gov</a:t>
            </a:r>
            <a:endParaRPr lang="en-US" sz="1600" dirty="0">
              <a:solidFill>
                <a:schemeClr val="accent3"/>
              </a:solidFill>
            </a:endParaRPr>
          </a:p>
          <a:p>
            <a:pPr marL="0" indent="0">
              <a:buNone/>
            </a:pPr>
            <a:r>
              <a:rPr lang="en-US" sz="1600" dirty="0">
                <a:solidFill>
                  <a:schemeClr val="accent3"/>
                </a:solidFill>
              </a:rPr>
              <a:t>Transition Specialist-Claudia Beckner </a:t>
            </a:r>
            <a:r>
              <a:rPr lang="en-US" sz="1600" dirty="0">
                <a:solidFill>
                  <a:schemeClr val="accent3"/>
                </a:solidFill>
                <a:hlinkClick r:id="rId5"/>
              </a:rPr>
              <a:t>claudia.beckner@sde.ok.gov</a:t>
            </a:r>
            <a:endParaRPr lang="en-US" sz="1600" dirty="0">
              <a:solidFill>
                <a:schemeClr val="accent3"/>
              </a:solidFill>
            </a:endParaRPr>
          </a:p>
          <a:p>
            <a:pPr marL="0" indent="0">
              <a:buNone/>
            </a:pPr>
            <a:r>
              <a:rPr lang="en-US" sz="1600" dirty="0">
                <a:solidFill>
                  <a:schemeClr val="accent3"/>
                </a:solidFill>
              </a:rPr>
              <a:t>Transition Specialist-Dr. Erin Berry </a:t>
            </a:r>
            <a:r>
              <a:rPr lang="en-US" sz="1600" dirty="0">
                <a:solidFill>
                  <a:schemeClr val="accent3"/>
                </a:solidFill>
                <a:hlinkClick r:id="rId6"/>
              </a:rPr>
              <a:t>erin.berry@sde.ok.gov</a:t>
            </a:r>
            <a:endParaRPr lang="en-US" sz="1600" dirty="0">
              <a:solidFill>
                <a:schemeClr val="accent3"/>
              </a:solidFill>
            </a:endParaRPr>
          </a:p>
          <a:p>
            <a:pPr marL="0" indent="0">
              <a:buNone/>
            </a:pPr>
            <a:r>
              <a:rPr lang="en-US" sz="1600" dirty="0">
                <a:solidFill>
                  <a:schemeClr val="accent3"/>
                </a:solidFill>
              </a:rPr>
              <a:t>Transition Specialist-April Bowden </a:t>
            </a:r>
            <a:r>
              <a:rPr lang="en-US" sz="1600" dirty="0">
                <a:solidFill>
                  <a:schemeClr val="accent3"/>
                </a:solidFill>
                <a:hlinkClick r:id="rId7"/>
              </a:rPr>
              <a:t>april.bowden@sde.ok.gov</a:t>
            </a:r>
            <a:endParaRPr lang="en-US" sz="1600" dirty="0">
              <a:solidFill>
                <a:schemeClr val="accent3"/>
              </a:solidFill>
            </a:endParaRPr>
          </a:p>
          <a:p>
            <a:pPr marL="0" indent="0">
              <a:buNone/>
            </a:pPr>
            <a:r>
              <a:rPr lang="en-US" sz="1600" dirty="0">
                <a:solidFill>
                  <a:schemeClr val="accent3"/>
                </a:solidFill>
              </a:rPr>
              <a:t>Transition Specialist-Dr. Ryan Beaty </a:t>
            </a:r>
            <a:r>
              <a:rPr lang="en-US" sz="1600" dirty="0">
                <a:solidFill>
                  <a:schemeClr val="accent3"/>
                </a:solidFill>
                <a:hlinkClick r:id="rId8"/>
              </a:rPr>
              <a:t>ryan.beaty@sde.ok.gov</a:t>
            </a:r>
            <a:endParaRPr lang="en-US" sz="1600" dirty="0">
              <a:solidFill>
                <a:schemeClr val="accent3"/>
              </a:solidFill>
            </a:endParaRPr>
          </a:p>
          <a:p>
            <a:pPr marL="0" indent="0">
              <a:buNone/>
            </a:pPr>
            <a:endParaRPr lang="en-US" sz="1600" dirty="0">
              <a:solidFill>
                <a:schemeClr val="accent3"/>
              </a:solidFill>
            </a:endParaRPr>
          </a:p>
          <a:p>
            <a:pPr marL="0" indent="0">
              <a:buNone/>
            </a:pPr>
            <a:endParaRPr lang="en-US" sz="1600" dirty="0">
              <a:solidFill>
                <a:schemeClr val="accent3"/>
              </a:solidFill>
            </a:endParaRPr>
          </a:p>
          <a:p>
            <a:pPr marL="0" indent="0">
              <a:buNone/>
            </a:pPr>
            <a:endParaRPr lang="en-US" sz="1800" dirty="0">
              <a:solidFill>
                <a:schemeClr val="accent3"/>
              </a:solidFill>
            </a:endParaRPr>
          </a:p>
        </p:txBody>
      </p:sp>
    </p:spTree>
    <p:extLst>
      <p:ext uri="{BB962C8B-B14F-4D97-AF65-F5344CB8AC3E}">
        <p14:creationId xmlns:p14="http://schemas.microsoft.com/office/powerpoint/2010/main" val="1503188199"/>
      </p:ext>
    </p:extLst>
  </p:cSld>
  <p:clrMapOvr>
    <a:masterClrMapping/>
  </p:clrMapOvr>
  <p:transition spd="slow">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75EFD-D697-D47D-1A3B-640255ABCFCC}"/>
              </a:ext>
            </a:extLst>
          </p:cNvPr>
          <p:cNvSpPr>
            <a:spLocks noGrp="1"/>
          </p:cNvSpPr>
          <p:nvPr>
            <p:ph type="title" idx="4294967295"/>
          </p:nvPr>
        </p:nvSpPr>
        <p:spPr>
          <a:xfrm>
            <a:off x="628650" y="-994172"/>
            <a:ext cx="7886700" cy="994172"/>
          </a:xfrm>
        </p:spPr>
        <p:txBody>
          <a:bodyPr vert="horz" lIns="91440" tIns="45720" rIns="91440" bIns="45720" rtlCol="0" anchor="b">
            <a:normAutofit fontScale="90000"/>
          </a:bodyPr>
          <a:lstStyle/>
          <a:p>
            <a:r>
              <a:rPr lang="en-US" dirty="0"/>
              <a:t>Oklahoma Pathways to Partnerships Grant Disclaimer</a:t>
            </a:r>
          </a:p>
        </p:txBody>
      </p:sp>
    </p:spTree>
    <p:extLst>
      <p:ext uri="{BB962C8B-B14F-4D97-AF65-F5344CB8AC3E}">
        <p14:creationId xmlns:p14="http://schemas.microsoft.com/office/powerpoint/2010/main" val="2819158761"/>
      </p:ext>
    </p:extLst>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TIMING" val="|8.9"/>
</p:tagLst>
</file>

<file path=ppt/theme/theme1.xml><?xml version="1.0" encoding="utf-8"?>
<a:theme xmlns:a="http://schemas.openxmlformats.org/drawingml/2006/main" name="Template">
  <a:themeElements>
    <a:clrScheme name="Custom 1">
      <a:dk1>
        <a:srgbClr val="002E5C"/>
      </a:dk1>
      <a:lt1>
        <a:srgbClr val="FFFFFF"/>
      </a:lt1>
      <a:dk2>
        <a:srgbClr val="002E5C"/>
      </a:dk2>
      <a:lt2>
        <a:srgbClr val="FFFFFF"/>
      </a:lt2>
      <a:accent1>
        <a:srgbClr val="002E5C"/>
      </a:accent1>
      <a:accent2>
        <a:srgbClr val="989490"/>
      </a:accent2>
      <a:accent3>
        <a:srgbClr val="0066A6"/>
      </a:accent3>
      <a:accent4>
        <a:srgbClr val="004581"/>
      </a:accent4>
      <a:accent5>
        <a:srgbClr val="FFFFFF"/>
      </a:accent5>
      <a:accent6>
        <a:srgbClr val="000000"/>
      </a:accent6>
      <a:hlink>
        <a:srgbClr val="1B9FD5"/>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ST.potx" id="{71A39B0D-7793-4C65-9C41-951E39D81AF9}" vid="{C38E953C-75BA-4763-92E8-6C0AAC7278A0}"/>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11385</TotalTime>
  <Words>5101</Words>
  <Application>Microsoft Office PowerPoint</Application>
  <PresentationFormat>On-screen Show (16:9)</PresentationFormat>
  <Paragraphs>388</Paragraphs>
  <Slides>21</Slides>
  <Notes>21</Notes>
  <HiddenSlides>0</HiddenSlides>
  <MMClips>0</MMClips>
  <ScaleCrop>false</ScaleCrop>
  <HeadingPairs>
    <vt:vector size="8" baseType="variant">
      <vt:variant>
        <vt:lpstr>Fonts Used</vt:lpstr>
      </vt:variant>
      <vt:variant>
        <vt:i4>6</vt:i4>
      </vt:variant>
      <vt:variant>
        <vt:lpstr>Theme</vt:lpstr>
      </vt:variant>
      <vt:variant>
        <vt:i4>1</vt:i4>
      </vt:variant>
      <vt:variant>
        <vt:lpstr>Slide Titles</vt:lpstr>
      </vt:variant>
      <vt:variant>
        <vt:i4>21</vt:i4>
      </vt:variant>
      <vt:variant>
        <vt:lpstr>Custom Shows</vt:lpstr>
      </vt:variant>
      <vt:variant>
        <vt:i4>3</vt:i4>
      </vt:variant>
    </vt:vector>
  </HeadingPairs>
  <TitlesOfParts>
    <vt:vector size="31" baseType="lpstr">
      <vt:lpstr>Verdana Pro</vt:lpstr>
      <vt:lpstr>Aptos</vt:lpstr>
      <vt:lpstr>Overpass Light</vt:lpstr>
      <vt:lpstr>Atkinson Hyperlegible Next</vt:lpstr>
      <vt:lpstr>Bebas Neue</vt:lpstr>
      <vt:lpstr>Arial</vt:lpstr>
      <vt:lpstr>Template</vt:lpstr>
      <vt:lpstr>Module 6: Implementation &amp; Parent Resources</vt:lpstr>
      <vt:lpstr>Early Elementary</vt:lpstr>
      <vt:lpstr>Later Elementary</vt:lpstr>
      <vt:lpstr>Middle School</vt:lpstr>
      <vt:lpstr>High School</vt:lpstr>
      <vt:lpstr>Creating Your Implementation Plan</vt:lpstr>
      <vt:lpstr>Resources for Families</vt:lpstr>
      <vt:lpstr>Parent Center Hub</vt:lpstr>
      <vt:lpstr>Pacer National Parent Center Learning center focused on middle school and high school transition  </vt:lpstr>
      <vt:lpstr>Parent Guide to Transition Planning</vt:lpstr>
      <vt:lpstr>Transition Resources for Parents</vt:lpstr>
      <vt:lpstr>I’m Determined’s Parent Path to Success Video Series</vt:lpstr>
      <vt:lpstr>I’m Determined’s Parent Path to Success Introduction Video</vt:lpstr>
      <vt:lpstr>Activity: Plan Your Parent Communication Planning Tool</vt:lpstr>
      <vt:lpstr>Addressing Parent Concerns</vt:lpstr>
      <vt:lpstr>Building Sustainable Systems</vt:lpstr>
      <vt:lpstr>Activity: Assess Your Sustainability Readiness</vt:lpstr>
      <vt:lpstr>Module 6 Complete Next Step: Complete Module 6 Quiz</vt:lpstr>
      <vt:lpstr>You've Completed the Training!🎉🎊</vt:lpstr>
      <vt:lpstr>THANK YOU!</vt:lpstr>
      <vt:lpstr>Oklahoma Pathways to Partnerships Grant Disclaimer</vt:lpstr>
      <vt:lpstr>Module 4-A</vt:lpstr>
      <vt:lpstr>Module 4 B</vt:lpstr>
      <vt:lpstr>Module 5 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Involvement in the IEP</dc:title>
  <cp:lastModifiedBy>Erin Berry</cp:lastModifiedBy>
  <cp:revision>63</cp:revision>
  <dcterms:modified xsi:type="dcterms:W3CDTF">2026-06-09T17:41:36Z</dcterms:modified>
</cp:coreProperties>
</file>