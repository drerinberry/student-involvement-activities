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945" r:id="rId1"/>
  </p:sldMasterIdLst>
  <p:notesMasterIdLst>
    <p:notesMasterId r:id="rId40"/>
  </p:notesMasterIdLst>
  <p:sldIdLst>
    <p:sldId id="395" r:id="rId2"/>
    <p:sldId id="394" r:id="rId3"/>
    <p:sldId id="380" r:id="rId4"/>
    <p:sldId id="397" r:id="rId5"/>
    <p:sldId id="381" r:id="rId6"/>
    <p:sldId id="406" r:id="rId7"/>
    <p:sldId id="417" r:id="rId8"/>
    <p:sldId id="405" r:id="rId9"/>
    <p:sldId id="418" r:id="rId10"/>
    <p:sldId id="419" r:id="rId11"/>
    <p:sldId id="382" r:id="rId12"/>
    <p:sldId id="420" r:id="rId13"/>
    <p:sldId id="421" r:id="rId14"/>
    <p:sldId id="422" r:id="rId15"/>
    <p:sldId id="412" r:id="rId16"/>
    <p:sldId id="423" r:id="rId17"/>
    <p:sldId id="424" r:id="rId18"/>
    <p:sldId id="425" r:id="rId19"/>
    <p:sldId id="402" r:id="rId20"/>
    <p:sldId id="413" r:id="rId21"/>
    <p:sldId id="408" r:id="rId22"/>
    <p:sldId id="427" r:id="rId23"/>
    <p:sldId id="426" r:id="rId24"/>
    <p:sldId id="428" r:id="rId25"/>
    <p:sldId id="429" r:id="rId26"/>
    <p:sldId id="430" r:id="rId27"/>
    <p:sldId id="433" r:id="rId28"/>
    <p:sldId id="434" r:id="rId29"/>
    <p:sldId id="534" r:id="rId30"/>
    <p:sldId id="431" r:id="rId31"/>
    <p:sldId id="410" r:id="rId32"/>
    <p:sldId id="435" r:id="rId33"/>
    <p:sldId id="436" r:id="rId34"/>
    <p:sldId id="437" r:id="rId35"/>
    <p:sldId id="432" r:id="rId36"/>
    <p:sldId id="411" r:id="rId37"/>
    <p:sldId id="438" r:id="rId38"/>
    <p:sldId id="535" r:id="rId39"/>
  </p:sldIdLst>
  <p:sldSz cx="9144000" cy="5143500" type="screen16x9"/>
  <p:notesSz cx="6858000" cy="9144000"/>
  <p:embeddedFontLst>
    <p:embeddedFont>
      <p:font typeface="Atkinson Hyperlegible Next" pitchFamily="2" charset="0"/>
      <p:regular r:id="rId41"/>
      <p:bold r:id="rId42"/>
      <p:italic r:id="rId43"/>
      <p:boldItalic r:id="rId44"/>
    </p:embeddedFont>
    <p:embeddedFont>
      <p:font typeface="Verdana Pro" panose="020B0604030504040204" pitchFamily="34" charset="0"/>
      <p:regular r:id="rId45"/>
      <p:bold r:id="rId46"/>
      <p:italic r:id="rId47"/>
      <p:boldItalic r:id="rId48"/>
    </p:embeddedFont>
  </p:embeddedFontLst>
  <p:custShowLst>
    <p:custShow name="Module 4-A" id="0">
      <p:sldLst>
        <p:sld r:id="rId2"/>
        <p:sld r:id="rId3"/>
        <p:sld r:id="rId4"/>
        <p:sld r:id="rId5"/>
        <p:sld r:id="rId6"/>
        <p:sld r:id="rId7"/>
        <p:sld r:id="rId8"/>
        <p:sld r:id="rId9"/>
        <p:sld r:id="rId10"/>
        <p:sld r:id="rId11"/>
        <p:sld r:id="rId12"/>
        <p:sld r:id="rId13"/>
        <p:sld r:id="rId14"/>
        <p:sld r:id="rId15"/>
        <p:sld r:id="rId16"/>
        <p:sld r:id="rId17"/>
        <p:sld r:id="rId18"/>
        <p:sld r:id="rId19"/>
        <p:sld r:id="rId20"/>
        <p:sld r:id="rId21"/>
        <p:sld r:id="rId22"/>
        <p:sld r:id="rId23"/>
        <p:sld r:id="rId24"/>
        <p:sld r:id="rId25"/>
        <p:sld r:id="rId26"/>
        <p:sld r:id="rId27"/>
        <p:sld r:id="rId28"/>
        <p:sld r:id="rId29"/>
        <p:sld r:id="rId30"/>
        <p:sld r:id="rId31"/>
        <p:sld r:id="rId32"/>
        <p:sld r:id="rId33"/>
        <p:sld r:id="rId34"/>
        <p:sld r:id="rId35"/>
        <p:sld r:id="rId36"/>
        <p:sld r:id="rId37"/>
        <p:sld r:id="rId38"/>
        <p:sld r:id="rId39"/>
      </p:sldLst>
    </p:custShow>
    <p:custShow name="Module 4 B" id="1">
      <p:sldLst/>
    </p:custShow>
    <p:custShow name="Module 5 B" id="2">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363BCC-180E-4E9B-A283-674C94F00287}" v="10" dt="2026-06-09T17:01:43.468"/>
  </p1510:revLst>
</p1510:revInfo>
</file>

<file path=ppt/tableStyles.xml><?xml version="1.0" encoding="utf-8"?>
<a:tblStyleLst xmlns:a="http://schemas.openxmlformats.org/drawingml/2006/main" def="{A9794ACA-B6A2-47D9-BE13-C8960EFA1BC4}">
  <a:tblStyle styleId="{A9794ACA-B6A2-47D9-BE13-C8960EFA1BC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7" autoAdjust="0"/>
    <p:restoredTop sz="91466" autoAdjust="0"/>
  </p:normalViewPr>
  <p:slideViewPr>
    <p:cSldViewPr snapToGrid="0">
      <p:cViewPr varScale="1">
        <p:scale>
          <a:sx n="118" d="100"/>
          <a:sy n="118" d="100"/>
        </p:scale>
        <p:origin x="185" y="65"/>
      </p:cViewPr>
      <p:guideLst/>
    </p:cSldViewPr>
  </p:slideViewPr>
  <p:outlineViewPr>
    <p:cViewPr>
      <p:scale>
        <a:sx n="33" d="100"/>
        <a:sy n="33" d="100"/>
      </p:scale>
      <p:origin x="0" y="0"/>
    </p:cViewPr>
  </p:outlineViewPr>
  <p:notesTextViewPr>
    <p:cViewPr>
      <p:scale>
        <a:sx n="200" d="100"/>
        <a:sy n="2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n Berry" userId="b7d8294d-da7c-45c9-9002-ab631a364979" providerId="ADAL" clId="{718D2BA2-B69C-4596-B36D-F24A681F5194}"/>
    <pc:docChg chg="mod modSld">
      <pc:chgData name="Erin Berry" userId="b7d8294d-da7c-45c9-9002-ab631a364979" providerId="ADAL" clId="{718D2BA2-B69C-4596-B36D-F24A681F5194}" dt="2026-06-09T16:59:44.258" v="1" actId="1076"/>
      <pc:docMkLst>
        <pc:docMk/>
      </pc:docMkLst>
      <pc:sldChg chg="modSp mod">
        <pc:chgData name="Erin Berry" userId="b7d8294d-da7c-45c9-9002-ab631a364979" providerId="ADAL" clId="{718D2BA2-B69C-4596-B36D-F24A681F5194}" dt="2026-06-09T16:59:44.258" v="1" actId="1076"/>
        <pc:sldMkLst>
          <pc:docMk/>
          <pc:sldMk cId="4086484969" sldId="422"/>
        </pc:sldMkLst>
        <pc:picChg chg="mod">
          <ac:chgData name="Erin Berry" userId="b7d8294d-da7c-45c9-9002-ab631a364979" providerId="ADAL" clId="{718D2BA2-B69C-4596-B36D-F24A681F5194}" dt="2026-06-09T16:59:44.258" v="1" actId="1076"/>
          <ac:picMkLst>
            <pc:docMk/>
            <pc:sldMk cId="4086484969" sldId="422"/>
            <ac:picMk id="7" creationId="{5D46ACDE-4ABD-D515-840F-5E54C651FE5F}"/>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00371A-D54E-4BF5-8A2F-1021256DFB30}"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E3E46E17-468A-4E10-9ECC-E956DDD0BF68}">
      <dgm:prSet/>
      <dgm:spPr/>
      <dgm:t>
        <a:bodyPr/>
        <a:lstStyle/>
        <a:p>
          <a:r>
            <a:rPr lang="en-US"/>
            <a:t>Being Purposeful</a:t>
          </a:r>
        </a:p>
      </dgm:t>
    </dgm:pt>
    <dgm:pt modelId="{0FE068AB-BE4E-426C-82D9-466C5A5662D5}" type="parTrans" cxnId="{0085174A-AAE2-4C45-92AC-33FCC1E2F9F5}">
      <dgm:prSet/>
      <dgm:spPr/>
      <dgm:t>
        <a:bodyPr/>
        <a:lstStyle/>
        <a:p>
          <a:endParaRPr lang="en-US"/>
        </a:p>
      </dgm:t>
    </dgm:pt>
    <dgm:pt modelId="{3ED952C2-6DDA-49DB-9BC2-C3C76FB145D6}" type="sibTrans" cxnId="{0085174A-AAE2-4C45-92AC-33FCC1E2F9F5}">
      <dgm:prSet/>
      <dgm:spPr/>
      <dgm:t>
        <a:bodyPr/>
        <a:lstStyle/>
        <a:p>
          <a:endParaRPr lang="en-US"/>
        </a:p>
      </dgm:t>
    </dgm:pt>
    <dgm:pt modelId="{46DCCABF-6361-4EDC-9E51-706120552331}">
      <dgm:prSet/>
      <dgm:spPr/>
      <dgm:t>
        <a:bodyPr/>
        <a:lstStyle/>
        <a:p>
          <a:r>
            <a:rPr lang="en-US"/>
            <a:t>In planning meaningful ways to get involved                </a:t>
          </a:r>
        </a:p>
      </dgm:t>
    </dgm:pt>
    <dgm:pt modelId="{CC7B7B37-DB79-49E8-B852-2956B98D9225}" type="parTrans" cxnId="{E8890781-6DD5-46DF-BDBD-D78D1956E63C}">
      <dgm:prSet/>
      <dgm:spPr/>
      <dgm:t>
        <a:bodyPr/>
        <a:lstStyle/>
        <a:p>
          <a:endParaRPr lang="en-US"/>
        </a:p>
      </dgm:t>
    </dgm:pt>
    <dgm:pt modelId="{812EC2DC-31AF-4F65-A001-B9194C2EC372}" type="sibTrans" cxnId="{E8890781-6DD5-46DF-BDBD-D78D1956E63C}">
      <dgm:prSet/>
      <dgm:spPr/>
      <dgm:t>
        <a:bodyPr/>
        <a:lstStyle/>
        <a:p>
          <a:endParaRPr lang="en-US"/>
        </a:p>
      </dgm:t>
    </dgm:pt>
    <dgm:pt modelId="{CC0BD898-C14A-4DC8-B405-4EEBE45F0E85}">
      <dgm:prSet/>
      <dgm:spPr/>
      <dgm:t>
        <a:bodyPr/>
        <a:lstStyle/>
        <a:p>
          <a:r>
            <a:rPr lang="en-US"/>
            <a:t>In creating your own resources</a:t>
          </a:r>
        </a:p>
      </dgm:t>
    </dgm:pt>
    <dgm:pt modelId="{9E4CB9D6-6A4F-4E57-B07E-C56DC9E8F43D}" type="parTrans" cxnId="{0763FF27-77B4-4776-A371-1777C14B6D58}">
      <dgm:prSet/>
      <dgm:spPr/>
      <dgm:t>
        <a:bodyPr/>
        <a:lstStyle/>
        <a:p>
          <a:endParaRPr lang="en-US"/>
        </a:p>
      </dgm:t>
    </dgm:pt>
    <dgm:pt modelId="{B853BCA4-EC12-42E5-989C-55EEB2658A21}" type="sibTrans" cxnId="{0763FF27-77B4-4776-A371-1777C14B6D58}">
      <dgm:prSet/>
      <dgm:spPr/>
      <dgm:t>
        <a:bodyPr/>
        <a:lstStyle/>
        <a:p>
          <a:endParaRPr lang="en-US"/>
        </a:p>
      </dgm:t>
    </dgm:pt>
    <dgm:pt modelId="{DD9B5F72-6032-433A-99B8-85329AA8A790}">
      <dgm:prSet/>
      <dgm:spPr/>
      <dgm:t>
        <a:bodyPr/>
        <a:lstStyle/>
        <a:p>
          <a:r>
            <a:rPr lang="en-US"/>
            <a:t>In embedding activities into existing academic lessons</a:t>
          </a:r>
        </a:p>
      </dgm:t>
    </dgm:pt>
    <dgm:pt modelId="{0BF43CDD-2AE9-4E21-B74F-B4CC859BF79D}" type="parTrans" cxnId="{F5EBFFB2-E3A1-4262-9845-5250FDF24DBF}">
      <dgm:prSet/>
      <dgm:spPr/>
      <dgm:t>
        <a:bodyPr/>
        <a:lstStyle/>
        <a:p>
          <a:endParaRPr lang="en-US"/>
        </a:p>
      </dgm:t>
    </dgm:pt>
    <dgm:pt modelId="{F2BEFF7A-7479-46F5-9DAC-4AC9C1860CD7}" type="sibTrans" cxnId="{F5EBFFB2-E3A1-4262-9845-5250FDF24DBF}">
      <dgm:prSet/>
      <dgm:spPr/>
      <dgm:t>
        <a:bodyPr/>
        <a:lstStyle/>
        <a:p>
          <a:endParaRPr lang="en-US"/>
        </a:p>
      </dgm:t>
    </dgm:pt>
    <dgm:pt modelId="{340DB440-DC08-4777-9B18-CDE54807E137}" type="pres">
      <dgm:prSet presAssocID="{AE00371A-D54E-4BF5-8A2F-1021256DFB30}" presName="Name0" presStyleCnt="0">
        <dgm:presLayoutVars>
          <dgm:dir/>
          <dgm:animLvl val="lvl"/>
          <dgm:resizeHandles val="exact"/>
        </dgm:presLayoutVars>
      </dgm:prSet>
      <dgm:spPr/>
    </dgm:pt>
    <dgm:pt modelId="{86A73E12-2270-43D7-AF57-A9738C8A50FA}" type="pres">
      <dgm:prSet presAssocID="{E3E46E17-468A-4E10-9ECC-E956DDD0BF68}" presName="linNode" presStyleCnt="0"/>
      <dgm:spPr/>
    </dgm:pt>
    <dgm:pt modelId="{5E712787-DB74-4D08-9125-82BD145F1396}" type="pres">
      <dgm:prSet presAssocID="{E3E46E17-468A-4E10-9ECC-E956DDD0BF68}" presName="parentText" presStyleLbl="node1" presStyleIdx="0" presStyleCnt="1">
        <dgm:presLayoutVars>
          <dgm:chMax val="1"/>
          <dgm:bulletEnabled val="1"/>
        </dgm:presLayoutVars>
      </dgm:prSet>
      <dgm:spPr/>
    </dgm:pt>
    <dgm:pt modelId="{655859D8-7FA7-4070-A4FD-7CBCCEB057B6}" type="pres">
      <dgm:prSet presAssocID="{E3E46E17-468A-4E10-9ECC-E956DDD0BF68}" presName="descendantText" presStyleLbl="alignAccFollowNode1" presStyleIdx="0" presStyleCnt="1">
        <dgm:presLayoutVars>
          <dgm:bulletEnabled val="1"/>
        </dgm:presLayoutVars>
      </dgm:prSet>
      <dgm:spPr/>
    </dgm:pt>
  </dgm:ptLst>
  <dgm:cxnLst>
    <dgm:cxn modelId="{0763FF27-77B4-4776-A371-1777C14B6D58}" srcId="{E3E46E17-468A-4E10-9ECC-E956DDD0BF68}" destId="{CC0BD898-C14A-4DC8-B405-4EEBE45F0E85}" srcOrd="1" destOrd="0" parTransId="{9E4CB9D6-6A4F-4E57-B07E-C56DC9E8F43D}" sibTransId="{B853BCA4-EC12-42E5-989C-55EEB2658A21}"/>
    <dgm:cxn modelId="{F1F69435-F761-4156-B750-55A172A43044}" type="presOf" srcId="{E3E46E17-468A-4E10-9ECC-E956DDD0BF68}" destId="{5E712787-DB74-4D08-9125-82BD145F1396}" srcOrd="0" destOrd="0" presId="urn:microsoft.com/office/officeart/2005/8/layout/vList5"/>
    <dgm:cxn modelId="{9842DF48-87CA-4EEF-B458-35BCBFD31931}" type="presOf" srcId="{46DCCABF-6361-4EDC-9E51-706120552331}" destId="{655859D8-7FA7-4070-A4FD-7CBCCEB057B6}" srcOrd="0" destOrd="0" presId="urn:microsoft.com/office/officeart/2005/8/layout/vList5"/>
    <dgm:cxn modelId="{0085174A-AAE2-4C45-92AC-33FCC1E2F9F5}" srcId="{AE00371A-D54E-4BF5-8A2F-1021256DFB30}" destId="{E3E46E17-468A-4E10-9ECC-E956DDD0BF68}" srcOrd="0" destOrd="0" parTransId="{0FE068AB-BE4E-426C-82D9-466C5A5662D5}" sibTransId="{3ED952C2-6DDA-49DB-9BC2-C3C76FB145D6}"/>
    <dgm:cxn modelId="{E8890781-6DD5-46DF-BDBD-D78D1956E63C}" srcId="{E3E46E17-468A-4E10-9ECC-E956DDD0BF68}" destId="{46DCCABF-6361-4EDC-9E51-706120552331}" srcOrd="0" destOrd="0" parTransId="{CC7B7B37-DB79-49E8-B852-2956B98D9225}" sibTransId="{812EC2DC-31AF-4F65-A001-B9194C2EC372}"/>
    <dgm:cxn modelId="{0F00C186-BEEB-4A2F-B4D4-7A545BBD8633}" type="presOf" srcId="{DD9B5F72-6032-433A-99B8-85329AA8A790}" destId="{655859D8-7FA7-4070-A4FD-7CBCCEB057B6}" srcOrd="0" destOrd="2" presId="urn:microsoft.com/office/officeart/2005/8/layout/vList5"/>
    <dgm:cxn modelId="{F5F954B1-4F69-4CFA-94B5-FCC85088CC76}" type="presOf" srcId="{AE00371A-D54E-4BF5-8A2F-1021256DFB30}" destId="{340DB440-DC08-4777-9B18-CDE54807E137}" srcOrd="0" destOrd="0" presId="urn:microsoft.com/office/officeart/2005/8/layout/vList5"/>
    <dgm:cxn modelId="{F5EBFFB2-E3A1-4262-9845-5250FDF24DBF}" srcId="{E3E46E17-468A-4E10-9ECC-E956DDD0BF68}" destId="{DD9B5F72-6032-433A-99B8-85329AA8A790}" srcOrd="2" destOrd="0" parTransId="{0BF43CDD-2AE9-4E21-B74F-B4CC859BF79D}" sibTransId="{F2BEFF7A-7479-46F5-9DAC-4AC9C1860CD7}"/>
    <dgm:cxn modelId="{1A20ACC6-76BC-4117-BBD6-14371DDDD950}" type="presOf" srcId="{CC0BD898-C14A-4DC8-B405-4EEBE45F0E85}" destId="{655859D8-7FA7-4070-A4FD-7CBCCEB057B6}" srcOrd="0" destOrd="1" presId="urn:microsoft.com/office/officeart/2005/8/layout/vList5"/>
    <dgm:cxn modelId="{26C8A5BD-2C6A-4354-B5CA-FA739A57C875}" type="presParOf" srcId="{340DB440-DC08-4777-9B18-CDE54807E137}" destId="{86A73E12-2270-43D7-AF57-A9738C8A50FA}" srcOrd="0" destOrd="0" presId="urn:microsoft.com/office/officeart/2005/8/layout/vList5"/>
    <dgm:cxn modelId="{B57283C2-6A63-425C-ACDE-B71040BA5053}" type="presParOf" srcId="{86A73E12-2270-43D7-AF57-A9738C8A50FA}" destId="{5E712787-DB74-4D08-9125-82BD145F1396}" srcOrd="0" destOrd="0" presId="urn:microsoft.com/office/officeart/2005/8/layout/vList5"/>
    <dgm:cxn modelId="{E6DE6948-775A-4C73-A746-8C97E64C4545}" type="presParOf" srcId="{86A73E12-2270-43D7-AF57-A9738C8A50FA}" destId="{655859D8-7FA7-4070-A4FD-7CBCCEB057B6}"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EF458E4-394B-4EDE-A330-A2CDF292AF65}" type="doc">
      <dgm:prSet loTypeId="urn:microsoft.com/office/officeart/2016/7/layout/BasicLinearProcessNumbered" loCatId="process" qsTypeId="urn:microsoft.com/office/officeart/2005/8/quickstyle/simple2" qsCatId="simple" csTypeId="urn:microsoft.com/office/officeart/2005/8/colors/accent3_2" csCatId="accent3" phldr="1"/>
      <dgm:spPr/>
      <dgm:t>
        <a:bodyPr/>
        <a:lstStyle/>
        <a:p>
          <a:endParaRPr lang="en-US"/>
        </a:p>
      </dgm:t>
    </dgm:pt>
    <dgm:pt modelId="{40E7C2CA-D0B7-4AF2-9034-0DDDC2CC390E}">
      <dgm:prSet/>
      <dgm:spPr/>
      <dgm:t>
        <a:bodyPr/>
        <a:lstStyle/>
        <a:p>
          <a:r>
            <a:rPr lang="en-US" dirty="0"/>
            <a:t>Make gradual steps toward full involvement and leading the IEP meeting</a:t>
          </a:r>
        </a:p>
      </dgm:t>
      <dgm:extLst>
        <a:ext uri="{E40237B7-FDA0-4F09-8148-C483321AD2D9}">
          <dgm14:cNvPr xmlns:dgm14="http://schemas.microsoft.com/office/drawing/2010/diagram" id="0" name="" descr="1. Start with small changes to engage students in the process and let their voices be heard in the meeting.&#10;2. Make gradual steps toward full involvement and leading the IEP meeting&#10;3. Use a variety of pre-made tools to engage students"/>
        </a:ext>
      </dgm:extLst>
    </dgm:pt>
    <dgm:pt modelId="{E5141DDD-D556-424B-970D-93E16A197280}" type="parTrans" cxnId="{841AC7A3-9684-4844-A2A5-EB2758CC093D}">
      <dgm:prSet/>
      <dgm:spPr/>
      <dgm:t>
        <a:bodyPr/>
        <a:lstStyle/>
        <a:p>
          <a:endParaRPr lang="en-US"/>
        </a:p>
      </dgm:t>
    </dgm:pt>
    <dgm:pt modelId="{EFBFBACC-1918-46F0-92BB-AEBF0226A92A}" type="sibTrans" cxnId="{841AC7A3-9684-4844-A2A5-EB2758CC093D}">
      <dgm:prSet phldrT="2" phldr="0"/>
      <dgm:spPr/>
      <dgm:t>
        <a:bodyPr/>
        <a:lstStyle/>
        <a:p>
          <a:r>
            <a:rPr lang="en-US"/>
            <a:t>2</a:t>
          </a:r>
        </a:p>
      </dgm:t>
    </dgm:pt>
    <dgm:pt modelId="{859A8E53-C3C9-40A2-9190-4958E3800629}">
      <dgm:prSet/>
      <dgm:spPr/>
      <dgm:t>
        <a:bodyPr/>
        <a:lstStyle/>
        <a:p>
          <a:r>
            <a:rPr lang="en-US" dirty="0"/>
            <a:t>Use a variety of pre-made tools to engage students</a:t>
          </a:r>
        </a:p>
      </dgm:t>
    </dgm:pt>
    <dgm:pt modelId="{071966E2-7085-4DB3-B217-A2F7887191F0}" type="parTrans" cxnId="{3ADC10A4-01C7-479D-9343-91E11BC812C1}">
      <dgm:prSet/>
      <dgm:spPr/>
      <dgm:t>
        <a:bodyPr/>
        <a:lstStyle/>
        <a:p>
          <a:endParaRPr lang="en-US"/>
        </a:p>
      </dgm:t>
    </dgm:pt>
    <dgm:pt modelId="{FF581293-2467-4210-B115-F1B1C1766196}" type="sibTrans" cxnId="{3ADC10A4-01C7-479D-9343-91E11BC812C1}">
      <dgm:prSet phldrT="3" phldr="0"/>
      <dgm:spPr/>
      <dgm:t>
        <a:bodyPr/>
        <a:lstStyle/>
        <a:p>
          <a:r>
            <a:rPr lang="en-US"/>
            <a:t>3</a:t>
          </a:r>
        </a:p>
      </dgm:t>
    </dgm:pt>
    <dgm:pt modelId="{74D49184-6F1C-4906-A73E-F934941CD0E4}">
      <dgm:prSet/>
      <dgm:spPr/>
      <dgm:t>
        <a:bodyPr/>
        <a:lstStyle/>
        <a:p>
          <a:r>
            <a:rPr lang="en-US" dirty="0"/>
            <a:t>Start with small changes to engage students in the process and let their voices be heard in the meeting</a:t>
          </a:r>
        </a:p>
      </dgm:t>
    </dgm:pt>
    <dgm:pt modelId="{BDF7DCDF-7A98-4DB7-9081-9E6ED52A931D}" type="sibTrans" cxnId="{5E91F631-C4A2-498A-ABAC-53CB12D67F6C}">
      <dgm:prSet phldrT="1" phldr="0"/>
      <dgm:spPr/>
      <dgm:t>
        <a:bodyPr/>
        <a:lstStyle/>
        <a:p>
          <a:r>
            <a:rPr lang="en-US"/>
            <a:t>1</a:t>
          </a:r>
          <a:endParaRPr lang="en-US" dirty="0"/>
        </a:p>
      </dgm:t>
    </dgm:pt>
    <dgm:pt modelId="{C4181F37-2C2F-4CCF-9C21-D38FC6A62D6A}" type="parTrans" cxnId="{5E91F631-C4A2-498A-ABAC-53CB12D67F6C}">
      <dgm:prSet/>
      <dgm:spPr/>
      <dgm:t>
        <a:bodyPr/>
        <a:lstStyle/>
        <a:p>
          <a:endParaRPr lang="en-US"/>
        </a:p>
      </dgm:t>
    </dgm:pt>
    <dgm:pt modelId="{1A41685B-A544-4CBF-8D1B-4CC85EF79B0C}" type="pres">
      <dgm:prSet presAssocID="{7EF458E4-394B-4EDE-A330-A2CDF292AF65}" presName="Name0" presStyleCnt="0">
        <dgm:presLayoutVars>
          <dgm:animLvl val="lvl"/>
          <dgm:resizeHandles val="exact"/>
        </dgm:presLayoutVars>
      </dgm:prSet>
      <dgm:spPr/>
    </dgm:pt>
    <dgm:pt modelId="{C323FC01-9B1D-42D4-9E14-83C61C14A25B}" type="pres">
      <dgm:prSet presAssocID="{74D49184-6F1C-4906-A73E-F934941CD0E4}" presName="compositeNode" presStyleCnt="0">
        <dgm:presLayoutVars>
          <dgm:bulletEnabled val="1"/>
        </dgm:presLayoutVars>
      </dgm:prSet>
      <dgm:spPr/>
    </dgm:pt>
    <dgm:pt modelId="{5F38A69B-9A53-4977-8600-36BF8D875678}" type="pres">
      <dgm:prSet presAssocID="{74D49184-6F1C-4906-A73E-F934941CD0E4}" presName="bgRect" presStyleLbl="bgAccFollowNode1" presStyleIdx="0" presStyleCnt="3" custScaleY="191947"/>
      <dgm:spPr/>
    </dgm:pt>
    <dgm:pt modelId="{6C4474D2-328B-441D-B6B9-F9C5D923429B}" type="pres">
      <dgm:prSet presAssocID="{BDF7DCDF-7A98-4DB7-9081-9E6ED52A931D}" presName="sibTransNodeCircle" presStyleLbl="alignNode1" presStyleIdx="0" presStyleCnt="6" custLinFactY="-38848" custLinFactNeighborX="-2636" custLinFactNeighborY="-100000">
        <dgm:presLayoutVars>
          <dgm:chMax val="0"/>
          <dgm:bulletEnabled/>
        </dgm:presLayoutVars>
      </dgm:prSet>
      <dgm:spPr/>
    </dgm:pt>
    <dgm:pt modelId="{5C57B557-F2DD-4C25-B9DB-49D6156F4138}" type="pres">
      <dgm:prSet presAssocID="{74D49184-6F1C-4906-A73E-F934941CD0E4}" presName="bottomLine" presStyleLbl="alignNode1" presStyleIdx="1" presStyleCnt="6" custFlipVert="1" custScaleY="2000000" custLinFactY="542300000" custLinFactNeighborY="542369444">
        <dgm:presLayoutVars/>
      </dgm:prSet>
      <dgm:spPr/>
    </dgm:pt>
    <dgm:pt modelId="{3820533F-2C0F-4C48-A5DB-B9D8BCBA48A8}" type="pres">
      <dgm:prSet presAssocID="{74D49184-6F1C-4906-A73E-F934941CD0E4}" presName="nodeText" presStyleLbl="bgAccFollowNode1" presStyleIdx="0" presStyleCnt="3">
        <dgm:presLayoutVars>
          <dgm:bulletEnabled val="1"/>
        </dgm:presLayoutVars>
      </dgm:prSet>
      <dgm:spPr/>
    </dgm:pt>
    <dgm:pt modelId="{D1428FBF-71EF-465E-AC04-46209941A28D}" type="pres">
      <dgm:prSet presAssocID="{BDF7DCDF-7A98-4DB7-9081-9E6ED52A931D}" presName="sibTrans" presStyleCnt="0"/>
      <dgm:spPr/>
    </dgm:pt>
    <dgm:pt modelId="{544DD89D-48AE-425D-B8DE-6AC12557D782}" type="pres">
      <dgm:prSet presAssocID="{40E7C2CA-D0B7-4AF2-9034-0DDDC2CC390E}" presName="compositeNode" presStyleCnt="0">
        <dgm:presLayoutVars>
          <dgm:bulletEnabled val="1"/>
        </dgm:presLayoutVars>
      </dgm:prSet>
      <dgm:spPr/>
    </dgm:pt>
    <dgm:pt modelId="{DFAFB096-2DCC-4DE9-B7EC-A05198A2EDA4}" type="pres">
      <dgm:prSet presAssocID="{40E7C2CA-D0B7-4AF2-9034-0DDDC2CC390E}" presName="bgRect" presStyleLbl="bgAccFollowNode1" presStyleIdx="1" presStyleCnt="3" custScaleY="191947" custLinFactNeighborX="2215" custLinFactNeighborY="-4964"/>
      <dgm:spPr/>
    </dgm:pt>
    <dgm:pt modelId="{C7A26604-C461-43AC-9473-EAB043FC1066}" type="pres">
      <dgm:prSet presAssocID="{EFBFBACC-1918-46F0-92BB-AEBF0226A92A}" presName="sibTransNodeCircle" presStyleLbl="alignNode1" presStyleIdx="2" presStyleCnt="6" custLinFactY="-40605" custLinFactNeighborY="-100000">
        <dgm:presLayoutVars>
          <dgm:chMax val="0"/>
          <dgm:bulletEnabled/>
        </dgm:presLayoutVars>
      </dgm:prSet>
      <dgm:spPr/>
    </dgm:pt>
    <dgm:pt modelId="{F34E427F-4E71-4714-95EA-0CD07936B0BC}" type="pres">
      <dgm:prSet presAssocID="{40E7C2CA-D0B7-4AF2-9034-0DDDC2CC390E}" presName="bottomLine" presStyleLbl="alignNode1" presStyleIdx="3" presStyleCnt="6" custLinFactY="542819444" custLinFactNeighborX="1476" custLinFactNeighborY="542900000">
        <dgm:presLayoutVars/>
      </dgm:prSet>
      <dgm:spPr/>
    </dgm:pt>
    <dgm:pt modelId="{44BE4A54-03B3-44F8-A1D7-599EB718561E}" type="pres">
      <dgm:prSet presAssocID="{40E7C2CA-D0B7-4AF2-9034-0DDDC2CC390E}" presName="nodeText" presStyleLbl="bgAccFollowNode1" presStyleIdx="1" presStyleCnt="3">
        <dgm:presLayoutVars>
          <dgm:bulletEnabled val="1"/>
        </dgm:presLayoutVars>
      </dgm:prSet>
      <dgm:spPr/>
    </dgm:pt>
    <dgm:pt modelId="{4E349A73-AE61-4AEA-AC74-6FAE1486DB92}" type="pres">
      <dgm:prSet presAssocID="{EFBFBACC-1918-46F0-92BB-AEBF0226A92A}" presName="sibTrans" presStyleCnt="0"/>
      <dgm:spPr/>
    </dgm:pt>
    <dgm:pt modelId="{077AD7F8-50DF-41A8-8A65-B4FB08764CE9}" type="pres">
      <dgm:prSet presAssocID="{859A8E53-C3C9-40A2-9190-4958E3800629}" presName="compositeNode" presStyleCnt="0">
        <dgm:presLayoutVars>
          <dgm:bulletEnabled val="1"/>
        </dgm:presLayoutVars>
      </dgm:prSet>
      <dgm:spPr/>
    </dgm:pt>
    <dgm:pt modelId="{2AB7909F-D3BF-45D0-AA80-08B71F5EB3F5}" type="pres">
      <dgm:prSet presAssocID="{859A8E53-C3C9-40A2-9190-4958E3800629}" presName="bgRect" presStyleLbl="bgAccFollowNode1" presStyleIdx="2" presStyleCnt="3" custScaleY="191947" custLinFactX="100000" custLinFactNeighborX="134371" custLinFactNeighborY="-2109"/>
      <dgm:spPr/>
    </dgm:pt>
    <dgm:pt modelId="{59E5698E-6AA9-419E-B2E3-2509915E87AD}" type="pres">
      <dgm:prSet presAssocID="{FF581293-2467-4210-B115-F1B1C1766196}" presName="sibTransNodeCircle" presStyleLbl="alignNode1" presStyleIdx="4" presStyleCnt="6" custLinFactY="-39726" custLinFactNeighborX="879" custLinFactNeighborY="-100000">
        <dgm:presLayoutVars>
          <dgm:chMax val="0"/>
          <dgm:bulletEnabled/>
        </dgm:presLayoutVars>
      </dgm:prSet>
      <dgm:spPr/>
    </dgm:pt>
    <dgm:pt modelId="{75452C36-59A2-49C2-A8D4-1F95F04DAB8E}" type="pres">
      <dgm:prSet presAssocID="{859A8E53-C3C9-40A2-9190-4958E3800629}" presName="bottomLine" presStyleLbl="alignNode1" presStyleIdx="5" presStyleCnt="6" custLinFactY="542800000" custLinFactNeighborX="-2584" custLinFactNeighborY="542819444">
        <dgm:presLayoutVars/>
      </dgm:prSet>
      <dgm:spPr/>
    </dgm:pt>
    <dgm:pt modelId="{D3F6D35C-D054-4554-BA00-8E2C24152B82}" type="pres">
      <dgm:prSet presAssocID="{859A8E53-C3C9-40A2-9190-4958E3800629}" presName="nodeText" presStyleLbl="bgAccFollowNode1" presStyleIdx="2" presStyleCnt="3">
        <dgm:presLayoutVars>
          <dgm:bulletEnabled val="1"/>
        </dgm:presLayoutVars>
      </dgm:prSet>
      <dgm:spPr/>
    </dgm:pt>
  </dgm:ptLst>
  <dgm:cxnLst>
    <dgm:cxn modelId="{B0F0C929-D91F-44A0-9AAB-39B40778CA90}" type="presOf" srcId="{BDF7DCDF-7A98-4DB7-9081-9E6ED52A931D}" destId="{6C4474D2-328B-441D-B6B9-F9C5D923429B}" srcOrd="0" destOrd="0" presId="urn:microsoft.com/office/officeart/2016/7/layout/BasicLinearProcessNumbered"/>
    <dgm:cxn modelId="{635FDB30-30C2-481D-947B-D18725A806E8}" type="presOf" srcId="{FF581293-2467-4210-B115-F1B1C1766196}" destId="{59E5698E-6AA9-419E-B2E3-2509915E87AD}" srcOrd="0" destOrd="0" presId="urn:microsoft.com/office/officeart/2016/7/layout/BasicLinearProcessNumbered"/>
    <dgm:cxn modelId="{5E91F631-C4A2-498A-ABAC-53CB12D67F6C}" srcId="{7EF458E4-394B-4EDE-A330-A2CDF292AF65}" destId="{74D49184-6F1C-4906-A73E-F934941CD0E4}" srcOrd="0" destOrd="0" parTransId="{C4181F37-2C2F-4CCF-9C21-D38FC6A62D6A}" sibTransId="{BDF7DCDF-7A98-4DB7-9081-9E6ED52A931D}"/>
    <dgm:cxn modelId="{8F052537-86A3-4006-8949-269B8DC4058F}" type="presOf" srcId="{7EF458E4-394B-4EDE-A330-A2CDF292AF65}" destId="{1A41685B-A544-4CBF-8D1B-4CC85EF79B0C}" srcOrd="0" destOrd="0" presId="urn:microsoft.com/office/officeart/2016/7/layout/BasicLinearProcessNumbered"/>
    <dgm:cxn modelId="{D2B42D3F-31F3-45EE-A664-5709297B432C}" type="presOf" srcId="{859A8E53-C3C9-40A2-9190-4958E3800629}" destId="{2AB7909F-D3BF-45D0-AA80-08B71F5EB3F5}" srcOrd="0" destOrd="0" presId="urn:microsoft.com/office/officeart/2016/7/layout/BasicLinearProcessNumbered"/>
    <dgm:cxn modelId="{1BFA5B6D-39D1-41AE-BFD4-9B25F5F7756B}" type="presOf" srcId="{74D49184-6F1C-4906-A73E-F934941CD0E4}" destId="{3820533F-2C0F-4C48-A5DB-B9D8BCBA48A8}" srcOrd="1" destOrd="0" presId="urn:microsoft.com/office/officeart/2016/7/layout/BasicLinearProcessNumbered"/>
    <dgm:cxn modelId="{6EC32A6E-473B-4095-8E09-0294F556BDA8}" type="presOf" srcId="{40E7C2CA-D0B7-4AF2-9034-0DDDC2CC390E}" destId="{44BE4A54-03B3-44F8-A1D7-599EB718561E}" srcOrd="1" destOrd="0" presId="urn:microsoft.com/office/officeart/2016/7/layout/BasicLinearProcessNumbered"/>
    <dgm:cxn modelId="{841AC7A3-9684-4844-A2A5-EB2758CC093D}" srcId="{7EF458E4-394B-4EDE-A330-A2CDF292AF65}" destId="{40E7C2CA-D0B7-4AF2-9034-0DDDC2CC390E}" srcOrd="1" destOrd="0" parTransId="{E5141DDD-D556-424B-970D-93E16A197280}" sibTransId="{EFBFBACC-1918-46F0-92BB-AEBF0226A92A}"/>
    <dgm:cxn modelId="{3ADC10A4-01C7-479D-9343-91E11BC812C1}" srcId="{7EF458E4-394B-4EDE-A330-A2CDF292AF65}" destId="{859A8E53-C3C9-40A2-9190-4958E3800629}" srcOrd="2" destOrd="0" parTransId="{071966E2-7085-4DB3-B217-A2F7887191F0}" sibTransId="{FF581293-2467-4210-B115-F1B1C1766196}"/>
    <dgm:cxn modelId="{B9B2F7A8-93A2-4E60-B56D-4C5790E8E17F}" type="presOf" srcId="{40E7C2CA-D0B7-4AF2-9034-0DDDC2CC390E}" destId="{DFAFB096-2DCC-4DE9-B7EC-A05198A2EDA4}" srcOrd="0" destOrd="0" presId="urn:microsoft.com/office/officeart/2016/7/layout/BasicLinearProcessNumbered"/>
    <dgm:cxn modelId="{13FA1CBC-1C1C-42E4-B802-3E85249DC9F2}" type="presOf" srcId="{EFBFBACC-1918-46F0-92BB-AEBF0226A92A}" destId="{C7A26604-C461-43AC-9473-EAB043FC1066}" srcOrd="0" destOrd="0" presId="urn:microsoft.com/office/officeart/2016/7/layout/BasicLinearProcessNumbered"/>
    <dgm:cxn modelId="{A7DF9DC5-9769-4835-83CD-1427AB7FB713}" type="presOf" srcId="{74D49184-6F1C-4906-A73E-F934941CD0E4}" destId="{5F38A69B-9A53-4977-8600-36BF8D875678}" srcOrd="0" destOrd="0" presId="urn:microsoft.com/office/officeart/2016/7/layout/BasicLinearProcessNumbered"/>
    <dgm:cxn modelId="{CED7C8D5-8B19-45BF-843B-92AA04A0806E}" type="presOf" srcId="{859A8E53-C3C9-40A2-9190-4958E3800629}" destId="{D3F6D35C-D054-4554-BA00-8E2C24152B82}" srcOrd="1" destOrd="0" presId="urn:microsoft.com/office/officeart/2016/7/layout/BasicLinearProcessNumbered"/>
    <dgm:cxn modelId="{5673F6E6-120E-4F7F-A1F3-C64332DB0766}" type="presParOf" srcId="{1A41685B-A544-4CBF-8D1B-4CC85EF79B0C}" destId="{C323FC01-9B1D-42D4-9E14-83C61C14A25B}" srcOrd="0" destOrd="0" presId="urn:microsoft.com/office/officeart/2016/7/layout/BasicLinearProcessNumbered"/>
    <dgm:cxn modelId="{8A8CE502-CE81-46DE-A705-144AAC0589F8}" type="presParOf" srcId="{C323FC01-9B1D-42D4-9E14-83C61C14A25B}" destId="{5F38A69B-9A53-4977-8600-36BF8D875678}" srcOrd="0" destOrd="0" presId="urn:microsoft.com/office/officeart/2016/7/layout/BasicLinearProcessNumbered"/>
    <dgm:cxn modelId="{AAE26AC9-8A8B-4B23-ACB7-C1DD9B5726BC}" type="presParOf" srcId="{C323FC01-9B1D-42D4-9E14-83C61C14A25B}" destId="{6C4474D2-328B-441D-B6B9-F9C5D923429B}" srcOrd="1" destOrd="0" presId="urn:microsoft.com/office/officeart/2016/7/layout/BasicLinearProcessNumbered"/>
    <dgm:cxn modelId="{47528B4B-A8BA-47FB-85DC-EC23CBA68FB8}" type="presParOf" srcId="{C323FC01-9B1D-42D4-9E14-83C61C14A25B}" destId="{5C57B557-F2DD-4C25-B9DB-49D6156F4138}" srcOrd="2" destOrd="0" presId="urn:microsoft.com/office/officeart/2016/7/layout/BasicLinearProcessNumbered"/>
    <dgm:cxn modelId="{7274E405-65EE-4E09-8D4A-1469797A387F}" type="presParOf" srcId="{C323FC01-9B1D-42D4-9E14-83C61C14A25B}" destId="{3820533F-2C0F-4C48-A5DB-B9D8BCBA48A8}" srcOrd="3" destOrd="0" presId="urn:microsoft.com/office/officeart/2016/7/layout/BasicLinearProcessNumbered"/>
    <dgm:cxn modelId="{B9778360-9C53-4688-87BC-A95586ADDD9E}" type="presParOf" srcId="{1A41685B-A544-4CBF-8D1B-4CC85EF79B0C}" destId="{D1428FBF-71EF-465E-AC04-46209941A28D}" srcOrd="1" destOrd="0" presId="urn:microsoft.com/office/officeart/2016/7/layout/BasicLinearProcessNumbered"/>
    <dgm:cxn modelId="{AF647D84-F635-44B7-A643-5FFC9CF1CE07}" type="presParOf" srcId="{1A41685B-A544-4CBF-8D1B-4CC85EF79B0C}" destId="{544DD89D-48AE-425D-B8DE-6AC12557D782}" srcOrd="2" destOrd="0" presId="urn:microsoft.com/office/officeart/2016/7/layout/BasicLinearProcessNumbered"/>
    <dgm:cxn modelId="{90FC2EC0-AD49-427D-8364-3E522121EB56}" type="presParOf" srcId="{544DD89D-48AE-425D-B8DE-6AC12557D782}" destId="{DFAFB096-2DCC-4DE9-B7EC-A05198A2EDA4}" srcOrd="0" destOrd="0" presId="urn:microsoft.com/office/officeart/2016/7/layout/BasicLinearProcessNumbered"/>
    <dgm:cxn modelId="{6012C722-C15C-484C-999D-EDA6B13BF62D}" type="presParOf" srcId="{544DD89D-48AE-425D-B8DE-6AC12557D782}" destId="{C7A26604-C461-43AC-9473-EAB043FC1066}" srcOrd="1" destOrd="0" presId="urn:microsoft.com/office/officeart/2016/7/layout/BasicLinearProcessNumbered"/>
    <dgm:cxn modelId="{049B1580-F8C2-4BE6-8082-11F525D76B26}" type="presParOf" srcId="{544DD89D-48AE-425D-B8DE-6AC12557D782}" destId="{F34E427F-4E71-4714-95EA-0CD07936B0BC}" srcOrd="2" destOrd="0" presId="urn:microsoft.com/office/officeart/2016/7/layout/BasicLinearProcessNumbered"/>
    <dgm:cxn modelId="{1EA00069-646A-4B23-870E-45AF701B4DCD}" type="presParOf" srcId="{544DD89D-48AE-425D-B8DE-6AC12557D782}" destId="{44BE4A54-03B3-44F8-A1D7-599EB718561E}" srcOrd="3" destOrd="0" presId="urn:microsoft.com/office/officeart/2016/7/layout/BasicLinearProcessNumbered"/>
    <dgm:cxn modelId="{C81563DF-CB9D-474A-965C-D2888A037769}" type="presParOf" srcId="{1A41685B-A544-4CBF-8D1B-4CC85EF79B0C}" destId="{4E349A73-AE61-4AEA-AC74-6FAE1486DB92}" srcOrd="3" destOrd="0" presId="urn:microsoft.com/office/officeart/2016/7/layout/BasicLinearProcessNumbered"/>
    <dgm:cxn modelId="{8216B21F-A03E-4832-A0C5-17C143DFC182}" type="presParOf" srcId="{1A41685B-A544-4CBF-8D1B-4CC85EF79B0C}" destId="{077AD7F8-50DF-41A8-8A65-B4FB08764CE9}" srcOrd="4" destOrd="0" presId="urn:microsoft.com/office/officeart/2016/7/layout/BasicLinearProcessNumbered"/>
    <dgm:cxn modelId="{62926568-73CC-4459-9949-C1FC23E74AF4}" type="presParOf" srcId="{077AD7F8-50DF-41A8-8A65-B4FB08764CE9}" destId="{2AB7909F-D3BF-45D0-AA80-08B71F5EB3F5}" srcOrd="0" destOrd="0" presId="urn:microsoft.com/office/officeart/2016/7/layout/BasicLinearProcessNumbered"/>
    <dgm:cxn modelId="{5FBECD35-6BA0-41E4-8D66-7DA2ADEEAD9F}" type="presParOf" srcId="{077AD7F8-50DF-41A8-8A65-B4FB08764CE9}" destId="{59E5698E-6AA9-419E-B2E3-2509915E87AD}" srcOrd="1" destOrd="0" presId="urn:microsoft.com/office/officeart/2016/7/layout/BasicLinearProcessNumbered"/>
    <dgm:cxn modelId="{47B21422-76FA-483B-9825-535874FF410F}" type="presParOf" srcId="{077AD7F8-50DF-41A8-8A65-B4FB08764CE9}" destId="{75452C36-59A2-49C2-A8D4-1F95F04DAB8E}" srcOrd="2" destOrd="0" presId="urn:microsoft.com/office/officeart/2016/7/layout/BasicLinearProcessNumbered"/>
    <dgm:cxn modelId="{89ECCAB9-5126-4675-B906-423433F2A1EE}" type="presParOf" srcId="{077AD7F8-50DF-41A8-8A65-B4FB08764CE9}" destId="{D3F6D35C-D054-4554-BA00-8E2C24152B82}" srcOrd="3" destOrd="0" presId="urn:microsoft.com/office/officeart/2016/7/layout/BasicLinearProcessNumbered"/>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FB5DE92-91F0-4310-B363-02D3F804C1DF}" type="doc">
      <dgm:prSet loTypeId="urn:microsoft.com/office/officeart/2005/8/layout/process4" loCatId="process" qsTypeId="urn:microsoft.com/office/officeart/2005/8/quickstyle/simple4" qsCatId="simple" csTypeId="urn:microsoft.com/office/officeart/2005/8/colors/accent2_2" csCatId="accent2"/>
      <dgm:spPr/>
      <dgm:t>
        <a:bodyPr/>
        <a:lstStyle/>
        <a:p>
          <a:endParaRPr lang="en-US"/>
        </a:p>
      </dgm:t>
    </dgm:pt>
    <dgm:pt modelId="{656C987C-027A-4E3A-BD5D-30DC7ABF93E6}">
      <dgm:prSet/>
      <dgm:spPr/>
      <dgm:t>
        <a:bodyPr/>
        <a:lstStyle/>
        <a:p>
          <a:r>
            <a:rPr lang="en-US"/>
            <a:t>College Finder for 340 postsecondary education programs for students with intellectual disabilities</a:t>
          </a:r>
        </a:p>
      </dgm:t>
    </dgm:pt>
    <dgm:pt modelId="{06AF2BEC-7D5B-4CF2-93A0-DDB25092294D}" type="parTrans" cxnId="{40879607-D018-4DDE-943E-703AE64510A6}">
      <dgm:prSet/>
      <dgm:spPr/>
      <dgm:t>
        <a:bodyPr/>
        <a:lstStyle/>
        <a:p>
          <a:endParaRPr lang="en-US"/>
        </a:p>
      </dgm:t>
    </dgm:pt>
    <dgm:pt modelId="{B05F2E23-4E79-4A40-9F83-7AD250F31F4E}" type="sibTrans" cxnId="{40879607-D018-4DDE-943E-703AE64510A6}">
      <dgm:prSet/>
      <dgm:spPr/>
      <dgm:t>
        <a:bodyPr/>
        <a:lstStyle/>
        <a:p>
          <a:endParaRPr lang="en-US"/>
        </a:p>
      </dgm:t>
    </dgm:pt>
    <dgm:pt modelId="{77D66909-F1B3-45BD-B7A6-2A8A5D395906}">
      <dgm:prSet/>
      <dgm:spPr/>
      <dgm:t>
        <a:bodyPr/>
        <a:lstStyle/>
        <a:p>
          <a:r>
            <a:rPr lang="en-US"/>
            <a:t>Filter results by:</a:t>
          </a:r>
        </a:p>
      </dgm:t>
    </dgm:pt>
    <dgm:pt modelId="{83404CEB-1BBE-4D75-8761-0221B973ED12}" type="parTrans" cxnId="{C026D75E-76FA-4C97-B9A1-A1348744640D}">
      <dgm:prSet/>
      <dgm:spPr/>
      <dgm:t>
        <a:bodyPr/>
        <a:lstStyle/>
        <a:p>
          <a:endParaRPr lang="en-US"/>
        </a:p>
      </dgm:t>
    </dgm:pt>
    <dgm:pt modelId="{E4F00360-FDFF-4CFF-9C90-A4E47AE8427A}" type="sibTrans" cxnId="{C026D75E-76FA-4C97-B9A1-A1348744640D}">
      <dgm:prSet/>
      <dgm:spPr/>
      <dgm:t>
        <a:bodyPr/>
        <a:lstStyle/>
        <a:p>
          <a:endParaRPr lang="en-US"/>
        </a:p>
      </dgm:t>
    </dgm:pt>
    <dgm:pt modelId="{328997EC-02BB-4CBD-ADE2-EE3DA8FB18B4}">
      <dgm:prSet/>
      <dgm:spPr/>
      <dgm:t>
        <a:bodyPr/>
        <a:lstStyle/>
        <a:p>
          <a:r>
            <a:rPr lang="en-US"/>
            <a:t>Location (state)</a:t>
          </a:r>
        </a:p>
      </dgm:t>
    </dgm:pt>
    <dgm:pt modelId="{A75C7DE7-0F5A-44BD-8A70-F997F96478A4}" type="parTrans" cxnId="{69597591-243F-4F57-A542-23FC30A892BB}">
      <dgm:prSet/>
      <dgm:spPr/>
      <dgm:t>
        <a:bodyPr/>
        <a:lstStyle/>
        <a:p>
          <a:endParaRPr lang="en-US"/>
        </a:p>
      </dgm:t>
    </dgm:pt>
    <dgm:pt modelId="{6DD848B4-29E0-4D0F-805C-E32D3DA7B324}" type="sibTrans" cxnId="{69597591-243F-4F57-A542-23FC30A892BB}">
      <dgm:prSet/>
      <dgm:spPr/>
      <dgm:t>
        <a:bodyPr/>
        <a:lstStyle/>
        <a:p>
          <a:endParaRPr lang="en-US"/>
        </a:p>
      </dgm:t>
    </dgm:pt>
    <dgm:pt modelId="{C6992C7C-DC08-43A3-A218-489DEE120502}">
      <dgm:prSet/>
      <dgm:spPr/>
      <dgm:t>
        <a:bodyPr/>
        <a:lstStyle/>
        <a:p>
          <a:r>
            <a:rPr lang="en-US"/>
            <a:t>Program features</a:t>
          </a:r>
        </a:p>
      </dgm:t>
    </dgm:pt>
    <dgm:pt modelId="{E246C5FA-D047-4E80-808E-6737E4260D00}" type="parTrans" cxnId="{485FC383-E418-4B5A-8848-0B6B79060661}">
      <dgm:prSet/>
      <dgm:spPr/>
      <dgm:t>
        <a:bodyPr/>
        <a:lstStyle/>
        <a:p>
          <a:endParaRPr lang="en-US"/>
        </a:p>
      </dgm:t>
    </dgm:pt>
    <dgm:pt modelId="{FEFE18D9-8498-4FBB-9512-584E7CABB0ED}" type="sibTrans" cxnId="{485FC383-E418-4B5A-8848-0B6B79060661}">
      <dgm:prSet/>
      <dgm:spPr/>
      <dgm:t>
        <a:bodyPr/>
        <a:lstStyle/>
        <a:p>
          <a:endParaRPr lang="en-US"/>
        </a:p>
      </dgm:t>
    </dgm:pt>
    <dgm:pt modelId="{A2BEDCE5-A58B-447C-80C6-FADF93E88DAF}">
      <dgm:prSet/>
      <dgm:spPr/>
      <dgm:t>
        <a:bodyPr/>
        <a:lstStyle/>
        <a:p>
          <a:r>
            <a:rPr lang="en-US"/>
            <a:t>Disability</a:t>
          </a:r>
        </a:p>
      </dgm:t>
    </dgm:pt>
    <dgm:pt modelId="{04764C55-29B8-401D-AC91-786BDA0834AB}" type="parTrans" cxnId="{2A4B6E5F-B9DF-4804-B5D7-4101C6D5224A}">
      <dgm:prSet/>
      <dgm:spPr/>
      <dgm:t>
        <a:bodyPr/>
        <a:lstStyle/>
        <a:p>
          <a:endParaRPr lang="en-US"/>
        </a:p>
      </dgm:t>
    </dgm:pt>
    <dgm:pt modelId="{003ECD66-9DF6-4606-8F28-C8FA8C0D3A24}" type="sibTrans" cxnId="{2A4B6E5F-B9DF-4804-B5D7-4101C6D5224A}">
      <dgm:prSet/>
      <dgm:spPr/>
      <dgm:t>
        <a:bodyPr/>
        <a:lstStyle/>
        <a:p>
          <a:endParaRPr lang="en-US"/>
        </a:p>
      </dgm:t>
    </dgm:pt>
    <dgm:pt modelId="{F3E452A1-23C9-4876-A6C6-5796ABC37089}">
      <dgm:prSet/>
      <dgm:spPr/>
      <dgm:t>
        <a:bodyPr/>
        <a:lstStyle/>
        <a:p>
          <a:r>
            <a:rPr lang="en-US"/>
            <a:t>Public or private</a:t>
          </a:r>
        </a:p>
      </dgm:t>
    </dgm:pt>
    <dgm:pt modelId="{2721F35A-B510-43D5-97D8-B8553964D3C7}" type="parTrans" cxnId="{F971F5FA-85BF-4EF0-A5A8-647BE03998A7}">
      <dgm:prSet/>
      <dgm:spPr/>
      <dgm:t>
        <a:bodyPr/>
        <a:lstStyle/>
        <a:p>
          <a:endParaRPr lang="en-US"/>
        </a:p>
      </dgm:t>
    </dgm:pt>
    <dgm:pt modelId="{0CD65705-A66E-4BD5-932F-C21F0C24F8BF}" type="sibTrans" cxnId="{F971F5FA-85BF-4EF0-A5A8-647BE03998A7}">
      <dgm:prSet/>
      <dgm:spPr/>
      <dgm:t>
        <a:bodyPr/>
        <a:lstStyle/>
        <a:p>
          <a:endParaRPr lang="en-US"/>
        </a:p>
      </dgm:t>
    </dgm:pt>
    <dgm:pt modelId="{B9B6FF2A-66D7-43B0-B35C-4C167A070C9E}">
      <dgm:prSet/>
      <dgm:spPr/>
      <dgm:t>
        <a:bodyPr/>
        <a:lstStyle/>
        <a:p>
          <a:r>
            <a:rPr lang="en-US"/>
            <a:t>Type of school</a:t>
          </a:r>
        </a:p>
      </dgm:t>
    </dgm:pt>
    <dgm:pt modelId="{DA2ED1E7-0B54-4E3A-8A34-508AAD655BCA}" type="parTrans" cxnId="{985C8FE8-D5CC-4066-8896-7ECCCD21BBB7}">
      <dgm:prSet/>
      <dgm:spPr/>
      <dgm:t>
        <a:bodyPr/>
        <a:lstStyle/>
        <a:p>
          <a:endParaRPr lang="en-US"/>
        </a:p>
      </dgm:t>
    </dgm:pt>
    <dgm:pt modelId="{BD9E03FA-7E87-4D4A-B03A-5185054BEBBB}" type="sibTrans" cxnId="{985C8FE8-D5CC-4066-8896-7ECCCD21BBB7}">
      <dgm:prSet/>
      <dgm:spPr/>
      <dgm:t>
        <a:bodyPr/>
        <a:lstStyle/>
        <a:p>
          <a:endParaRPr lang="en-US"/>
        </a:p>
      </dgm:t>
    </dgm:pt>
    <dgm:pt modelId="{C992ACFA-2A5F-4ABE-91DA-0ECD5D0E5F64}">
      <dgm:prSet/>
      <dgm:spPr/>
      <dgm:t>
        <a:bodyPr/>
        <a:lstStyle/>
        <a:p>
          <a:r>
            <a:rPr lang="en-US"/>
            <a:t>Length of program</a:t>
          </a:r>
        </a:p>
      </dgm:t>
    </dgm:pt>
    <dgm:pt modelId="{6D8700F3-9E5E-4DAF-88A9-9D4C33C2386C}" type="parTrans" cxnId="{D93193A5-C1E5-40C6-91CF-F2A829FB092E}">
      <dgm:prSet/>
      <dgm:spPr/>
      <dgm:t>
        <a:bodyPr/>
        <a:lstStyle/>
        <a:p>
          <a:endParaRPr lang="en-US"/>
        </a:p>
      </dgm:t>
    </dgm:pt>
    <dgm:pt modelId="{519A9578-BE50-4B72-B71A-1F3B22D8360D}" type="sibTrans" cxnId="{D93193A5-C1E5-40C6-91CF-F2A829FB092E}">
      <dgm:prSet/>
      <dgm:spPr/>
      <dgm:t>
        <a:bodyPr/>
        <a:lstStyle/>
        <a:p>
          <a:endParaRPr lang="en-US"/>
        </a:p>
      </dgm:t>
    </dgm:pt>
    <dgm:pt modelId="{F63A071E-6513-4C63-956F-EE36617227BA}" type="pres">
      <dgm:prSet presAssocID="{EFB5DE92-91F0-4310-B363-02D3F804C1DF}" presName="Name0" presStyleCnt="0">
        <dgm:presLayoutVars>
          <dgm:dir/>
          <dgm:animLvl val="lvl"/>
          <dgm:resizeHandles val="exact"/>
        </dgm:presLayoutVars>
      </dgm:prSet>
      <dgm:spPr/>
    </dgm:pt>
    <dgm:pt modelId="{9952896A-44F8-4CE7-979B-FBD2E04FFA7C}" type="pres">
      <dgm:prSet presAssocID="{656C987C-027A-4E3A-BD5D-30DC7ABF93E6}" presName="boxAndChildren" presStyleCnt="0"/>
      <dgm:spPr/>
    </dgm:pt>
    <dgm:pt modelId="{04879B5B-2535-41D6-84BD-8B13FD50EF71}" type="pres">
      <dgm:prSet presAssocID="{656C987C-027A-4E3A-BD5D-30DC7ABF93E6}" presName="parentTextBox" presStyleLbl="node1" presStyleIdx="0" presStyleCnt="1"/>
      <dgm:spPr/>
    </dgm:pt>
    <dgm:pt modelId="{445E8AE6-C0AE-46A9-9E6E-FF60DA1D5F05}" type="pres">
      <dgm:prSet presAssocID="{656C987C-027A-4E3A-BD5D-30DC7ABF93E6}" presName="entireBox" presStyleLbl="node1" presStyleIdx="0" presStyleCnt="1"/>
      <dgm:spPr/>
    </dgm:pt>
    <dgm:pt modelId="{AC6F33D3-E163-4830-A779-37C279548C65}" type="pres">
      <dgm:prSet presAssocID="{656C987C-027A-4E3A-BD5D-30DC7ABF93E6}" presName="descendantBox" presStyleCnt="0"/>
      <dgm:spPr/>
    </dgm:pt>
    <dgm:pt modelId="{ED9930E1-A7D9-4ED6-980B-3B05097190CF}" type="pres">
      <dgm:prSet presAssocID="{77D66909-F1B3-45BD-B7A6-2A8A5D395906}" presName="childTextBox" presStyleLbl="fgAccFollowNode1" presStyleIdx="0" presStyleCnt="1">
        <dgm:presLayoutVars>
          <dgm:bulletEnabled val="1"/>
        </dgm:presLayoutVars>
      </dgm:prSet>
      <dgm:spPr/>
    </dgm:pt>
  </dgm:ptLst>
  <dgm:cxnLst>
    <dgm:cxn modelId="{40879607-D018-4DDE-943E-703AE64510A6}" srcId="{EFB5DE92-91F0-4310-B363-02D3F804C1DF}" destId="{656C987C-027A-4E3A-BD5D-30DC7ABF93E6}" srcOrd="0" destOrd="0" parTransId="{06AF2BEC-7D5B-4CF2-93A0-DDB25092294D}" sibTransId="{B05F2E23-4E79-4A40-9F83-7AD250F31F4E}"/>
    <dgm:cxn modelId="{AAE63209-8D46-4627-B265-6F4D8DA9A86F}" type="presOf" srcId="{656C987C-027A-4E3A-BD5D-30DC7ABF93E6}" destId="{04879B5B-2535-41D6-84BD-8B13FD50EF71}" srcOrd="0" destOrd="0" presId="urn:microsoft.com/office/officeart/2005/8/layout/process4"/>
    <dgm:cxn modelId="{2EFDE62D-E6AF-4BDA-B4CC-2C7722283F0D}" type="presOf" srcId="{C992ACFA-2A5F-4ABE-91DA-0ECD5D0E5F64}" destId="{ED9930E1-A7D9-4ED6-980B-3B05097190CF}" srcOrd="0" destOrd="6" presId="urn:microsoft.com/office/officeart/2005/8/layout/process4"/>
    <dgm:cxn modelId="{D75DBC5B-2D0F-44B9-BAC0-B22605EB2D40}" type="presOf" srcId="{C6992C7C-DC08-43A3-A218-489DEE120502}" destId="{ED9930E1-A7D9-4ED6-980B-3B05097190CF}" srcOrd="0" destOrd="2" presId="urn:microsoft.com/office/officeart/2005/8/layout/process4"/>
    <dgm:cxn modelId="{C026D75E-76FA-4C97-B9A1-A1348744640D}" srcId="{656C987C-027A-4E3A-BD5D-30DC7ABF93E6}" destId="{77D66909-F1B3-45BD-B7A6-2A8A5D395906}" srcOrd="0" destOrd="0" parTransId="{83404CEB-1BBE-4D75-8761-0221B973ED12}" sibTransId="{E4F00360-FDFF-4CFF-9C90-A4E47AE8427A}"/>
    <dgm:cxn modelId="{2A4B6E5F-B9DF-4804-B5D7-4101C6D5224A}" srcId="{77D66909-F1B3-45BD-B7A6-2A8A5D395906}" destId="{A2BEDCE5-A58B-447C-80C6-FADF93E88DAF}" srcOrd="2" destOrd="0" parTransId="{04764C55-29B8-401D-AC91-786BDA0834AB}" sibTransId="{003ECD66-9DF6-4606-8F28-C8FA8C0D3A24}"/>
    <dgm:cxn modelId="{2192E060-0465-4E8D-A97E-15F405098626}" type="presOf" srcId="{328997EC-02BB-4CBD-ADE2-EE3DA8FB18B4}" destId="{ED9930E1-A7D9-4ED6-980B-3B05097190CF}" srcOrd="0" destOrd="1" presId="urn:microsoft.com/office/officeart/2005/8/layout/process4"/>
    <dgm:cxn modelId="{A2595A6C-C3D8-4C77-85BA-C2C3C9A8655D}" type="presOf" srcId="{656C987C-027A-4E3A-BD5D-30DC7ABF93E6}" destId="{445E8AE6-C0AE-46A9-9E6E-FF60DA1D5F05}" srcOrd="1" destOrd="0" presId="urn:microsoft.com/office/officeart/2005/8/layout/process4"/>
    <dgm:cxn modelId="{485FC383-E418-4B5A-8848-0B6B79060661}" srcId="{77D66909-F1B3-45BD-B7A6-2A8A5D395906}" destId="{C6992C7C-DC08-43A3-A218-489DEE120502}" srcOrd="1" destOrd="0" parTransId="{E246C5FA-D047-4E80-808E-6737E4260D00}" sibTransId="{FEFE18D9-8498-4FBB-9512-584E7CABB0ED}"/>
    <dgm:cxn modelId="{CE223486-F55C-4D9F-B71C-561299A5C977}" type="presOf" srcId="{77D66909-F1B3-45BD-B7A6-2A8A5D395906}" destId="{ED9930E1-A7D9-4ED6-980B-3B05097190CF}" srcOrd="0" destOrd="0" presId="urn:microsoft.com/office/officeart/2005/8/layout/process4"/>
    <dgm:cxn modelId="{69597591-243F-4F57-A542-23FC30A892BB}" srcId="{77D66909-F1B3-45BD-B7A6-2A8A5D395906}" destId="{328997EC-02BB-4CBD-ADE2-EE3DA8FB18B4}" srcOrd="0" destOrd="0" parTransId="{A75C7DE7-0F5A-44BD-8A70-F997F96478A4}" sibTransId="{6DD848B4-29E0-4D0F-805C-E32D3DA7B324}"/>
    <dgm:cxn modelId="{A3CF52A4-2E26-4AC9-84ED-92BB52167827}" type="presOf" srcId="{B9B6FF2A-66D7-43B0-B35C-4C167A070C9E}" destId="{ED9930E1-A7D9-4ED6-980B-3B05097190CF}" srcOrd="0" destOrd="5" presId="urn:microsoft.com/office/officeart/2005/8/layout/process4"/>
    <dgm:cxn modelId="{D93193A5-C1E5-40C6-91CF-F2A829FB092E}" srcId="{77D66909-F1B3-45BD-B7A6-2A8A5D395906}" destId="{C992ACFA-2A5F-4ABE-91DA-0ECD5D0E5F64}" srcOrd="5" destOrd="0" parTransId="{6D8700F3-9E5E-4DAF-88A9-9D4C33C2386C}" sibTransId="{519A9578-BE50-4B72-B71A-1F3B22D8360D}"/>
    <dgm:cxn modelId="{D9506AC0-8C08-4923-8FD5-F4046D2B9877}" type="presOf" srcId="{F3E452A1-23C9-4876-A6C6-5796ABC37089}" destId="{ED9930E1-A7D9-4ED6-980B-3B05097190CF}" srcOrd="0" destOrd="4" presId="urn:microsoft.com/office/officeart/2005/8/layout/process4"/>
    <dgm:cxn modelId="{075673CB-3FF9-4F1D-8AE7-BE2091951344}" type="presOf" srcId="{A2BEDCE5-A58B-447C-80C6-FADF93E88DAF}" destId="{ED9930E1-A7D9-4ED6-980B-3B05097190CF}" srcOrd="0" destOrd="3" presId="urn:microsoft.com/office/officeart/2005/8/layout/process4"/>
    <dgm:cxn modelId="{985C8FE8-D5CC-4066-8896-7ECCCD21BBB7}" srcId="{77D66909-F1B3-45BD-B7A6-2A8A5D395906}" destId="{B9B6FF2A-66D7-43B0-B35C-4C167A070C9E}" srcOrd="4" destOrd="0" parTransId="{DA2ED1E7-0B54-4E3A-8A34-508AAD655BCA}" sibTransId="{BD9E03FA-7E87-4D4A-B03A-5185054BEBBB}"/>
    <dgm:cxn modelId="{69DA93F3-2E71-442E-9970-F0DA6D38BDD9}" type="presOf" srcId="{EFB5DE92-91F0-4310-B363-02D3F804C1DF}" destId="{F63A071E-6513-4C63-956F-EE36617227BA}" srcOrd="0" destOrd="0" presId="urn:microsoft.com/office/officeart/2005/8/layout/process4"/>
    <dgm:cxn modelId="{F971F5FA-85BF-4EF0-A5A8-647BE03998A7}" srcId="{77D66909-F1B3-45BD-B7A6-2A8A5D395906}" destId="{F3E452A1-23C9-4876-A6C6-5796ABC37089}" srcOrd="3" destOrd="0" parTransId="{2721F35A-B510-43D5-97D8-B8553964D3C7}" sibTransId="{0CD65705-A66E-4BD5-932F-C21F0C24F8BF}"/>
    <dgm:cxn modelId="{CDAB6F0F-10F6-4D35-BC7A-7B662D7BFF07}" type="presParOf" srcId="{F63A071E-6513-4C63-956F-EE36617227BA}" destId="{9952896A-44F8-4CE7-979B-FBD2E04FFA7C}" srcOrd="0" destOrd="0" presId="urn:microsoft.com/office/officeart/2005/8/layout/process4"/>
    <dgm:cxn modelId="{E8B3A775-7DFB-4E8C-A4A0-5A2086783B00}" type="presParOf" srcId="{9952896A-44F8-4CE7-979B-FBD2E04FFA7C}" destId="{04879B5B-2535-41D6-84BD-8B13FD50EF71}" srcOrd="0" destOrd="0" presId="urn:microsoft.com/office/officeart/2005/8/layout/process4"/>
    <dgm:cxn modelId="{5A0B72D4-1648-46D4-AE7D-D0ECBEB34C10}" type="presParOf" srcId="{9952896A-44F8-4CE7-979B-FBD2E04FFA7C}" destId="{445E8AE6-C0AE-46A9-9E6E-FF60DA1D5F05}" srcOrd="1" destOrd="0" presId="urn:microsoft.com/office/officeart/2005/8/layout/process4"/>
    <dgm:cxn modelId="{A386AAB6-155E-477A-8A93-FC051C0B9C5F}" type="presParOf" srcId="{9952896A-44F8-4CE7-979B-FBD2E04FFA7C}" destId="{AC6F33D3-E163-4830-A779-37C279548C65}" srcOrd="2" destOrd="0" presId="urn:microsoft.com/office/officeart/2005/8/layout/process4"/>
    <dgm:cxn modelId="{B4E2D9AF-0E94-42CA-808B-4B1B556513D0}" type="presParOf" srcId="{AC6F33D3-E163-4830-A779-37C279548C65}" destId="{ED9930E1-A7D9-4ED6-980B-3B05097190CF}"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B3A6AAE-9D34-4A6C-8D3C-CBB50215504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18895F92-7DDB-417E-B8C4-0F7CC77AA07D}">
      <dgm:prSet/>
      <dgm:spPr/>
      <dgm:t>
        <a:bodyPr/>
        <a:lstStyle/>
        <a:p>
          <a:r>
            <a:rPr lang="en-US" dirty="0"/>
            <a:t>TAGG HS: For students in high school (9th – 12th grade) who anticipate competitive employment and regular admission into post-secondary education options.</a:t>
          </a:r>
        </a:p>
      </dgm:t>
      <dgm:extLst>
        <a:ext uri="{E40237B7-FDA0-4F09-8148-C483321AD2D9}">
          <dgm14:cNvPr xmlns:dgm14="http://schemas.microsoft.com/office/drawing/2010/diagram" id="0" name="" descr="TAGG HS: description&#10;TAGG A: description"/>
        </a:ext>
      </dgm:extLst>
    </dgm:pt>
    <dgm:pt modelId="{FA4C3163-30BC-4A81-9E0E-12B58119589C}" type="parTrans" cxnId="{2130156F-12B8-4A57-A095-227BB81FED07}">
      <dgm:prSet/>
      <dgm:spPr/>
      <dgm:t>
        <a:bodyPr/>
        <a:lstStyle/>
        <a:p>
          <a:endParaRPr lang="en-US"/>
        </a:p>
      </dgm:t>
    </dgm:pt>
    <dgm:pt modelId="{B1C5731F-E025-4364-BAE8-5C9F49671E3E}" type="sibTrans" cxnId="{2130156F-12B8-4A57-A095-227BB81FED07}">
      <dgm:prSet/>
      <dgm:spPr/>
      <dgm:t>
        <a:bodyPr/>
        <a:lstStyle/>
        <a:p>
          <a:endParaRPr lang="en-US"/>
        </a:p>
      </dgm:t>
    </dgm:pt>
    <dgm:pt modelId="{C2BC94F6-E8BF-457C-BE61-9911C6254FF1}">
      <dgm:prSet/>
      <dgm:spPr/>
      <dgm:t>
        <a:bodyPr/>
        <a:lstStyle/>
        <a:p>
          <a:r>
            <a:rPr lang="en-US" dirty="0"/>
            <a:t>TAGG A: For students in high school (9th – 12th grade, 18+ programs) who do not anticipate either competitive employment of regular admission into post-secondary education options.</a:t>
          </a:r>
          <a:br>
            <a:rPr lang="en-US" dirty="0"/>
          </a:br>
          <a:endParaRPr lang="en-US" dirty="0"/>
        </a:p>
      </dgm:t>
      <dgm:extLst>
        <a:ext uri="{E40237B7-FDA0-4F09-8148-C483321AD2D9}">
          <dgm14:cNvPr xmlns:dgm14="http://schemas.microsoft.com/office/drawing/2010/diagram" id="0" name="" descr="TAGG HS: For students in high school (9th – 12th grade) who anticipate competitive employment and regular admission into post-secondary education options.&#10;TAGG A: For students in high school (9th – 12th grade, 18+ programs) who do not anticipate either competitive employment of regular admission into post-secondary education options.&#10;&#10;"/>
        </a:ext>
      </dgm:extLst>
    </dgm:pt>
    <dgm:pt modelId="{EBA0031A-5E2D-413A-A191-F6F222ADB1C1}" type="parTrans" cxnId="{230993A5-3DEB-44A9-88EF-41B896B92CF0}">
      <dgm:prSet/>
      <dgm:spPr/>
      <dgm:t>
        <a:bodyPr/>
        <a:lstStyle/>
        <a:p>
          <a:endParaRPr lang="en-US"/>
        </a:p>
      </dgm:t>
    </dgm:pt>
    <dgm:pt modelId="{7B13CCBC-A3A6-4D85-B1C4-DBDB47E44A3E}" type="sibTrans" cxnId="{230993A5-3DEB-44A9-88EF-41B896B92CF0}">
      <dgm:prSet/>
      <dgm:spPr/>
      <dgm:t>
        <a:bodyPr/>
        <a:lstStyle/>
        <a:p>
          <a:endParaRPr lang="en-US"/>
        </a:p>
      </dgm:t>
    </dgm:pt>
    <dgm:pt modelId="{5923FCBE-B663-45A8-9A51-5C7A56A6B400}" type="pres">
      <dgm:prSet presAssocID="{3B3A6AAE-9D34-4A6C-8D3C-CBB502155046}" presName="linear" presStyleCnt="0">
        <dgm:presLayoutVars>
          <dgm:animLvl val="lvl"/>
          <dgm:resizeHandles val="exact"/>
        </dgm:presLayoutVars>
      </dgm:prSet>
      <dgm:spPr/>
    </dgm:pt>
    <dgm:pt modelId="{CBD8AE05-2E3C-443F-9981-D4DC6754A802}" type="pres">
      <dgm:prSet presAssocID="{18895F92-7DDB-417E-B8C4-0F7CC77AA07D}" presName="parentText" presStyleLbl="node1" presStyleIdx="0" presStyleCnt="2">
        <dgm:presLayoutVars>
          <dgm:chMax val="0"/>
          <dgm:bulletEnabled val="1"/>
        </dgm:presLayoutVars>
      </dgm:prSet>
      <dgm:spPr/>
    </dgm:pt>
    <dgm:pt modelId="{7A2F6A2D-52CB-4736-8ED8-409A971EC087}" type="pres">
      <dgm:prSet presAssocID="{B1C5731F-E025-4364-BAE8-5C9F49671E3E}" presName="spacer" presStyleCnt="0"/>
      <dgm:spPr/>
    </dgm:pt>
    <dgm:pt modelId="{E55B2FEB-6866-4A91-B0E2-D49B023F0DE8}" type="pres">
      <dgm:prSet presAssocID="{C2BC94F6-E8BF-457C-BE61-9911C6254FF1}" presName="parentText" presStyleLbl="node1" presStyleIdx="1" presStyleCnt="2" custLinFactY="918" custLinFactNeighborX="2013" custLinFactNeighborY="100000">
        <dgm:presLayoutVars>
          <dgm:chMax val="0"/>
          <dgm:bulletEnabled val="1"/>
        </dgm:presLayoutVars>
      </dgm:prSet>
      <dgm:spPr/>
    </dgm:pt>
  </dgm:ptLst>
  <dgm:cxnLst>
    <dgm:cxn modelId="{DEB7C322-341C-4BF4-AD25-C105B0BDFBBB}" type="presOf" srcId="{C2BC94F6-E8BF-457C-BE61-9911C6254FF1}" destId="{E55B2FEB-6866-4A91-B0E2-D49B023F0DE8}" srcOrd="0" destOrd="0" presId="urn:microsoft.com/office/officeart/2005/8/layout/vList2"/>
    <dgm:cxn modelId="{5D603A49-C92F-4EEE-A454-972C32EAD5D8}" type="presOf" srcId="{18895F92-7DDB-417E-B8C4-0F7CC77AA07D}" destId="{CBD8AE05-2E3C-443F-9981-D4DC6754A802}" srcOrd="0" destOrd="0" presId="urn:microsoft.com/office/officeart/2005/8/layout/vList2"/>
    <dgm:cxn modelId="{1797586D-F354-42AF-9C72-5F37BEE5F580}" type="presOf" srcId="{3B3A6AAE-9D34-4A6C-8D3C-CBB502155046}" destId="{5923FCBE-B663-45A8-9A51-5C7A56A6B400}" srcOrd="0" destOrd="0" presId="urn:microsoft.com/office/officeart/2005/8/layout/vList2"/>
    <dgm:cxn modelId="{2130156F-12B8-4A57-A095-227BB81FED07}" srcId="{3B3A6AAE-9D34-4A6C-8D3C-CBB502155046}" destId="{18895F92-7DDB-417E-B8C4-0F7CC77AA07D}" srcOrd="0" destOrd="0" parTransId="{FA4C3163-30BC-4A81-9E0E-12B58119589C}" sibTransId="{B1C5731F-E025-4364-BAE8-5C9F49671E3E}"/>
    <dgm:cxn modelId="{230993A5-3DEB-44A9-88EF-41B896B92CF0}" srcId="{3B3A6AAE-9D34-4A6C-8D3C-CBB502155046}" destId="{C2BC94F6-E8BF-457C-BE61-9911C6254FF1}" srcOrd="1" destOrd="0" parTransId="{EBA0031A-5E2D-413A-A191-F6F222ADB1C1}" sibTransId="{7B13CCBC-A3A6-4D85-B1C4-DBDB47E44A3E}"/>
    <dgm:cxn modelId="{99C83785-D23D-4F2D-A211-BBD21F647EA3}" type="presParOf" srcId="{5923FCBE-B663-45A8-9A51-5C7A56A6B400}" destId="{CBD8AE05-2E3C-443F-9981-D4DC6754A802}" srcOrd="0" destOrd="0" presId="urn:microsoft.com/office/officeart/2005/8/layout/vList2"/>
    <dgm:cxn modelId="{A2264D2B-9D2C-4B4C-9A3C-BBFDBA925E53}" type="presParOf" srcId="{5923FCBE-B663-45A8-9A51-5C7A56A6B400}" destId="{7A2F6A2D-52CB-4736-8ED8-409A971EC087}" srcOrd="1" destOrd="0" presId="urn:microsoft.com/office/officeart/2005/8/layout/vList2"/>
    <dgm:cxn modelId="{C5C8475A-4912-4590-973A-71CD61A52978}" type="presParOf" srcId="{5923FCBE-B663-45A8-9A51-5C7A56A6B400}" destId="{E55B2FEB-6866-4A91-B0E2-D49B023F0DE8}"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5859D8-7FA7-4070-A4FD-7CBCCEB057B6}">
      <dsp:nvSpPr>
        <dsp:cNvPr id="0" name=""/>
        <dsp:cNvSpPr/>
      </dsp:nvSpPr>
      <dsp:spPr>
        <a:xfrm rot="5400000">
          <a:off x="1337691" y="387571"/>
          <a:ext cx="2609849" cy="2487168"/>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a:t>In planning meaningful ways to get involved                </a:t>
          </a:r>
        </a:p>
        <a:p>
          <a:pPr marL="171450" lvl="1" indent="-171450" algn="l" defTabSz="755650">
            <a:lnSpc>
              <a:spcPct val="90000"/>
            </a:lnSpc>
            <a:spcBef>
              <a:spcPct val="0"/>
            </a:spcBef>
            <a:spcAft>
              <a:spcPct val="15000"/>
            </a:spcAft>
            <a:buChar char="•"/>
          </a:pPr>
          <a:r>
            <a:rPr lang="en-US" sz="1700" kern="1200"/>
            <a:t>In creating your own resources</a:t>
          </a:r>
        </a:p>
        <a:p>
          <a:pPr marL="171450" lvl="1" indent="-171450" algn="l" defTabSz="755650">
            <a:lnSpc>
              <a:spcPct val="90000"/>
            </a:lnSpc>
            <a:spcBef>
              <a:spcPct val="0"/>
            </a:spcBef>
            <a:spcAft>
              <a:spcPct val="15000"/>
            </a:spcAft>
            <a:buChar char="•"/>
          </a:pPr>
          <a:r>
            <a:rPr lang="en-US" sz="1700" kern="1200"/>
            <a:t>In embedding activities into existing academic lessons</a:t>
          </a:r>
        </a:p>
      </dsp:txBody>
      <dsp:txXfrm rot="-5400000">
        <a:off x="1399031" y="447645"/>
        <a:ext cx="2365754" cy="2367021"/>
      </dsp:txXfrm>
    </dsp:sp>
    <dsp:sp modelId="{5E712787-DB74-4D08-9125-82BD145F1396}">
      <dsp:nvSpPr>
        <dsp:cNvPr id="0" name=""/>
        <dsp:cNvSpPr/>
      </dsp:nvSpPr>
      <dsp:spPr>
        <a:xfrm>
          <a:off x="0" y="0"/>
          <a:ext cx="1399032" cy="326231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a:t>Being Purposeful</a:t>
          </a:r>
        </a:p>
      </dsp:txBody>
      <dsp:txXfrm>
        <a:off x="68295" y="68295"/>
        <a:ext cx="1262442" cy="312572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38A69B-9A53-4977-8600-36BF8D875678}">
      <dsp:nvSpPr>
        <dsp:cNvPr id="0" name=""/>
        <dsp:cNvSpPr/>
      </dsp:nvSpPr>
      <dsp:spPr>
        <a:xfrm>
          <a:off x="0" y="-1"/>
          <a:ext cx="1214437" cy="3263506"/>
        </a:xfrm>
        <a:prstGeom prst="rect">
          <a:avLst/>
        </a:prstGeom>
        <a:solidFill>
          <a:schemeClr val="accent3">
            <a:alpha val="90000"/>
            <a:tint val="40000"/>
            <a:hueOff val="0"/>
            <a:satOff val="0"/>
            <a:lumOff val="0"/>
            <a:alphaOff val="0"/>
          </a:schemeClr>
        </a:solidFill>
        <a:ln w="1905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4682" tIns="330200" rIns="94682" bIns="330200" numCol="1" spcCol="1270" anchor="t" anchorCtr="0">
          <a:noAutofit/>
        </a:bodyPr>
        <a:lstStyle/>
        <a:p>
          <a:pPr marL="0" lvl="0" indent="0" algn="l" defTabSz="488950">
            <a:lnSpc>
              <a:spcPct val="90000"/>
            </a:lnSpc>
            <a:spcBef>
              <a:spcPct val="0"/>
            </a:spcBef>
            <a:spcAft>
              <a:spcPct val="35000"/>
            </a:spcAft>
            <a:buNone/>
          </a:pPr>
          <a:r>
            <a:rPr lang="en-US" sz="1100" kern="1200" dirty="0"/>
            <a:t>Start with small changes to engage students in the process and let their voices be heard in the meeting</a:t>
          </a:r>
        </a:p>
      </dsp:txBody>
      <dsp:txXfrm>
        <a:off x="0" y="1240131"/>
        <a:ext cx="1214437" cy="1958104"/>
      </dsp:txXfrm>
    </dsp:sp>
    <dsp:sp modelId="{6C4474D2-328B-441D-B6B9-F9C5D923429B}">
      <dsp:nvSpPr>
        <dsp:cNvPr id="0" name=""/>
        <dsp:cNvSpPr/>
      </dsp:nvSpPr>
      <dsp:spPr>
        <a:xfrm>
          <a:off x="338741" y="243453"/>
          <a:ext cx="510063" cy="510063"/>
        </a:xfrm>
        <a:prstGeom prst="ellips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39767" tIns="12700" rIns="39767" bIns="12700" numCol="1" spcCol="1270" anchor="ctr" anchorCtr="0">
          <a:noAutofit/>
        </a:bodyPr>
        <a:lstStyle/>
        <a:p>
          <a:pPr marL="0" lvl="0" indent="0" algn="ctr" defTabSz="1022350">
            <a:lnSpc>
              <a:spcPct val="90000"/>
            </a:lnSpc>
            <a:spcBef>
              <a:spcPct val="0"/>
            </a:spcBef>
            <a:spcAft>
              <a:spcPct val="35000"/>
            </a:spcAft>
            <a:buNone/>
          </a:pPr>
          <a:r>
            <a:rPr lang="en-US" sz="2300" kern="1200"/>
            <a:t>1</a:t>
          </a:r>
          <a:endParaRPr lang="en-US" sz="2300" kern="1200" dirty="0"/>
        </a:p>
      </dsp:txBody>
      <dsp:txXfrm>
        <a:off x="413438" y="318150"/>
        <a:ext cx="360669" cy="360669"/>
      </dsp:txXfrm>
    </dsp:sp>
    <dsp:sp modelId="{5C57B557-F2DD-4C25-B9DB-49D6156F4138}">
      <dsp:nvSpPr>
        <dsp:cNvPr id="0" name=""/>
        <dsp:cNvSpPr/>
      </dsp:nvSpPr>
      <dsp:spPr>
        <a:xfrm flipV="1">
          <a:off x="0" y="3262064"/>
          <a:ext cx="1214437" cy="1440"/>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DFAFB096-2DCC-4DE9-B7EC-A05198A2EDA4}">
      <dsp:nvSpPr>
        <dsp:cNvPr id="0" name=""/>
        <dsp:cNvSpPr/>
      </dsp:nvSpPr>
      <dsp:spPr>
        <a:xfrm>
          <a:off x="1362781" y="-1"/>
          <a:ext cx="1214437" cy="3263506"/>
        </a:xfrm>
        <a:prstGeom prst="rect">
          <a:avLst/>
        </a:prstGeom>
        <a:solidFill>
          <a:schemeClr val="accent3">
            <a:alpha val="90000"/>
            <a:tint val="40000"/>
            <a:hueOff val="0"/>
            <a:satOff val="0"/>
            <a:lumOff val="0"/>
            <a:alphaOff val="0"/>
          </a:schemeClr>
        </a:solidFill>
        <a:ln w="1905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4682" tIns="330200" rIns="94682" bIns="330200" numCol="1" spcCol="1270" anchor="t" anchorCtr="0">
          <a:noAutofit/>
        </a:bodyPr>
        <a:lstStyle/>
        <a:p>
          <a:pPr marL="0" lvl="0" indent="0" algn="l" defTabSz="488950">
            <a:lnSpc>
              <a:spcPct val="90000"/>
            </a:lnSpc>
            <a:spcBef>
              <a:spcPct val="0"/>
            </a:spcBef>
            <a:spcAft>
              <a:spcPct val="35000"/>
            </a:spcAft>
            <a:buNone/>
          </a:pPr>
          <a:r>
            <a:rPr lang="en-US" sz="1100" kern="1200" dirty="0"/>
            <a:t>Make gradual steps toward full involvement and leading the IEP meeting</a:t>
          </a:r>
        </a:p>
      </dsp:txBody>
      <dsp:txXfrm>
        <a:off x="1362781" y="1240131"/>
        <a:ext cx="1214437" cy="1958104"/>
      </dsp:txXfrm>
    </dsp:sp>
    <dsp:sp modelId="{C7A26604-C461-43AC-9473-EAB043FC1066}">
      <dsp:nvSpPr>
        <dsp:cNvPr id="0" name=""/>
        <dsp:cNvSpPr/>
      </dsp:nvSpPr>
      <dsp:spPr>
        <a:xfrm>
          <a:off x="1688068" y="234491"/>
          <a:ext cx="510063" cy="510063"/>
        </a:xfrm>
        <a:prstGeom prst="ellips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39767" tIns="12700" rIns="39767" bIns="12700" numCol="1" spcCol="1270" anchor="ctr" anchorCtr="0">
          <a:noAutofit/>
        </a:bodyPr>
        <a:lstStyle/>
        <a:p>
          <a:pPr marL="0" lvl="0" indent="0" algn="ctr" defTabSz="1022350">
            <a:lnSpc>
              <a:spcPct val="90000"/>
            </a:lnSpc>
            <a:spcBef>
              <a:spcPct val="0"/>
            </a:spcBef>
            <a:spcAft>
              <a:spcPct val="35000"/>
            </a:spcAft>
            <a:buNone/>
          </a:pPr>
          <a:r>
            <a:rPr lang="en-US" sz="2300" kern="1200"/>
            <a:t>2</a:t>
          </a:r>
        </a:p>
      </dsp:txBody>
      <dsp:txXfrm>
        <a:off x="1762765" y="309188"/>
        <a:ext cx="360669" cy="360669"/>
      </dsp:txXfrm>
    </dsp:sp>
    <dsp:sp modelId="{F34E427F-4E71-4714-95EA-0CD07936B0BC}">
      <dsp:nvSpPr>
        <dsp:cNvPr id="0" name=""/>
        <dsp:cNvSpPr/>
      </dsp:nvSpPr>
      <dsp:spPr>
        <a:xfrm>
          <a:off x="1353806" y="3263432"/>
          <a:ext cx="1214437" cy="72"/>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2AB7909F-D3BF-45D0-AA80-08B71F5EB3F5}">
      <dsp:nvSpPr>
        <dsp:cNvPr id="0" name=""/>
        <dsp:cNvSpPr/>
      </dsp:nvSpPr>
      <dsp:spPr>
        <a:xfrm>
          <a:off x="2671762" y="-1"/>
          <a:ext cx="1214437" cy="3263506"/>
        </a:xfrm>
        <a:prstGeom prst="rect">
          <a:avLst/>
        </a:prstGeom>
        <a:solidFill>
          <a:schemeClr val="accent3">
            <a:alpha val="90000"/>
            <a:tint val="40000"/>
            <a:hueOff val="0"/>
            <a:satOff val="0"/>
            <a:lumOff val="0"/>
            <a:alphaOff val="0"/>
          </a:schemeClr>
        </a:solidFill>
        <a:ln w="1905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4682" tIns="330200" rIns="94682" bIns="330200" numCol="1" spcCol="1270" anchor="t" anchorCtr="0">
          <a:noAutofit/>
        </a:bodyPr>
        <a:lstStyle/>
        <a:p>
          <a:pPr marL="0" lvl="0" indent="0" algn="l" defTabSz="488950">
            <a:lnSpc>
              <a:spcPct val="90000"/>
            </a:lnSpc>
            <a:spcBef>
              <a:spcPct val="0"/>
            </a:spcBef>
            <a:spcAft>
              <a:spcPct val="35000"/>
            </a:spcAft>
            <a:buNone/>
          </a:pPr>
          <a:r>
            <a:rPr lang="en-US" sz="1100" kern="1200" dirty="0"/>
            <a:t>Use a variety of pre-made tools to engage students</a:t>
          </a:r>
        </a:p>
      </dsp:txBody>
      <dsp:txXfrm>
        <a:off x="2671762" y="1240131"/>
        <a:ext cx="1214437" cy="1958104"/>
      </dsp:txXfrm>
    </dsp:sp>
    <dsp:sp modelId="{59E5698E-6AA9-419E-B2E3-2509915E87AD}">
      <dsp:nvSpPr>
        <dsp:cNvPr id="0" name=""/>
        <dsp:cNvSpPr/>
      </dsp:nvSpPr>
      <dsp:spPr>
        <a:xfrm>
          <a:off x="3028432" y="238975"/>
          <a:ext cx="510063" cy="510063"/>
        </a:xfrm>
        <a:prstGeom prst="ellips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39767" tIns="12700" rIns="39767" bIns="12700" numCol="1" spcCol="1270" anchor="ctr" anchorCtr="0">
          <a:noAutofit/>
        </a:bodyPr>
        <a:lstStyle/>
        <a:p>
          <a:pPr marL="0" lvl="0" indent="0" algn="ctr" defTabSz="1022350">
            <a:lnSpc>
              <a:spcPct val="90000"/>
            </a:lnSpc>
            <a:spcBef>
              <a:spcPct val="0"/>
            </a:spcBef>
            <a:spcAft>
              <a:spcPct val="35000"/>
            </a:spcAft>
            <a:buNone/>
          </a:pPr>
          <a:r>
            <a:rPr lang="en-US" sz="2300" kern="1200"/>
            <a:t>3</a:t>
          </a:r>
        </a:p>
      </dsp:txBody>
      <dsp:txXfrm>
        <a:off x="3103129" y="313672"/>
        <a:ext cx="360669" cy="360669"/>
      </dsp:txXfrm>
    </dsp:sp>
    <dsp:sp modelId="{75452C36-59A2-49C2-A8D4-1F95F04DAB8E}">
      <dsp:nvSpPr>
        <dsp:cNvPr id="0" name=""/>
        <dsp:cNvSpPr/>
      </dsp:nvSpPr>
      <dsp:spPr>
        <a:xfrm>
          <a:off x="2640381" y="3263432"/>
          <a:ext cx="1214437" cy="72"/>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5E8AE6-C0AE-46A9-9E6E-FF60DA1D5F05}">
      <dsp:nvSpPr>
        <dsp:cNvPr id="0" name=""/>
        <dsp:cNvSpPr/>
      </dsp:nvSpPr>
      <dsp:spPr>
        <a:xfrm>
          <a:off x="0" y="0"/>
          <a:ext cx="3886200" cy="326350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a:t>College Finder for 340 postsecondary education programs for students with intellectual disabilities</a:t>
          </a:r>
        </a:p>
      </dsp:txBody>
      <dsp:txXfrm>
        <a:off x="0" y="0"/>
        <a:ext cx="3886200" cy="1762292"/>
      </dsp:txXfrm>
    </dsp:sp>
    <dsp:sp modelId="{ED9930E1-A7D9-4ED6-980B-3B05097190CF}">
      <dsp:nvSpPr>
        <dsp:cNvPr id="0" name=""/>
        <dsp:cNvSpPr/>
      </dsp:nvSpPr>
      <dsp:spPr>
        <a:xfrm>
          <a:off x="0" y="1697022"/>
          <a:ext cx="3886200" cy="1501211"/>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t" anchorCtr="0">
          <a:noAutofit/>
        </a:bodyPr>
        <a:lstStyle/>
        <a:p>
          <a:pPr marL="0" lvl="0" indent="0" algn="l" defTabSz="711200">
            <a:lnSpc>
              <a:spcPct val="90000"/>
            </a:lnSpc>
            <a:spcBef>
              <a:spcPct val="0"/>
            </a:spcBef>
            <a:spcAft>
              <a:spcPct val="35000"/>
            </a:spcAft>
            <a:buNone/>
          </a:pPr>
          <a:r>
            <a:rPr lang="en-US" sz="1600" kern="1200"/>
            <a:t>Filter results by:</a:t>
          </a:r>
        </a:p>
        <a:p>
          <a:pPr marL="114300" lvl="1" indent="-114300" algn="l" defTabSz="533400">
            <a:lnSpc>
              <a:spcPct val="90000"/>
            </a:lnSpc>
            <a:spcBef>
              <a:spcPct val="0"/>
            </a:spcBef>
            <a:spcAft>
              <a:spcPct val="15000"/>
            </a:spcAft>
            <a:buChar char="•"/>
          </a:pPr>
          <a:r>
            <a:rPr lang="en-US" sz="1200" kern="1200"/>
            <a:t>Location (state)</a:t>
          </a:r>
        </a:p>
        <a:p>
          <a:pPr marL="114300" lvl="1" indent="-114300" algn="l" defTabSz="533400">
            <a:lnSpc>
              <a:spcPct val="90000"/>
            </a:lnSpc>
            <a:spcBef>
              <a:spcPct val="0"/>
            </a:spcBef>
            <a:spcAft>
              <a:spcPct val="15000"/>
            </a:spcAft>
            <a:buChar char="•"/>
          </a:pPr>
          <a:r>
            <a:rPr lang="en-US" sz="1200" kern="1200"/>
            <a:t>Program features</a:t>
          </a:r>
        </a:p>
        <a:p>
          <a:pPr marL="114300" lvl="1" indent="-114300" algn="l" defTabSz="533400">
            <a:lnSpc>
              <a:spcPct val="90000"/>
            </a:lnSpc>
            <a:spcBef>
              <a:spcPct val="0"/>
            </a:spcBef>
            <a:spcAft>
              <a:spcPct val="15000"/>
            </a:spcAft>
            <a:buChar char="•"/>
          </a:pPr>
          <a:r>
            <a:rPr lang="en-US" sz="1200" kern="1200"/>
            <a:t>Disability</a:t>
          </a:r>
        </a:p>
        <a:p>
          <a:pPr marL="114300" lvl="1" indent="-114300" algn="l" defTabSz="533400">
            <a:lnSpc>
              <a:spcPct val="90000"/>
            </a:lnSpc>
            <a:spcBef>
              <a:spcPct val="0"/>
            </a:spcBef>
            <a:spcAft>
              <a:spcPct val="15000"/>
            </a:spcAft>
            <a:buChar char="•"/>
          </a:pPr>
          <a:r>
            <a:rPr lang="en-US" sz="1200" kern="1200"/>
            <a:t>Public or private</a:t>
          </a:r>
        </a:p>
        <a:p>
          <a:pPr marL="114300" lvl="1" indent="-114300" algn="l" defTabSz="533400">
            <a:lnSpc>
              <a:spcPct val="90000"/>
            </a:lnSpc>
            <a:spcBef>
              <a:spcPct val="0"/>
            </a:spcBef>
            <a:spcAft>
              <a:spcPct val="15000"/>
            </a:spcAft>
            <a:buChar char="•"/>
          </a:pPr>
          <a:r>
            <a:rPr lang="en-US" sz="1200" kern="1200"/>
            <a:t>Type of school</a:t>
          </a:r>
        </a:p>
        <a:p>
          <a:pPr marL="114300" lvl="1" indent="-114300" algn="l" defTabSz="533400">
            <a:lnSpc>
              <a:spcPct val="90000"/>
            </a:lnSpc>
            <a:spcBef>
              <a:spcPct val="0"/>
            </a:spcBef>
            <a:spcAft>
              <a:spcPct val="15000"/>
            </a:spcAft>
            <a:buChar char="•"/>
          </a:pPr>
          <a:r>
            <a:rPr lang="en-US" sz="1200" kern="1200"/>
            <a:t>Length of program</a:t>
          </a:r>
        </a:p>
      </dsp:txBody>
      <dsp:txXfrm>
        <a:off x="0" y="1697022"/>
        <a:ext cx="3886200" cy="150121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D8AE05-2E3C-443F-9981-D4DC6754A802}">
      <dsp:nvSpPr>
        <dsp:cNvPr id="0" name=""/>
        <dsp:cNvSpPr/>
      </dsp:nvSpPr>
      <dsp:spPr>
        <a:xfrm>
          <a:off x="0" y="59025"/>
          <a:ext cx="4629150" cy="174410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TAGG HS: For students in high school (9th – 12th grade) who anticipate competitive employment and regular admission into post-secondary education options.</a:t>
          </a:r>
        </a:p>
      </dsp:txBody>
      <dsp:txXfrm>
        <a:off x="85140" y="144165"/>
        <a:ext cx="4458870" cy="1573824"/>
      </dsp:txXfrm>
    </dsp:sp>
    <dsp:sp modelId="{E55B2FEB-6866-4A91-B0E2-D49B023F0DE8}">
      <dsp:nvSpPr>
        <dsp:cNvPr id="0" name=""/>
        <dsp:cNvSpPr/>
      </dsp:nvSpPr>
      <dsp:spPr>
        <a:xfrm>
          <a:off x="0" y="1911114"/>
          <a:ext cx="4629150" cy="174410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TAGG A: For students in high school (9th – 12th grade, 18+ programs) who do not anticipate either competitive employment of regular admission into post-secondary education options.</a:t>
          </a:r>
          <a:br>
            <a:rPr lang="en-US" sz="1700" kern="1200" dirty="0"/>
          </a:br>
          <a:endParaRPr lang="en-US" sz="1700" kern="1200" dirty="0"/>
        </a:p>
      </dsp:txBody>
      <dsp:txXfrm>
        <a:off x="85140" y="1996254"/>
        <a:ext cx="4458870" cy="1573824"/>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757609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742033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708680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3406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830134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012857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974796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498068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463582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335074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532039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675139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647818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391322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466278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857849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b="1" dirty="0"/>
          </a:p>
        </p:txBody>
      </p:sp>
    </p:spTree>
    <p:extLst>
      <p:ext uri="{BB962C8B-B14F-4D97-AF65-F5344CB8AC3E}">
        <p14:creationId xmlns:p14="http://schemas.microsoft.com/office/powerpoint/2010/main" val="36661789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b="1" dirty="0"/>
          </a:p>
        </p:txBody>
      </p:sp>
    </p:spTree>
    <p:extLst>
      <p:ext uri="{BB962C8B-B14F-4D97-AF65-F5344CB8AC3E}">
        <p14:creationId xmlns:p14="http://schemas.microsoft.com/office/powerpoint/2010/main" val="24270970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801801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953980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469258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077398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979673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54862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744756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132974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813340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342300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103146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722743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887632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126778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442112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229155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770286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171803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796ebedc0f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796ebedc0f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032704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334411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19" name="Picture 18" descr="Plan Your Way OK - Pathways to Partnership Branding">
            <a:extLst>
              <a:ext uri="{FF2B5EF4-FFF2-40B4-BE49-F238E27FC236}">
                <a16:creationId xmlns:a16="http://schemas.microsoft.com/office/drawing/2014/main" id="{139458B0-30E7-2183-E0BC-314754192B05}"/>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0" y="0"/>
            <a:ext cx="9144000" cy="51435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4" name="Date Placeholder 3">
            <a:extLst>
              <a:ext uri="{FF2B5EF4-FFF2-40B4-BE49-F238E27FC236}">
                <a16:creationId xmlns:a16="http://schemas.microsoft.com/office/drawing/2014/main" id="{BECE081B-8AFD-D5FC-5BDA-93266454635F}"/>
              </a:ext>
            </a:extLst>
          </p:cNvPr>
          <p:cNvSpPr>
            <a:spLocks noGrp="1"/>
          </p:cNvSpPr>
          <p:nvPr>
            <p:ph type="dt" sz="half" idx="10"/>
          </p:nvPr>
        </p:nvSpPr>
        <p:spPr/>
        <p:txBody>
          <a:bodyPr/>
          <a:lstStyle/>
          <a:p>
            <a:fld id="{5A0FCB29-5841-415B-8794-5F64FD0A6698}" type="datetimeFigureOut">
              <a:rPr lang="en-US" smtClean="0"/>
              <a:t>6/9/2026</a:t>
            </a:fld>
            <a:endParaRPr lang="en-US" dirty="0"/>
          </a:p>
        </p:txBody>
      </p:sp>
      <p:sp>
        <p:nvSpPr>
          <p:cNvPr id="5" name="Footer Placeholder 4">
            <a:extLst>
              <a:ext uri="{FF2B5EF4-FFF2-40B4-BE49-F238E27FC236}">
                <a16:creationId xmlns:a16="http://schemas.microsoft.com/office/drawing/2014/main" id="{4D2B0962-935E-E563-68DF-7E0D400F6C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4B47A3-5400-C06D-FC82-EDF5C8B0CE6F}"/>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9" name="Picture 8" descr="Blue and white sign&#10;&#10;">
            <a:extLst>
              <a:ext uri="{FF2B5EF4-FFF2-40B4-BE49-F238E27FC236}">
                <a16:creationId xmlns:a16="http://schemas.microsoft.com/office/drawing/2014/main" id="{88FB3550-3282-2683-4046-E0A6CAF7B85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5615306" cy="1596465"/>
          </a:xfrm>
          <a:prstGeom prst="rect">
            <a:avLst/>
          </a:prstGeom>
        </p:spPr>
      </p:pic>
      <p:sp>
        <p:nvSpPr>
          <p:cNvPr id="10" name="TextBox 9">
            <a:extLst>
              <a:ext uri="{FF2B5EF4-FFF2-40B4-BE49-F238E27FC236}">
                <a16:creationId xmlns:a16="http://schemas.microsoft.com/office/drawing/2014/main" id="{B5896585-3E93-1142-5556-DB1C5C7297CF}"/>
              </a:ext>
            </a:extLst>
          </p:cNvPr>
          <p:cNvSpPr txBox="1">
            <a:spLocks/>
          </p:cNvSpPr>
          <p:nvPr/>
        </p:nvSpPr>
        <p:spPr>
          <a:xfrm>
            <a:off x="5021745" y="3079692"/>
            <a:ext cx="3766931" cy="1661993"/>
          </a:xfrm>
          <a:prstGeom prst="rect">
            <a:avLst/>
          </a:prstGeom>
          <a:noFill/>
        </p:spPr>
        <p:txBody>
          <a:bodyPr wrap="square" rtlCol="0">
            <a:spAutoFit/>
          </a:bodyPr>
          <a:lstStyle/>
          <a:p>
            <a:r>
              <a:rPr lang="en-US" sz="1200" b="1" dirty="0">
                <a:latin typeface="Atkinson Hyperlegible Next" pitchFamily="50" charset="0"/>
              </a:rPr>
              <a:t>OKLAHOMA STATE DEPARTMENT OF EDUCATION</a:t>
            </a:r>
          </a:p>
          <a:p>
            <a:r>
              <a:rPr lang="en-US" sz="4500" b="1" dirty="0">
                <a:solidFill>
                  <a:schemeClr val="bg1"/>
                </a:solidFill>
                <a:latin typeface="Atkinson Hyperlegible Next" pitchFamily="50" charset="0"/>
              </a:rPr>
              <a:t>Pathways to Partnership</a:t>
            </a:r>
          </a:p>
        </p:txBody>
      </p:sp>
    </p:spTree>
    <p:extLst>
      <p:ext uri="{BB962C8B-B14F-4D97-AF65-F5344CB8AC3E}">
        <p14:creationId xmlns:p14="http://schemas.microsoft.com/office/powerpoint/2010/main" val="124047004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C782-8F52-6626-E009-10DB5431D26E}"/>
              </a:ext>
            </a:extLst>
          </p:cNvPr>
          <p:cNvSpPr>
            <a:spLocks noGrp="1"/>
          </p:cNvSpPr>
          <p:nvPr>
            <p:ph type="title"/>
          </p:nvPr>
        </p:nvSpPr>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F4CA8E4-6B96-33BF-A3A7-72B218FE6ED2}"/>
              </a:ext>
            </a:extLst>
          </p:cNvPr>
          <p:cNvSpPr>
            <a:spLocks noGrp="1"/>
          </p:cNvSpPr>
          <p:nvPr>
            <p:ph idx="1"/>
          </p:nvPr>
        </p:nvSpPr>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361798-E026-6AAC-A91E-5DAB182A016D}"/>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33FDD1D3-981A-ABFD-AB3D-2C0CB1009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22B48-878C-75A9-1516-D8AF11F10A3B}"/>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7" name="Picture 6" descr="A picture containing text, sign&#10;&#10;AI-generated content may be incorrect.">
            <a:extLst>
              <a:ext uri="{FF2B5EF4-FFF2-40B4-BE49-F238E27FC236}">
                <a16:creationId xmlns:a16="http://schemas.microsoft.com/office/drawing/2014/main" id="{57B7DEBE-00D3-4BD0-C762-E00DE9C300F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793175" y="4712160"/>
            <a:ext cx="1350825" cy="384048"/>
          </a:xfrm>
          <a:prstGeom prst="rect">
            <a:avLst/>
          </a:prstGeom>
        </p:spPr>
      </p:pic>
      <p:pic>
        <p:nvPicPr>
          <p:cNvPr id="10" name="Picture 9">
            <a:extLst>
              <a:ext uri="{FF2B5EF4-FFF2-40B4-BE49-F238E27FC236}">
                <a16:creationId xmlns:a16="http://schemas.microsoft.com/office/drawing/2014/main" id="{95D2809E-2FF8-ED01-3B87-17DF6F59A1A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4506685"/>
            <a:ext cx="3221736" cy="636815"/>
          </a:xfrm>
          <a:prstGeom prst="rect">
            <a:avLst/>
          </a:prstGeom>
        </p:spPr>
      </p:pic>
    </p:spTree>
    <p:extLst>
      <p:ext uri="{BB962C8B-B14F-4D97-AF65-F5344CB8AC3E}">
        <p14:creationId xmlns:p14="http://schemas.microsoft.com/office/powerpoint/2010/main" val="253752419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C782-8F52-6626-E009-10DB5431D26E}"/>
              </a:ext>
            </a:extLst>
          </p:cNvPr>
          <p:cNvSpPr>
            <a:spLocks noGrp="1"/>
          </p:cNvSpPr>
          <p:nvPr>
            <p:ph type="title"/>
          </p:nvPr>
        </p:nvSpPr>
        <p:spPr>
          <a:xfrm>
            <a:off x="628650" y="273844"/>
            <a:ext cx="7166508" cy="994172"/>
          </a:xfrm>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F4CA8E4-6B96-33BF-A3A7-72B218FE6ED2}"/>
              </a:ext>
            </a:extLst>
          </p:cNvPr>
          <p:cNvSpPr>
            <a:spLocks noGrp="1"/>
          </p:cNvSpPr>
          <p:nvPr>
            <p:ph idx="1"/>
          </p:nvPr>
        </p:nvSpPr>
        <p:spPr>
          <a:xfrm>
            <a:off x="628650" y="1369219"/>
            <a:ext cx="7166508"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361798-E026-6AAC-A91E-5DAB182A016D}"/>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33FDD1D3-981A-ABFD-AB3D-2C0CB1009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22B48-878C-75A9-1516-D8AF11F10A3B}"/>
              </a:ext>
            </a:extLst>
          </p:cNvPr>
          <p:cNvSpPr>
            <a:spLocks noGrp="1"/>
          </p:cNvSpPr>
          <p:nvPr>
            <p:ph type="sldNum" sz="quarter" idx="12"/>
          </p:nvPr>
        </p:nvSpPr>
        <p:spPr/>
        <p:txBody>
          <a:bodyPr/>
          <a:lstStyle/>
          <a:p>
            <a:fld id="{2B5664E2-3A40-4D1A-BF40-1793ED3F7EF0}" type="slidenum">
              <a:rPr lang="en-US" smtClean="0"/>
              <a:t>‹#›</a:t>
            </a:fld>
            <a:endParaRPr lang="en-US"/>
          </a:p>
        </p:txBody>
      </p:sp>
      <p:sp>
        <p:nvSpPr>
          <p:cNvPr id="13" name="Rectangle 12">
            <a:extLst>
              <a:ext uri="{FF2B5EF4-FFF2-40B4-BE49-F238E27FC236}">
                <a16:creationId xmlns:a16="http://schemas.microsoft.com/office/drawing/2014/main" id="{89B9583A-406C-A9D9-1041-5F6E4A7AACCD}"/>
              </a:ext>
            </a:extLst>
          </p:cNvPr>
          <p:cNvSpPr/>
          <p:nvPr/>
        </p:nvSpPr>
        <p:spPr>
          <a:xfrm>
            <a:off x="7795158" y="0"/>
            <a:ext cx="1348842" cy="5143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4" name="Picture 13" descr="Plan Your Way OK Logo">
            <a:extLst>
              <a:ext uri="{FF2B5EF4-FFF2-40B4-BE49-F238E27FC236}">
                <a16:creationId xmlns:a16="http://schemas.microsoft.com/office/drawing/2014/main" id="{47FC278A-E5C4-C003-38CF-8DC7285E66B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795158" y="4712442"/>
            <a:ext cx="1348842" cy="383484"/>
          </a:xfrm>
          <a:prstGeom prst="rect">
            <a:avLst/>
          </a:prstGeom>
        </p:spPr>
      </p:pic>
      <p:pic>
        <p:nvPicPr>
          <p:cNvPr id="23" name="Picture 22" descr="Icon&#10;&#10;AI-generated content may be incorrect.">
            <a:extLst>
              <a:ext uri="{FF2B5EF4-FFF2-40B4-BE49-F238E27FC236}">
                <a16:creationId xmlns:a16="http://schemas.microsoft.com/office/drawing/2014/main" id="{0A7B53E6-04A1-72A3-5FED-8ACC283AD8A2}"/>
              </a:ext>
            </a:extLst>
          </p:cNvPr>
          <p:cNvPicPr>
            <a:picLocks noChangeAspect="1"/>
          </p:cNvPicPr>
          <p:nvPr/>
        </p:nvPicPr>
        <p:blipFill>
          <a:blip r:embed="rId3" cstate="email">
            <a:extLst>
              <a:ext uri="{28A0092B-C50C-407E-A947-70E740481C1C}">
                <a14:useLocalDpi xmlns:a14="http://schemas.microsoft.com/office/drawing/2010/main"/>
              </a:ext>
            </a:extLst>
          </a:blip>
          <a:srcRect r="43033"/>
          <a:stretch>
            <a:fillRect/>
          </a:stretch>
        </p:blipFill>
        <p:spPr>
          <a:xfrm>
            <a:off x="7610302" y="273844"/>
            <a:ext cx="1533698" cy="2692241"/>
          </a:xfrm>
          <a:custGeom>
            <a:avLst/>
            <a:gdLst>
              <a:gd name="connsiteX0" fmla="*/ 0 w 2044930"/>
              <a:gd name="connsiteY0" fmla="*/ 0 h 3589655"/>
              <a:gd name="connsiteX1" fmla="*/ 2044930 w 2044930"/>
              <a:gd name="connsiteY1" fmla="*/ 0 h 3589655"/>
              <a:gd name="connsiteX2" fmla="*/ 2044930 w 2044930"/>
              <a:gd name="connsiteY2" fmla="*/ 3589655 h 3589655"/>
              <a:gd name="connsiteX3" fmla="*/ 0 w 2044930"/>
              <a:gd name="connsiteY3" fmla="*/ 3589655 h 3589655"/>
            </a:gdLst>
            <a:ahLst/>
            <a:cxnLst>
              <a:cxn ang="0">
                <a:pos x="connsiteX0" y="connsiteY0"/>
              </a:cxn>
              <a:cxn ang="0">
                <a:pos x="connsiteX1" y="connsiteY1"/>
              </a:cxn>
              <a:cxn ang="0">
                <a:pos x="connsiteX2" y="connsiteY2"/>
              </a:cxn>
              <a:cxn ang="0">
                <a:pos x="connsiteX3" y="connsiteY3"/>
              </a:cxn>
            </a:cxnLst>
            <a:rect l="l" t="t" r="r" b="b"/>
            <a:pathLst>
              <a:path w="2044930" h="3589655">
                <a:moveTo>
                  <a:pt x="0" y="0"/>
                </a:moveTo>
                <a:lnTo>
                  <a:pt x="2044930" y="0"/>
                </a:lnTo>
                <a:lnTo>
                  <a:pt x="2044930" y="3589655"/>
                </a:lnTo>
                <a:lnTo>
                  <a:pt x="0" y="3589655"/>
                </a:lnTo>
                <a:close/>
              </a:path>
            </a:pathLst>
          </a:custGeom>
        </p:spPr>
      </p:pic>
    </p:spTree>
    <p:extLst>
      <p:ext uri="{BB962C8B-B14F-4D97-AF65-F5344CB8AC3E}">
        <p14:creationId xmlns:p14="http://schemas.microsoft.com/office/powerpoint/2010/main" val="360335334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C782-8F52-6626-E009-10DB5431D26E}"/>
              </a:ext>
            </a:extLst>
          </p:cNvPr>
          <p:cNvSpPr>
            <a:spLocks noGrp="1"/>
          </p:cNvSpPr>
          <p:nvPr>
            <p:ph type="title"/>
          </p:nvPr>
        </p:nvSpPr>
        <p:spPr>
          <a:xfrm>
            <a:off x="2143125" y="273844"/>
            <a:ext cx="6372225" cy="994172"/>
          </a:xfrm>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F4CA8E4-6B96-33BF-A3A7-72B218FE6ED2}"/>
              </a:ext>
            </a:extLst>
          </p:cNvPr>
          <p:cNvSpPr>
            <a:spLocks noGrp="1"/>
          </p:cNvSpPr>
          <p:nvPr>
            <p:ph idx="1"/>
          </p:nvPr>
        </p:nvSpPr>
        <p:spPr>
          <a:xfrm>
            <a:off x="2143125" y="1369219"/>
            <a:ext cx="6372225"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361798-E026-6AAC-A91E-5DAB182A016D}"/>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33FDD1D3-981A-ABFD-AB3D-2C0CB1009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22B48-878C-75A9-1516-D8AF11F10A3B}"/>
              </a:ext>
            </a:extLst>
          </p:cNvPr>
          <p:cNvSpPr>
            <a:spLocks noGrp="1"/>
          </p:cNvSpPr>
          <p:nvPr>
            <p:ph type="sldNum" sz="quarter" idx="12"/>
          </p:nvPr>
        </p:nvSpPr>
        <p:spPr/>
        <p:txBody>
          <a:bodyPr/>
          <a:lstStyle/>
          <a:p>
            <a:fld id="{2B5664E2-3A40-4D1A-BF40-1793ED3F7EF0}" type="slidenum">
              <a:rPr lang="en-US" smtClean="0"/>
              <a:t>‹#›</a:t>
            </a:fld>
            <a:endParaRPr lang="en-US"/>
          </a:p>
        </p:txBody>
      </p:sp>
      <p:sp>
        <p:nvSpPr>
          <p:cNvPr id="13" name="Rectangle 12">
            <a:extLst>
              <a:ext uri="{FF2B5EF4-FFF2-40B4-BE49-F238E27FC236}">
                <a16:creationId xmlns:a16="http://schemas.microsoft.com/office/drawing/2014/main" id="{89B9583A-406C-A9D9-1041-5F6E4A7AACCD}"/>
              </a:ext>
            </a:extLst>
          </p:cNvPr>
          <p:cNvSpPr/>
          <p:nvPr/>
        </p:nvSpPr>
        <p:spPr>
          <a:xfrm>
            <a:off x="0" y="0"/>
            <a:ext cx="2057400" cy="5143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0" name="Picture 9" descr="Background pattern&#10;&#10;AI-generated content may be incorrect.">
            <a:extLst>
              <a:ext uri="{FF2B5EF4-FFF2-40B4-BE49-F238E27FC236}">
                <a16:creationId xmlns:a16="http://schemas.microsoft.com/office/drawing/2014/main" id="{C72F8F3C-7D49-A158-EC5F-3022C950E63C}"/>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1" y="0"/>
            <a:ext cx="1828304" cy="5143500"/>
          </a:xfrm>
          <a:custGeom>
            <a:avLst/>
            <a:gdLst>
              <a:gd name="connsiteX0" fmla="*/ 0 w 2437739"/>
              <a:gd name="connsiteY0" fmla="*/ 0 h 6858000"/>
              <a:gd name="connsiteX1" fmla="*/ 2437739 w 2437739"/>
              <a:gd name="connsiteY1" fmla="*/ 0 h 6858000"/>
              <a:gd name="connsiteX2" fmla="*/ 2437739 w 2437739"/>
              <a:gd name="connsiteY2" fmla="*/ 6858000 h 6858000"/>
              <a:gd name="connsiteX3" fmla="*/ 0 w 243773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437739" h="6858000">
                <a:moveTo>
                  <a:pt x="0" y="0"/>
                </a:moveTo>
                <a:lnTo>
                  <a:pt x="2437739" y="0"/>
                </a:lnTo>
                <a:lnTo>
                  <a:pt x="2437739" y="6858000"/>
                </a:lnTo>
                <a:lnTo>
                  <a:pt x="0" y="6858000"/>
                </a:lnTo>
                <a:close/>
              </a:path>
            </a:pathLst>
          </a:custGeom>
        </p:spPr>
      </p:pic>
      <p:pic>
        <p:nvPicPr>
          <p:cNvPr id="11" name="Picture 10" descr="A picture containing text, sign&#10;&#10;AI-generated content may be incorrect.">
            <a:extLst>
              <a:ext uri="{FF2B5EF4-FFF2-40B4-BE49-F238E27FC236}">
                <a16:creationId xmlns:a16="http://schemas.microsoft.com/office/drawing/2014/main" id="{CD69CD18-3F01-36C8-B47D-93F8D18A3B1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793175" y="4712160"/>
            <a:ext cx="1350825" cy="384048"/>
          </a:xfrm>
          <a:prstGeom prst="rect">
            <a:avLst/>
          </a:prstGeom>
        </p:spPr>
      </p:pic>
    </p:spTree>
    <p:extLst>
      <p:ext uri="{BB962C8B-B14F-4D97-AF65-F5344CB8AC3E}">
        <p14:creationId xmlns:p14="http://schemas.microsoft.com/office/powerpoint/2010/main" val="425657751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2CE63-E0AC-12D5-504E-D5E0649AC35D}"/>
              </a:ext>
            </a:extLst>
          </p:cNvPr>
          <p:cNvSpPr>
            <a:spLocks noGrp="1"/>
          </p:cNvSpPr>
          <p:nvPr>
            <p:ph type="title"/>
          </p:nvPr>
        </p:nvSpPr>
        <p:spPr>
          <a:xfrm>
            <a:off x="623888" y="1282304"/>
            <a:ext cx="7886700" cy="2139553"/>
          </a:xfrm>
        </p:spPr>
        <p:txBody>
          <a:bodyPr anchor="b"/>
          <a:lstStyle>
            <a:lvl1pPr>
              <a:defRPr sz="45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341C9AB-DF52-8ECD-BBD1-A316181026E7}"/>
              </a:ext>
            </a:extLst>
          </p:cNvPr>
          <p:cNvSpPr>
            <a:spLocks noGrp="1"/>
          </p:cNvSpPr>
          <p:nvPr>
            <p:ph type="body" idx="1"/>
          </p:nvPr>
        </p:nvSpPr>
        <p:spPr>
          <a:xfrm>
            <a:off x="623888" y="3442098"/>
            <a:ext cx="7886700" cy="1125140"/>
          </a:xfrm>
        </p:spPr>
        <p:txBody>
          <a:bodyPr/>
          <a:lstStyle>
            <a:lvl1pPr marL="0" indent="0">
              <a:buNone/>
              <a:defRPr sz="180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6B21C6-CC72-77B5-9E5F-0C13AAD88DE0}"/>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FBAE9409-FC1C-D8F6-C164-6757762B13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FFD45-8A77-BD59-0A42-4632D180202C}"/>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13" name="Picture 12" descr="Background pattern&#10;&#10;AI-generated content may be incorrect.">
            <a:extLst>
              <a:ext uri="{FF2B5EF4-FFF2-40B4-BE49-F238E27FC236}">
                <a16:creationId xmlns:a16="http://schemas.microsoft.com/office/drawing/2014/main" id="{6DB361EA-32F9-14D2-D833-8C99C098F498}"/>
              </a:ext>
            </a:extLst>
          </p:cNvPr>
          <p:cNvPicPr/>
          <p:nvPr/>
        </p:nvPicPr>
        <p:blipFill>
          <a:blip r:embed="rId2" cstate="email">
            <a:extLst>
              <a:ext uri="{28A0092B-C50C-407E-A947-70E740481C1C}">
                <a14:useLocalDpi xmlns:a14="http://schemas.microsoft.com/office/drawing/2010/main"/>
              </a:ext>
            </a:extLst>
          </a:blip>
          <a:srcRect/>
          <a:stretch>
            <a:fillRect/>
          </a:stretch>
        </p:blipFill>
        <p:spPr>
          <a:xfrm>
            <a:off x="7942869" y="0"/>
            <a:ext cx="1201131" cy="4567238"/>
          </a:xfrm>
          <a:custGeom>
            <a:avLst/>
            <a:gdLst>
              <a:gd name="connsiteX0" fmla="*/ 0 w 1601508"/>
              <a:gd name="connsiteY0" fmla="*/ 0 h 6089650"/>
              <a:gd name="connsiteX1" fmla="*/ 1601508 w 1601508"/>
              <a:gd name="connsiteY1" fmla="*/ 0 h 6089650"/>
              <a:gd name="connsiteX2" fmla="*/ 1601508 w 1601508"/>
              <a:gd name="connsiteY2" fmla="*/ 6089650 h 6089650"/>
              <a:gd name="connsiteX3" fmla="*/ 0 w 1601508"/>
              <a:gd name="connsiteY3" fmla="*/ 6089650 h 6089650"/>
            </a:gdLst>
            <a:ahLst/>
            <a:cxnLst>
              <a:cxn ang="0">
                <a:pos x="connsiteX0" y="connsiteY0"/>
              </a:cxn>
              <a:cxn ang="0">
                <a:pos x="connsiteX1" y="connsiteY1"/>
              </a:cxn>
              <a:cxn ang="0">
                <a:pos x="connsiteX2" y="connsiteY2"/>
              </a:cxn>
              <a:cxn ang="0">
                <a:pos x="connsiteX3" y="connsiteY3"/>
              </a:cxn>
            </a:cxnLst>
            <a:rect l="l" t="t" r="r" b="b"/>
            <a:pathLst>
              <a:path w="1601508" h="6089650">
                <a:moveTo>
                  <a:pt x="0" y="0"/>
                </a:moveTo>
                <a:lnTo>
                  <a:pt x="1601508" y="0"/>
                </a:lnTo>
                <a:lnTo>
                  <a:pt x="1601508" y="6089650"/>
                </a:lnTo>
                <a:lnTo>
                  <a:pt x="0" y="6089650"/>
                </a:lnTo>
                <a:close/>
              </a:path>
            </a:pathLst>
          </a:custGeom>
        </p:spPr>
      </p:pic>
      <p:pic>
        <p:nvPicPr>
          <p:cNvPr id="9" name="Picture 8" descr="Plan Your Way OK Logo">
            <a:extLst>
              <a:ext uri="{FF2B5EF4-FFF2-40B4-BE49-F238E27FC236}">
                <a16:creationId xmlns:a16="http://schemas.microsoft.com/office/drawing/2014/main" id="{0D2C000A-F6E0-0CEB-2F25-076E4646A9E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795158" y="4712442"/>
            <a:ext cx="1348842" cy="383484"/>
          </a:xfrm>
          <a:prstGeom prst="rect">
            <a:avLst/>
          </a:prstGeom>
        </p:spPr>
      </p:pic>
    </p:spTree>
    <p:extLst>
      <p:ext uri="{BB962C8B-B14F-4D97-AF65-F5344CB8AC3E}">
        <p14:creationId xmlns:p14="http://schemas.microsoft.com/office/powerpoint/2010/main" val="83709801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BAB54-1C3C-EBFA-9FBE-4D7D8D8CFFF3}"/>
              </a:ext>
            </a:extLst>
          </p:cNvPr>
          <p:cNvSpPr>
            <a:spLocks noGrp="1"/>
          </p:cNvSpPr>
          <p:nvPr>
            <p:ph type="title"/>
          </p:nvPr>
        </p:nvSpPr>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951D450-080D-55DB-32BC-50A1BA631553}"/>
              </a:ext>
            </a:extLst>
          </p:cNvPr>
          <p:cNvSpPr>
            <a:spLocks noGrp="1"/>
          </p:cNvSpPr>
          <p:nvPr>
            <p:ph sz="half" idx="1"/>
          </p:nvPr>
        </p:nvSpPr>
        <p:spPr>
          <a:xfrm>
            <a:off x="628650" y="1369219"/>
            <a:ext cx="3886200"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43D435D-C710-F2F3-4FB5-35A38A3377B7}"/>
              </a:ext>
            </a:extLst>
          </p:cNvPr>
          <p:cNvSpPr>
            <a:spLocks noGrp="1"/>
          </p:cNvSpPr>
          <p:nvPr>
            <p:ph sz="half" idx="2"/>
          </p:nvPr>
        </p:nvSpPr>
        <p:spPr>
          <a:xfrm>
            <a:off x="4629150" y="1369219"/>
            <a:ext cx="3886200"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6F8D41F-AE74-8968-9E13-DCA755771664}"/>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6" name="Footer Placeholder 5">
            <a:extLst>
              <a:ext uri="{FF2B5EF4-FFF2-40B4-BE49-F238E27FC236}">
                <a16:creationId xmlns:a16="http://schemas.microsoft.com/office/drawing/2014/main" id="{DE2B0B74-9008-0E52-1626-31E76F078B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C21EAB-BA46-BD81-25AD-22C0F01182E8}"/>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13" name="Picture 12" descr="A picture containing text, sign&#10;&#10;AI-generated content may be incorrect.">
            <a:extLst>
              <a:ext uri="{FF2B5EF4-FFF2-40B4-BE49-F238E27FC236}">
                <a16:creationId xmlns:a16="http://schemas.microsoft.com/office/drawing/2014/main" id="{1ED425B4-C0E5-001A-AB15-05901F4518B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793175" y="4712160"/>
            <a:ext cx="1350825" cy="384048"/>
          </a:xfrm>
          <a:prstGeom prst="rect">
            <a:avLst/>
          </a:prstGeom>
        </p:spPr>
      </p:pic>
      <p:pic>
        <p:nvPicPr>
          <p:cNvPr id="11" name="Picture 10">
            <a:extLst>
              <a:ext uri="{FF2B5EF4-FFF2-40B4-BE49-F238E27FC236}">
                <a16:creationId xmlns:a16="http://schemas.microsoft.com/office/drawing/2014/main" id="{A7DD659E-7975-D958-C65B-1D20286CF5F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V="1">
            <a:off x="1" y="-1"/>
            <a:ext cx="3232181" cy="510778"/>
          </a:xfrm>
          <a:prstGeom prst="rect">
            <a:avLst/>
          </a:prstGeom>
        </p:spPr>
      </p:pic>
    </p:spTree>
    <p:extLst>
      <p:ext uri="{BB962C8B-B14F-4D97-AF65-F5344CB8AC3E}">
        <p14:creationId xmlns:p14="http://schemas.microsoft.com/office/powerpoint/2010/main" val="30249642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2A6B0-58AE-7AD4-384A-A21D35E6B19C}"/>
              </a:ext>
            </a:extLst>
          </p:cNvPr>
          <p:cNvSpPr>
            <a:spLocks noGrp="1"/>
          </p:cNvSpPr>
          <p:nvPr>
            <p:ph type="title"/>
          </p:nvPr>
        </p:nvSpPr>
        <p:spPr>
          <a:xfrm>
            <a:off x="629841" y="273844"/>
            <a:ext cx="7886700" cy="994172"/>
          </a:xfrm>
        </p:spPr>
        <p:txBody>
          <a:bodyPr/>
          <a:lstStyle>
            <a:lvl1pPr>
              <a:defRPr>
                <a:solidFill>
                  <a:schemeClr val="accent6"/>
                </a:solidFill>
              </a:defRPr>
            </a:lvl1pPr>
          </a:lstStyle>
          <a:p>
            <a:r>
              <a:rPr lang="en-US"/>
              <a:t>Click to edit Master title style</a:t>
            </a:r>
          </a:p>
        </p:txBody>
      </p:sp>
      <p:sp>
        <p:nvSpPr>
          <p:cNvPr id="3" name="Text Placeholder 2">
            <a:extLst>
              <a:ext uri="{FF2B5EF4-FFF2-40B4-BE49-F238E27FC236}">
                <a16:creationId xmlns:a16="http://schemas.microsoft.com/office/drawing/2014/main" id="{0A7448A3-DD01-65AD-EBBC-7146509143B7}"/>
              </a:ext>
            </a:extLst>
          </p:cNvPr>
          <p:cNvSpPr>
            <a:spLocks noGrp="1"/>
          </p:cNvSpPr>
          <p:nvPr>
            <p:ph type="body" idx="1"/>
          </p:nvPr>
        </p:nvSpPr>
        <p:spPr>
          <a:xfrm>
            <a:off x="629842" y="1260872"/>
            <a:ext cx="3868340" cy="617934"/>
          </a:xfrm>
        </p:spPr>
        <p:txBody>
          <a:bodyPr anchor="b"/>
          <a:lstStyle>
            <a:lvl1pPr marL="0" indent="0">
              <a:buNone/>
              <a:defRPr sz="1800" b="1">
                <a:solidFill>
                  <a:schemeClr val="accent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9D8997E1-A745-FAAC-DEE1-7FE99E3AB411}"/>
              </a:ext>
            </a:extLst>
          </p:cNvPr>
          <p:cNvSpPr>
            <a:spLocks noGrp="1"/>
          </p:cNvSpPr>
          <p:nvPr>
            <p:ph sz="half" idx="2"/>
          </p:nvPr>
        </p:nvSpPr>
        <p:spPr>
          <a:xfrm>
            <a:off x="629842" y="1878806"/>
            <a:ext cx="3868340" cy="2763441"/>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DE8BDB-7D3C-FCD3-7E11-4BE954110A37}"/>
              </a:ext>
            </a:extLst>
          </p:cNvPr>
          <p:cNvSpPr>
            <a:spLocks noGrp="1"/>
          </p:cNvSpPr>
          <p:nvPr>
            <p:ph type="body" sz="quarter" idx="3"/>
          </p:nvPr>
        </p:nvSpPr>
        <p:spPr>
          <a:xfrm>
            <a:off x="4629150" y="1260872"/>
            <a:ext cx="3887391" cy="617934"/>
          </a:xfrm>
        </p:spPr>
        <p:txBody>
          <a:bodyPr anchor="b"/>
          <a:lstStyle>
            <a:lvl1pPr marL="0" indent="0">
              <a:buNone/>
              <a:defRPr sz="1800" b="1">
                <a:solidFill>
                  <a:schemeClr val="accent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184E6A2-92F9-ECE9-702A-B8DDD2817B63}"/>
              </a:ext>
            </a:extLst>
          </p:cNvPr>
          <p:cNvSpPr>
            <a:spLocks noGrp="1"/>
          </p:cNvSpPr>
          <p:nvPr>
            <p:ph sz="quarter" idx="4"/>
          </p:nvPr>
        </p:nvSpPr>
        <p:spPr>
          <a:xfrm>
            <a:off x="4629150" y="1878806"/>
            <a:ext cx="3887391" cy="2763441"/>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5470B1-DD5D-7EFA-E52D-4F5F033F5A48}"/>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8" name="Footer Placeholder 7">
            <a:extLst>
              <a:ext uri="{FF2B5EF4-FFF2-40B4-BE49-F238E27FC236}">
                <a16:creationId xmlns:a16="http://schemas.microsoft.com/office/drawing/2014/main" id="{3A21A241-ADD2-048D-336D-BCC674FA1B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813FFE-0983-8DC3-73F9-E49D9828F913}"/>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63869001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31F2B-EEA9-F8B4-57A5-A5733646EA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F4C9FEC-72DF-3A11-BCF3-6D245B236A12}"/>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4" name="Footer Placeholder 3">
            <a:extLst>
              <a:ext uri="{FF2B5EF4-FFF2-40B4-BE49-F238E27FC236}">
                <a16:creationId xmlns:a16="http://schemas.microsoft.com/office/drawing/2014/main" id="{BDF47FED-2725-1A2D-459D-4C914B792E9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DE8D104-AEB0-9A03-8B60-2E9F1C2156AE}"/>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166314239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C971A4-F4E4-3E29-C3AE-27CC38CAFB9D}"/>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3" name="Footer Placeholder 2">
            <a:extLst>
              <a:ext uri="{FF2B5EF4-FFF2-40B4-BE49-F238E27FC236}">
                <a16:creationId xmlns:a16="http://schemas.microsoft.com/office/drawing/2014/main" id="{7F3C2477-D402-582E-9AB3-E781F52A98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AF667D-D414-EFAA-C9A9-8BC6F0C752EB}"/>
              </a:ext>
            </a:extLst>
          </p:cNvPr>
          <p:cNvSpPr>
            <a:spLocks noGrp="1"/>
          </p:cNvSpPr>
          <p:nvPr>
            <p:ph type="sldNum" sz="quarter" idx="12"/>
          </p:nvPr>
        </p:nvSpPr>
        <p:spPr/>
        <p:txBody>
          <a:bodyPr/>
          <a:lstStyle/>
          <a:p>
            <a:fld id="{2B5664E2-3A40-4D1A-BF40-1793ED3F7EF0}" type="slidenum">
              <a:rPr lang="en-US" smtClean="0"/>
              <a:t>‹#›</a:t>
            </a:fld>
            <a:endParaRPr lang="en-US"/>
          </a:p>
        </p:txBody>
      </p:sp>
      <p:sp>
        <p:nvSpPr>
          <p:cNvPr id="19" name="TextBox 18">
            <a:extLst>
              <a:ext uri="{FF2B5EF4-FFF2-40B4-BE49-F238E27FC236}">
                <a16:creationId xmlns:a16="http://schemas.microsoft.com/office/drawing/2014/main" id="{0C825D5E-9956-F8F0-E3CC-882E78B1B24A}"/>
              </a:ext>
            </a:extLst>
          </p:cNvPr>
          <p:cNvSpPr txBox="1"/>
          <p:nvPr/>
        </p:nvSpPr>
        <p:spPr>
          <a:xfrm>
            <a:off x="0" y="2851354"/>
            <a:ext cx="9144000" cy="1938992"/>
          </a:xfrm>
          <a:prstGeom prst="rect">
            <a:avLst/>
          </a:prstGeom>
          <a:noFill/>
        </p:spPr>
        <p:txBody>
          <a:bodyPr wrap="square">
            <a:spAutoFit/>
          </a:bodyPr>
          <a:lstStyle/>
          <a:p>
            <a:pPr marL="0" marR="0">
              <a:buNone/>
            </a:pPr>
            <a:r>
              <a:rPr lang="en-US" sz="1500" kern="100" dirty="0">
                <a:solidFill>
                  <a:schemeClr val="bg1"/>
                </a:solidFill>
                <a:effectLst/>
                <a:latin typeface="Atkinson Hyperlegible Next" pitchFamily="50" charset="0"/>
                <a:ea typeface="Aptos" panose="020B0004020202020204" pitchFamily="34" charset="0"/>
                <a:cs typeface="Arial" panose="020B0604020202020204" pitchFamily="34" charset="0"/>
              </a:rPr>
              <a:t>The contents of this presentation were developed under grant HR421E230012 from the U.S. Department of Education (Department). The Department does not mandate or prescribe practices, models, or other activities described or discussed in this resource. The contents of this presentation may contain examples of, adaptations of, and links to resources created and maintained by another public or private organization. The Department does not control or guarantee the accuracy, relevance, timeliness, or completeness of this outside information. The content of this guide does not necessarily represent the policy of the Department. This presentation is not intended to represent the views or policy of or be an endorsement of any views expressed, or materials provided by any Federal agency. (EDGAR 75.620)</a:t>
            </a:r>
          </a:p>
        </p:txBody>
      </p:sp>
      <p:pic>
        <p:nvPicPr>
          <p:cNvPr id="20" name="Picture 19" descr="Blue and white sign&#10;&#10;">
            <a:extLst>
              <a:ext uri="{FF2B5EF4-FFF2-40B4-BE49-F238E27FC236}">
                <a16:creationId xmlns:a16="http://schemas.microsoft.com/office/drawing/2014/main" id="{5BEC89F8-650B-4C6A-0956-98114467CA4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5615306" cy="1596465"/>
          </a:xfrm>
          <a:prstGeom prst="rect">
            <a:avLst/>
          </a:prstGeom>
        </p:spPr>
      </p:pic>
    </p:spTree>
    <p:extLst>
      <p:ext uri="{BB962C8B-B14F-4D97-AF65-F5344CB8AC3E}">
        <p14:creationId xmlns:p14="http://schemas.microsoft.com/office/powerpoint/2010/main" val="3272293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D797E-20D0-2A98-ED8E-A966D6B04645}"/>
              </a:ext>
            </a:extLst>
          </p:cNvPr>
          <p:cNvSpPr>
            <a:spLocks noGrp="1"/>
          </p:cNvSpPr>
          <p:nvPr>
            <p:ph type="title"/>
          </p:nvPr>
        </p:nvSpPr>
        <p:spPr>
          <a:xfrm>
            <a:off x="629841" y="342900"/>
            <a:ext cx="2949178" cy="1200150"/>
          </a:xfrm>
        </p:spPr>
        <p:txBody>
          <a:bodyPr anchor="b"/>
          <a:lstStyle>
            <a:lvl1pPr>
              <a:defRPr sz="2400">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AE474DB-4646-51C7-D0B2-D2B4A7F40B3E}"/>
              </a:ext>
            </a:extLst>
          </p:cNvPr>
          <p:cNvSpPr>
            <a:spLocks noGrp="1"/>
          </p:cNvSpPr>
          <p:nvPr>
            <p:ph idx="1"/>
          </p:nvPr>
        </p:nvSpPr>
        <p:spPr>
          <a:xfrm>
            <a:off x="3887391" y="740569"/>
            <a:ext cx="4629150" cy="3655219"/>
          </a:xfrm>
        </p:spPr>
        <p:txBody>
          <a:bodyPr/>
          <a:lstStyle>
            <a:lvl1pPr>
              <a:defRPr sz="2400">
                <a:solidFill>
                  <a:schemeClr val="accent6"/>
                </a:solidFill>
              </a:defRPr>
            </a:lvl1pPr>
            <a:lvl2pPr>
              <a:defRPr sz="2100">
                <a:solidFill>
                  <a:schemeClr val="accent6"/>
                </a:solidFill>
              </a:defRPr>
            </a:lvl2pPr>
            <a:lvl3pPr>
              <a:defRPr sz="1800">
                <a:solidFill>
                  <a:schemeClr val="accent6"/>
                </a:solidFill>
              </a:defRPr>
            </a:lvl3pPr>
            <a:lvl4pPr>
              <a:defRPr sz="1500">
                <a:solidFill>
                  <a:schemeClr val="accent6"/>
                </a:solidFill>
              </a:defRPr>
            </a:lvl4pPr>
            <a:lvl5pPr>
              <a:defRPr sz="1500">
                <a:solidFill>
                  <a:schemeClr val="accent6"/>
                </a:solidFill>
              </a:defRPr>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3A0E6259-55A1-5ECB-E304-8B5D09E3D655}"/>
              </a:ext>
            </a:extLst>
          </p:cNvPr>
          <p:cNvSpPr>
            <a:spLocks noGrp="1"/>
          </p:cNvSpPr>
          <p:nvPr>
            <p:ph type="body" sz="half" idx="2"/>
          </p:nvPr>
        </p:nvSpPr>
        <p:spPr>
          <a:xfrm>
            <a:off x="629841" y="1543050"/>
            <a:ext cx="2949178" cy="2858691"/>
          </a:xfrm>
        </p:spPr>
        <p:txBody>
          <a:bodyPr/>
          <a:lstStyle>
            <a:lvl1pPr marL="0" indent="0">
              <a:buNone/>
              <a:defRPr sz="1200">
                <a:solidFill>
                  <a:schemeClr val="accent6"/>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4555984-9C93-D302-B247-0B332F3E3327}"/>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6" name="Footer Placeholder 5">
            <a:extLst>
              <a:ext uri="{FF2B5EF4-FFF2-40B4-BE49-F238E27FC236}">
                <a16:creationId xmlns:a16="http://schemas.microsoft.com/office/drawing/2014/main" id="{CA023BDF-FA82-E879-700A-49DB7947A8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82CF2F-24FE-9AB7-8E00-E1422BB7D2D3}"/>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09992836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01CB0-D132-956C-437E-AA8483FF3C1E}"/>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5F91019-239B-5254-23D0-7BFF0BB7EECA}"/>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a:extLst>
              <a:ext uri="{FF2B5EF4-FFF2-40B4-BE49-F238E27FC236}">
                <a16:creationId xmlns:a16="http://schemas.microsoft.com/office/drawing/2014/main" id="{19D27294-CA0E-5F41-3E77-B1E93821B14C}"/>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C5CBA06-0262-5CCA-896C-315678CA03CB}"/>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6" name="Footer Placeholder 5">
            <a:extLst>
              <a:ext uri="{FF2B5EF4-FFF2-40B4-BE49-F238E27FC236}">
                <a16:creationId xmlns:a16="http://schemas.microsoft.com/office/drawing/2014/main" id="{14A559DD-E897-2037-B8D3-87F77163AF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2C6381-C81F-0B65-9751-34AF66EB0438}"/>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152533581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6B1B8-B1FB-F610-2A5A-55443DC99ABC}"/>
              </a:ext>
            </a:extLst>
          </p:cNvPr>
          <p:cNvSpPr>
            <a:spLocks noGrp="1"/>
          </p:cNvSpPr>
          <p:nvPr>
            <p:ph type="title"/>
          </p:nvPr>
        </p:nvSpPr>
        <p:spPr>
          <a:xfrm>
            <a:off x="628650" y="273844"/>
            <a:ext cx="7886700" cy="994172"/>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5012450-33DB-46B2-C9F1-991A0B7D90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25530D-6B47-F166-43BF-A9A7852922F6}"/>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919DBC34-0E2C-CD97-F397-4BF8166D8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973274-6134-DF2D-8DDD-83A46F94656D}"/>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08431801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EB3855-56F0-C304-A6DF-0CC85FFF957A}"/>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C01C01-BA2B-E96A-7162-000D9E215165}"/>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EB8FEF-5B76-9F7B-D574-FBB4E29C12A1}"/>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D5324E18-936A-ACDC-0523-1FF03EBC0C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A9CD96-9B36-D774-9148-7AA16D6B27B3}"/>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96690363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51"/>
        <p:cNvGrpSpPr/>
        <p:nvPr/>
      </p:nvGrpSpPr>
      <p:grpSpPr>
        <a:xfrm>
          <a:off x="0" y="0"/>
          <a:ext cx="0" cy="0"/>
          <a:chOff x="0" y="0"/>
          <a:chExt cx="0" cy="0"/>
        </a:xfrm>
      </p:grpSpPr>
      <p:sp>
        <p:nvSpPr>
          <p:cNvPr id="54" name="Google Shape;54;p9"/>
          <p:cNvSpPr txBox="1">
            <a:spLocks noGrp="1"/>
          </p:cNvSpPr>
          <p:nvPr>
            <p:ph type="subTitle" idx="1"/>
          </p:nvPr>
        </p:nvSpPr>
        <p:spPr>
          <a:xfrm>
            <a:off x="4572000" y="799950"/>
            <a:ext cx="3566700" cy="1176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a:solidFill>
                  <a:schemeClr val="dk1"/>
                </a:solidFill>
                <a:latin typeface="Overpass Light"/>
                <a:ea typeface="Overpass Light"/>
                <a:cs typeface="Overpass Light"/>
                <a:sym typeface="Overpass Light"/>
              </a:defRPr>
            </a:lvl1pPr>
            <a:lvl2pPr lvl="1" rtl="0">
              <a:lnSpc>
                <a:spcPct val="100000"/>
              </a:lnSpc>
              <a:spcBef>
                <a:spcPts val="0"/>
              </a:spcBef>
              <a:spcAft>
                <a:spcPts val="0"/>
              </a:spcAft>
              <a:buNone/>
              <a:defRPr>
                <a:solidFill>
                  <a:schemeClr val="dk1"/>
                </a:solidFill>
                <a:latin typeface="Overpass Light"/>
                <a:ea typeface="Overpass Light"/>
                <a:cs typeface="Overpass Light"/>
                <a:sym typeface="Overpass Light"/>
              </a:defRPr>
            </a:lvl2pPr>
            <a:lvl3pPr lvl="2" rtl="0">
              <a:lnSpc>
                <a:spcPct val="100000"/>
              </a:lnSpc>
              <a:spcBef>
                <a:spcPts val="0"/>
              </a:spcBef>
              <a:spcAft>
                <a:spcPts val="0"/>
              </a:spcAft>
              <a:buNone/>
              <a:defRPr>
                <a:solidFill>
                  <a:schemeClr val="dk1"/>
                </a:solidFill>
                <a:latin typeface="Overpass Light"/>
                <a:ea typeface="Overpass Light"/>
                <a:cs typeface="Overpass Light"/>
                <a:sym typeface="Overpass Light"/>
              </a:defRPr>
            </a:lvl3pPr>
            <a:lvl4pPr lvl="3" rtl="0">
              <a:lnSpc>
                <a:spcPct val="100000"/>
              </a:lnSpc>
              <a:spcBef>
                <a:spcPts val="0"/>
              </a:spcBef>
              <a:spcAft>
                <a:spcPts val="0"/>
              </a:spcAft>
              <a:buNone/>
              <a:defRPr>
                <a:solidFill>
                  <a:schemeClr val="dk1"/>
                </a:solidFill>
                <a:latin typeface="Overpass Light"/>
                <a:ea typeface="Overpass Light"/>
                <a:cs typeface="Overpass Light"/>
                <a:sym typeface="Overpass Light"/>
              </a:defRPr>
            </a:lvl4pPr>
            <a:lvl5pPr lvl="4" rtl="0">
              <a:lnSpc>
                <a:spcPct val="100000"/>
              </a:lnSpc>
              <a:spcBef>
                <a:spcPts val="0"/>
              </a:spcBef>
              <a:spcAft>
                <a:spcPts val="0"/>
              </a:spcAft>
              <a:buNone/>
              <a:defRPr>
                <a:solidFill>
                  <a:schemeClr val="dk1"/>
                </a:solidFill>
                <a:latin typeface="Overpass Light"/>
                <a:ea typeface="Overpass Light"/>
                <a:cs typeface="Overpass Light"/>
                <a:sym typeface="Overpass Light"/>
              </a:defRPr>
            </a:lvl5pPr>
            <a:lvl6pPr lvl="5" rtl="0">
              <a:lnSpc>
                <a:spcPct val="100000"/>
              </a:lnSpc>
              <a:spcBef>
                <a:spcPts val="0"/>
              </a:spcBef>
              <a:spcAft>
                <a:spcPts val="0"/>
              </a:spcAft>
              <a:buNone/>
              <a:defRPr>
                <a:solidFill>
                  <a:schemeClr val="dk1"/>
                </a:solidFill>
                <a:latin typeface="Overpass Light"/>
                <a:ea typeface="Overpass Light"/>
                <a:cs typeface="Overpass Light"/>
                <a:sym typeface="Overpass Light"/>
              </a:defRPr>
            </a:lvl6pPr>
            <a:lvl7pPr lvl="6" rtl="0">
              <a:lnSpc>
                <a:spcPct val="100000"/>
              </a:lnSpc>
              <a:spcBef>
                <a:spcPts val="0"/>
              </a:spcBef>
              <a:spcAft>
                <a:spcPts val="0"/>
              </a:spcAft>
              <a:buNone/>
              <a:defRPr>
                <a:solidFill>
                  <a:schemeClr val="dk1"/>
                </a:solidFill>
                <a:latin typeface="Overpass Light"/>
                <a:ea typeface="Overpass Light"/>
                <a:cs typeface="Overpass Light"/>
                <a:sym typeface="Overpass Light"/>
              </a:defRPr>
            </a:lvl7pPr>
            <a:lvl8pPr lvl="7" rtl="0">
              <a:lnSpc>
                <a:spcPct val="100000"/>
              </a:lnSpc>
              <a:spcBef>
                <a:spcPts val="0"/>
              </a:spcBef>
              <a:spcAft>
                <a:spcPts val="0"/>
              </a:spcAft>
              <a:buNone/>
              <a:defRPr>
                <a:solidFill>
                  <a:schemeClr val="dk1"/>
                </a:solidFill>
                <a:latin typeface="Overpass Light"/>
                <a:ea typeface="Overpass Light"/>
                <a:cs typeface="Overpass Light"/>
                <a:sym typeface="Overpass Light"/>
              </a:defRPr>
            </a:lvl8pPr>
            <a:lvl9pPr lvl="8" rtl="0">
              <a:lnSpc>
                <a:spcPct val="100000"/>
              </a:lnSpc>
              <a:spcBef>
                <a:spcPts val="0"/>
              </a:spcBef>
              <a:spcAft>
                <a:spcPts val="0"/>
              </a:spcAft>
              <a:buNone/>
              <a:defRPr>
                <a:solidFill>
                  <a:schemeClr val="dk1"/>
                </a:solidFill>
                <a:latin typeface="Overpass Light"/>
                <a:ea typeface="Overpass Light"/>
                <a:cs typeface="Overpass Light"/>
                <a:sym typeface="Overpass Light"/>
              </a:defRPr>
            </a:lvl9pPr>
          </a:lstStyle>
          <a:p>
            <a:endParaRPr/>
          </a:p>
        </p:txBody>
      </p:sp>
      <p:sp>
        <p:nvSpPr>
          <p:cNvPr id="55" name="Google Shape;55;p9"/>
          <p:cNvSpPr txBox="1">
            <a:spLocks noGrp="1"/>
          </p:cNvSpPr>
          <p:nvPr>
            <p:ph type="title"/>
          </p:nvPr>
        </p:nvSpPr>
        <p:spPr>
          <a:xfrm>
            <a:off x="713225" y="1041931"/>
            <a:ext cx="383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4300"/>
              <a:buNone/>
              <a:defRPr sz="35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25404714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6"/>
        <p:cNvGrpSpPr/>
        <p:nvPr/>
      </p:nvGrpSpPr>
      <p:grpSpPr>
        <a:xfrm>
          <a:off x="0" y="0"/>
          <a:ext cx="0" cy="0"/>
          <a:chOff x="0" y="0"/>
          <a:chExt cx="0" cy="0"/>
        </a:xfrm>
      </p:grpSpPr>
      <p:sp>
        <p:nvSpPr>
          <p:cNvPr id="28" name="Google Shape;28;p4"/>
          <p:cNvSpPr txBox="1">
            <a:spLocks noGrp="1"/>
          </p:cNvSpPr>
          <p:nvPr>
            <p:ph type="subTitle" idx="1"/>
          </p:nvPr>
        </p:nvSpPr>
        <p:spPr>
          <a:xfrm>
            <a:off x="621575" y="1228437"/>
            <a:ext cx="7878300" cy="365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200"/>
            </a:lvl1pPr>
            <a:lvl2pPr lvl="1" rtl="0">
              <a:lnSpc>
                <a:spcPct val="100000"/>
              </a:lnSpc>
              <a:spcBef>
                <a:spcPts val="0"/>
              </a:spcBef>
              <a:spcAft>
                <a:spcPts val="0"/>
              </a:spcAft>
              <a:buNone/>
              <a:defRPr sz="1200"/>
            </a:lvl2pPr>
            <a:lvl3pPr lvl="2" rtl="0">
              <a:lnSpc>
                <a:spcPct val="100000"/>
              </a:lnSpc>
              <a:spcBef>
                <a:spcPts val="0"/>
              </a:spcBef>
              <a:spcAft>
                <a:spcPts val="0"/>
              </a:spcAft>
              <a:buNone/>
              <a:defRPr sz="1200"/>
            </a:lvl3pPr>
            <a:lvl4pPr lvl="3" rtl="0">
              <a:lnSpc>
                <a:spcPct val="100000"/>
              </a:lnSpc>
              <a:spcBef>
                <a:spcPts val="0"/>
              </a:spcBef>
              <a:spcAft>
                <a:spcPts val="0"/>
              </a:spcAft>
              <a:buNone/>
              <a:defRPr sz="1200"/>
            </a:lvl4pPr>
            <a:lvl5pPr lvl="4" rtl="0">
              <a:lnSpc>
                <a:spcPct val="100000"/>
              </a:lnSpc>
              <a:spcBef>
                <a:spcPts val="0"/>
              </a:spcBef>
              <a:spcAft>
                <a:spcPts val="0"/>
              </a:spcAft>
              <a:buNone/>
              <a:defRPr sz="1200"/>
            </a:lvl5pPr>
            <a:lvl6pPr lvl="5" rtl="0">
              <a:lnSpc>
                <a:spcPct val="100000"/>
              </a:lnSpc>
              <a:spcBef>
                <a:spcPts val="0"/>
              </a:spcBef>
              <a:spcAft>
                <a:spcPts val="0"/>
              </a:spcAft>
              <a:buNone/>
              <a:defRPr sz="1200"/>
            </a:lvl6pPr>
            <a:lvl7pPr lvl="6" rtl="0">
              <a:lnSpc>
                <a:spcPct val="100000"/>
              </a:lnSpc>
              <a:spcBef>
                <a:spcPts val="0"/>
              </a:spcBef>
              <a:spcAft>
                <a:spcPts val="0"/>
              </a:spcAft>
              <a:buNone/>
              <a:defRPr sz="1200"/>
            </a:lvl7pPr>
            <a:lvl8pPr lvl="7" rtl="0">
              <a:lnSpc>
                <a:spcPct val="100000"/>
              </a:lnSpc>
              <a:spcBef>
                <a:spcPts val="0"/>
              </a:spcBef>
              <a:spcAft>
                <a:spcPts val="0"/>
              </a:spcAft>
              <a:buNone/>
              <a:defRPr sz="1200"/>
            </a:lvl8pPr>
            <a:lvl9pPr lvl="8" rtl="0">
              <a:lnSpc>
                <a:spcPct val="100000"/>
              </a:lnSpc>
              <a:spcBef>
                <a:spcPts val="0"/>
              </a:spcBef>
              <a:spcAft>
                <a:spcPts val="0"/>
              </a:spcAft>
              <a:buNone/>
              <a:defRPr sz="1200"/>
            </a:lvl9pPr>
          </a:lstStyle>
          <a:p>
            <a:endParaRPr/>
          </a:p>
        </p:txBody>
      </p:sp>
      <p:sp>
        <p:nvSpPr>
          <p:cNvPr id="29" name="Google Shape;29;p4"/>
          <p:cNvSpPr txBox="1">
            <a:spLocks noGrp="1"/>
          </p:cNvSpPr>
          <p:nvPr>
            <p:ph type="title"/>
          </p:nvPr>
        </p:nvSpPr>
        <p:spPr>
          <a:xfrm>
            <a:off x="625300" y="315813"/>
            <a:ext cx="7704000" cy="707700"/>
          </a:xfrm>
          <a:prstGeom prst="rect">
            <a:avLst/>
          </a:prstGeom>
        </p:spPr>
        <p:txBody>
          <a:bodyPr spcFirstLastPara="1" wrap="square" lIns="91425" tIns="91425" rIns="91425" bIns="91425" anchor="t" anchorCtr="0">
            <a:noAutofit/>
          </a:bodyPr>
          <a:lstStyle>
            <a:lvl1pPr lvl="0" rtl="0">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38589019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8"/>
        <p:cNvGrpSpPr/>
        <p:nvPr/>
      </p:nvGrpSpPr>
      <p:grpSpPr>
        <a:xfrm>
          <a:off x="0" y="0"/>
          <a:ext cx="0" cy="0"/>
          <a:chOff x="0" y="0"/>
          <a:chExt cx="0" cy="0"/>
        </a:xfrm>
      </p:grpSpPr>
      <p:sp>
        <p:nvSpPr>
          <p:cNvPr id="17" name="Google Shape;17;p2"/>
          <p:cNvSpPr txBox="1">
            <a:spLocks noGrp="1"/>
          </p:cNvSpPr>
          <p:nvPr>
            <p:ph type="ctrTitle"/>
          </p:nvPr>
        </p:nvSpPr>
        <p:spPr>
          <a:xfrm>
            <a:off x="2194775" y="1457250"/>
            <a:ext cx="4754400" cy="2229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7200"/>
            </a:lvl1pPr>
            <a:lvl2pPr lvl="1" rtl="0">
              <a:spcBef>
                <a:spcPts val="0"/>
              </a:spcBef>
              <a:spcAft>
                <a:spcPts val="0"/>
              </a:spcAft>
              <a:buClr>
                <a:srgbClr val="434343"/>
              </a:buClr>
              <a:buSzPts val="5200"/>
              <a:buNone/>
              <a:defRPr sz="5200">
                <a:solidFill>
                  <a:srgbClr val="434343"/>
                </a:solidFill>
              </a:defRPr>
            </a:lvl2pPr>
            <a:lvl3pPr lvl="2" rtl="0">
              <a:spcBef>
                <a:spcPts val="0"/>
              </a:spcBef>
              <a:spcAft>
                <a:spcPts val="0"/>
              </a:spcAft>
              <a:buClr>
                <a:srgbClr val="434343"/>
              </a:buClr>
              <a:buSzPts val="5200"/>
              <a:buNone/>
              <a:defRPr sz="5200">
                <a:solidFill>
                  <a:srgbClr val="434343"/>
                </a:solidFill>
              </a:defRPr>
            </a:lvl3pPr>
            <a:lvl4pPr lvl="3" rtl="0">
              <a:spcBef>
                <a:spcPts val="0"/>
              </a:spcBef>
              <a:spcAft>
                <a:spcPts val="0"/>
              </a:spcAft>
              <a:buClr>
                <a:srgbClr val="434343"/>
              </a:buClr>
              <a:buSzPts val="5200"/>
              <a:buNone/>
              <a:defRPr sz="5200">
                <a:solidFill>
                  <a:srgbClr val="434343"/>
                </a:solidFill>
              </a:defRPr>
            </a:lvl4pPr>
            <a:lvl5pPr lvl="4" rtl="0">
              <a:spcBef>
                <a:spcPts val="0"/>
              </a:spcBef>
              <a:spcAft>
                <a:spcPts val="0"/>
              </a:spcAft>
              <a:buClr>
                <a:srgbClr val="434343"/>
              </a:buClr>
              <a:buSzPts val="5200"/>
              <a:buNone/>
              <a:defRPr sz="5200">
                <a:solidFill>
                  <a:srgbClr val="434343"/>
                </a:solidFill>
              </a:defRPr>
            </a:lvl5pPr>
            <a:lvl6pPr lvl="5" rtl="0">
              <a:spcBef>
                <a:spcPts val="0"/>
              </a:spcBef>
              <a:spcAft>
                <a:spcPts val="0"/>
              </a:spcAft>
              <a:buClr>
                <a:srgbClr val="434343"/>
              </a:buClr>
              <a:buSzPts val="5200"/>
              <a:buNone/>
              <a:defRPr sz="5200">
                <a:solidFill>
                  <a:srgbClr val="434343"/>
                </a:solidFill>
              </a:defRPr>
            </a:lvl6pPr>
            <a:lvl7pPr lvl="6" rtl="0">
              <a:spcBef>
                <a:spcPts val="0"/>
              </a:spcBef>
              <a:spcAft>
                <a:spcPts val="0"/>
              </a:spcAft>
              <a:buClr>
                <a:srgbClr val="434343"/>
              </a:buClr>
              <a:buSzPts val="5200"/>
              <a:buNone/>
              <a:defRPr sz="5200">
                <a:solidFill>
                  <a:srgbClr val="434343"/>
                </a:solidFill>
              </a:defRPr>
            </a:lvl7pPr>
            <a:lvl8pPr lvl="7" rtl="0">
              <a:spcBef>
                <a:spcPts val="0"/>
              </a:spcBef>
              <a:spcAft>
                <a:spcPts val="0"/>
              </a:spcAft>
              <a:buClr>
                <a:srgbClr val="434343"/>
              </a:buClr>
              <a:buSzPts val="5200"/>
              <a:buNone/>
              <a:defRPr sz="5200">
                <a:solidFill>
                  <a:srgbClr val="434343"/>
                </a:solidFill>
              </a:defRPr>
            </a:lvl8pPr>
            <a:lvl9pPr lvl="8" rtl="0">
              <a:spcBef>
                <a:spcPts val="0"/>
              </a:spcBef>
              <a:spcAft>
                <a:spcPts val="0"/>
              </a:spcAft>
              <a:buClr>
                <a:srgbClr val="434343"/>
              </a:buClr>
              <a:buSzPts val="5200"/>
              <a:buNone/>
              <a:defRPr sz="5200">
                <a:solidFill>
                  <a:srgbClr val="434343"/>
                </a:solidFill>
              </a:defRPr>
            </a:lvl9pPr>
          </a:lstStyle>
          <a:p>
            <a:endParaRPr/>
          </a:p>
        </p:txBody>
      </p:sp>
      <p:sp>
        <p:nvSpPr>
          <p:cNvPr id="18" name="Google Shape;18;p2"/>
          <p:cNvSpPr txBox="1">
            <a:spLocks noGrp="1"/>
          </p:cNvSpPr>
          <p:nvPr>
            <p:ph type="subTitle" idx="1"/>
          </p:nvPr>
        </p:nvSpPr>
        <p:spPr>
          <a:xfrm>
            <a:off x="2364775" y="3681600"/>
            <a:ext cx="4417800" cy="369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000000"/>
              </a:buClr>
              <a:buSzPts val="1800"/>
              <a:buNone/>
              <a:defRPr>
                <a:solidFill>
                  <a:schemeClr val="lt1"/>
                </a:solidFill>
                <a:latin typeface="Overpass Light"/>
                <a:ea typeface="Overpass Light"/>
                <a:cs typeface="Overpass Light"/>
                <a:sym typeface="Overpass Light"/>
              </a:defRPr>
            </a:lvl1pPr>
            <a:lvl2pPr lvl="1" algn="r" rtl="0">
              <a:lnSpc>
                <a:spcPct val="100000"/>
              </a:lnSpc>
              <a:spcBef>
                <a:spcPts val="0"/>
              </a:spcBef>
              <a:spcAft>
                <a:spcPts val="0"/>
              </a:spcAft>
              <a:buClr>
                <a:srgbClr val="434343"/>
              </a:buClr>
              <a:buSzPts val="2800"/>
              <a:buNone/>
              <a:defRPr sz="2800">
                <a:solidFill>
                  <a:srgbClr val="434343"/>
                </a:solidFill>
              </a:defRPr>
            </a:lvl2pPr>
            <a:lvl3pPr lvl="2" algn="r" rtl="0">
              <a:lnSpc>
                <a:spcPct val="100000"/>
              </a:lnSpc>
              <a:spcBef>
                <a:spcPts val="0"/>
              </a:spcBef>
              <a:spcAft>
                <a:spcPts val="0"/>
              </a:spcAft>
              <a:buClr>
                <a:srgbClr val="434343"/>
              </a:buClr>
              <a:buSzPts val="2800"/>
              <a:buNone/>
              <a:defRPr sz="2800">
                <a:solidFill>
                  <a:srgbClr val="434343"/>
                </a:solidFill>
              </a:defRPr>
            </a:lvl3pPr>
            <a:lvl4pPr lvl="3" algn="r" rtl="0">
              <a:lnSpc>
                <a:spcPct val="100000"/>
              </a:lnSpc>
              <a:spcBef>
                <a:spcPts val="0"/>
              </a:spcBef>
              <a:spcAft>
                <a:spcPts val="0"/>
              </a:spcAft>
              <a:buClr>
                <a:srgbClr val="434343"/>
              </a:buClr>
              <a:buSzPts val="2800"/>
              <a:buNone/>
              <a:defRPr sz="2800">
                <a:solidFill>
                  <a:srgbClr val="434343"/>
                </a:solidFill>
              </a:defRPr>
            </a:lvl4pPr>
            <a:lvl5pPr lvl="4" algn="r" rtl="0">
              <a:lnSpc>
                <a:spcPct val="100000"/>
              </a:lnSpc>
              <a:spcBef>
                <a:spcPts val="0"/>
              </a:spcBef>
              <a:spcAft>
                <a:spcPts val="0"/>
              </a:spcAft>
              <a:buClr>
                <a:srgbClr val="434343"/>
              </a:buClr>
              <a:buSzPts val="2800"/>
              <a:buNone/>
              <a:defRPr sz="2800">
                <a:solidFill>
                  <a:srgbClr val="434343"/>
                </a:solidFill>
              </a:defRPr>
            </a:lvl5pPr>
            <a:lvl6pPr lvl="5" algn="r" rtl="0">
              <a:lnSpc>
                <a:spcPct val="100000"/>
              </a:lnSpc>
              <a:spcBef>
                <a:spcPts val="0"/>
              </a:spcBef>
              <a:spcAft>
                <a:spcPts val="0"/>
              </a:spcAft>
              <a:buClr>
                <a:srgbClr val="434343"/>
              </a:buClr>
              <a:buSzPts val="2800"/>
              <a:buNone/>
              <a:defRPr sz="2800">
                <a:solidFill>
                  <a:srgbClr val="434343"/>
                </a:solidFill>
              </a:defRPr>
            </a:lvl6pPr>
            <a:lvl7pPr lvl="6" algn="r" rtl="0">
              <a:lnSpc>
                <a:spcPct val="100000"/>
              </a:lnSpc>
              <a:spcBef>
                <a:spcPts val="0"/>
              </a:spcBef>
              <a:spcAft>
                <a:spcPts val="0"/>
              </a:spcAft>
              <a:buClr>
                <a:srgbClr val="434343"/>
              </a:buClr>
              <a:buSzPts val="2800"/>
              <a:buNone/>
              <a:defRPr sz="2800">
                <a:solidFill>
                  <a:srgbClr val="434343"/>
                </a:solidFill>
              </a:defRPr>
            </a:lvl7pPr>
            <a:lvl8pPr lvl="7" algn="r" rtl="0">
              <a:lnSpc>
                <a:spcPct val="100000"/>
              </a:lnSpc>
              <a:spcBef>
                <a:spcPts val="0"/>
              </a:spcBef>
              <a:spcAft>
                <a:spcPts val="0"/>
              </a:spcAft>
              <a:buClr>
                <a:srgbClr val="434343"/>
              </a:buClr>
              <a:buSzPts val="2800"/>
              <a:buNone/>
              <a:defRPr sz="2800">
                <a:solidFill>
                  <a:srgbClr val="434343"/>
                </a:solidFill>
              </a:defRPr>
            </a:lvl8pPr>
            <a:lvl9pPr lvl="8" algn="r" rtl="0">
              <a:lnSpc>
                <a:spcPct val="100000"/>
              </a:lnSpc>
              <a:spcBef>
                <a:spcPts val="0"/>
              </a:spcBef>
              <a:spcAft>
                <a:spcPts val="0"/>
              </a:spcAft>
              <a:buClr>
                <a:srgbClr val="434343"/>
              </a:buClr>
              <a:buSzPts val="2800"/>
              <a:buNone/>
              <a:defRPr sz="2800">
                <a:solidFill>
                  <a:srgbClr val="434343"/>
                </a:solidFill>
              </a:defRPr>
            </a:lvl9pPr>
          </a:lstStyle>
          <a:p>
            <a:endParaRPr/>
          </a:p>
        </p:txBody>
      </p:sp>
    </p:spTree>
    <p:extLst>
      <p:ext uri="{BB962C8B-B14F-4D97-AF65-F5344CB8AC3E}">
        <p14:creationId xmlns:p14="http://schemas.microsoft.com/office/powerpoint/2010/main" val="5716012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E16F9E-B503-4375-8A4D-6043A8332E55}"/>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E8DFE7B-6603-70CF-9AEE-795CEF9F1610}"/>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3302374-0F3E-D7EA-9840-D41A1B5E2838}"/>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081E32A8-3DF3-98E8-9BAA-72AE74CEF600}"/>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51C83A0-7ED6-646B-993E-492C43B64389}"/>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2B5664E2-3A40-4D1A-BF40-1793ED3F7EF0}" type="slidenum">
              <a:rPr lang="en-US" smtClean="0"/>
              <a:t>‹#›</a:t>
            </a:fld>
            <a:endParaRPr lang="en-US"/>
          </a:p>
        </p:txBody>
      </p:sp>
    </p:spTree>
    <p:extLst>
      <p:ext uri="{BB962C8B-B14F-4D97-AF65-F5344CB8AC3E}">
        <p14:creationId xmlns:p14="http://schemas.microsoft.com/office/powerpoint/2010/main" val="1464357206"/>
      </p:ext>
    </p:extLst>
  </p:cSld>
  <p:clrMap bg1="lt1" tx1="dk1" bg2="lt2" tx2="dk2" accent1="accent1" accent2="accent2" accent3="accent3" accent4="accent4" accent5="accent5" accent6="accent6" hlink="hlink" folHlink="folHlink"/>
  <p:sldLayoutIdLst>
    <p:sldLayoutId id="2147483946" r:id="rId1"/>
    <p:sldLayoutId id="2147483947" r:id="rId2"/>
    <p:sldLayoutId id="2147483948" r:id="rId3"/>
    <p:sldLayoutId id="2147483949" r:id="rId4"/>
    <p:sldLayoutId id="2147483950" r:id="rId5"/>
    <p:sldLayoutId id="2147483951" r:id="rId6"/>
    <p:sldLayoutId id="2147483952" r:id="rId7"/>
    <p:sldLayoutId id="2147483953" r:id="rId8"/>
    <p:sldLayoutId id="2147483954" r:id="rId9"/>
    <p:sldLayoutId id="2147483955" r:id="rId10"/>
    <p:sldLayoutId id="2147483956" r:id="rId11"/>
    <p:sldLayoutId id="2147483957" r:id="rId12"/>
    <p:sldLayoutId id="2147483958" r:id="rId13"/>
    <p:sldLayoutId id="2147483963" r:id="rId14"/>
    <p:sldLayoutId id="2147483964" r:id="rId15"/>
    <p:sldLayoutId id="2147483966" r:id="rId16"/>
  </p:sldLayoutIdLst>
  <p:transition spd="slow">
    <p:push/>
  </p:transition>
  <p:hf sldNum="0" hdr="0" ftr="0" dt="0"/>
  <p:txStyles>
    <p:titleStyle>
      <a:lvl1pPr algn="l" defTabSz="685800" rtl="0" eaLnBrk="1" latinLnBrk="0" hangingPunct="1">
        <a:lnSpc>
          <a:spcPct val="90000"/>
        </a:lnSpc>
        <a:spcBef>
          <a:spcPct val="0"/>
        </a:spcBef>
        <a:buNone/>
        <a:defRPr sz="3300" kern="1200">
          <a:solidFill>
            <a:schemeClr val="accent6"/>
          </a:solidFill>
          <a:latin typeface="Atkinson Hyperlegible Next" pitchFamily="50"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accent6"/>
          </a:solidFill>
          <a:latin typeface="Atkinson Hyperlegible Next"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accent6"/>
          </a:solidFill>
          <a:latin typeface="Atkinson Hyperlegible Next"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accent6"/>
          </a:solidFill>
          <a:latin typeface="Atkinson Hyperlegible Next"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accent6"/>
          </a:solidFill>
          <a:latin typeface="Atkinson Hyperlegible Next"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accent6"/>
          </a:solidFill>
          <a:latin typeface="Atkinson Hyperlegible Next"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5.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5.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15.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jpeg"/><Relationship Id="rId2" Type="http://schemas.openxmlformats.org/officeDocument/2006/relationships/notesSlide" Target="../notesSlides/notesSlide20.xml"/><Relationship Id="rId1" Type="http://schemas.openxmlformats.org/officeDocument/2006/relationships/slideLayout" Target="../slideLayouts/slideLayout15.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15.xml"/><Relationship Id="rId4" Type="http://schemas.openxmlformats.org/officeDocument/2006/relationships/image" Target="../media/image42.png"/></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hyperlink" Target="https://tagg.ou.edu/tagg/" TargetMode="External"/><Relationship Id="rId7" Type="http://schemas.openxmlformats.org/officeDocument/2006/relationships/diagramColors" Target="../diagrams/colors4.xml"/><Relationship Id="rId2" Type="http://schemas.openxmlformats.org/officeDocument/2006/relationships/notesSlide" Target="../notesSlides/notesSlide30.xml"/><Relationship Id="rId1" Type="http://schemas.openxmlformats.org/officeDocument/2006/relationships/slideLayout" Target="../slideLayouts/slideLayout10.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31.xml.rels><?xml version="1.0" encoding="UTF-8" standalone="yes"?>
<Relationships xmlns="http://schemas.openxmlformats.org/package/2006/relationships"><Relationship Id="rId3" Type="http://schemas.openxmlformats.org/officeDocument/2006/relationships/hyperlink" Target="mailto:tagg@ou.edu" TargetMode="External"/><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6.xml"/><Relationship Id="rId1" Type="http://schemas.openxmlformats.org/officeDocument/2006/relationships/slideLayout" Target="../slideLayouts/slideLayout15.xml"/><Relationship Id="rId4" Type="http://schemas.openxmlformats.org/officeDocument/2006/relationships/image" Target="../media/image49.png"/></Relationships>
</file>

<file path=ppt/slides/_rels/slide37.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0" name="Google Shape;460;p64"/>
          <p:cNvSpPr txBox="1">
            <a:spLocks noGrp="1"/>
          </p:cNvSpPr>
          <p:nvPr>
            <p:ph type="ctrTitle"/>
          </p:nvPr>
        </p:nvSpPr>
        <p:spPr>
          <a:xfrm>
            <a:off x="630942" y="207358"/>
            <a:ext cx="7882116" cy="2229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4800" dirty="0">
                <a:solidFill>
                  <a:schemeClr val="dk1"/>
                </a:solidFill>
                <a:latin typeface="Verdana Pro" panose="020F0502020204030204" pitchFamily="34" charset="0"/>
              </a:rPr>
              <a:t>Module 4-A: Academic Performance-Assessment Tools</a:t>
            </a:r>
            <a:br>
              <a:rPr lang="en-US" sz="4800" dirty="0">
                <a:solidFill>
                  <a:schemeClr val="dk1"/>
                </a:solidFill>
                <a:latin typeface="Verdana Pro" panose="020F0502020204030204" pitchFamily="34" charset="0"/>
              </a:rPr>
            </a:br>
            <a:r>
              <a:rPr lang="en-US" sz="4800" dirty="0">
                <a:solidFill>
                  <a:schemeClr val="bg1"/>
                </a:solidFill>
                <a:latin typeface="Verdana Pro" panose="020F0502020204030204" pitchFamily="34" charset="0"/>
              </a:rPr>
              <a:t>&amp; Self-Determination</a:t>
            </a:r>
            <a:endParaRPr sz="4800" dirty="0">
              <a:solidFill>
                <a:schemeClr val="bg1"/>
              </a:solidFill>
              <a:latin typeface="Verdana Pro" panose="020F0502020204030204" pitchFamily="34" charset="0"/>
            </a:endParaRPr>
          </a:p>
        </p:txBody>
      </p:sp>
      <p:sp>
        <p:nvSpPr>
          <p:cNvPr id="3" name="Rectangle 2">
            <a:extLst>
              <a:ext uri="{FF2B5EF4-FFF2-40B4-BE49-F238E27FC236}">
                <a16:creationId xmlns:a16="http://schemas.microsoft.com/office/drawing/2014/main" id="{CBDE50C5-F73C-15F4-193B-4DF26B2854A1}"/>
              </a:ext>
              <a:ext uri="{C183D7F6-B498-43B3-948B-1728B52AA6E4}">
                <adec:decorative xmlns:adec="http://schemas.microsoft.com/office/drawing/2017/decorative" val="1"/>
              </a:ext>
            </a:extLst>
          </p:cNvPr>
          <p:cNvSpPr/>
          <p:nvPr/>
        </p:nvSpPr>
        <p:spPr>
          <a:xfrm>
            <a:off x="3231931" y="2049517"/>
            <a:ext cx="2138082" cy="31820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209894"/>
      </p:ext>
    </p:extLst>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410133" y="1302545"/>
            <a:ext cx="7886700" cy="2139553"/>
          </a:xfrm>
        </p:spPr>
        <p:txBody>
          <a:bodyPr spcFirstLastPara="1" vert="horz" lIns="91440" tIns="45720" rIns="91440" bIns="45720" rtlCol="0" anchor="b" anchorCtr="0">
            <a:normAutofit/>
          </a:bodyPr>
          <a:lstStyle/>
          <a:p>
            <a:pPr marL="0" lvl="0" indent="0">
              <a:spcAft>
                <a:spcPts val="0"/>
              </a:spcAft>
            </a:pPr>
            <a:r>
              <a:rPr lang="en-US" sz="2800" kern="1200" dirty="0">
                <a:latin typeface="Atkinson Hyperlegible Next" pitchFamily="50" charset="0"/>
                <a:ea typeface="+mj-ea"/>
                <a:cs typeface="+mj-cs"/>
              </a:rPr>
              <a:t>Many students with disabilities cannot learn the skills and behaviors associated with self-determination on their own, but they still have a desire to master the skills-this is only possible through the guidance of teachers.</a:t>
            </a:r>
          </a:p>
        </p:txBody>
      </p:sp>
      <p:sp>
        <p:nvSpPr>
          <p:cNvPr id="4" name="Google Shape;466;p65">
            <a:extLst>
              <a:ext uri="{FF2B5EF4-FFF2-40B4-BE49-F238E27FC236}">
                <a16:creationId xmlns:a16="http://schemas.microsoft.com/office/drawing/2014/main" id="{D25DECA4-FA90-AB53-B987-0CF4965C0875}"/>
              </a:ext>
            </a:extLst>
          </p:cNvPr>
          <p:cNvSpPr txBox="1">
            <a:spLocks/>
          </p:cNvSpPr>
          <p:nvPr/>
        </p:nvSpPr>
        <p:spPr>
          <a:xfrm>
            <a:off x="623888" y="3442098"/>
            <a:ext cx="7886700" cy="1125140"/>
          </a:xfrm>
          <a:prstGeom prst="rect">
            <a:avLst/>
          </a:prstGeom>
        </p:spPr>
        <p:txBody>
          <a:bodyPr spcFirstLastPara="1" vert="horz" lIns="91440" tIns="45720" rIns="91440" bIns="45720" rtlCol="0"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defTabSz="685800">
              <a:lnSpc>
                <a:spcPct val="90000"/>
              </a:lnSpc>
              <a:spcBef>
                <a:spcPts val="750"/>
              </a:spcBef>
              <a:buSzPts val="1100"/>
            </a:pPr>
            <a:r>
              <a:rPr lang="en-US" sz="1800" kern="1200">
                <a:solidFill>
                  <a:schemeClr val="bg1"/>
                </a:solidFill>
                <a:latin typeface="Atkinson Hyperlegible Next" pitchFamily="50" charset="0"/>
                <a:ea typeface="+mn-ea"/>
                <a:cs typeface="+mn-cs"/>
              </a:rPr>
              <a:t>Campbell-Whatley, 2008</a:t>
            </a:r>
          </a:p>
        </p:txBody>
      </p:sp>
    </p:spTree>
    <p:extLst>
      <p:ext uri="{BB962C8B-B14F-4D97-AF65-F5344CB8AC3E}">
        <p14:creationId xmlns:p14="http://schemas.microsoft.com/office/powerpoint/2010/main" val="1119431708"/>
      </p:ext>
    </p:extLst>
  </p:cSld>
  <p:clrMapOvr>
    <a:masterClrMapping/>
  </p:clrMapOvr>
  <p:transition spd="slow">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lIns="91425" tIns="91425" rIns="91425" bIns="91425" anchor="ctr" anchorCtr="0">
            <a:normAutofit/>
          </a:bodyPr>
          <a:lstStyle/>
          <a:p>
            <a:pPr marL="0" lvl="0" indent="0" rtl="0">
              <a:spcBef>
                <a:spcPts val="0"/>
              </a:spcBef>
              <a:spcAft>
                <a:spcPts val="0"/>
              </a:spcAft>
              <a:buNone/>
            </a:pPr>
            <a:r>
              <a:rPr lang="en-US" sz="2800" dirty="0"/>
              <a:t>How do you teach students to be involved in their IEPs?</a:t>
            </a:r>
          </a:p>
        </p:txBody>
      </p:sp>
      <p:graphicFrame>
        <p:nvGraphicFramePr>
          <p:cNvPr id="3" name="Content Placeholder 2" descr="Being Purposeful:&#10;In planning meaningful ways to get involved&#10;In creating your own resources&#10;In embedding activities into existing academic lessons">
            <a:extLst>
              <a:ext uri="{FF2B5EF4-FFF2-40B4-BE49-F238E27FC236}">
                <a16:creationId xmlns:a16="http://schemas.microsoft.com/office/drawing/2014/main" id="{167F1F3B-2442-CC84-652C-681DFBF6709E}"/>
              </a:ext>
            </a:extLst>
          </p:cNvPr>
          <p:cNvGraphicFramePr>
            <a:graphicFrameLocks noGrp="1"/>
          </p:cNvGraphicFramePr>
          <p:nvPr>
            <p:ph sz="half" idx="1"/>
            <p:extLst>
              <p:ext uri="{D42A27DB-BD31-4B8C-83A1-F6EECF244321}">
                <p14:modId xmlns:p14="http://schemas.microsoft.com/office/powerpoint/2010/main" val="2479041163"/>
              </p:ext>
            </p:extLst>
          </p:nvPr>
        </p:nvGraphicFramePr>
        <p:xfrm>
          <a:off x="628650" y="1370013"/>
          <a:ext cx="3886200" cy="32623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68" name="Google Shape;466;p65" descr="1. Start with small changes to engage students in the process and let their voices be heard in the meeting.&#10;2. Make gradual steps toward full involvement and leading the IEP meeting&#10;3. Use a variety of pre-made tools to engage students">
            <a:extLst>
              <a:ext uri="{FF2B5EF4-FFF2-40B4-BE49-F238E27FC236}">
                <a16:creationId xmlns:a16="http://schemas.microsoft.com/office/drawing/2014/main" id="{890CB030-8E1E-E5C5-F16B-5DFC3A084012}"/>
              </a:ext>
            </a:extLst>
          </p:cNvPr>
          <p:cNvGraphicFramePr/>
          <p:nvPr>
            <p:extLst>
              <p:ext uri="{D42A27DB-BD31-4B8C-83A1-F6EECF244321}">
                <p14:modId xmlns:p14="http://schemas.microsoft.com/office/powerpoint/2010/main" val="1673735835"/>
              </p:ext>
            </p:extLst>
          </p:nvPr>
        </p:nvGraphicFramePr>
        <p:xfrm>
          <a:off x="4806203" y="1368821"/>
          <a:ext cx="3886200" cy="326350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023555397"/>
      </p:ext>
    </p:extLst>
  </p:cSld>
  <p:clrMapOvr>
    <a:masterClrMapping/>
  </p:clrMapOvr>
  <p:transition spd="slow">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0" name="Google Shape;460;p64"/>
          <p:cNvSpPr txBox="1">
            <a:spLocks noGrp="1"/>
          </p:cNvSpPr>
          <p:nvPr>
            <p:ph type="title"/>
          </p:nvPr>
        </p:nvSpPr>
        <p:spPr>
          <a:xfrm>
            <a:off x="2483783" y="2246079"/>
            <a:ext cx="6372225" cy="994172"/>
          </a:xfrm>
        </p:spPr>
        <p:txBody>
          <a:bodyPr spcFirstLastPara="1" lIns="91425" tIns="91425" rIns="91425" bIns="91425" anchor="ctr" anchorCtr="0">
            <a:noAutofit/>
          </a:bodyPr>
          <a:lstStyle/>
          <a:p>
            <a:pPr marL="0" lvl="0" indent="0" rtl="0">
              <a:spcBef>
                <a:spcPts val="0"/>
              </a:spcBef>
              <a:spcAft>
                <a:spcPts val="0"/>
              </a:spcAft>
              <a:buNone/>
            </a:pPr>
            <a:r>
              <a:rPr lang="en-US" sz="4800" dirty="0"/>
              <a:t>One Shot Activities</a:t>
            </a:r>
            <a:br>
              <a:rPr lang="en-US" sz="4800" dirty="0"/>
            </a:br>
            <a:endParaRPr lang="en-US" sz="4800" dirty="0"/>
          </a:p>
        </p:txBody>
      </p:sp>
    </p:spTree>
    <p:extLst>
      <p:ext uri="{BB962C8B-B14F-4D97-AF65-F5344CB8AC3E}">
        <p14:creationId xmlns:p14="http://schemas.microsoft.com/office/powerpoint/2010/main" val="713080008"/>
      </p:ext>
    </p:extLst>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lIns="91425" tIns="91425" rIns="91425" bIns="91425" anchor="ctr" anchorCtr="0">
            <a:normAutofit/>
          </a:bodyPr>
          <a:lstStyle/>
          <a:p>
            <a:pPr marL="0" lvl="0" indent="0" rtl="0">
              <a:spcBef>
                <a:spcPts val="0"/>
              </a:spcBef>
              <a:spcAft>
                <a:spcPts val="0"/>
              </a:spcAft>
              <a:buNone/>
            </a:pPr>
            <a:r>
              <a:rPr lang="en-US"/>
              <a:t>Transition Assessments</a:t>
            </a:r>
          </a:p>
        </p:txBody>
      </p:sp>
      <p:sp>
        <p:nvSpPr>
          <p:cNvPr id="466" name="Google Shape;466;p65"/>
          <p:cNvSpPr txBox="1">
            <a:spLocks noGrp="1"/>
          </p:cNvSpPr>
          <p:nvPr>
            <p:ph idx="1"/>
          </p:nvPr>
        </p:nvSpPr>
        <p:spPr/>
        <p:txBody>
          <a:bodyPr spcFirstLastPara="1" lIns="91425" tIns="91425" rIns="91425" bIns="91425" anchorCtr="0">
            <a:normAutofit/>
          </a:bodyPr>
          <a:lstStyle/>
          <a:p>
            <a:pPr lvl="0" indent="0" rtl="0">
              <a:spcBef>
                <a:spcPts val="0"/>
              </a:spcBef>
              <a:spcAft>
                <a:spcPts val="600"/>
              </a:spcAft>
              <a:buClr>
                <a:schemeClr val="dk1"/>
              </a:buClr>
              <a:buSzPts val="1100"/>
              <a:buNone/>
            </a:pPr>
            <a:r>
              <a:rPr lang="en-US" dirty="0"/>
              <a:t>Results from interest inventories, exploration tools, and skills assessments provide evidence of student’s SPIN (strengths, preferences, interests, and needs)</a:t>
            </a:r>
          </a:p>
          <a:p>
            <a:pPr marL="342900" lvl="0" rtl="0">
              <a:spcBef>
                <a:spcPts val="0"/>
              </a:spcBef>
              <a:spcAft>
                <a:spcPts val="600"/>
              </a:spcAft>
              <a:buClr>
                <a:schemeClr val="dk1"/>
              </a:buClr>
              <a:buSzPts val="1100"/>
              <a:buFont typeface="Arial" panose="020B0604020202020204" pitchFamily="34" charset="0"/>
              <a:buChar char="•"/>
            </a:pPr>
            <a:endParaRPr lang="en-US" dirty="0"/>
          </a:p>
        </p:txBody>
      </p:sp>
    </p:spTree>
    <p:extLst>
      <p:ext uri="{BB962C8B-B14F-4D97-AF65-F5344CB8AC3E}">
        <p14:creationId xmlns:p14="http://schemas.microsoft.com/office/powerpoint/2010/main" val="2386407431"/>
      </p:ext>
    </p:extLst>
  </p:cSld>
  <p:clrMapOvr>
    <a:masterClrMapping/>
  </p:clrMapOvr>
  <p:transition spd="slow">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a:extLst>
              <a:ext uri="{C183D7F6-B498-43B3-948B-1728B52AA6E4}">
                <adec:decorative xmlns:adec="http://schemas.microsoft.com/office/drawing/2017/decorative" val="0"/>
              </a:ext>
            </a:extLst>
          </p:cNvPr>
          <p:cNvSpPr txBox="1">
            <a:spLocks noGrp="1"/>
          </p:cNvSpPr>
          <p:nvPr>
            <p:ph type="title"/>
          </p:nvPr>
        </p:nvSpPr>
        <p:spPr>
          <a:xfrm>
            <a:off x="219815" y="173220"/>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solidFill>
                  <a:schemeClr val="accent4"/>
                </a:solidFill>
                <a:latin typeface="Verdana Pro" panose="020B0604030504040204" pitchFamily="34" charset="0"/>
              </a:rPr>
              <a:t>Transition Interview Generator</a:t>
            </a:r>
            <a:endParaRPr sz="4000" dirty="0">
              <a:solidFill>
                <a:schemeClr val="accent4"/>
              </a:solidFill>
              <a:latin typeface="Verdana Pro" panose="020B0604030504040204" pitchFamily="34" charset="0"/>
            </a:endParaRPr>
          </a:p>
        </p:txBody>
      </p:sp>
      <p:sp>
        <p:nvSpPr>
          <p:cNvPr id="466" name="Google Shape;466;p65">
            <a:extLst>
              <a:ext uri="{C183D7F6-B498-43B3-948B-1728B52AA6E4}">
                <adec:decorative xmlns:adec="http://schemas.microsoft.com/office/drawing/2017/decorative" val="0"/>
              </a:ext>
            </a:extLst>
          </p:cNvPr>
          <p:cNvSpPr txBox="1">
            <a:spLocks noGrp="1"/>
          </p:cNvSpPr>
          <p:nvPr>
            <p:ph type="subTitle" idx="1"/>
          </p:nvPr>
        </p:nvSpPr>
        <p:spPr>
          <a:xfrm>
            <a:off x="621575" y="1452282"/>
            <a:ext cx="4880193" cy="343135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pPr>
            <a:r>
              <a:rPr lang="en-US" sz="2400" dirty="0">
                <a:latin typeface="+mj-lt"/>
                <a:ea typeface="Overpass Light"/>
                <a:cs typeface="Overpass Light"/>
                <a:sym typeface="Overpass Light"/>
              </a:rPr>
              <a:t>Students complete the survey to generate a list of customized transition interview questions to be used as an informal assessment to create their transition plan. </a:t>
            </a:r>
          </a:p>
        </p:txBody>
      </p:sp>
      <p:pic>
        <p:nvPicPr>
          <p:cNvPr id="3" name="Picture 2" descr="A qr code with black squares for the website tinyurl.com/TransIntervGener">
            <a:extLst>
              <a:ext uri="{FF2B5EF4-FFF2-40B4-BE49-F238E27FC236}">
                <a16:creationId xmlns:a16="http://schemas.microsoft.com/office/drawing/2014/main" id="{FC5EF80B-394F-2030-1534-0AAA71F317E6}"/>
              </a:ext>
              <a:ext uri="{C183D7F6-B498-43B3-948B-1728B52AA6E4}">
                <adec:decorative xmlns:adec="http://schemas.microsoft.com/office/drawing/2017/decorative" val="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81963" y="1452282"/>
            <a:ext cx="2875536" cy="2875536"/>
          </a:xfrm>
          <a:prstGeom prst="rect">
            <a:avLst/>
          </a:prstGeom>
        </p:spPr>
      </p:pic>
      <p:sp>
        <p:nvSpPr>
          <p:cNvPr id="4" name="Google Shape;466;p65">
            <a:extLst>
              <a:ext uri="{FF2B5EF4-FFF2-40B4-BE49-F238E27FC236}">
                <a16:creationId xmlns:a16="http://schemas.microsoft.com/office/drawing/2014/main" id="{21BF8818-755E-D731-2349-53339FA7BD01}"/>
              </a:ext>
              <a:ext uri="{C183D7F6-B498-43B3-948B-1728B52AA6E4}">
                <adec:decorative xmlns:adec="http://schemas.microsoft.com/office/drawing/2017/decorative" val="0"/>
              </a:ext>
            </a:extLst>
          </p:cNvPr>
          <p:cNvSpPr txBox="1">
            <a:spLocks/>
          </p:cNvSpPr>
          <p:nvPr/>
        </p:nvSpPr>
        <p:spPr>
          <a:xfrm>
            <a:off x="566506" y="4529786"/>
            <a:ext cx="8405824" cy="707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dirty="0">
                <a:latin typeface="+mj-lt"/>
                <a:ea typeface="Overpass Light"/>
                <a:cs typeface="Overpass Light"/>
                <a:sym typeface="Overpass Light"/>
              </a:rPr>
              <a:t>tinyurl.com/</a:t>
            </a:r>
            <a:r>
              <a:rPr lang="en-US" sz="2400" dirty="0" err="1">
                <a:latin typeface="+mj-lt"/>
                <a:ea typeface="Overpass Light"/>
                <a:cs typeface="Overpass Light"/>
                <a:sym typeface="Overpass Light"/>
              </a:rPr>
              <a:t>TransIntervGener</a:t>
            </a:r>
            <a:endParaRPr lang="en-US" sz="2400" dirty="0">
              <a:latin typeface="+mj-lt"/>
              <a:ea typeface="Overpass Light"/>
              <a:cs typeface="Overpass Light"/>
            </a:endParaRPr>
          </a:p>
        </p:txBody>
      </p:sp>
    </p:spTree>
    <p:extLst>
      <p:ext uri="{BB962C8B-B14F-4D97-AF65-F5344CB8AC3E}">
        <p14:creationId xmlns:p14="http://schemas.microsoft.com/office/powerpoint/2010/main" val="2477095880"/>
      </p:ext>
    </p:extLst>
  </p:cSld>
  <p:clrMapOvr>
    <a:masterClrMapping/>
  </p:clrMapOvr>
  <p:transition spd="slow">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a:extLst>
              <a:ext uri="{C183D7F6-B498-43B3-948B-1728B52AA6E4}">
                <adec:decorative xmlns:adec="http://schemas.microsoft.com/office/drawing/2017/decorative" val="0"/>
              </a:ext>
            </a:extLst>
          </p:cNvPr>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TIG Screenshot</a:t>
            </a:r>
            <a:endParaRPr sz="4000" dirty="0">
              <a:latin typeface="Verdana Pro" panose="020B0604030504040204" pitchFamily="34" charset="0"/>
            </a:endParaRPr>
          </a:p>
        </p:txBody>
      </p:sp>
      <p:sp>
        <p:nvSpPr>
          <p:cNvPr id="2" name="Subtitle 1">
            <a:extLst>
              <a:ext uri="{FF2B5EF4-FFF2-40B4-BE49-F238E27FC236}">
                <a16:creationId xmlns:a16="http://schemas.microsoft.com/office/drawing/2014/main" id="{A8952472-FDBD-C4E8-2902-EA62C1A4CEDD}"/>
              </a:ext>
              <a:ext uri="{C183D7F6-B498-43B3-948B-1728B52AA6E4}">
                <adec:decorative xmlns:adec="http://schemas.microsoft.com/office/drawing/2017/decorative" val="0"/>
              </a:ext>
            </a:extLst>
          </p:cNvPr>
          <p:cNvSpPr>
            <a:spLocks noGrp="1"/>
          </p:cNvSpPr>
          <p:nvPr>
            <p:ph type="subTitle" idx="1"/>
          </p:nvPr>
        </p:nvSpPr>
        <p:spPr>
          <a:xfrm>
            <a:off x="195461" y="1729958"/>
            <a:ext cx="2899187" cy="2853896"/>
          </a:xfrm>
        </p:spPr>
        <p:txBody>
          <a:bodyPr/>
          <a:lstStyle/>
          <a:p>
            <a:pPr marL="0" indent="0" algn="ctr"/>
            <a:r>
              <a:rPr lang="en-US" sz="2400" dirty="0">
                <a:latin typeface="+mj-lt"/>
              </a:rPr>
              <a:t>Students complete the 20 questions (10-20) minutes to generate individualized transition-based interview questions!</a:t>
            </a:r>
          </a:p>
        </p:txBody>
      </p:sp>
      <p:pic>
        <p:nvPicPr>
          <p:cNvPr id="6" name="Picture 5" descr="Daily Living:&#10;Student Profile:&#10;Interests: Lucas is interested in living with roommates, friends, or a significant other after high school. He enjoys gaming and crafting, building, or decorating during his free time.&#10;Support Needs: He wants a lot of help from family, friends, adults at school, and adults in the community to get ready for adult life.&#10;Transition Interview Questions:&#10;Why do you want to live with roommates, friends, or a significant other after high school?&#10;If you could live anywhere, where would you live? Why?&#10;What do you like about gaming?&#10;What do you like about crafting, building, or decorating?&#10;What are you most excited about for life after high school?&#10;What are you most worried about for life after high school?&#10;How would you like family, friends, adults at school, and adults in the community to help you get ready for life after high school?&#10;Once you live with roommates, friends, or a significant other after high school, what kind of support would help you be successful?">
            <a:extLst>
              <a:ext uri="{FF2B5EF4-FFF2-40B4-BE49-F238E27FC236}">
                <a16:creationId xmlns:a16="http://schemas.microsoft.com/office/drawing/2014/main" id="{5AF15583-7E17-6DD9-0F19-A7C7C92396FE}"/>
              </a:ext>
              <a:ext uri="{C183D7F6-B498-43B3-948B-1728B52AA6E4}">
                <adec:decorative xmlns:adec="http://schemas.microsoft.com/office/drawing/2017/decorative" val="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173507" y="725902"/>
            <a:ext cx="5608223" cy="4298166"/>
          </a:xfrm>
          <a:prstGeom prst="rect">
            <a:avLst/>
          </a:prstGeom>
        </p:spPr>
      </p:pic>
    </p:spTree>
    <p:extLst>
      <p:ext uri="{BB962C8B-B14F-4D97-AF65-F5344CB8AC3E}">
        <p14:creationId xmlns:p14="http://schemas.microsoft.com/office/powerpoint/2010/main" val="1240857783"/>
      </p:ext>
    </p:extLst>
  </p:cSld>
  <p:clrMapOvr>
    <a:masterClrMapping/>
  </p:clrMapOvr>
  <p:transition spd="slow">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a:latin typeface="Verdana Pro" panose="020B0604030504040204" pitchFamily="34" charset="0"/>
              </a:rPr>
              <a:t>O*NET I</a:t>
            </a:r>
            <a:r>
              <a:rPr lang="en-US" sz="4000">
                <a:latin typeface="Verdana Pro" panose="020B0604030504040204" pitchFamily="34" charset="0"/>
              </a:rPr>
              <a:t>n</a:t>
            </a:r>
            <a:r>
              <a:rPr lang="en" sz="4000" err="1">
                <a:latin typeface="Verdana Pro" panose="020B0604030504040204" pitchFamily="34" charset="0"/>
              </a:rPr>
              <a:t>terest</a:t>
            </a:r>
            <a:r>
              <a:rPr lang="en" sz="4000">
                <a:latin typeface="Verdana Pro" panose="020B0604030504040204" pitchFamily="34" charset="0"/>
              </a:rPr>
              <a:t> Profiler</a:t>
            </a:r>
            <a:endParaRPr sz="4000">
              <a:latin typeface="Verdana Pro" panose="020B0604030504040204" pitchFamily="34" charset="0"/>
            </a:endParaRPr>
          </a:p>
        </p:txBody>
      </p:sp>
      <p:pic>
        <p:nvPicPr>
          <p:cNvPr id="8" name="Picture 7" descr="A screenshot of a page from the O-Net Career Interest Profiler for Job Zone two with the RIASEC scores of &#10;Realistic: 23&#10;Investigative:18&#10;Artistic: 12&#10;Social: 20&#10;Enterprising: 3&#10;Conventional: 14">
            <a:extLst>
              <a:ext uri="{FF2B5EF4-FFF2-40B4-BE49-F238E27FC236}">
                <a16:creationId xmlns:a16="http://schemas.microsoft.com/office/drawing/2014/main" id="{E460BBE2-BC23-70F6-4C47-0EC05331D21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70584" y="946150"/>
            <a:ext cx="5524500" cy="3251200"/>
          </a:xfrm>
          <a:prstGeom prst="rect">
            <a:avLst/>
          </a:prstGeom>
        </p:spPr>
      </p:pic>
      <p:pic>
        <p:nvPicPr>
          <p:cNvPr id="1026" name="Picture 2" descr="QR Code to open O*NET Profiler; My Next Move tinyurl.com/OnetMyNextMove">
            <a:extLst>
              <a:ext uri="{FF2B5EF4-FFF2-40B4-BE49-F238E27FC236}">
                <a16:creationId xmlns:a16="http://schemas.microsoft.com/office/drawing/2014/main" id="{5A3E31F9-DA03-1EAA-1FD9-9EFE37504B56}"/>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5923602" y="1503070"/>
            <a:ext cx="2679903" cy="2554941"/>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466;p65">
            <a:extLst>
              <a:ext uri="{FF2B5EF4-FFF2-40B4-BE49-F238E27FC236}">
                <a16:creationId xmlns:a16="http://schemas.microsoft.com/office/drawing/2014/main" id="{DCA83376-05DE-9EA7-B08C-FBD156E29A7F}"/>
              </a:ext>
            </a:extLst>
          </p:cNvPr>
          <p:cNvSpPr txBox="1">
            <a:spLocks/>
          </p:cNvSpPr>
          <p:nvPr/>
        </p:nvSpPr>
        <p:spPr>
          <a:xfrm>
            <a:off x="611175" y="4670217"/>
            <a:ext cx="8405824" cy="707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a:latin typeface="+mj-lt"/>
                <a:ea typeface="Overpass Light"/>
                <a:cs typeface="Overpass Light"/>
                <a:sym typeface="Overpass Light"/>
              </a:rPr>
              <a:t>tinyurl.com/</a:t>
            </a:r>
            <a:r>
              <a:rPr lang="en-US" sz="2400" err="1">
                <a:latin typeface="+mj-lt"/>
                <a:ea typeface="Overpass Light"/>
                <a:cs typeface="Overpass Light"/>
                <a:sym typeface="Overpass Light"/>
              </a:rPr>
              <a:t>OnetMyNextMove</a:t>
            </a:r>
            <a:endParaRPr lang="en-US" sz="2400" err="1">
              <a:latin typeface="+mj-lt"/>
              <a:ea typeface="Overpass Light"/>
              <a:cs typeface="Overpass Light"/>
            </a:endParaRPr>
          </a:p>
        </p:txBody>
      </p:sp>
    </p:spTree>
    <p:extLst>
      <p:ext uri="{BB962C8B-B14F-4D97-AF65-F5344CB8AC3E}">
        <p14:creationId xmlns:p14="http://schemas.microsoft.com/office/powerpoint/2010/main" val="461729303"/>
      </p:ext>
    </p:extLst>
  </p:cSld>
  <p:clrMapOvr>
    <a:masterClrMapping/>
  </p:clrMapOvr>
  <p:transition spd="slow">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4948246" y="89651"/>
            <a:ext cx="4616764"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latin typeface="Verdana Pro" panose="020B0604030504040204" pitchFamily="34" charset="0"/>
              </a:rPr>
              <a:t>O*NET I</a:t>
            </a:r>
            <a:r>
              <a:rPr lang="en-US" sz="2400" dirty="0">
                <a:latin typeface="Verdana Pro" panose="020B0604030504040204" pitchFamily="34" charset="0"/>
              </a:rPr>
              <a:t>n</a:t>
            </a:r>
            <a:r>
              <a:rPr lang="en" sz="2400" dirty="0">
                <a:latin typeface="Verdana Pro" panose="020B0604030504040204" pitchFamily="34" charset="0"/>
              </a:rPr>
              <a:t>terest Profiler Screenshots</a:t>
            </a:r>
            <a:endParaRPr sz="2400" dirty="0">
              <a:latin typeface="Verdana Pro" panose="020B0604030504040204" pitchFamily="34" charset="0"/>
            </a:endParaRPr>
          </a:p>
        </p:txBody>
      </p:sp>
      <p:pic>
        <p:nvPicPr>
          <p:cNvPr id="4" name="Picture 3" descr="The image is a screenshot of the O*NET Interest Profiler. It displays career suggestions based on the user's interests and preparation level. The screen shows the following elements:&#10;&#10;Header:&#10;&#10;&quot;O*NET Interest Profiler&quot; is written at the top.&#10;There are colored bars labeled with the letters &quot;R, I, A, S, E, C&quot; representing different interest areas.&#10;Main Section:&#10;&#10;The title &quot;Careers that fit your interests and preparation level&quot; is displayed.&#10;A dropdown allows the user to select a &quot;Job Zone.&quot; The current selection is &quot;Job Zone Two,&quot; which indicates &quot;some job preparation.&quot;&#10;There are two columns labeled &quot;Best fit&quot; and &quot;Great fit.&quot;&#10;Career List:&#10;&#10;The careers listed under &quot;Best fit&quot; and &quot;Great fit&quot; include:&#10;Ambulance Drivers &amp; Attendants&#10;Animal Caretakers&#10;Dental Laboratory Technicians&#10;Endoscopy Technicians&#10;Home Health Aides&#10;Orderlies&#10;Footer:&#10;&#10;There are buttons labeled &quot;Back,&quot; &quot;Start,&quot; &quot;Interests,&quot; &quot;Results,&quot; &quot;Job Zones,&quot; &quot;Careers,&quot; and &quot;Find More Careers.&quot;&#10;Options to &quot;Print&quot; and &quot;Share&quot; are also present.&#10;This screen provides the user with potential career options based on their interests and the level of job preparation they are willing to engage in.">
            <a:extLst>
              <a:ext uri="{FF2B5EF4-FFF2-40B4-BE49-F238E27FC236}">
                <a16:creationId xmlns:a16="http://schemas.microsoft.com/office/drawing/2014/main" id="{EC38FA7A-BC14-8F21-9376-917322F0B791}"/>
              </a:ext>
              <a:ext uri="{C183D7F6-B498-43B3-948B-1728B52AA6E4}">
                <adec:decorative xmlns:adec="http://schemas.microsoft.com/office/drawing/2017/decorative" val="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6601" y="198717"/>
            <a:ext cx="4683904" cy="2625165"/>
          </a:xfrm>
          <a:prstGeom prst="rect">
            <a:avLst/>
          </a:prstGeom>
        </p:spPr>
      </p:pic>
      <p:pic>
        <p:nvPicPr>
          <p:cNvPr id="6" name="Picture 5" descr="Title and Alternate Titles:&#10;&#10;The title &quot;Animal Caretakers&quot; is prominently displayed at the top.&#10;Alternate titles include Aquarist, Dog Groomer, Groomer, and Kennel Technician (Kennel Tech).&#10;What They Do:&#10;&#10;This section describes the duties of an Animal Caretaker, which include feeding, watering, grooming, bathing, and exercising animals to ensure their well-being. The animals may include pets and other non-consumption animals like dogs, cats, racehorses, birds, zoo animals, and more.&#10;Animal Caretakers work in settings such as kennels, animal shelters, zoos, circuses, and aquariums.&#10;They may also be responsible for keeping records of feedings, treatments, and received or discharged animals, as well as cleaning and disinfecting cages, pens, or tanks.&#10;On the Job, You Would:&#10;&#10;The tasks on the job include:&#10;Feeding and watering animals according to schedules and feeding instructions.&#10;Providing treatment to sick or injured animals or contacting veterinarians for treatment.&#10;Examining and observing animals to detect signs of illness, disease, or injury.&#10;Knowledge:&#10;&#10;The knowledge required for this role includes:&#10;Business: Customer service and administrative services.&#10;Arts and Humanities: English language.&#10;Skills:&#10;&#10;Basic Skills:&#10;Keeping track of how well people and/or groups are doing to make improvements.&#10;Listening to others, not interrupting, and asking good questions.&#10;Problem Solving:&#10;Noticing a problem and figuring out the best way to solve it.&#10;Abilities:&#10;&#10;Verbal:&#10;Listening and understanding what people say.&#10;Communicating by speaking.&#10;Endurance:&#10;Exercising for a long time without getting out of breath.&#10;">
            <a:extLst>
              <a:ext uri="{FF2B5EF4-FFF2-40B4-BE49-F238E27FC236}">
                <a16:creationId xmlns:a16="http://schemas.microsoft.com/office/drawing/2014/main" id="{25C703D1-AA24-FFFA-4F37-4ABC5952E456}"/>
              </a:ext>
            </a:extLst>
          </p:cNvPr>
          <p:cNvPicPr>
            <a:picLocks noChangeAspect="1"/>
          </p:cNvPicPr>
          <p:nvPr/>
        </p:nvPicPr>
        <p:blipFill>
          <a:blip r:embed="rId4" cstate="email">
            <a:extLst>
              <a:ext uri="{28A0092B-C50C-407E-A947-70E740481C1C}">
                <a14:useLocalDpi xmlns:a14="http://schemas.microsoft.com/office/drawing/2010/main"/>
              </a:ext>
            </a:extLst>
          </a:blip>
          <a:srcRect t="-2821"/>
          <a:stretch/>
        </p:blipFill>
        <p:spPr>
          <a:xfrm>
            <a:off x="4948246" y="951853"/>
            <a:ext cx="4106920" cy="3901856"/>
          </a:xfrm>
          <a:prstGeom prst="rect">
            <a:avLst/>
          </a:prstGeom>
        </p:spPr>
      </p:pic>
    </p:spTree>
    <p:extLst>
      <p:ext uri="{BB962C8B-B14F-4D97-AF65-F5344CB8AC3E}">
        <p14:creationId xmlns:p14="http://schemas.microsoft.com/office/powerpoint/2010/main" val="1638495888"/>
      </p:ext>
    </p:extLst>
  </p:cSld>
  <p:clrMapOvr>
    <a:masterClrMapping/>
  </p:clrMapOvr>
  <p:transition spd="slow">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443223" y="91877"/>
            <a:ext cx="7524044"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dirty="0">
                <a:latin typeface="Verdana Pro" panose="020B0604030504040204" pitchFamily="34" charset="0"/>
              </a:rPr>
              <a:t>O*NET I</a:t>
            </a:r>
            <a:r>
              <a:rPr lang="en-US" sz="2800" dirty="0">
                <a:latin typeface="Verdana Pro" panose="020B0604030504040204" pitchFamily="34" charset="0"/>
              </a:rPr>
              <a:t>n</a:t>
            </a:r>
            <a:r>
              <a:rPr lang="en" sz="2800" dirty="0">
                <a:latin typeface="Verdana Pro" panose="020B0604030504040204" pitchFamily="34" charset="0"/>
              </a:rPr>
              <a:t>terest Profiler Screenshots 2</a:t>
            </a:r>
            <a:endParaRPr sz="2800" dirty="0">
              <a:latin typeface="Verdana Pro" panose="020B0604030504040204" pitchFamily="34" charset="0"/>
            </a:endParaRPr>
          </a:p>
        </p:txBody>
      </p:sp>
      <p:pic>
        <p:nvPicPr>
          <p:cNvPr id="3" name="Picture 2" descr="Animal Caretakers: &#10;Personality:&#10;Work Preferences:&#10;Individuals interested in this work like practical, hands-on problems and solutions.&#10;Key Traits for Success:&#10;Integrity&#10;Dependability&#10;Self-Control&#10;Attention to Detail&#10;Cooperation&#10;Stress Tolerance&#10;Technology:&#10;Software You Might Use on the Job:&#10;Database User Interface and Query Software:&#10;CEEJS The Pet Groomer's Secretary&#10;Microsoft Access&#10;Presentation Software:&#10;Microsoft PowerPoint&#10;Calendar and Scheduling Software:&#10;DaySmart Software Appointment-Plus&#10;Petschedule&#10;Education:&#10;Educational Requirements:&#10;Typically, a high school diploma/GED or an associate's degree is needed.&#10;Career Resources:&#10;Options to &quot;Find Training,&quot; &quot;Find Certifications,&quot; &quot;Find Licenses,&quot; and access &quot;Apprenticeship.gov&quot; are provided.&#10;Job Outlook:&#10;Growth Prediction:&#10;The job outlook is described as &quot;Bright,&quot; indicating a high likelihood of new job opportunities in the future.&#10;Salary Range:&#10;The average salary is $31,200, with a typical range between $23,180 and $45,080.&#10;Further Resources:&#10;Links to &quot;Check out my state,&quot; &quot;Local Salary Info,&quot; and &quot;Find Jobs&quot; are available.&#10;Explore More:&#10;Related Careers:&#10;Animal Breeders&#10;Animal Control Workers&#10;Animal Trainers&#10;Veterinary Assistants &amp; Laboratory Animal Caretakers&#10;Veterinary Technologists &amp; Technicians&#10;Related Industries:&#10;Service&#10;Retail&#10;Professional, Science, &amp; Technical">
            <a:extLst>
              <a:ext uri="{FF2B5EF4-FFF2-40B4-BE49-F238E27FC236}">
                <a16:creationId xmlns:a16="http://schemas.microsoft.com/office/drawing/2014/main" id="{FC987CC4-C8BB-B229-14C2-F07ACE03B92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90253" y="603955"/>
            <a:ext cx="5829985" cy="4494389"/>
          </a:xfrm>
          <a:prstGeom prst="rect">
            <a:avLst/>
          </a:prstGeom>
        </p:spPr>
      </p:pic>
    </p:spTree>
    <p:extLst>
      <p:ext uri="{BB962C8B-B14F-4D97-AF65-F5344CB8AC3E}">
        <p14:creationId xmlns:p14="http://schemas.microsoft.com/office/powerpoint/2010/main" val="1505978057"/>
      </p:ext>
    </p:extLst>
  </p:cSld>
  <p:clrMapOvr>
    <a:masterClrMapping/>
  </p:clrMapOvr>
  <p:transition spd="slow">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OK College Start</a:t>
            </a:r>
            <a:endParaRPr sz="4000" dirty="0">
              <a:latin typeface="Verdana Pro" panose="020B0604030504040204" pitchFamily="34" charset="0"/>
            </a:endParaRPr>
          </a:p>
        </p:txBody>
      </p:sp>
      <p:pic>
        <p:nvPicPr>
          <p:cNvPr id="6" name="Picture 5" descr="A blue and white logo with blue and white text that states middle school, high school, college">
            <a:extLst>
              <a:ext uri="{FF2B5EF4-FFF2-40B4-BE49-F238E27FC236}">
                <a16:creationId xmlns:a16="http://schemas.microsoft.com/office/drawing/2014/main" id="{F8522FD8-BEE3-0B9F-1B5A-133088AF4B18}"/>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116601" y="1069369"/>
            <a:ext cx="5455712" cy="1502380"/>
          </a:xfrm>
          <a:prstGeom prst="rect">
            <a:avLst/>
          </a:prstGeom>
        </p:spPr>
      </p:pic>
      <p:pic>
        <p:nvPicPr>
          <p:cNvPr id="10" name="Picture 9" descr="Blue and white icons with blue text that states adult, parent, professional">
            <a:extLst>
              <a:ext uri="{FF2B5EF4-FFF2-40B4-BE49-F238E27FC236}">
                <a16:creationId xmlns:a16="http://schemas.microsoft.com/office/drawing/2014/main" id="{25E1C733-95A4-3C2B-7F94-89B3DC4D085D}"/>
              </a:ext>
            </a:extLst>
          </p:cNvPr>
          <p:cNvPicPr>
            <a:picLocks noChangeAspect="1"/>
          </p:cNvPicPr>
          <p:nvPr/>
        </p:nvPicPr>
        <p:blipFill>
          <a:blip r:embed="rId4"/>
          <a:stretch>
            <a:fillRect/>
          </a:stretch>
        </p:blipFill>
        <p:spPr>
          <a:xfrm>
            <a:off x="264889" y="2747397"/>
            <a:ext cx="5455713" cy="1315409"/>
          </a:xfrm>
          <a:prstGeom prst="rect">
            <a:avLst/>
          </a:prstGeom>
        </p:spPr>
      </p:pic>
      <p:pic>
        <p:nvPicPr>
          <p:cNvPr id="4" name="Picture 3" descr="A qr code to the website www.okcollegestart.org">
            <a:extLst>
              <a:ext uri="{FF2B5EF4-FFF2-40B4-BE49-F238E27FC236}">
                <a16:creationId xmlns:a16="http://schemas.microsoft.com/office/drawing/2014/main" id="{0DA24DE3-9341-7C40-A03B-7A6700C4F31E}"/>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868892" y="968174"/>
            <a:ext cx="2728259" cy="2728259"/>
          </a:xfrm>
          <a:prstGeom prst="rect">
            <a:avLst/>
          </a:prstGeom>
        </p:spPr>
      </p:pic>
      <p:sp>
        <p:nvSpPr>
          <p:cNvPr id="2" name="Google Shape;466;p65">
            <a:extLst>
              <a:ext uri="{FF2B5EF4-FFF2-40B4-BE49-F238E27FC236}">
                <a16:creationId xmlns:a16="http://schemas.microsoft.com/office/drawing/2014/main" id="{47673F9E-198E-9CB8-99BA-C3A1BDEC8EBD}"/>
              </a:ext>
            </a:extLst>
          </p:cNvPr>
          <p:cNvSpPr txBox="1">
            <a:spLocks/>
          </p:cNvSpPr>
          <p:nvPr/>
        </p:nvSpPr>
        <p:spPr>
          <a:xfrm>
            <a:off x="566506" y="4529786"/>
            <a:ext cx="8405824" cy="707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dirty="0">
                <a:latin typeface="+mj-lt"/>
                <a:ea typeface="Overpass Light"/>
                <a:cs typeface="Overpass Light"/>
                <a:sym typeface="Overpass Light"/>
              </a:rPr>
              <a:t>www.okcollegestart.org</a:t>
            </a:r>
          </a:p>
        </p:txBody>
      </p:sp>
    </p:spTree>
    <p:extLst>
      <p:ext uri="{BB962C8B-B14F-4D97-AF65-F5344CB8AC3E}">
        <p14:creationId xmlns:p14="http://schemas.microsoft.com/office/powerpoint/2010/main" val="1042899924"/>
      </p:ext>
    </p:extLst>
  </p:cSld>
  <p:clrMapOvr>
    <a:masterClrMapping/>
  </p:clrMapOvr>
  <p:transition spd="slow">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a:extLst>
              <a:ext uri="{C183D7F6-B498-43B3-948B-1728B52AA6E4}">
                <adec:decorative xmlns:adec="http://schemas.microsoft.com/office/drawing/2017/decorative" val="0"/>
              </a:ext>
            </a:extLst>
          </p:cNvPr>
          <p:cNvSpPr txBox="1">
            <a:spLocks noGrp="1"/>
          </p:cNvSpPr>
          <p:nvPr>
            <p:ph type="title"/>
          </p:nvPr>
        </p:nvSpPr>
        <p:spPr>
          <a:xfrm>
            <a:off x="116601" y="119432"/>
            <a:ext cx="8910798" cy="707700"/>
          </a:xfrm>
          <a:prstGeom prst="rect">
            <a:avLst/>
          </a:prstGeom>
          <a:solidFill>
            <a:schemeClr val="accent4">
              <a:lumMod val="40000"/>
              <a:lumOff val="60000"/>
            </a:schemeClr>
          </a:solidFill>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OK College Start: College Finder</a:t>
            </a:r>
            <a:endParaRPr sz="4000" dirty="0">
              <a:latin typeface="Verdana Pro" panose="020B0604030504040204" pitchFamily="34" charset="0"/>
            </a:endParaRPr>
          </a:p>
        </p:txBody>
      </p:sp>
      <p:sp>
        <p:nvSpPr>
          <p:cNvPr id="3" name="Google Shape;466;p65">
            <a:extLst>
              <a:ext uri="{FF2B5EF4-FFF2-40B4-BE49-F238E27FC236}">
                <a16:creationId xmlns:a16="http://schemas.microsoft.com/office/drawing/2014/main" id="{1898AA19-4F2D-30B7-8841-68C609E7D480}"/>
              </a:ext>
              <a:ext uri="{C183D7F6-B498-43B3-948B-1728B52AA6E4}">
                <adec:decorative xmlns:adec="http://schemas.microsoft.com/office/drawing/2017/decorative" val="0"/>
              </a:ext>
            </a:extLst>
          </p:cNvPr>
          <p:cNvSpPr txBox="1">
            <a:spLocks noGrp="1"/>
          </p:cNvSpPr>
          <p:nvPr>
            <p:ph type="subTitle" idx="1"/>
          </p:nvPr>
        </p:nvSpPr>
        <p:spPr>
          <a:xfrm>
            <a:off x="262987" y="1519283"/>
            <a:ext cx="8405824" cy="3624218"/>
          </a:xfrm>
          <a:prstGeom prst="rect">
            <a:avLst/>
          </a:prstGeom>
        </p:spPr>
        <p:txBody>
          <a:bodyPr spcFirstLastPara="1" wrap="square" lIns="91425" tIns="91425" rIns="91425" bIns="91425" anchor="t" anchorCtr="0">
            <a:noAutofit/>
          </a:bodyPr>
          <a:lstStyle/>
          <a:p>
            <a:pPr lvl="0" indent="0" rtl="0">
              <a:spcBef>
                <a:spcPts val="0"/>
              </a:spcBef>
              <a:spcAft>
                <a:spcPts val="0"/>
              </a:spcAft>
              <a:buClr>
                <a:schemeClr val="dk1"/>
              </a:buClr>
              <a:buSzPts val="1100"/>
            </a:pPr>
            <a:r>
              <a:rPr lang="en-US" sz="2400" dirty="0">
                <a:solidFill>
                  <a:schemeClr val="accent4"/>
                </a:solidFill>
                <a:latin typeface="+mj-lt"/>
                <a:ea typeface="Overpass Light"/>
                <a:cs typeface="Overpass Light"/>
                <a:sym typeface="Overpass Light"/>
              </a:rPr>
              <a:t>Filter results by Key Facts:</a:t>
            </a:r>
          </a:p>
          <a:p>
            <a:pPr marL="800100" lvl="1">
              <a:buSzPts val="1100"/>
              <a:buFont typeface="Arial" panose="020B0604020202020204" pitchFamily="34" charset="0"/>
              <a:buChar char="•"/>
            </a:pPr>
            <a:r>
              <a:rPr lang="en-US" sz="2400" dirty="0">
                <a:solidFill>
                  <a:schemeClr val="accent4"/>
                </a:solidFill>
                <a:latin typeface="+mj-lt"/>
                <a:ea typeface="Overpass Light"/>
                <a:cs typeface="Overpass Light"/>
                <a:sym typeface="Overpass Light"/>
              </a:rPr>
              <a:t>Location</a:t>
            </a:r>
          </a:p>
          <a:p>
            <a:pPr marL="800100" lvl="1">
              <a:buSzPts val="1100"/>
              <a:buFont typeface="Arial" panose="020B0604020202020204" pitchFamily="34" charset="0"/>
              <a:buChar char="•"/>
            </a:pPr>
            <a:r>
              <a:rPr lang="en-US" sz="2400" dirty="0">
                <a:solidFill>
                  <a:schemeClr val="accent4"/>
                </a:solidFill>
                <a:latin typeface="+mj-lt"/>
                <a:ea typeface="Overpass Light"/>
                <a:cs typeface="Overpass Light"/>
                <a:sym typeface="Overpass Light"/>
              </a:rPr>
              <a:t>School Type</a:t>
            </a:r>
          </a:p>
          <a:p>
            <a:pPr marL="800100" lvl="1">
              <a:buSzPts val="1100"/>
              <a:buFont typeface="Arial" panose="020B0604020202020204" pitchFamily="34" charset="0"/>
              <a:buChar char="•"/>
            </a:pPr>
            <a:r>
              <a:rPr lang="en-US" sz="2400" dirty="0">
                <a:solidFill>
                  <a:schemeClr val="accent4"/>
                </a:solidFill>
                <a:latin typeface="+mj-lt"/>
                <a:ea typeface="Overpass Light"/>
                <a:cs typeface="Overpass Light"/>
                <a:sym typeface="Overpass Light"/>
              </a:rPr>
              <a:t>Public/Private</a:t>
            </a:r>
          </a:p>
          <a:p>
            <a:pPr marL="800100" lvl="1">
              <a:buSzPts val="1100"/>
              <a:buFont typeface="Arial" panose="020B0604020202020204" pitchFamily="34" charset="0"/>
              <a:buChar char="•"/>
            </a:pPr>
            <a:r>
              <a:rPr lang="en-US" sz="2400" dirty="0">
                <a:solidFill>
                  <a:schemeClr val="accent4"/>
                </a:solidFill>
                <a:latin typeface="+mj-lt"/>
                <a:ea typeface="Overpass Light"/>
                <a:cs typeface="Overpass Light"/>
                <a:sym typeface="Overpass Light"/>
              </a:rPr>
              <a:t>School Setting</a:t>
            </a:r>
          </a:p>
          <a:p>
            <a:pPr marL="800100" lvl="1">
              <a:buSzPts val="1100"/>
              <a:buFont typeface="Arial" panose="020B0604020202020204" pitchFamily="34" charset="0"/>
              <a:buChar char="•"/>
            </a:pPr>
            <a:r>
              <a:rPr lang="en-US" sz="2400" dirty="0">
                <a:solidFill>
                  <a:schemeClr val="accent4"/>
                </a:solidFill>
                <a:latin typeface="+mj-lt"/>
                <a:ea typeface="Overpass Light"/>
                <a:cs typeface="Overpass Light"/>
                <a:sym typeface="Overpass Light"/>
              </a:rPr>
              <a:t>School Size</a:t>
            </a:r>
          </a:p>
          <a:p>
            <a:pPr marL="800100" lvl="1">
              <a:buSzPts val="1100"/>
              <a:buFont typeface="Arial" panose="020B0604020202020204" pitchFamily="34" charset="0"/>
              <a:buChar char="•"/>
            </a:pPr>
            <a:r>
              <a:rPr lang="en-US" sz="2400" dirty="0">
                <a:solidFill>
                  <a:schemeClr val="accent4"/>
                </a:solidFill>
                <a:latin typeface="+mj-lt"/>
                <a:ea typeface="Overpass Light"/>
                <a:cs typeface="Overpass Light"/>
                <a:sym typeface="Overpass Light"/>
              </a:rPr>
              <a:t>Academic Calendar</a:t>
            </a:r>
          </a:p>
          <a:p>
            <a:pPr marL="800100" lvl="1">
              <a:buSzPts val="1100"/>
              <a:buFont typeface="Arial" panose="020B0604020202020204" pitchFamily="34" charset="0"/>
              <a:buChar char="•"/>
            </a:pPr>
            <a:r>
              <a:rPr lang="en-US" sz="2400" dirty="0">
                <a:solidFill>
                  <a:schemeClr val="accent4"/>
                </a:solidFill>
                <a:latin typeface="+mj-lt"/>
                <a:ea typeface="Overpass Light"/>
                <a:cs typeface="Overpass Light"/>
                <a:sym typeface="Overpass Light"/>
              </a:rPr>
              <a:t>Historically Black</a:t>
            </a:r>
          </a:p>
          <a:p>
            <a:pPr marL="800100" lvl="1">
              <a:buSzPts val="1100"/>
              <a:buFont typeface="Arial" panose="020B0604020202020204" pitchFamily="34" charset="0"/>
              <a:buChar char="•"/>
            </a:pPr>
            <a:endParaRPr lang="en-US" sz="2400" dirty="0">
              <a:latin typeface="+mj-lt"/>
              <a:ea typeface="Overpass Light"/>
              <a:cs typeface="Overpass Light"/>
              <a:sym typeface="Overpass Light"/>
            </a:endParaRPr>
          </a:p>
        </p:txBody>
      </p:sp>
      <p:sp>
        <p:nvSpPr>
          <p:cNvPr id="5" name="Google Shape;466;p65">
            <a:extLst>
              <a:ext uri="{FF2B5EF4-FFF2-40B4-BE49-F238E27FC236}">
                <a16:creationId xmlns:a16="http://schemas.microsoft.com/office/drawing/2014/main" id="{488A3865-23C8-BB38-3E8A-DD00EC7FA64C}"/>
              </a:ext>
              <a:ext uri="{C183D7F6-B498-43B3-948B-1728B52AA6E4}">
                <adec:decorative xmlns:adec="http://schemas.microsoft.com/office/drawing/2017/decorative" val="0"/>
              </a:ext>
            </a:extLst>
          </p:cNvPr>
          <p:cNvSpPr txBox="1">
            <a:spLocks/>
          </p:cNvSpPr>
          <p:nvPr/>
        </p:nvSpPr>
        <p:spPr>
          <a:xfrm>
            <a:off x="5314441" y="1519282"/>
            <a:ext cx="3829559" cy="318200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buSzPts val="1100"/>
            </a:pPr>
            <a:r>
              <a:rPr lang="en-US" sz="2400" dirty="0">
                <a:latin typeface="+mj-lt"/>
                <a:ea typeface="Overpass Light"/>
                <a:cs typeface="Overpass Light"/>
                <a:sym typeface="Overpass Light"/>
              </a:rPr>
              <a:t>Other Filters:</a:t>
            </a:r>
          </a:p>
          <a:p>
            <a:pPr marL="342900">
              <a:buSzPts val="1100"/>
              <a:buFont typeface="Arial" panose="020B0604020202020204" pitchFamily="34" charset="0"/>
              <a:buChar char="•"/>
            </a:pPr>
            <a:r>
              <a:rPr lang="en-US" sz="2400" dirty="0">
                <a:latin typeface="+mj-lt"/>
                <a:ea typeface="Overpass Light"/>
                <a:cs typeface="Overpass Light"/>
                <a:sym typeface="Overpass Light"/>
              </a:rPr>
              <a:t>Admissions</a:t>
            </a:r>
          </a:p>
          <a:p>
            <a:pPr marL="342900">
              <a:buSzPts val="1100"/>
              <a:buFont typeface="Arial" panose="020B0604020202020204" pitchFamily="34" charset="0"/>
              <a:buChar char="•"/>
            </a:pPr>
            <a:r>
              <a:rPr lang="en-US" sz="2400" dirty="0">
                <a:latin typeface="+mj-lt"/>
                <a:ea typeface="Overpass Light"/>
                <a:cs typeface="Overpass Light"/>
                <a:sym typeface="Overpass Light"/>
              </a:rPr>
              <a:t>Cost and Financial Aid</a:t>
            </a:r>
          </a:p>
          <a:p>
            <a:pPr marL="342900">
              <a:buSzPts val="1100"/>
              <a:buFont typeface="Arial" panose="020B0604020202020204" pitchFamily="34" charset="0"/>
              <a:buChar char="•"/>
            </a:pPr>
            <a:r>
              <a:rPr lang="en-US" sz="2400" dirty="0">
                <a:latin typeface="+mj-lt"/>
                <a:ea typeface="Overpass Light"/>
                <a:cs typeface="Overpass Light"/>
                <a:sym typeface="Overpass Light"/>
              </a:rPr>
              <a:t>Academics</a:t>
            </a:r>
          </a:p>
          <a:p>
            <a:pPr marL="342900">
              <a:buSzPts val="1100"/>
              <a:buFont typeface="Arial" panose="020B0604020202020204" pitchFamily="34" charset="0"/>
              <a:buChar char="•"/>
            </a:pPr>
            <a:r>
              <a:rPr lang="en-US" sz="2400" dirty="0">
                <a:latin typeface="+mj-lt"/>
                <a:ea typeface="Overpass Light"/>
                <a:cs typeface="Overpass Light"/>
                <a:sym typeface="Overpass Light"/>
              </a:rPr>
              <a:t>Student Body</a:t>
            </a:r>
          </a:p>
          <a:p>
            <a:pPr marL="342900">
              <a:buSzPts val="1100"/>
              <a:buFont typeface="Arial" panose="020B0604020202020204" pitchFamily="34" charset="0"/>
              <a:buChar char="•"/>
            </a:pPr>
            <a:r>
              <a:rPr lang="en-US" sz="2400" dirty="0">
                <a:latin typeface="+mj-lt"/>
                <a:ea typeface="Overpass Light"/>
                <a:cs typeface="Overpass Light"/>
                <a:sym typeface="Overpass Light"/>
              </a:rPr>
              <a:t>Sports</a:t>
            </a:r>
          </a:p>
          <a:p>
            <a:pPr marL="342900">
              <a:buSzPts val="1100"/>
              <a:buFont typeface="Arial" panose="020B0604020202020204" pitchFamily="34" charset="0"/>
              <a:buChar char="•"/>
            </a:pPr>
            <a:r>
              <a:rPr lang="en-US" sz="2400" dirty="0">
                <a:latin typeface="+mj-lt"/>
                <a:ea typeface="Overpass Light"/>
                <a:cs typeface="Overpass Light"/>
                <a:sym typeface="Overpass Light"/>
              </a:rPr>
              <a:t>Campus Live &amp; Services</a:t>
            </a:r>
          </a:p>
          <a:p>
            <a:pPr marL="800100" lvl="1">
              <a:buSzPts val="1100"/>
              <a:buFont typeface="Arial" panose="020B0604020202020204" pitchFamily="34" charset="0"/>
              <a:buChar char="•"/>
            </a:pPr>
            <a:endParaRPr lang="en-US" sz="2400" dirty="0">
              <a:latin typeface="+mj-lt"/>
              <a:ea typeface="Overpass Light"/>
              <a:cs typeface="Overpass Light"/>
              <a:sym typeface="Overpass Light"/>
            </a:endParaRPr>
          </a:p>
        </p:txBody>
      </p:sp>
      <p:sp>
        <p:nvSpPr>
          <p:cNvPr id="2" name="Google Shape;466;p65">
            <a:extLst>
              <a:ext uri="{FF2B5EF4-FFF2-40B4-BE49-F238E27FC236}">
                <a16:creationId xmlns:a16="http://schemas.microsoft.com/office/drawing/2014/main" id="{47673F9E-198E-9CB8-99BA-C3A1BDEC8EBD}"/>
              </a:ext>
              <a:ext uri="{C183D7F6-B498-43B3-948B-1728B52AA6E4}">
                <adec:decorative xmlns:adec="http://schemas.microsoft.com/office/drawing/2017/decorative" val="0"/>
              </a:ext>
            </a:extLst>
          </p:cNvPr>
          <p:cNvSpPr txBox="1">
            <a:spLocks/>
          </p:cNvSpPr>
          <p:nvPr/>
        </p:nvSpPr>
        <p:spPr>
          <a:xfrm>
            <a:off x="566506" y="4529786"/>
            <a:ext cx="8405824" cy="707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dirty="0">
                <a:latin typeface="+mj-lt"/>
                <a:ea typeface="Overpass Light"/>
                <a:cs typeface="Overpass Light"/>
                <a:sym typeface="Overpass Light"/>
              </a:rPr>
              <a:t>www.okcollegestart.org</a:t>
            </a:r>
          </a:p>
        </p:txBody>
      </p:sp>
    </p:spTree>
    <p:extLst>
      <p:ext uri="{BB962C8B-B14F-4D97-AF65-F5344CB8AC3E}">
        <p14:creationId xmlns:p14="http://schemas.microsoft.com/office/powerpoint/2010/main" val="2080900605"/>
      </p:ext>
    </p:extLst>
  </p:cSld>
  <p:clrMapOvr>
    <a:masterClrMapping/>
  </p:clrMapOvr>
  <p:transition spd="slow">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848853" y="42258"/>
            <a:ext cx="7593046"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latin typeface="Verdana Pro" panose="020B0604030504040204" pitchFamily="34" charset="0"/>
              </a:rPr>
              <a:t>OK College Start Screenshot of results</a:t>
            </a:r>
            <a:endParaRPr sz="2400" dirty="0">
              <a:latin typeface="Verdana Pro" panose="020B0604030504040204" pitchFamily="34" charset="0"/>
            </a:endParaRPr>
          </a:p>
        </p:txBody>
      </p:sp>
      <p:pic>
        <p:nvPicPr>
          <p:cNvPr id="8" name="Picture 7" descr="A screenshot of a college profile with Selected Characteristics:&#10;Location: West&#10;Programs/Majors Offered:&#10;Animal/Livestock Husbandry and Production&#10;Dairy Husbandry and Production&#10;Farm/Farm and Ranch Management&#10;Animal/Livestock Husbandry and Production&#10;Farm/Farm and Ranch Management&#10;Search Option:&#10;A search box is available to search for a specific school and see how it compares to the characteristics you've chosen.&#10;Matching Schools:&#10;3 Ok College Start schools match all of these characteristics:&#10;Eastern Oklahoma State College&#10;&#10;Type: Two-Year&#10;Tuition: Not listed&#10;Number of Students: 1,772&#10;Online Application: Apply&#10;Option to &quot;Compare your selections.&quot;&#10;Location: Wilburton, OK&#10;Northeastern Oklahoma A&amp;M College&#10;&#10;Type: Two-Year&#10;Tuition: $3,000&#10;Number of Students: 1,906&#10;Online Application: Apply&#10;Option to &quot;Compare your selections.&quot;&#10;Location: Miami, OK&#10;Western Oklahoma State College&#10;&#10;Type: Two-Year&#10;Tuition: $2,568&#10;Number of Students: 1,690&#10;Online Application: Apply&#10;Option to &quot;Compare your selections.&quot;&#10;Location: Altus, OK&#10;">
            <a:extLst>
              <a:ext uri="{FF2B5EF4-FFF2-40B4-BE49-F238E27FC236}">
                <a16:creationId xmlns:a16="http://schemas.microsoft.com/office/drawing/2014/main" id="{817859A8-D3C0-0D46-0954-7097618E90C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78820" y="502025"/>
            <a:ext cx="7304026" cy="4641475"/>
          </a:xfrm>
          <a:prstGeom prst="rect">
            <a:avLst/>
          </a:prstGeom>
        </p:spPr>
      </p:pic>
    </p:spTree>
    <p:extLst>
      <p:ext uri="{BB962C8B-B14F-4D97-AF65-F5344CB8AC3E}">
        <p14:creationId xmlns:p14="http://schemas.microsoft.com/office/powerpoint/2010/main" val="4039907272"/>
      </p:ext>
    </p:extLst>
  </p:cSld>
  <p:clrMapOvr>
    <a:masterClrMapping/>
  </p:clrMapOvr>
  <p:transition spd="slow">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a:latin typeface="Verdana Pro" panose="020B0604030504040204" pitchFamily="34" charset="0"/>
              </a:rPr>
              <a:t>Think College</a:t>
            </a:r>
            <a:endParaRPr sz="4000">
              <a:latin typeface="Verdana Pro" panose="020B0604030504040204" pitchFamily="34" charset="0"/>
            </a:endParaRPr>
          </a:p>
        </p:txBody>
      </p:sp>
      <p:pic>
        <p:nvPicPr>
          <p:cNvPr id="7" name="Picture 6" descr="The image is a map of the United States displaying the distribution of educational programs across different states. The map uses color coding to represent the number of programs available in each state, with a legend at the bottom indicating the range of programs:&#10;&#10;Color Legend:&#10;0 programs: Lightest shade of blue&#10;1-3 programs: Light blue&#10;4-6 programs: Medium blue&#10;7-9 programs: Darker blue&#10;10+ programs: Darkest blue&#10;Key Details:&#10;States with the highest number of programs (10+):&#10;&#10;California: 22 programs&#10;Texas: 19 programs&#10;Florida: 25 programs&#10;New York: 20 programs&#10;Pennsylvania: 18 programs&#10;Ohio: 16 programs&#10;Illinois: 16 programs&#10;North Carolina: 19 programs&#10;States with fewer programs (1-3):&#10;&#10;Several states such as Montana, Wyoming, Idaho, Maine, and others fall into this category.&#10;States with no programs:&#10;&#10;The map shows no color for the state of Wyoming, indicating it has 0 programs.">
            <a:extLst>
              <a:ext uri="{FF2B5EF4-FFF2-40B4-BE49-F238E27FC236}">
                <a16:creationId xmlns:a16="http://schemas.microsoft.com/office/drawing/2014/main" id="{5D46ACDE-4ABD-D515-840F-5E54C651FE5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93221" y="722659"/>
            <a:ext cx="5168900" cy="3911600"/>
          </a:xfrm>
          <a:prstGeom prst="rect">
            <a:avLst/>
          </a:prstGeom>
        </p:spPr>
      </p:pic>
      <p:pic>
        <p:nvPicPr>
          <p:cNvPr id="5" name="Picture 4" descr="A qr code to the website thinkcollege.net/college-search">
            <a:extLst>
              <a:ext uri="{FF2B5EF4-FFF2-40B4-BE49-F238E27FC236}">
                <a16:creationId xmlns:a16="http://schemas.microsoft.com/office/drawing/2014/main" id="{0997AA11-B328-64AE-E88E-593ED3B981A7}"/>
              </a:ext>
            </a:extLst>
          </p:cNvPr>
          <p:cNvPicPr>
            <a:picLocks noChangeAspect="1"/>
          </p:cNvPicPr>
          <p:nvPr/>
        </p:nvPicPr>
        <p:blipFill>
          <a:blip r:embed="rId4"/>
          <a:stretch>
            <a:fillRect/>
          </a:stretch>
        </p:blipFill>
        <p:spPr>
          <a:xfrm>
            <a:off x="5638741" y="1173577"/>
            <a:ext cx="3114236" cy="3114236"/>
          </a:xfrm>
          <a:prstGeom prst="rect">
            <a:avLst/>
          </a:prstGeom>
        </p:spPr>
      </p:pic>
      <p:sp>
        <p:nvSpPr>
          <p:cNvPr id="2" name="Google Shape;466;p65">
            <a:extLst>
              <a:ext uri="{FF2B5EF4-FFF2-40B4-BE49-F238E27FC236}">
                <a16:creationId xmlns:a16="http://schemas.microsoft.com/office/drawing/2014/main" id="{08E55657-B495-0392-7400-70A602633B77}"/>
              </a:ext>
            </a:extLst>
          </p:cNvPr>
          <p:cNvSpPr txBox="1">
            <a:spLocks/>
          </p:cNvSpPr>
          <p:nvPr/>
        </p:nvSpPr>
        <p:spPr>
          <a:xfrm>
            <a:off x="566506" y="4529786"/>
            <a:ext cx="8405824" cy="707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a:latin typeface="+mj-lt"/>
                <a:ea typeface="Overpass Light"/>
                <a:cs typeface="Overpass Light"/>
                <a:sym typeface="Overpass Light"/>
              </a:rPr>
              <a:t>thinkcollege.net/college-search</a:t>
            </a:r>
          </a:p>
        </p:txBody>
      </p:sp>
    </p:spTree>
    <p:extLst>
      <p:ext uri="{BB962C8B-B14F-4D97-AF65-F5344CB8AC3E}">
        <p14:creationId xmlns:p14="http://schemas.microsoft.com/office/powerpoint/2010/main" val="4086484969"/>
      </p:ext>
    </p:extLst>
  </p:cSld>
  <p:clrMapOvr>
    <a:masterClrMapping/>
  </p:clrMapOvr>
  <p:transition spd="slow">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vert="horz" lIns="91440" tIns="45720" rIns="91440" bIns="45720" rtlCol="0" anchor="ctr" anchorCtr="0">
            <a:normAutofit/>
          </a:bodyPr>
          <a:lstStyle/>
          <a:p>
            <a:pPr marL="0" lvl="0" indent="0">
              <a:spcAft>
                <a:spcPts val="0"/>
              </a:spcAft>
            </a:pPr>
            <a:r>
              <a:rPr lang="en-US" kern="1200">
                <a:latin typeface="Atkinson Hyperlegible Next" pitchFamily="50" charset="0"/>
                <a:ea typeface="+mj-ea"/>
                <a:cs typeface="+mj-cs"/>
              </a:rPr>
              <a:t>Think College-College Search</a:t>
            </a:r>
          </a:p>
        </p:txBody>
      </p:sp>
      <p:graphicFrame>
        <p:nvGraphicFramePr>
          <p:cNvPr id="468" name="Google Shape;466;p65" descr="College Finder for 340 postsecondary education programs for students with intellectual disabilities&#10;Filter results by:&#10;Location (state)&#10;Program features&#10;Disability&#10;Public or private&#10;Type of school&#10;Length of program">
            <a:extLst>
              <a:ext uri="{FF2B5EF4-FFF2-40B4-BE49-F238E27FC236}">
                <a16:creationId xmlns:a16="http://schemas.microsoft.com/office/drawing/2014/main" id="{26231CFC-C6B3-AFB3-1B1D-BC7E13824B97}"/>
              </a:ext>
              <a:ext uri="{C183D7F6-B498-43B3-948B-1728B52AA6E4}">
                <adec:decorative xmlns:adec="http://schemas.microsoft.com/office/drawing/2017/decorative" val="0"/>
              </a:ext>
            </a:extLst>
          </p:cNvPr>
          <p:cNvGraphicFramePr/>
          <p:nvPr>
            <p:extLst>
              <p:ext uri="{D42A27DB-BD31-4B8C-83A1-F6EECF244321}">
                <p14:modId xmlns:p14="http://schemas.microsoft.com/office/powerpoint/2010/main" val="481763667"/>
              </p:ext>
            </p:extLst>
          </p:nvPr>
        </p:nvGraphicFramePr>
        <p:xfrm>
          <a:off x="628650" y="1369219"/>
          <a:ext cx="38862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Google Shape;466;p65">
            <a:extLst>
              <a:ext uri="{FF2B5EF4-FFF2-40B4-BE49-F238E27FC236}">
                <a16:creationId xmlns:a16="http://schemas.microsoft.com/office/drawing/2014/main" id="{08E55657-B495-0392-7400-70A602633B77}"/>
              </a:ext>
              <a:ext uri="{C183D7F6-B498-43B3-948B-1728B52AA6E4}">
                <adec:decorative xmlns:adec="http://schemas.microsoft.com/office/drawing/2017/decorative" val="0"/>
              </a:ext>
            </a:extLst>
          </p:cNvPr>
          <p:cNvSpPr txBox="1">
            <a:spLocks/>
          </p:cNvSpPr>
          <p:nvPr/>
        </p:nvSpPr>
        <p:spPr>
          <a:xfrm>
            <a:off x="4629150" y="1369219"/>
            <a:ext cx="3886200" cy="3263504"/>
          </a:xfrm>
          <a:prstGeom prst="rect">
            <a:avLst/>
          </a:prstGeom>
        </p:spPr>
        <p:txBody>
          <a:bodyPr spcFirstLastPara="1" vert="horz" lIns="91440" tIns="45720" rIns="91440" bIns="45720" rtlCol="0"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171450" indent="-171450" defTabSz="685800">
              <a:lnSpc>
                <a:spcPct val="90000"/>
              </a:lnSpc>
              <a:spcBef>
                <a:spcPts val="750"/>
              </a:spcBef>
              <a:buSzPts val="1100"/>
              <a:buFont typeface="Arial" panose="020B0604020202020204" pitchFamily="34" charset="0"/>
              <a:buChar char="•"/>
            </a:pPr>
            <a:r>
              <a:rPr lang="en-US" sz="2100">
                <a:solidFill>
                  <a:schemeClr val="accent6"/>
                </a:solidFill>
                <a:latin typeface="Atkinson Hyperlegible Next" pitchFamily="50" charset="0"/>
                <a:ea typeface="+mn-ea"/>
                <a:cs typeface="+mn-cs"/>
              </a:rPr>
              <a:t>thinkcollege.net/college-search</a:t>
            </a:r>
          </a:p>
        </p:txBody>
      </p:sp>
    </p:spTree>
    <p:extLst>
      <p:ext uri="{BB962C8B-B14F-4D97-AF65-F5344CB8AC3E}">
        <p14:creationId xmlns:p14="http://schemas.microsoft.com/office/powerpoint/2010/main" val="1557424897"/>
      </p:ext>
    </p:extLst>
  </p:cSld>
  <p:clrMapOvr>
    <a:masterClrMapping/>
  </p:clrMapOvr>
  <p:transition spd="slow">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2025361" y="56444"/>
            <a:ext cx="4968106" cy="74769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dirty="0">
                <a:latin typeface="Verdana Pro" panose="020B0604030504040204" pitchFamily="34" charset="0"/>
              </a:rPr>
              <a:t>Screenshot</a:t>
            </a:r>
            <a:r>
              <a:rPr lang="en" sz="4000" dirty="0">
                <a:latin typeface="Verdana Pro" panose="020B0604030504040204" pitchFamily="34" charset="0"/>
              </a:rPr>
              <a:t> </a:t>
            </a:r>
            <a:r>
              <a:rPr lang="en" sz="2800" dirty="0">
                <a:latin typeface="Verdana Pro" panose="020B0604030504040204" pitchFamily="34" charset="0"/>
              </a:rPr>
              <a:t>of OOS</a:t>
            </a:r>
            <a:endParaRPr sz="2800" dirty="0">
              <a:latin typeface="Verdana Pro" panose="020B0604030504040204" pitchFamily="34" charset="0"/>
            </a:endParaRPr>
          </a:p>
        </p:txBody>
      </p:sp>
      <p:pic>
        <p:nvPicPr>
          <p:cNvPr id="5" name="Picture 4" descr="Program Title:&#10;Opportunity Orange Scholars&#10;Institution: Oklahoma State University&#10;Location: Stillwater, OK&#10;Program Description:&#10;The Opportunity Orange Scholars program is designed for young adults aged 18 to 26 with intellectual disabilities who do not meet OSU’s degree-seeking admission criteria.&#10;Students in the program can pursue a two-year, non-degree academic certificate in Career and Community Studies.&#10;Participants will be fully immersed in the OSU experience, including living and learning on campus.&#10;Contact Information:&#10;Address:&#10;Opportunity Orange Scholars&#10;032 Nancy Randolph Davis&#10;Oklahoma State University&#10;Stillwater, OK 74078&#10;Phone: 405-744-8298&#10;Web: Program website&#10;Contact Person: Chloe Cavins&#10;Email: ooscholars@okstate.edu&#10;Additional Information:&#10;The program is eligible to provide federal financial aid as a Comprehensive Transition Program (CTP).&#10;There are buttons for &quot;Save&quot; and &quot;Quick Look&quot; at the bottom of the page.&#10;">
            <a:extLst>
              <a:ext uri="{FF2B5EF4-FFF2-40B4-BE49-F238E27FC236}">
                <a16:creationId xmlns:a16="http://schemas.microsoft.com/office/drawing/2014/main" id="{314F171A-12E6-35FB-8E81-3770CC7002E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7543" y="753344"/>
            <a:ext cx="6251524" cy="4172598"/>
          </a:xfrm>
          <a:prstGeom prst="rect">
            <a:avLst/>
          </a:prstGeom>
        </p:spPr>
      </p:pic>
    </p:spTree>
    <p:extLst>
      <p:ext uri="{BB962C8B-B14F-4D97-AF65-F5344CB8AC3E}">
        <p14:creationId xmlns:p14="http://schemas.microsoft.com/office/powerpoint/2010/main" val="1847335183"/>
      </p:ext>
    </p:extLst>
  </p:cSld>
  <p:clrMapOvr>
    <a:masterClrMapping/>
  </p:clrMapOvr>
  <p:transition spd="slow">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653821" y="0"/>
            <a:ext cx="7147799"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dirty="0">
                <a:latin typeface="Verdana Pro" panose="020B0604030504040204" pitchFamily="34" charset="0"/>
              </a:rPr>
              <a:t>Screenshot of RiverHawks</a:t>
            </a:r>
            <a:endParaRPr sz="2800" dirty="0">
              <a:latin typeface="Verdana Pro" panose="020B0604030504040204" pitchFamily="34" charset="0"/>
            </a:endParaRPr>
          </a:p>
        </p:txBody>
      </p:sp>
      <p:pic>
        <p:nvPicPr>
          <p:cNvPr id="3" name="Picture 2" descr="A screenshot of a program from Northeastern State University for the River Hawks Scholar Program. Program Title:&#10;RiverHawks Scholar Program&#10;Institution: Northeastern State University&#10;Location: Tahlequah, OK&#10;Program Description:&#10;The RiverHawks Scholar Program was the first Inclusive Post-Secondary Education (IPSE) program in Oklahoma, founded in 2018.&#10;It is a four-year inclusive certificate program designed for students with mild to moderate intellectual disabilities.&#10;Students in the program live in campus housing, join campus clubs and organizations, attend traditional classes with non-disabled peers, and participate in workplace internships each semester.&#10;Contact Information:&#10;Address:&#10;RiverHawks Scholar Program&#10;600 N. Grand Avenue&#10;Bagley Hall 239&#10;Tahlequah, OK 74464&#10;Phone: 918-444-3711&#10;Web: Program website&#10;Contact Person: Justin Chase&#10;Email: riverhawksscholar@nsuok.edu&#10;Additional Information:&#10;The program is eligible to provide federal financial aid as a Comprehensive Transition Program (CTP).&#10;Buttons for &quot;Save&quot; and &quot;Quick Look&quot; are available at the bottom of the page.">
            <a:extLst>
              <a:ext uri="{FF2B5EF4-FFF2-40B4-BE49-F238E27FC236}">
                <a16:creationId xmlns:a16="http://schemas.microsoft.com/office/drawing/2014/main" id="{A7391142-AB57-B2E2-2DFB-461275DD030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74192" y="609601"/>
            <a:ext cx="7460147" cy="4293104"/>
          </a:xfrm>
          <a:prstGeom prst="rect">
            <a:avLst/>
          </a:prstGeom>
        </p:spPr>
      </p:pic>
    </p:spTree>
    <p:extLst>
      <p:ext uri="{BB962C8B-B14F-4D97-AF65-F5344CB8AC3E}">
        <p14:creationId xmlns:p14="http://schemas.microsoft.com/office/powerpoint/2010/main" val="2320468289"/>
      </p:ext>
    </p:extLst>
  </p:cSld>
  <p:clrMapOvr>
    <a:masterClrMapping/>
  </p:clrMapOvr>
  <p:transition spd="slow">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900517" y="119432"/>
            <a:ext cx="7126881"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dirty="0">
                <a:latin typeface="Verdana Pro" panose="020B0604030504040204" pitchFamily="34" charset="0"/>
              </a:rPr>
              <a:t>Screenshot of Sooner Works</a:t>
            </a:r>
            <a:endParaRPr sz="2800" dirty="0">
              <a:latin typeface="Verdana Pro" panose="020B0604030504040204" pitchFamily="34" charset="0"/>
            </a:endParaRPr>
          </a:p>
        </p:txBody>
      </p:sp>
      <p:pic>
        <p:nvPicPr>
          <p:cNvPr id="5" name="Picture 4" descr="A screenshot of a web page from The University of Oklahoma for the Sooner Works program.Program Title:&#10;Sooner Works&#10;Institution: University of Oklahoma&#10;Location: Norman, OK&#10;Program Description:&#10;The Sooner Works program at the University of Oklahoma is a four-year comprehensive integrated program designed for students with an intellectual or developmental disability who desire a postsecondary experience on a college campus.&#10;Students in the program live on campus and take traditional university courses in conjunction with courses specific to Sooner Works.&#10;In addition, students participate in internships and social organizations on the University of Oklahoma's campus.&#10;Contact Information:&#10;Address:&#10;Sooner Works&#10;338 Cate Center Drive, Room 160&#10;Norman, OK 73019&#10;Phone: (405) 325-8951&#10;Web: Program website&#10;Contact Person: Dr. Anna Barritt&#10;Email: soonerworks@ou.edu&#10;Additional Information:&#10;The program is eligible to provide federal financial aid as a Comprehensive Transition Program (CTP).&#10;There are buttons for &quot;Save&quot; and &quot;Quick Look&quot; at the bottom of the page.">
            <a:extLst>
              <a:ext uri="{FF2B5EF4-FFF2-40B4-BE49-F238E27FC236}">
                <a16:creationId xmlns:a16="http://schemas.microsoft.com/office/drawing/2014/main" id="{53D44AC7-3D11-911D-03C1-76E277AD176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75483" y="669827"/>
            <a:ext cx="6563745" cy="4411951"/>
          </a:xfrm>
          <a:prstGeom prst="rect">
            <a:avLst/>
          </a:prstGeom>
        </p:spPr>
      </p:pic>
    </p:spTree>
    <p:extLst>
      <p:ext uri="{BB962C8B-B14F-4D97-AF65-F5344CB8AC3E}">
        <p14:creationId xmlns:p14="http://schemas.microsoft.com/office/powerpoint/2010/main" val="3092743524"/>
      </p:ext>
    </p:extLst>
  </p:cSld>
  <p:clrMapOvr>
    <a:masterClrMapping/>
  </p:clrMapOvr>
  <p:transition spd="slow">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Me! Scale Pre-Assessment</a:t>
            </a:r>
            <a:endParaRPr sz="4000" dirty="0">
              <a:latin typeface="Verdana Pro" panose="020B0604030504040204" pitchFamily="34" charset="0"/>
            </a:endParaRPr>
          </a:p>
        </p:txBody>
      </p:sp>
      <p:pic>
        <p:nvPicPr>
          <p:cNvPr id="6" name="Picture 5" descr="A picture of the Me! Scale Pre-assessment with questions: 1. I know I am in special education a. Yes b. I think c. Not sure d. No &amp; 2. I have a disability a. Yes b. I think c. Not sure d. No">
            <a:extLst>
              <a:ext uri="{FF2B5EF4-FFF2-40B4-BE49-F238E27FC236}">
                <a16:creationId xmlns:a16="http://schemas.microsoft.com/office/drawing/2014/main" id="{5C3D25D7-22B9-3C9F-AD8B-395707773AB1}"/>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324458" y="920750"/>
            <a:ext cx="2481495" cy="2252016"/>
          </a:xfrm>
          <a:prstGeom prst="rect">
            <a:avLst/>
          </a:prstGeom>
        </p:spPr>
      </p:pic>
      <p:pic>
        <p:nvPicPr>
          <p:cNvPr id="9" name="Picture 8" descr="A picture of the Me! Scale Pre-assessment with questions 8 &amp; 9. 8. I can tell my teachers about accommodations I need in class. a. Yes b. I think c. Not sure d. No 9. I feel good about my future. a. Yes b. I think c. Not sure d. No">
            <a:extLst>
              <a:ext uri="{FF2B5EF4-FFF2-40B4-BE49-F238E27FC236}">
                <a16:creationId xmlns:a16="http://schemas.microsoft.com/office/drawing/2014/main" id="{6BA23528-4EB8-45F3-7AF6-708DEB6BA516}"/>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2803697" y="920750"/>
            <a:ext cx="2814917" cy="2252016"/>
          </a:xfrm>
          <a:prstGeom prst="rect">
            <a:avLst/>
          </a:prstGeom>
        </p:spPr>
      </p:pic>
      <p:pic>
        <p:nvPicPr>
          <p:cNvPr id="11" name="Picture 10" descr="A picture of the Me! Scale Pre-Assessment with question 16. List 3 things you need help with when you are at school. ">
            <a:extLst>
              <a:ext uri="{FF2B5EF4-FFF2-40B4-BE49-F238E27FC236}">
                <a16:creationId xmlns:a16="http://schemas.microsoft.com/office/drawing/2014/main" id="{9C949B9A-E239-FC0B-2859-E3C7B9644C9F}"/>
              </a:ext>
            </a:extLst>
          </p:cNvPr>
          <p:cNvPicPr>
            <a:picLocks noChangeAspect="1"/>
          </p:cNvPicPr>
          <p:nvPr/>
        </p:nvPicPr>
        <p:blipFill>
          <a:blip r:embed="rId5"/>
          <a:stretch>
            <a:fillRect/>
          </a:stretch>
        </p:blipFill>
        <p:spPr>
          <a:xfrm>
            <a:off x="566506" y="3266384"/>
            <a:ext cx="4194024" cy="1507656"/>
          </a:xfrm>
          <a:prstGeom prst="rect">
            <a:avLst/>
          </a:prstGeom>
        </p:spPr>
      </p:pic>
      <p:pic>
        <p:nvPicPr>
          <p:cNvPr id="4" name="Picture 3" descr="A qr code for the website tinyurl.com/MeScalePre">
            <a:extLst>
              <a:ext uri="{FF2B5EF4-FFF2-40B4-BE49-F238E27FC236}">
                <a16:creationId xmlns:a16="http://schemas.microsoft.com/office/drawing/2014/main" id="{B791B5BE-82C3-60DD-0EE9-AB338786AFED}"/>
              </a:ext>
            </a:extLst>
          </p:cNvPr>
          <p:cNvPicPr>
            <a:picLocks noChangeAspect="1"/>
          </p:cNvPicPr>
          <p:nvPr/>
        </p:nvPicPr>
        <p:blipFill>
          <a:blip r:embed="rId6"/>
          <a:stretch>
            <a:fillRect/>
          </a:stretch>
        </p:blipFill>
        <p:spPr>
          <a:xfrm>
            <a:off x="5675443" y="1346135"/>
            <a:ext cx="3144099" cy="3144099"/>
          </a:xfrm>
          <a:prstGeom prst="rect">
            <a:avLst/>
          </a:prstGeom>
        </p:spPr>
      </p:pic>
      <p:sp>
        <p:nvSpPr>
          <p:cNvPr id="2" name="Google Shape;466;p65">
            <a:extLst>
              <a:ext uri="{FF2B5EF4-FFF2-40B4-BE49-F238E27FC236}">
                <a16:creationId xmlns:a16="http://schemas.microsoft.com/office/drawing/2014/main" id="{762A3E88-6A89-7E15-3757-DFE45659C7F5}"/>
              </a:ext>
            </a:extLst>
          </p:cNvPr>
          <p:cNvSpPr txBox="1">
            <a:spLocks/>
          </p:cNvSpPr>
          <p:nvPr/>
        </p:nvSpPr>
        <p:spPr>
          <a:xfrm>
            <a:off x="566506" y="4529786"/>
            <a:ext cx="8405824" cy="707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dirty="0">
                <a:latin typeface="+mj-lt"/>
                <a:ea typeface="Overpass Light"/>
                <a:cs typeface="Overpass Light"/>
                <a:sym typeface="Overpass Light"/>
              </a:rPr>
              <a:t>tinyurl.com/</a:t>
            </a:r>
            <a:r>
              <a:rPr lang="en-US" sz="2400" dirty="0" err="1">
                <a:latin typeface="+mj-lt"/>
                <a:ea typeface="Overpass Light"/>
                <a:cs typeface="Overpass Light"/>
                <a:sym typeface="Overpass Light"/>
              </a:rPr>
              <a:t>MeScalePre</a:t>
            </a:r>
            <a:endParaRPr lang="en-US" sz="2400" dirty="0">
              <a:latin typeface="+mj-lt"/>
              <a:ea typeface="Overpass Light"/>
              <a:cs typeface="Overpass Light"/>
            </a:endParaRPr>
          </a:p>
        </p:txBody>
      </p:sp>
    </p:spTree>
    <p:extLst>
      <p:ext uri="{BB962C8B-B14F-4D97-AF65-F5344CB8AC3E}">
        <p14:creationId xmlns:p14="http://schemas.microsoft.com/office/powerpoint/2010/main" val="1675036957"/>
      </p:ext>
    </p:extLst>
  </p:cSld>
  <p:clrMapOvr>
    <a:masterClrMapping/>
  </p:clrMapOvr>
  <p:transition spd="slow">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 Self-Determination Checklist</a:t>
            </a:r>
            <a:endParaRPr sz="4000" dirty="0">
              <a:latin typeface="Verdana Pro" panose="020B0604030504040204" pitchFamily="34" charset="0"/>
            </a:endParaRPr>
          </a:p>
        </p:txBody>
      </p:sp>
      <p:pic>
        <p:nvPicPr>
          <p:cNvPr id="13" name="Picture 12" descr="A colorful text with the words I'm Determined.">
            <a:extLst>
              <a:ext uri="{FF2B5EF4-FFF2-40B4-BE49-F238E27FC236}">
                <a16:creationId xmlns:a16="http://schemas.microsoft.com/office/drawing/2014/main" id="{EE42BB5E-EE48-7334-EE84-97EC81EC31A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232796" y="176342"/>
            <a:ext cx="739534" cy="650790"/>
          </a:xfrm>
          <a:prstGeom prst="rect">
            <a:avLst/>
          </a:prstGeom>
        </p:spPr>
      </p:pic>
      <p:pic>
        <p:nvPicPr>
          <p:cNvPr id="6" name="Picture 5" descr="A screenshot of a white and black text with a 3, 2, 1 rating scale. Instructions:&#10;Scale for Rating:&#10;3 = almost always/most of the time&#10;2 = sometimes&#10;1 = rarely or never&#10;Statements for Rating:&#10;I set goals to get what I want or need.&#10;I make plans for reaching my goals.&#10;I check my progress on how I am doing toward my goals.&#10;Each statement has the rating options (3, 2, 1) listed to the left, indicating that the respondent should circle the appropriate number based on how frequently they perform each action.">
            <a:extLst>
              <a:ext uri="{FF2B5EF4-FFF2-40B4-BE49-F238E27FC236}">
                <a16:creationId xmlns:a16="http://schemas.microsoft.com/office/drawing/2014/main" id="{F8FECA24-7220-93B1-985B-9E34C11EFBB8}"/>
              </a:ext>
            </a:extLst>
          </p:cNvPr>
          <p:cNvPicPr>
            <a:picLocks noChangeAspect="1"/>
          </p:cNvPicPr>
          <p:nvPr/>
        </p:nvPicPr>
        <p:blipFill>
          <a:blip r:embed="rId4"/>
          <a:stretch>
            <a:fillRect/>
          </a:stretch>
        </p:blipFill>
        <p:spPr>
          <a:xfrm>
            <a:off x="566506" y="1596762"/>
            <a:ext cx="5292538" cy="2106483"/>
          </a:xfrm>
          <a:prstGeom prst="rect">
            <a:avLst/>
          </a:prstGeom>
        </p:spPr>
      </p:pic>
      <p:pic>
        <p:nvPicPr>
          <p:cNvPr id="11" name="Picture 10" descr="A white background with black text that states 1. What is one goal that you have for yourself?">
            <a:extLst>
              <a:ext uri="{FF2B5EF4-FFF2-40B4-BE49-F238E27FC236}">
                <a16:creationId xmlns:a16="http://schemas.microsoft.com/office/drawing/2014/main" id="{E990B5DE-D4CD-B687-0793-7066B3B46A9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205428" y="3804114"/>
            <a:ext cx="4014694" cy="346264"/>
          </a:xfrm>
          <a:prstGeom prst="rect">
            <a:avLst/>
          </a:prstGeom>
        </p:spPr>
      </p:pic>
      <p:pic>
        <p:nvPicPr>
          <p:cNvPr id="10" name="Picture 9" descr="A white background with black text that states 2. List three things you can do to reach this goal.">
            <a:extLst>
              <a:ext uri="{FF2B5EF4-FFF2-40B4-BE49-F238E27FC236}">
                <a16:creationId xmlns:a16="http://schemas.microsoft.com/office/drawing/2014/main" id="{2AE98DE8-990B-851A-F119-7B1E30C48DB2}"/>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1205428" y="4074169"/>
            <a:ext cx="4014694" cy="455617"/>
          </a:xfrm>
          <a:prstGeom prst="rect">
            <a:avLst/>
          </a:prstGeom>
        </p:spPr>
      </p:pic>
      <p:pic>
        <p:nvPicPr>
          <p:cNvPr id="9218" name="Picture 2" descr="Qr code&#10;tinyurl.com/SelfDetChcklist​&#10;Student Involvement Checklist-I'm Determined ">
            <a:extLst>
              <a:ext uri="{FF2B5EF4-FFF2-40B4-BE49-F238E27FC236}">
                <a16:creationId xmlns:a16="http://schemas.microsoft.com/office/drawing/2014/main" id="{C73C17B9-A1FB-C17D-EC51-E5E3AD6BA7A2}"/>
              </a:ext>
            </a:extLst>
          </p:cNvPr>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6207610" y="999685"/>
            <a:ext cx="2540000" cy="2540000"/>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466;p65">
            <a:extLst>
              <a:ext uri="{FF2B5EF4-FFF2-40B4-BE49-F238E27FC236}">
                <a16:creationId xmlns:a16="http://schemas.microsoft.com/office/drawing/2014/main" id="{86FADE96-D004-91ED-F87A-655D3BD2FA32}"/>
              </a:ext>
            </a:extLst>
          </p:cNvPr>
          <p:cNvSpPr txBox="1">
            <a:spLocks/>
          </p:cNvSpPr>
          <p:nvPr/>
        </p:nvSpPr>
        <p:spPr>
          <a:xfrm>
            <a:off x="5349312" y="3563743"/>
            <a:ext cx="3794688" cy="5970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dirty="0">
                <a:latin typeface="+mj-lt"/>
                <a:ea typeface="Overpass Light"/>
                <a:cs typeface="Overpass Light"/>
                <a:sym typeface="Overpass Light"/>
              </a:rPr>
              <a:t>tinyurl.com/</a:t>
            </a:r>
            <a:r>
              <a:rPr lang="en-US" sz="2400" dirty="0" err="1">
                <a:latin typeface="+mj-lt"/>
                <a:ea typeface="Overpass Light"/>
                <a:cs typeface="Overpass Light"/>
                <a:sym typeface="Overpass Light"/>
              </a:rPr>
              <a:t>SelfDetChcklist</a:t>
            </a:r>
            <a:endParaRPr lang="en-US" sz="2400" dirty="0">
              <a:latin typeface="+mj-lt"/>
              <a:ea typeface="Overpass Light"/>
              <a:cs typeface="Overpass Light"/>
            </a:endParaRPr>
          </a:p>
        </p:txBody>
      </p:sp>
    </p:spTree>
    <p:extLst>
      <p:ext uri="{BB962C8B-B14F-4D97-AF65-F5344CB8AC3E}">
        <p14:creationId xmlns:p14="http://schemas.microsoft.com/office/powerpoint/2010/main" val="2655117123"/>
      </p:ext>
    </p:extLst>
  </p:cSld>
  <p:clrMapOvr>
    <a:masterClrMapping/>
  </p:clrMapOvr>
  <p:transition spd="slow">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vert="horz" lIns="91440" tIns="45720" rIns="91440" bIns="45720" rtlCol="0" anchor="ctr" anchorCtr="0">
            <a:normAutofit/>
          </a:bodyPr>
          <a:lstStyle/>
          <a:p>
            <a:pPr marL="0" lvl="0" indent="0">
              <a:spcAft>
                <a:spcPts val="0"/>
              </a:spcAft>
            </a:pPr>
            <a:r>
              <a:rPr lang="en-US" kern="1200" dirty="0">
                <a:latin typeface="Atkinson Hyperlegible Next" pitchFamily="50" charset="0"/>
                <a:ea typeface="+mj-ea"/>
                <a:cs typeface="+mj-cs"/>
              </a:rPr>
              <a:t>ARC’s Self-Determination Scale</a:t>
            </a:r>
          </a:p>
        </p:txBody>
      </p:sp>
      <p:sp>
        <p:nvSpPr>
          <p:cNvPr id="2" name="Google Shape;466;p65">
            <a:extLst>
              <a:ext uri="{FF2B5EF4-FFF2-40B4-BE49-F238E27FC236}">
                <a16:creationId xmlns:a16="http://schemas.microsoft.com/office/drawing/2014/main" id="{6009A772-0060-737B-1BFF-13470E1B00CF}"/>
              </a:ext>
            </a:extLst>
          </p:cNvPr>
          <p:cNvSpPr txBox="1">
            <a:spLocks/>
          </p:cNvSpPr>
          <p:nvPr/>
        </p:nvSpPr>
        <p:spPr>
          <a:xfrm>
            <a:off x="628650" y="1369219"/>
            <a:ext cx="3886200" cy="3263504"/>
          </a:xfrm>
          <a:prstGeom prst="rect">
            <a:avLst/>
          </a:prstGeom>
        </p:spPr>
        <p:txBody>
          <a:bodyPr spcFirstLastPara="1" vert="horz" lIns="91440" tIns="45720" rIns="91440" bIns="45720" rtlCol="0"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171450" indent="-171450" defTabSz="685800">
              <a:lnSpc>
                <a:spcPct val="90000"/>
              </a:lnSpc>
              <a:spcBef>
                <a:spcPts val="750"/>
              </a:spcBef>
              <a:buSzPts val="1100"/>
              <a:buFont typeface="Arial" panose="020B0604020202020204" pitchFamily="34" charset="0"/>
              <a:buChar char="•"/>
            </a:pPr>
            <a:r>
              <a:rPr lang="en-US" sz="2100" dirty="0">
                <a:solidFill>
                  <a:schemeClr val="accent6"/>
                </a:solidFill>
                <a:latin typeface="Atkinson Hyperlegible Next" pitchFamily="50" charset="0"/>
                <a:ea typeface="+mn-ea"/>
                <a:cs typeface="+mn-cs"/>
              </a:rPr>
              <a:t>https://tinyurl.com/ARCSDZC</a:t>
            </a:r>
          </a:p>
        </p:txBody>
      </p:sp>
      <p:pic>
        <p:nvPicPr>
          <p:cNvPr id="10242" name="Picture 2" descr="QR code to ARC Self-Determination. https://tinyurl.com/ARCSDZC">
            <a:extLst>
              <a:ext uri="{FF2B5EF4-FFF2-40B4-BE49-F238E27FC236}">
                <a16:creationId xmlns:a16="http://schemas.microsoft.com/office/drawing/2014/main" id="{2A3C62E7-22EF-79DA-7741-0781A245AF4A}"/>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4930642" y="1369219"/>
            <a:ext cx="3283216" cy="3263504"/>
          </a:xfrm>
          <a:prstGeom prst="rect">
            <a:avLst/>
          </a:prstGeom>
          <a:solidFill>
            <a:srgbClr val="FFFFFF"/>
          </a:solidFill>
        </p:spPr>
      </p:pic>
    </p:spTree>
    <p:extLst>
      <p:ext uri="{BB962C8B-B14F-4D97-AF65-F5344CB8AC3E}">
        <p14:creationId xmlns:p14="http://schemas.microsoft.com/office/powerpoint/2010/main" val="1683061559"/>
      </p:ext>
    </p:extLst>
  </p:cSld>
  <p:clrMapOvr>
    <a:masterClrMapping/>
  </p:clrMapOvr>
  <p:transition spd="slow">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855729"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dirty="0">
                <a:latin typeface="Verdana Pro" panose="020B0604030504040204" pitchFamily="34" charset="0"/>
              </a:rPr>
              <a:t>ARC’s Self-Determination Scale Section 1: Autonomy</a:t>
            </a:r>
            <a:endParaRPr sz="3600" dirty="0">
              <a:latin typeface="Verdana Pro" panose="020B0604030504040204" pitchFamily="34" charset="0"/>
            </a:endParaRPr>
          </a:p>
        </p:txBody>
      </p:sp>
      <p:pic>
        <p:nvPicPr>
          <p:cNvPr id="3" name="Picture 2" descr="A screenshot of a portion of the ARC self-determination scale from section one: autonomy. The image is a screenshot of a survey or self-assessment form focusing on recreational and leisure activities. It falls under the section titled &quot;1C. Acting on the basis of preferences, beliefs, interests, and abilities: Recreational and leisure time.&quot;&#10;&#10;Statements for Assessment:&#10;I do free time activities based on my interests.&#10;I plan weekend activities that I like to do.&#10;I am involved in school-related activities.&#10;My friends and I choose activities that we want to do.&#10;I write letters, notes, or talk on the phone to friends and family.&#10;I listen to music that I like.&#10;Response Options:&#10;For each statement, the respondent can select from the following options:&#10;&#10;I do not even if I have the chance&#10;I do sometimes when I have the chance&#10;I do most of the time I have the chance&#10;I do every time I have the chance&#10;There is a subtotal box at the end of the section, labeled &quot;1C. Subtotal,&quot; which likely indicates where the responses should be tallied.">
            <a:extLst>
              <a:ext uri="{FF2B5EF4-FFF2-40B4-BE49-F238E27FC236}">
                <a16:creationId xmlns:a16="http://schemas.microsoft.com/office/drawing/2014/main" id="{E7F7F40D-C23A-C6A9-A70B-E93DCDFB83D9}"/>
              </a:ext>
            </a:extLst>
          </p:cNvPr>
          <p:cNvPicPr>
            <a:picLocks noChangeAspect="1"/>
          </p:cNvPicPr>
          <p:nvPr/>
        </p:nvPicPr>
        <p:blipFill>
          <a:blip r:embed="rId3"/>
          <a:stretch>
            <a:fillRect/>
          </a:stretch>
        </p:blipFill>
        <p:spPr>
          <a:xfrm>
            <a:off x="108288" y="1916343"/>
            <a:ext cx="8864042" cy="2156759"/>
          </a:xfrm>
          <a:prstGeom prst="rect">
            <a:avLst/>
          </a:prstGeom>
        </p:spPr>
      </p:pic>
    </p:spTree>
    <p:extLst>
      <p:ext uri="{BB962C8B-B14F-4D97-AF65-F5344CB8AC3E}">
        <p14:creationId xmlns:p14="http://schemas.microsoft.com/office/powerpoint/2010/main" val="3610564036"/>
      </p:ext>
    </p:extLst>
  </p:cSld>
  <p:clrMapOvr>
    <a:masterClrMapping/>
  </p:clrMapOvr>
  <p:transition spd="slow">
    <p:fade thruBlk="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9152905"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dirty="0">
                <a:latin typeface="Verdana Pro" panose="020B0604030504040204" pitchFamily="34" charset="0"/>
              </a:rPr>
              <a:t>ARC’s Self-Determination </a:t>
            </a:r>
            <a:br>
              <a:rPr lang="en" sz="3600" dirty="0">
                <a:latin typeface="Verdana Pro" panose="020B0604030504040204" pitchFamily="34" charset="0"/>
              </a:rPr>
            </a:br>
            <a:r>
              <a:rPr lang="en" sz="3600" dirty="0">
                <a:latin typeface="Verdana Pro" panose="020B0604030504040204" pitchFamily="34" charset="0"/>
              </a:rPr>
              <a:t>Scale Section 2: Self-Regulation</a:t>
            </a:r>
            <a:endParaRPr sz="3600" dirty="0">
              <a:latin typeface="Verdana Pro" panose="020B0604030504040204" pitchFamily="34" charset="0"/>
            </a:endParaRPr>
          </a:p>
        </p:txBody>
      </p:sp>
      <p:pic>
        <p:nvPicPr>
          <p:cNvPr id="4" name="Picture 3" descr="A screenshot of section two of the ARC self determination scale. Question 36. Beginning: You go to your English class one morning and discover your English book is not in your backpack. You are upset because you need that book to do your homework. Middle: 6 lines to fill in the blank. Ending: The story ends with you using your English book for homework. Ends with a line for the Story Score. ">
            <a:extLst>
              <a:ext uri="{FF2B5EF4-FFF2-40B4-BE49-F238E27FC236}">
                <a16:creationId xmlns:a16="http://schemas.microsoft.com/office/drawing/2014/main" id="{F190ED59-42C7-9FAB-C035-664072E89D56}"/>
              </a:ext>
            </a:extLst>
          </p:cNvPr>
          <p:cNvPicPr>
            <a:picLocks noChangeAspect="1"/>
          </p:cNvPicPr>
          <p:nvPr/>
        </p:nvPicPr>
        <p:blipFill>
          <a:blip r:embed="rId3"/>
          <a:stretch>
            <a:fillRect/>
          </a:stretch>
        </p:blipFill>
        <p:spPr>
          <a:xfrm>
            <a:off x="1945184" y="1425015"/>
            <a:ext cx="5495738" cy="3267736"/>
          </a:xfrm>
          <a:prstGeom prst="rect">
            <a:avLst/>
          </a:prstGeom>
        </p:spPr>
      </p:pic>
    </p:spTree>
    <p:extLst>
      <p:ext uri="{BB962C8B-B14F-4D97-AF65-F5344CB8AC3E}">
        <p14:creationId xmlns:p14="http://schemas.microsoft.com/office/powerpoint/2010/main" val="942111971"/>
      </p:ext>
    </p:extLst>
  </p:cSld>
  <p:clrMapOvr>
    <a:masterClrMapping/>
  </p:clrMapOvr>
  <p:transition spd="slow">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9152905"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dirty="0">
                <a:latin typeface="Verdana Pro" panose="020B0604030504040204" pitchFamily="34" charset="0"/>
              </a:rPr>
              <a:t>ARC’s Self-Determination </a:t>
            </a:r>
            <a:br>
              <a:rPr lang="en" sz="3600" dirty="0">
                <a:latin typeface="Verdana Pro" panose="020B0604030504040204" pitchFamily="34" charset="0"/>
              </a:rPr>
            </a:br>
            <a:r>
              <a:rPr lang="en" sz="3600" dirty="0">
                <a:latin typeface="Verdana Pro" panose="020B0604030504040204" pitchFamily="34" charset="0"/>
              </a:rPr>
              <a:t>Scale Section 3: Psychological Empowerment</a:t>
            </a:r>
            <a:endParaRPr sz="3600" dirty="0">
              <a:latin typeface="Verdana Pro" panose="020B0604030504040204" pitchFamily="34" charset="0"/>
            </a:endParaRPr>
          </a:p>
        </p:txBody>
      </p:sp>
      <p:pic>
        <p:nvPicPr>
          <p:cNvPr id="3" name="Picture 2" descr="A screenshot of section three of the arc self determination scale. Statements and Response Options:&#10;I usually do what my friends want... or&#10;I tell my friends if they are doing something I don’t want to do.&#10;&#10;I tell others when I have new or different ideas or opinions... or&#10;I usually agree with other people's opinions or ideas.&#10;&#10;I usually agree with people when they tell me I can't do something... or&#10;I tell people when I think I can do something that they tell me I can't.&#10;&#10;I tell people when they have hurt my feelings... or&#10;I am afraid to tell people when they have hurt my feelings.">
            <a:extLst>
              <a:ext uri="{FF2B5EF4-FFF2-40B4-BE49-F238E27FC236}">
                <a16:creationId xmlns:a16="http://schemas.microsoft.com/office/drawing/2014/main" id="{44FCE4A9-31C9-FA62-3F5F-E948CA921E47}"/>
              </a:ext>
            </a:extLst>
          </p:cNvPr>
          <p:cNvPicPr>
            <a:picLocks noChangeAspect="1"/>
          </p:cNvPicPr>
          <p:nvPr/>
        </p:nvPicPr>
        <p:blipFill>
          <a:blip r:embed="rId3"/>
          <a:stretch>
            <a:fillRect/>
          </a:stretch>
        </p:blipFill>
        <p:spPr>
          <a:xfrm>
            <a:off x="2160307" y="1817169"/>
            <a:ext cx="4823385" cy="3206899"/>
          </a:xfrm>
          <a:prstGeom prst="rect">
            <a:avLst/>
          </a:prstGeom>
        </p:spPr>
      </p:pic>
    </p:spTree>
    <p:extLst>
      <p:ext uri="{BB962C8B-B14F-4D97-AF65-F5344CB8AC3E}">
        <p14:creationId xmlns:p14="http://schemas.microsoft.com/office/powerpoint/2010/main" val="2493118137"/>
      </p:ext>
    </p:extLst>
  </p:cSld>
  <p:clrMapOvr>
    <a:masterClrMapping/>
  </p:clrMapOvr>
  <p:transition spd="slow">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9152905"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dirty="0">
                <a:latin typeface="Verdana Pro" panose="020B0604030504040204" pitchFamily="34" charset="0"/>
              </a:rPr>
              <a:t>ARC’s Self-Determination </a:t>
            </a:r>
            <a:br>
              <a:rPr lang="en" sz="3600" dirty="0">
                <a:latin typeface="Verdana Pro" panose="020B0604030504040204" pitchFamily="34" charset="0"/>
              </a:rPr>
            </a:br>
            <a:r>
              <a:rPr lang="en" sz="3600" dirty="0">
                <a:latin typeface="Verdana Pro" panose="020B0604030504040204" pitchFamily="34" charset="0"/>
              </a:rPr>
              <a:t>Scale Section 4: Self-Realization</a:t>
            </a:r>
            <a:endParaRPr sz="3600" dirty="0">
              <a:latin typeface="Verdana Pro" panose="020B0604030504040204" pitchFamily="34" charset="0"/>
            </a:endParaRPr>
          </a:p>
        </p:txBody>
      </p:sp>
      <p:pic>
        <p:nvPicPr>
          <p:cNvPr id="4" name="Picture 3" descr="Statements and Response Options:&#10;I do not feel ashamed of any of my emotions.&#10;Agree&#10;Don’t agree&#10;I feel free to be angry at people I care for.&#10;Agree&#10;Don’t agree&#10;I can show my feelings even when people might see me.&#10;Agree&#10;Don’t agree&#10;I can like people even if I don’t agree with them.&#10;Agree&#10;Don’t agree&#10;I don’t accept my own limitations.&#10;Agree&#10;Don’t agree&#10;I feel I cannot do many things.&#10;Agree&#10;Don’t agree&#10;I like myself.&#10;Agree&#10;Don’t agree&#10;I am not an important person.&#10;Agree&#10;Don’t agree&#10;">
            <a:extLst>
              <a:ext uri="{FF2B5EF4-FFF2-40B4-BE49-F238E27FC236}">
                <a16:creationId xmlns:a16="http://schemas.microsoft.com/office/drawing/2014/main" id="{AFCDFDEE-63E0-D296-711C-FFE4D97AF3CD}"/>
              </a:ext>
            </a:extLst>
          </p:cNvPr>
          <p:cNvPicPr>
            <a:picLocks noChangeAspect="1"/>
          </p:cNvPicPr>
          <p:nvPr/>
        </p:nvPicPr>
        <p:blipFill>
          <a:blip r:embed="rId3"/>
          <a:stretch>
            <a:fillRect/>
          </a:stretch>
        </p:blipFill>
        <p:spPr>
          <a:xfrm>
            <a:off x="421723" y="1837763"/>
            <a:ext cx="8300554" cy="2617695"/>
          </a:xfrm>
          <a:prstGeom prst="rect">
            <a:avLst/>
          </a:prstGeom>
        </p:spPr>
      </p:pic>
    </p:spTree>
    <p:extLst>
      <p:ext uri="{BB962C8B-B14F-4D97-AF65-F5344CB8AC3E}">
        <p14:creationId xmlns:p14="http://schemas.microsoft.com/office/powerpoint/2010/main" val="3052114119"/>
      </p:ext>
    </p:extLst>
  </p:cSld>
  <p:clrMapOvr>
    <a:masterClrMapping/>
  </p:clrMapOvr>
  <p:transition spd="slow">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vert="horz" lIns="91440" tIns="45720" rIns="91440" bIns="45720" rtlCol="0" anchor="ctr" anchorCtr="0">
            <a:normAutofit/>
          </a:bodyPr>
          <a:lstStyle/>
          <a:p>
            <a:pPr marL="0" lvl="0" indent="0">
              <a:spcAft>
                <a:spcPts val="0"/>
              </a:spcAft>
            </a:pPr>
            <a:r>
              <a:rPr lang="en-US" kern="1200" dirty="0">
                <a:latin typeface="Atkinson Hyperlegible Next" pitchFamily="50" charset="0"/>
                <a:ea typeface="+mj-ea"/>
                <a:cs typeface="+mj-cs"/>
              </a:rPr>
              <a:t>AIR Self-Determination Scale</a:t>
            </a:r>
          </a:p>
        </p:txBody>
      </p:sp>
      <p:pic>
        <p:nvPicPr>
          <p:cNvPr id="5" name="Picture 4" descr="A qr code for the website https://tinyurl.com/ZI-assessments">
            <a:extLst>
              <a:ext uri="{FF2B5EF4-FFF2-40B4-BE49-F238E27FC236}">
                <a16:creationId xmlns:a16="http://schemas.microsoft.com/office/drawing/2014/main" id="{876550A5-CBD6-4CC8-843E-8DE8E0C81E16}"/>
              </a:ext>
            </a:extLst>
          </p:cNvPr>
          <p:cNvPicPr>
            <a:picLocks noChangeAspect="1"/>
          </p:cNvPicPr>
          <p:nvPr/>
        </p:nvPicPr>
        <p:blipFill>
          <a:blip r:embed="rId3"/>
          <a:stretch>
            <a:fillRect/>
          </a:stretch>
        </p:blipFill>
        <p:spPr>
          <a:xfrm>
            <a:off x="939998" y="1369219"/>
            <a:ext cx="3263504" cy="3263504"/>
          </a:xfrm>
          <a:prstGeom prst="rect">
            <a:avLst/>
          </a:prstGeom>
          <a:noFill/>
        </p:spPr>
      </p:pic>
      <p:sp>
        <p:nvSpPr>
          <p:cNvPr id="3" name="Google Shape;466;p65">
            <a:extLst>
              <a:ext uri="{FF2B5EF4-FFF2-40B4-BE49-F238E27FC236}">
                <a16:creationId xmlns:a16="http://schemas.microsoft.com/office/drawing/2014/main" id="{A60BA585-C747-7B7F-1548-1B63D61CB59A}"/>
              </a:ext>
            </a:extLst>
          </p:cNvPr>
          <p:cNvSpPr txBox="1">
            <a:spLocks/>
          </p:cNvSpPr>
          <p:nvPr/>
        </p:nvSpPr>
        <p:spPr>
          <a:xfrm>
            <a:off x="4629150" y="1369219"/>
            <a:ext cx="3886200" cy="3263504"/>
          </a:xfrm>
          <a:prstGeom prst="rect">
            <a:avLst/>
          </a:prstGeom>
        </p:spPr>
        <p:txBody>
          <a:bodyPr spcFirstLastPara="1" vert="horz" lIns="91440" tIns="45720" rIns="91440" bIns="45720" rtlCol="0"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171450" indent="-171450" defTabSz="685800">
              <a:lnSpc>
                <a:spcPct val="90000"/>
              </a:lnSpc>
              <a:spcBef>
                <a:spcPts val="750"/>
              </a:spcBef>
              <a:buSzPts val="1100"/>
              <a:buFont typeface="Arial" panose="020B0604020202020204" pitchFamily="34" charset="0"/>
              <a:buChar char="•"/>
            </a:pPr>
            <a:r>
              <a:rPr lang="en-US" sz="2100" dirty="0">
                <a:solidFill>
                  <a:schemeClr val="accent6"/>
                </a:solidFill>
                <a:latin typeface="Atkinson Hyperlegible Next" pitchFamily="50" charset="0"/>
                <a:ea typeface="+mn-ea"/>
                <a:cs typeface="+mn-cs"/>
              </a:rPr>
              <a:t>Paper/Pencil Version</a:t>
            </a:r>
          </a:p>
          <a:p>
            <a:pPr marL="171450" indent="-171450" defTabSz="685800">
              <a:lnSpc>
                <a:spcPct val="90000"/>
              </a:lnSpc>
              <a:spcBef>
                <a:spcPts val="750"/>
              </a:spcBef>
              <a:buSzPts val="1100"/>
              <a:buFont typeface="Arial" panose="020B0604020202020204" pitchFamily="34" charset="0"/>
              <a:buChar char="•"/>
            </a:pPr>
            <a:r>
              <a:rPr lang="en-US" sz="2100" dirty="0">
                <a:solidFill>
                  <a:schemeClr val="accent6"/>
                </a:solidFill>
                <a:latin typeface="Atkinson Hyperlegible Next" pitchFamily="50" charset="0"/>
                <a:ea typeface="+mn-ea"/>
                <a:cs typeface="+mn-cs"/>
              </a:rPr>
              <a:t>https://tinyurl.com/ZI-assessments</a:t>
            </a:r>
          </a:p>
        </p:txBody>
      </p:sp>
    </p:spTree>
    <p:extLst>
      <p:ext uri="{BB962C8B-B14F-4D97-AF65-F5344CB8AC3E}">
        <p14:creationId xmlns:p14="http://schemas.microsoft.com/office/powerpoint/2010/main" val="2176230381"/>
      </p:ext>
    </p:extLst>
  </p:cSld>
  <p:clrMapOvr>
    <a:masterClrMapping/>
  </p:clrMapOvr>
  <p:transition spd="slow">
    <p:fade thruBlk="1"/>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465;p65">
            <a:extLst>
              <a:ext uri="{FF2B5EF4-FFF2-40B4-BE49-F238E27FC236}">
                <a16:creationId xmlns:a16="http://schemas.microsoft.com/office/drawing/2014/main" id="{E25B2B3C-2945-5EDD-2FC5-D616D85DC725}"/>
              </a:ext>
            </a:extLst>
          </p:cNvPr>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dirty="0">
                <a:latin typeface="Verdana Pro" panose="020B0604030504040204" pitchFamily="34" charset="0"/>
              </a:rPr>
              <a:t>AIR Self-Determination Scale Student V</a:t>
            </a:r>
            <a:r>
              <a:rPr lang="en-US" sz="3600" dirty="0">
                <a:latin typeface="Verdana Pro" panose="020B0604030504040204" pitchFamily="34" charset="0"/>
              </a:rPr>
              <a:t>e</a:t>
            </a:r>
            <a:r>
              <a:rPr lang="en" sz="3600" dirty="0">
                <a:latin typeface="Verdana Pro" panose="020B0604030504040204" pitchFamily="34" charset="0"/>
              </a:rPr>
              <a:t>rsion Screenshots</a:t>
            </a:r>
            <a:endParaRPr sz="3600" dirty="0">
              <a:latin typeface="Verdana Pro" panose="020B0604030504040204" pitchFamily="34" charset="0"/>
            </a:endParaRPr>
          </a:p>
        </p:txBody>
      </p:sp>
      <p:pic>
        <p:nvPicPr>
          <p:cNvPr id="6" name="Picture 5" descr="A screenshot from the AIR self-determination scale student version. Statements and Response Scale:&#10;I know what I need, what I like, and what I’m good at.&#10;&#10;Response Options:&#10;Never (1)&#10;Almost Never (2)&#10;Sometimes (3)&#10;Almost Always (4)&#10;Always (5)&#10;I set goals to get what I want or need. I think about what I am good at when I do this.&#10;&#10;Response Options:&#10;Never (1)&#10;Almost Never (2)&#10;Sometimes (3)&#10;Almost Always (4)&#10;Always (5)&#10;Subtotal:&#10;There is a section at the bottom labeled &quot;Things I Do – Total Items 1 + 2,&quot; where respondents likely add their scores from the two items.&#10;">
            <a:extLst>
              <a:ext uri="{FF2B5EF4-FFF2-40B4-BE49-F238E27FC236}">
                <a16:creationId xmlns:a16="http://schemas.microsoft.com/office/drawing/2014/main" id="{40FA9EFE-BD07-5B41-7532-10A5B692EC3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45036" y="1405362"/>
            <a:ext cx="4703482" cy="2332775"/>
          </a:xfrm>
          <a:prstGeom prst="rect">
            <a:avLst/>
          </a:prstGeom>
        </p:spPr>
      </p:pic>
      <p:pic>
        <p:nvPicPr>
          <p:cNvPr id="8" name="Picture 7" descr="A screenshot from the AIR self-determination scale student version. Statements and Rating Scale:&#10;I know what I need, what I like, and what I’m good at.&#10;&#10;Rating Scale:&#10;1 = Rarely&#10;2&#10;3&#10;4&#10;5 = Often&#10;I set goals to get what I want or need. I think about what I am good at when I do this.&#10;&#10;Rating Scale:&#10;1 = Rarely&#10;2&#10;3&#10;4&#10;5 = Often">
            <a:extLst>
              <a:ext uri="{FF2B5EF4-FFF2-40B4-BE49-F238E27FC236}">
                <a16:creationId xmlns:a16="http://schemas.microsoft.com/office/drawing/2014/main" id="{B17C222A-5958-8E60-36B6-A753184B584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036816" y="3172690"/>
            <a:ext cx="3862148" cy="1724607"/>
          </a:xfrm>
          <a:prstGeom prst="rect">
            <a:avLst/>
          </a:prstGeom>
        </p:spPr>
      </p:pic>
    </p:spTree>
    <p:extLst>
      <p:ext uri="{BB962C8B-B14F-4D97-AF65-F5344CB8AC3E}">
        <p14:creationId xmlns:p14="http://schemas.microsoft.com/office/powerpoint/2010/main" val="547384041"/>
      </p:ext>
    </p:extLst>
  </p:cSld>
  <p:clrMapOvr>
    <a:masterClrMapping/>
  </p:clrMapOvr>
  <p:transition spd="slow">
    <p:push/>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465;p65">
            <a:extLst>
              <a:ext uri="{FF2B5EF4-FFF2-40B4-BE49-F238E27FC236}">
                <a16:creationId xmlns:a16="http://schemas.microsoft.com/office/drawing/2014/main" id="{E25B2B3C-2945-5EDD-2FC5-D616D85DC725}"/>
              </a:ext>
            </a:extLst>
          </p:cNvPr>
          <p:cNvSpPr txBox="1">
            <a:spLocks noGrp="1"/>
          </p:cNvSpPr>
          <p:nvPr>
            <p:ph type="title"/>
          </p:nvPr>
        </p:nvSpPr>
        <p:spPr>
          <a:xfrm>
            <a:off x="95956" y="119432"/>
            <a:ext cx="9048044"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dirty="0">
                <a:latin typeface="Verdana Pro" panose="020B0604030504040204" pitchFamily="34" charset="0"/>
              </a:rPr>
              <a:t>AIR Self-Determination Scale </a:t>
            </a:r>
            <a:r>
              <a:rPr lang="en-US" sz="2800" dirty="0">
                <a:latin typeface="Verdana Pro" panose="020B0604030504040204" pitchFamily="34" charset="0"/>
              </a:rPr>
              <a:t>Results </a:t>
            </a:r>
            <a:r>
              <a:rPr lang="en" sz="2800" dirty="0">
                <a:latin typeface="Verdana Pro" panose="020B0604030504040204" pitchFamily="34" charset="0"/>
              </a:rPr>
              <a:t>Screenshot</a:t>
            </a:r>
            <a:endParaRPr sz="2800" dirty="0">
              <a:latin typeface="Verdana Pro" panose="020B0604030504040204" pitchFamily="34" charset="0"/>
            </a:endParaRPr>
          </a:p>
        </p:txBody>
      </p:sp>
      <p:pic>
        <p:nvPicPr>
          <p:cNvPr id="7" name="Picture 6" descr="A screenshot of a graph from the AIR self determination scale results. Assessment Information:&#10;Student: [Not provided]&#10;Date: 2022-08-23&#10;Educator: [Not provided]&#10;Results Overview:&#10;Knowledge&#10;&#10;Score: 21&#10;Bar graph representation: Shows the breakdown across the categories &quot;Think,&quot; &quot;Do,&quot; and &quot;Adjust.&quot;&#10;Ability&#10;&#10;Score: 23&#10;Bar graph representation: Also shows distribution across &quot;Think,&quot; &quot;Do,&quot; and &quot;Adjust.&quot;&#10;Perception&#10;&#10;Score: 18&#10;Bar graph representation: Displays how perception is spread across &quot;Think,&quot; &quot;Do,&quot; and &quot;Adjust.&quot;&#10;Opportunity at School&#10;&#10;Score: 6&#10;Bar graph representation: Displays opportunity in school settings based on &quot;Think,&quot; &quot;Do,&quot; and &quot;Adjust.&quot;&#10;Opportunity at Home&#10;&#10;Score: 6&#10;Bar graph representation: Displays opportunity in home settings based on &quot;Think,&quot; &quot;Do,&quot; and &quot;Adjust.&quot;&#10;Summary Scores:&#10;Capacity (sum of Knowledge, Ability, and Perception): 62&#10;Opportunity (sum of Opportunity at School and Home): 12&#10;Level of Self-Determination: 74">
            <a:extLst>
              <a:ext uri="{FF2B5EF4-FFF2-40B4-BE49-F238E27FC236}">
                <a16:creationId xmlns:a16="http://schemas.microsoft.com/office/drawing/2014/main" id="{CFBC4834-90E4-F66A-522A-5F7A98AABE4F}"/>
              </a:ext>
            </a:extLst>
          </p:cNvPr>
          <p:cNvPicPr>
            <a:picLocks noChangeAspect="1"/>
          </p:cNvPicPr>
          <p:nvPr/>
        </p:nvPicPr>
        <p:blipFill>
          <a:blip r:embed="rId3"/>
          <a:stretch>
            <a:fillRect/>
          </a:stretch>
        </p:blipFill>
        <p:spPr>
          <a:xfrm>
            <a:off x="1580652" y="678144"/>
            <a:ext cx="5441037" cy="4194632"/>
          </a:xfrm>
          <a:prstGeom prst="rect">
            <a:avLst/>
          </a:prstGeom>
        </p:spPr>
      </p:pic>
    </p:spTree>
    <p:extLst>
      <p:ext uri="{BB962C8B-B14F-4D97-AF65-F5344CB8AC3E}">
        <p14:creationId xmlns:p14="http://schemas.microsoft.com/office/powerpoint/2010/main" val="1897234483"/>
      </p:ext>
    </p:extLst>
  </p:cSld>
  <p:clrMapOvr>
    <a:masterClrMapping/>
  </p:clrMapOvr>
  <p:transition spd="slow">
    <p:push/>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08FA99-B425-C9B9-7E06-F930DF21AA14}"/>
              </a:ext>
            </a:extLst>
          </p:cNvPr>
          <p:cNvSpPr>
            <a:spLocks noGrp="1"/>
          </p:cNvSpPr>
          <p:nvPr>
            <p:ph type="title"/>
          </p:nvPr>
        </p:nvSpPr>
        <p:spPr/>
        <p:txBody>
          <a:bodyPr anchor="ctr">
            <a:normAutofit/>
          </a:bodyPr>
          <a:lstStyle/>
          <a:p>
            <a:r>
              <a:rPr lang="en-US" sz="3100" dirty="0"/>
              <a:t>TAGG-Transition Assessment Goal Generator</a:t>
            </a:r>
          </a:p>
        </p:txBody>
      </p:sp>
      <p:sp>
        <p:nvSpPr>
          <p:cNvPr id="5" name="Google Shape;466;p65">
            <a:extLst>
              <a:ext uri="{FF2B5EF4-FFF2-40B4-BE49-F238E27FC236}">
                <a16:creationId xmlns:a16="http://schemas.microsoft.com/office/drawing/2014/main" id="{BBBF6BF7-0146-D2FE-05B9-D4C4DF9A48D8}"/>
              </a:ext>
            </a:extLst>
          </p:cNvPr>
          <p:cNvSpPr txBox="1">
            <a:spLocks noGrp="1"/>
          </p:cNvSpPr>
          <p:nvPr>
            <p:ph sz="half" idx="1"/>
          </p:nvPr>
        </p:nvSpPr>
        <p:spPr/>
        <p:txBody>
          <a:bodyPr spcFirstLastPara="1" lIns="91425" tIns="91425" rIns="91425" bIns="91425"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spcAft>
                <a:spcPts val="600"/>
              </a:spcAft>
              <a:buSzPts val="1100"/>
            </a:pPr>
            <a:r>
              <a:rPr lang="en-US" sz="2100" dirty="0">
                <a:solidFill>
                  <a:schemeClr val="accent6"/>
                </a:solidFill>
              </a:rPr>
              <a:t>https://tinyurl.com/ZI-assessments</a:t>
            </a:r>
          </a:p>
        </p:txBody>
      </p:sp>
      <p:pic>
        <p:nvPicPr>
          <p:cNvPr id="4" name="Picture 3" descr="A qr code for the website https://tagg.ou.edu/tagg/">
            <a:extLst>
              <a:ext uri="{FF2B5EF4-FFF2-40B4-BE49-F238E27FC236}">
                <a16:creationId xmlns:a16="http://schemas.microsoft.com/office/drawing/2014/main" id="{DEA8EED4-338B-59CD-3994-F03C7BE78C57}"/>
              </a:ext>
            </a:extLst>
          </p:cNvPr>
          <p:cNvPicPr>
            <a:picLocks noChangeAspect="1"/>
          </p:cNvPicPr>
          <p:nvPr/>
        </p:nvPicPr>
        <p:blipFill>
          <a:blip r:embed="rId3"/>
          <a:stretch>
            <a:fillRect/>
          </a:stretch>
        </p:blipFill>
        <p:spPr>
          <a:xfrm>
            <a:off x="4940498" y="1369219"/>
            <a:ext cx="3263504" cy="3263504"/>
          </a:xfrm>
          <a:prstGeom prst="rect">
            <a:avLst/>
          </a:prstGeom>
          <a:noFill/>
        </p:spPr>
      </p:pic>
    </p:spTree>
    <p:extLst>
      <p:ext uri="{BB962C8B-B14F-4D97-AF65-F5344CB8AC3E}">
        <p14:creationId xmlns:p14="http://schemas.microsoft.com/office/powerpoint/2010/main" val="2000658389"/>
      </p:ext>
    </p:extLst>
  </p:cSld>
  <p:clrMapOvr>
    <a:masterClrMapping/>
  </p:clrMapOvr>
  <p:transition spd="slow">
    <p:push/>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vert="horz" lIns="91440" tIns="45720" rIns="91440" bIns="45720" rtlCol="0" anchor="b" anchorCtr="0">
            <a:normAutofit/>
          </a:bodyPr>
          <a:lstStyle/>
          <a:p>
            <a:pPr marL="0" lvl="0" indent="0">
              <a:spcAft>
                <a:spcPts val="0"/>
              </a:spcAft>
            </a:pPr>
            <a:r>
              <a:rPr lang="en-US" sz="1500" kern="1200" dirty="0">
                <a:latin typeface="Atkinson Hyperlegible Next" pitchFamily="50" charset="0"/>
                <a:ea typeface="+mj-ea"/>
                <a:cs typeface="+mj-cs"/>
              </a:rPr>
              <a:t>Transition Assessment and Goal Generator (TAGG) Assessment Suite (Professional, Family &amp; Student Versions)</a:t>
            </a:r>
          </a:p>
        </p:txBody>
      </p:sp>
      <p:sp>
        <p:nvSpPr>
          <p:cNvPr id="2" name="Google Shape;466;p65">
            <a:extLst>
              <a:ext uri="{FF2B5EF4-FFF2-40B4-BE49-F238E27FC236}">
                <a16:creationId xmlns:a16="http://schemas.microsoft.com/office/drawing/2014/main" id="{A0429545-E8D0-D8F1-9101-B310C8324B40}"/>
              </a:ext>
            </a:extLst>
          </p:cNvPr>
          <p:cNvSpPr txBox="1">
            <a:spLocks/>
          </p:cNvSpPr>
          <p:nvPr/>
        </p:nvSpPr>
        <p:spPr>
          <a:xfrm>
            <a:off x="629841" y="1543050"/>
            <a:ext cx="2949178" cy="2858691"/>
          </a:xfrm>
          <a:prstGeom prst="rect">
            <a:avLst/>
          </a:prstGeom>
        </p:spPr>
        <p:txBody>
          <a:bodyPr spcFirstLastPara="1" vert="horz" lIns="91440" tIns="45720" rIns="91440" bIns="45720" rtlCol="0"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defTabSz="685800">
              <a:lnSpc>
                <a:spcPct val="90000"/>
              </a:lnSpc>
              <a:spcBef>
                <a:spcPts val="750"/>
              </a:spcBef>
            </a:pPr>
            <a:r>
              <a:rPr lang="en-US" sz="1600" kern="1200" dirty="0">
                <a:solidFill>
                  <a:schemeClr val="accent6"/>
                </a:solidFill>
                <a:latin typeface="Atkinson Hyperlegible Next" pitchFamily="50" charset="0"/>
                <a:ea typeface="+mn-ea"/>
                <a:cs typeface="+mn-cs"/>
                <a:hlinkClick r:id="rId3">
                  <a:extLst>
                    <a:ext uri="{A12FA001-AC4F-418D-AE19-62706E023703}">
                      <ahyp:hlinkClr xmlns:ahyp="http://schemas.microsoft.com/office/drawing/2018/hyperlinkcolor" val="tx"/>
                    </a:ext>
                  </a:extLst>
                </a:hlinkClick>
              </a:rPr>
              <a:t>https://tagg.ou.edu/tagg/</a:t>
            </a:r>
            <a:endParaRPr lang="en-US" sz="1600" kern="1200" dirty="0">
              <a:solidFill>
                <a:schemeClr val="accent6"/>
              </a:solidFill>
              <a:latin typeface="Atkinson Hyperlegible Next" pitchFamily="50" charset="0"/>
              <a:ea typeface="+mn-ea"/>
              <a:cs typeface="+mn-cs"/>
            </a:endParaRPr>
          </a:p>
          <a:p>
            <a:pPr marL="0" indent="0" defTabSz="685800">
              <a:lnSpc>
                <a:spcPct val="90000"/>
              </a:lnSpc>
              <a:spcBef>
                <a:spcPts val="750"/>
              </a:spcBef>
            </a:pPr>
            <a:endParaRPr lang="en-US" kern="1200" dirty="0">
              <a:solidFill>
                <a:schemeClr val="accent6"/>
              </a:solidFill>
              <a:latin typeface="Atkinson Hyperlegible Next" pitchFamily="50" charset="0"/>
              <a:ea typeface="+mn-ea"/>
              <a:cs typeface="+mn-cs"/>
            </a:endParaRPr>
          </a:p>
        </p:txBody>
      </p:sp>
      <p:graphicFrame>
        <p:nvGraphicFramePr>
          <p:cNvPr id="468" name="Google Shape;466;p65" descr="TAGG HS description and TAGG A description">
            <a:extLst>
              <a:ext uri="{FF2B5EF4-FFF2-40B4-BE49-F238E27FC236}">
                <a16:creationId xmlns:a16="http://schemas.microsoft.com/office/drawing/2014/main" id="{F2472BEA-BFD9-1E94-26FC-B1B77EDD39B8}"/>
              </a:ext>
            </a:extLst>
          </p:cNvPr>
          <p:cNvGraphicFramePr/>
          <p:nvPr>
            <p:extLst>
              <p:ext uri="{D42A27DB-BD31-4B8C-83A1-F6EECF244321}">
                <p14:modId xmlns:p14="http://schemas.microsoft.com/office/powerpoint/2010/main" val="593481563"/>
              </p:ext>
            </p:extLst>
          </p:nvPr>
        </p:nvGraphicFramePr>
        <p:xfrm>
          <a:off x="3887391" y="740569"/>
          <a:ext cx="4629150" cy="365521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828839087"/>
      </p:ext>
    </p:extLst>
  </p:cSld>
  <p:clrMapOvr>
    <a:masterClrMapping/>
  </p:clrMapOvr>
  <p:transition spd="slow">
    <p:fade thruBlk="1"/>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a:extLst>
              <a:ext uri="{C183D7F6-B498-43B3-948B-1728B52AA6E4}">
                <adec:decorative xmlns:adec="http://schemas.microsoft.com/office/drawing/2017/decorative" val="0"/>
              </a:ext>
            </a:extLst>
          </p:cNvPr>
          <p:cNvSpPr txBox="1">
            <a:spLocks noGrp="1"/>
          </p:cNvSpPr>
          <p:nvPr>
            <p:ph type="title"/>
          </p:nvPr>
        </p:nvSpPr>
        <p:spPr>
          <a:xfrm>
            <a:off x="116601" y="119432"/>
            <a:ext cx="8910798" cy="707700"/>
          </a:xfrm>
          <a:prstGeom prst="rect">
            <a:avLst/>
          </a:prstGeom>
          <a:solidFill>
            <a:schemeClr val="accent4"/>
          </a:solidFill>
        </p:spPr>
        <p:txBody>
          <a:bodyPr spcFirstLastPara="1" wrap="square" lIns="91425" tIns="91425" rIns="91425" bIns="91425" anchor="t" anchorCtr="0">
            <a:noAutofit/>
          </a:bodyPr>
          <a:lstStyle/>
          <a:p>
            <a:pPr marL="0" lvl="0" indent="0" algn="ctr" rtl="0">
              <a:spcBef>
                <a:spcPts val="0"/>
              </a:spcBef>
              <a:spcAft>
                <a:spcPts val="0"/>
              </a:spcAft>
              <a:buNone/>
            </a:pPr>
            <a:r>
              <a:rPr lang="en-US" sz="4000" dirty="0">
                <a:solidFill>
                  <a:schemeClr val="bg1"/>
                </a:solidFill>
                <a:latin typeface="Verdana Pro" panose="020B0604030504040204" pitchFamily="34" charset="0"/>
              </a:rPr>
              <a:t>TAGG Results</a:t>
            </a:r>
          </a:p>
        </p:txBody>
      </p:sp>
      <p:sp>
        <p:nvSpPr>
          <p:cNvPr id="466" name="Google Shape;466;p65">
            <a:extLst>
              <a:ext uri="{C183D7F6-B498-43B3-948B-1728B52AA6E4}">
                <adec:decorative xmlns:adec="http://schemas.microsoft.com/office/drawing/2017/decorative" val="0"/>
              </a:ext>
            </a:extLst>
          </p:cNvPr>
          <p:cNvSpPr txBox="1">
            <a:spLocks noGrp="1"/>
          </p:cNvSpPr>
          <p:nvPr>
            <p:ph type="subTitle" idx="1"/>
          </p:nvPr>
        </p:nvSpPr>
        <p:spPr>
          <a:xfrm>
            <a:off x="621575" y="827132"/>
            <a:ext cx="8405824" cy="4056505"/>
          </a:xfrm>
          <a:prstGeom prst="rect">
            <a:avLst/>
          </a:prstGeom>
        </p:spPr>
        <p:txBody>
          <a:bodyPr spcFirstLastPara="1" wrap="square" lIns="91425" tIns="91425" rIns="91425" bIns="91425" anchor="t" anchorCtr="0">
            <a:noAutofit/>
          </a:bodyPr>
          <a:lstStyle/>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Norm-based profile for each construct</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Lists areas of greatest &amp; relative strengths and needs</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Drafts present levels of performance statement</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Provides suggested annual transition goals</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$3 per credit (student, family, and professional versions)</a:t>
            </a:r>
          </a:p>
          <a:p>
            <a:pPr marL="342900" lvl="0" algn="l" rtl="0">
              <a:spcBef>
                <a:spcPts val="0"/>
              </a:spcBef>
              <a:spcAft>
                <a:spcPts val="0"/>
              </a:spcAft>
              <a:buClr>
                <a:schemeClr val="dk1"/>
              </a:buClr>
              <a:buSzPts val="1100"/>
              <a:buFont typeface="Arial" panose="020B0604020202020204" pitchFamily="34" charset="0"/>
              <a:buChar char="•"/>
            </a:pPr>
            <a:r>
              <a:rPr lang="en-US" sz="2000" b="1" dirty="0">
                <a:latin typeface="+mj-lt"/>
                <a:ea typeface="Overpass Light"/>
                <a:cs typeface="Overpass Light"/>
                <a:sym typeface="Overpass Light"/>
              </a:rPr>
              <a:t>Free credits </a:t>
            </a:r>
            <a:r>
              <a:rPr lang="en-US" sz="2000" dirty="0">
                <a:latin typeface="+mj-lt"/>
                <a:ea typeface="Overpass Light"/>
                <a:cs typeface="Overpass Light"/>
                <a:sym typeface="Overpass Light"/>
              </a:rPr>
              <a:t>can be obtained from the Oklahoma State Department of Education. </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Contact Claudia Beckner Claudia.beckner@sde.ok.gov</a:t>
            </a:r>
          </a:p>
          <a:p>
            <a:pPr marL="0" lvl="0" indent="0" algn="l" rtl="0">
              <a:spcBef>
                <a:spcPts val="0"/>
              </a:spcBef>
              <a:spcAft>
                <a:spcPts val="0"/>
              </a:spcAft>
              <a:buClr>
                <a:schemeClr val="dk1"/>
              </a:buClr>
              <a:buSzPts val="1100"/>
            </a:pPr>
            <a:r>
              <a:rPr lang="en-US" sz="2000" dirty="0">
                <a:latin typeface="+mj-lt"/>
                <a:ea typeface="Overpass Light"/>
                <a:cs typeface="Overpass Light"/>
                <a:sym typeface="Overpass Light"/>
              </a:rPr>
              <a:t>TAGG training available! Contact </a:t>
            </a:r>
            <a:r>
              <a:rPr lang="en-US" sz="2000" dirty="0">
                <a:latin typeface="+mj-lt"/>
                <a:ea typeface="Overpass Light"/>
                <a:cs typeface="Overpass Light"/>
                <a:sym typeface="Overpass Light"/>
                <a:hlinkClick r:id="rId3"/>
              </a:rPr>
              <a:t>tagg@ou.edu</a:t>
            </a:r>
            <a:r>
              <a:rPr lang="en-US" sz="2000" dirty="0">
                <a:latin typeface="+mj-lt"/>
                <a:ea typeface="Overpass Light"/>
                <a:cs typeface="Overpass Light"/>
                <a:sym typeface="Overpass Light"/>
              </a:rPr>
              <a:t> for more information. </a:t>
            </a:r>
          </a:p>
          <a:p>
            <a:pPr marL="342900" lvl="0" algn="l" rtl="0">
              <a:spcBef>
                <a:spcPts val="0"/>
              </a:spcBef>
              <a:spcAft>
                <a:spcPts val="0"/>
              </a:spcAft>
              <a:buClr>
                <a:schemeClr val="dk1"/>
              </a:buClr>
              <a:buSzPts val="1100"/>
              <a:buFont typeface="Arial" panose="020B0604020202020204" pitchFamily="34" charset="0"/>
              <a:buChar char="•"/>
            </a:pPr>
            <a:endParaRPr lang="en-US" sz="2400" dirty="0">
              <a:latin typeface="+mj-lt"/>
              <a:ea typeface="Overpass Light"/>
              <a:cs typeface="Overpass Light"/>
              <a:sym typeface="Overpass Light"/>
            </a:endParaRPr>
          </a:p>
          <a:p>
            <a:pPr marL="342900" lvl="0" algn="l" rtl="0">
              <a:spcBef>
                <a:spcPts val="0"/>
              </a:spcBef>
              <a:spcAft>
                <a:spcPts val="0"/>
              </a:spcAft>
              <a:buClr>
                <a:schemeClr val="dk1"/>
              </a:buClr>
              <a:buSzPts val="1100"/>
              <a:buFont typeface="Arial" panose="020B0604020202020204" pitchFamily="34" charset="0"/>
              <a:buChar char="•"/>
            </a:pPr>
            <a:endParaRPr lang="en-US" sz="2400" dirty="0">
              <a:latin typeface="+mj-lt"/>
              <a:ea typeface="Overpass Light"/>
              <a:cs typeface="Overpass Light"/>
              <a:sym typeface="Overpass Light"/>
            </a:endParaRPr>
          </a:p>
        </p:txBody>
      </p:sp>
      <p:sp>
        <p:nvSpPr>
          <p:cNvPr id="3" name="Google Shape;466;p65">
            <a:extLst>
              <a:ext uri="{FF2B5EF4-FFF2-40B4-BE49-F238E27FC236}">
                <a16:creationId xmlns:a16="http://schemas.microsoft.com/office/drawing/2014/main" id="{EC9C1B0C-0F5F-D94E-6528-09FE3EB7560C}"/>
              </a:ext>
              <a:ext uri="{C183D7F6-B498-43B3-948B-1728B52AA6E4}">
                <adec:decorative xmlns:adec="http://schemas.microsoft.com/office/drawing/2017/decorative" val="0"/>
              </a:ext>
            </a:extLst>
          </p:cNvPr>
          <p:cNvSpPr txBox="1">
            <a:spLocks/>
          </p:cNvSpPr>
          <p:nvPr/>
        </p:nvSpPr>
        <p:spPr>
          <a:xfrm>
            <a:off x="-342132" y="4529786"/>
            <a:ext cx="8405824" cy="707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000" b="1">
                <a:latin typeface="+mj-lt"/>
                <a:ea typeface="Overpass Light"/>
                <a:cs typeface="Overpass Light"/>
                <a:sym typeface="Overpass Light"/>
              </a:rPr>
              <a:t>NOTE: TAGG-A currently only shows professional version results</a:t>
            </a:r>
            <a:endParaRPr lang="en-US" sz="2000" b="1" dirty="0">
              <a:latin typeface="+mj-lt"/>
              <a:ea typeface="Overpass Light"/>
              <a:cs typeface="Overpass Light"/>
              <a:sym typeface="Overpass Light"/>
            </a:endParaRPr>
          </a:p>
        </p:txBody>
      </p:sp>
    </p:spTree>
    <p:extLst>
      <p:ext uri="{BB962C8B-B14F-4D97-AF65-F5344CB8AC3E}">
        <p14:creationId xmlns:p14="http://schemas.microsoft.com/office/powerpoint/2010/main" val="3285745302"/>
      </p:ext>
    </p:extLst>
  </p:cSld>
  <p:clrMapOvr>
    <a:masterClrMapping/>
  </p:clrMapOvr>
  <p:transition spd="slow">
    <p:fade thruBlk="1"/>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lIns="91425" tIns="91425" rIns="91425" bIns="91425" anchor="ctr" anchorCtr="0">
            <a:normAutofit/>
          </a:bodyPr>
          <a:lstStyle/>
          <a:p>
            <a:pPr marL="0" lvl="0" indent="0" rtl="0">
              <a:spcBef>
                <a:spcPts val="0"/>
              </a:spcBef>
              <a:spcAft>
                <a:spcPts val="0"/>
              </a:spcAft>
              <a:buNone/>
            </a:pPr>
            <a:r>
              <a:rPr lang="en-US" sz="3100" dirty="0"/>
              <a:t>TAGG Results Sample Screenshot 1</a:t>
            </a:r>
          </a:p>
        </p:txBody>
      </p:sp>
      <p:pic>
        <p:nvPicPr>
          <p:cNvPr id="8" name="Picture 7" descr="A screenshot of a graph from the TAGG HS results. Sections:&#10;Strengths and Limitations:&#10;&#10;Student: The graph shows that the student's assessment is rated as Well Above Average (marked in red).&#10;Family: The family's assessment is rated around Average (marked in blue).&#10;Professional: The professional's assessment is in the Below Average range (marked in gray).&#10;Disability Awareness:&#10;&#10;Student: The student's awareness is rated as Well Above Average (marked in red).&#10;Family: The family's rating is around Average (marked in blue).&#10;Professional: The professional's assessment is in the Below Average range (marked in gray).">
            <a:extLst>
              <a:ext uri="{FF2B5EF4-FFF2-40B4-BE49-F238E27FC236}">
                <a16:creationId xmlns:a16="http://schemas.microsoft.com/office/drawing/2014/main" id="{17490463-38F5-C4D4-A71C-F81AB0BF548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182195" y="1369219"/>
            <a:ext cx="4294084" cy="3263504"/>
          </a:xfrm>
          <a:prstGeom prst="rect">
            <a:avLst/>
          </a:prstGeom>
          <a:noFill/>
        </p:spPr>
      </p:pic>
    </p:spTree>
    <p:extLst>
      <p:ext uri="{BB962C8B-B14F-4D97-AF65-F5344CB8AC3E}">
        <p14:creationId xmlns:p14="http://schemas.microsoft.com/office/powerpoint/2010/main" val="148290725"/>
      </p:ext>
    </p:extLst>
  </p:cSld>
  <p:clrMapOvr>
    <a:masterClrMapping/>
  </p:clrMapOvr>
  <p:transition spd="slow">
    <p:fade thruBlk="1"/>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lIns="91425" tIns="91425" rIns="91425" bIns="91425" anchor="ctr" anchorCtr="0">
            <a:normAutofit/>
          </a:bodyPr>
          <a:lstStyle/>
          <a:p>
            <a:pPr marL="0" lvl="0" indent="0" rtl="0">
              <a:spcBef>
                <a:spcPts val="0"/>
              </a:spcBef>
              <a:spcAft>
                <a:spcPts val="0"/>
              </a:spcAft>
              <a:buNone/>
            </a:pPr>
            <a:r>
              <a:rPr lang="en-US" dirty="0"/>
              <a:t>TAGG Results Sample Screenshot 2</a:t>
            </a:r>
          </a:p>
        </p:txBody>
      </p:sp>
      <p:pic>
        <p:nvPicPr>
          <p:cNvPr id="10" name="Picture 9" descr="A screenshot of the TAGG HS scale results. Areas of Greatest Strength:&#10;Student:&#10;Student Involvement in the IEP&#10;Family:&#10;Interacting With Others&#10;Professional:&#10;Support Community&#10;Areas of Relative Strength:&#10;Student:&#10;Disability Awareness&#10;Interacting With Others&#10;Goal Setting and Attainment&#10;Family:&#10;Disability Awareness&#10;Support Community&#10;Employment&#10;Professional:&#10;Persistence&#10;Student Involvement in the IEP&#10;Employment&#10;Area of Greatest Need:&#10;Student:&#10;Employment&#10;Family:&#10;Strengths and Limitations&#10;Professional:&#10;Disability Awareness&#10;Areas of Relative Need:&#10;Student:&#10;Strengths and Limitations&#10;Support Community&#10;Persistence&#10;Family:&#10;Goal Setting and Attainment&#10;Persistence&#10;Student Involvement in the IEP&#10;Professional:&#10;Interacting With Others&#10;Strengths and Limitations&#10;Goal Setting and Attainment">
            <a:extLst>
              <a:ext uri="{FF2B5EF4-FFF2-40B4-BE49-F238E27FC236}">
                <a16:creationId xmlns:a16="http://schemas.microsoft.com/office/drawing/2014/main" id="{B11E1FB5-732B-AB63-A323-521D43F04B0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40032" y="1090690"/>
            <a:ext cx="4760824" cy="3820562"/>
          </a:xfrm>
          <a:prstGeom prst="rect">
            <a:avLst/>
          </a:prstGeom>
          <a:noFill/>
        </p:spPr>
      </p:pic>
    </p:spTree>
    <p:extLst>
      <p:ext uri="{BB962C8B-B14F-4D97-AF65-F5344CB8AC3E}">
        <p14:creationId xmlns:p14="http://schemas.microsoft.com/office/powerpoint/2010/main" val="3500143990"/>
      </p:ext>
    </p:extLst>
  </p:cSld>
  <p:clrMapOvr>
    <a:masterClrMapping/>
  </p:clrMapOvr>
  <p:transition spd="slow">
    <p:fade thruBlk="1"/>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lIns="91425" tIns="91425" rIns="91425" bIns="91425" anchor="ctr" anchorCtr="0">
            <a:normAutofit/>
          </a:bodyPr>
          <a:lstStyle/>
          <a:p>
            <a:pPr marL="0" lvl="0" indent="0" rtl="0">
              <a:spcBef>
                <a:spcPts val="0"/>
              </a:spcBef>
              <a:spcAft>
                <a:spcPts val="0"/>
              </a:spcAft>
              <a:buNone/>
            </a:pPr>
            <a:r>
              <a:rPr lang="en-US"/>
              <a:t>TAGG Results Sample Screenshot 3</a:t>
            </a:r>
          </a:p>
        </p:txBody>
      </p:sp>
      <p:pic>
        <p:nvPicPr>
          <p:cNvPr id="3" name="Picture 2" descr="A screenshot of the TAGG HS results. Strengths and Limitations (Based on Family Responses):&#10;Task:&#10;The student will use the internet to research and write a brief history of special education. This should include situations where academic help is needed, what accommodations are helpful, and how to request different accommodations. The student must achieve 85% accuracy for grammar and usage by the end of the semester.&#10;Follow-up Activity:&#10;The student will identify three academic tasks that are difficult for them and determine three accommodations needed to complete each assignment successfully. This will be presented in a one-page document (using words, pictures, or drawings) with 100% accuracy based on a teacher-created rubric by the end of the semester.&#10;Employment (Based on Student Responses):&#10;Task:&#10;The student will search the internet for local entry-level employment opportunities, complete three applications, receive feedback from a teacher, make corrections, and submit the applications to employers. This must be done with the accuracy noted on a self-checklist by the end of the semester.&#10;Follow-up Activity:&#10;After discussing interviews, the student will list the skills they possess and edit this list based on the skills needed to apply for three jobs. This should be done with at least 80% accuracy by the end of the semester.&#10;Disability Awareness (Based on Professional Responses):&#10;Task:&#10;After receiving instruction, the student will write an essay describing three personality characteristics that do not involve their disability. The essay must be completed with 90% accuracy in grammar and content by the end of a disability awareness unit.&#10;Follow-up Activity:&#10;Following a disability awareness unit, the student will use technology to create a presentation expressing at least five positive characteristics about themselves. This presentation must be completed with 100% accuracy based on a teacher-created rubric by the end of the semester.">
            <a:extLst>
              <a:ext uri="{FF2B5EF4-FFF2-40B4-BE49-F238E27FC236}">
                <a16:creationId xmlns:a16="http://schemas.microsoft.com/office/drawing/2014/main" id="{363F1158-2A77-F9E6-9809-0FA7AA467E4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35678" y="1072344"/>
            <a:ext cx="4579318" cy="3720696"/>
          </a:xfrm>
          <a:prstGeom prst="rect">
            <a:avLst/>
          </a:prstGeom>
          <a:noFill/>
        </p:spPr>
      </p:pic>
    </p:spTree>
    <p:extLst>
      <p:ext uri="{BB962C8B-B14F-4D97-AF65-F5344CB8AC3E}">
        <p14:creationId xmlns:p14="http://schemas.microsoft.com/office/powerpoint/2010/main" val="1266966163"/>
      </p:ext>
    </p:extLst>
  </p:cSld>
  <p:clrMapOvr>
    <a:masterClrMapping/>
  </p:clrMapOvr>
  <p:transition spd="slow">
    <p:fade thruBlk="1"/>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6" name="Google Shape;465;p65">
            <a:extLst>
              <a:ext uri="{FF2B5EF4-FFF2-40B4-BE49-F238E27FC236}">
                <a16:creationId xmlns:a16="http://schemas.microsoft.com/office/drawing/2014/main" id="{51E8F14A-5AB4-1377-0046-72944C50E0C6}"/>
              </a:ext>
            </a:extLst>
          </p:cNvPr>
          <p:cNvSpPr txBox="1">
            <a:spLocks noGrp="1"/>
          </p:cNvSpPr>
          <p:nvPr>
            <p:ph type="title"/>
          </p:nvPr>
        </p:nvSpPr>
        <p:spPr>
          <a:xfrm>
            <a:off x="107576" y="105984"/>
            <a:ext cx="8919823" cy="960815"/>
          </a:xfrm>
          <a:prstGeom prst="rect">
            <a:avLst/>
          </a:prstGeom>
          <a:solidFill>
            <a:schemeClr val="bg1">
              <a:lumMod val="75000"/>
            </a:schemeClr>
          </a:solidFill>
        </p:spPr>
        <p:txBody>
          <a:bodyPr spcFirstLastPara="1" wrap="square" lIns="91425" tIns="91425" rIns="91425" bIns="91425" anchor="t" anchorCtr="0">
            <a:noAutofit/>
          </a:bodyPr>
          <a:lstStyle/>
          <a:p>
            <a:pPr marL="0" lvl="0" indent="0" algn="ctr" rtl="0">
              <a:spcBef>
                <a:spcPts val="0"/>
              </a:spcBef>
              <a:spcAft>
                <a:spcPts val="0"/>
              </a:spcAft>
              <a:buNone/>
            </a:pPr>
            <a:r>
              <a:rPr lang="en" sz="3600" dirty="0">
                <a:solidFill>
                  <a:schemeClr val="accent4"/>
                </a:solidFill>
                <a:latin typeface="Verdana Pro" panose="020B0604030504040204" pitchFamily="34" charset="0"/>
              </a:rPr>
              <a:t>TAGG Assessment Suite </a:t>
            </a:r>
            <a:br>
              <a:rPr lang="en" sz="3600" dirty="0">
                <a:solidFill>
                  <a:schemeClr val="accent4"/>
                </a:solidFill>
                <a:latin typeface="Verdana Pro" panose="020B0604030504040204" pitchFamily="34" charset="0"/>
              </a:rPr>
            </a:br>
            <a:r>
              <a:rPr lang="en" sz="2000" dirty="0">
                <a:solidFill>
                  <a:schemeClr val="accent4"/>
                </a:solidFill>
                <a:latin typeface="Verdana Pro" panose="020B0604030504040204" pitchFamily="34" charset="0"/>
              </a:rPr>
              <a:t>(Professional, Family &amp; Student Versions)</a:t>
            </a:r>
            <a:endParaRPr sz="3600" dirty="0">
              <a:solidFill>
                <a:schemeClr val="accent4"/>
              </a:solidFill>
              <a:latin typeface="Verdana Pro" panose="020B0604030504040204" pitchFamily="34" charset="0"/>
            </a:endParaRPr>
          </a:p>
        </p:txBody>
      </p:sp>
      <p:sp>
        <p:nvSpPr>
          <p:cNvPr id="466" name="Google Shape;466;p65"/>
          <p:cNvSpPr txBox="1">
            <a:spLocks noGrp="1"/>
          </p:cNvSpPr>
          <p:nvPr>
            <p:ph type="subTitle" idx="1"/>
          </p:nvPr>
        </p:nvSpPr>
        <p:spPr>
          <a:xfrm>
            <a:off x="621575" y="1631576"/>
            <a:ext cx="8405824" cy="300104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pPr>
            <a:r>
              <a:rPr lang="en-US" sz="2400" dirty="0">
                <a:latin typeface="+mj-lt"/>
                <a:ea typeface="Overpass Light"/>
                <a:cs typeface="Overpass Light"/>
                <a:sym typeface="Overpass Light"/>
              </a:rPr>
              <a:t>TAGG MS: For students in middle school/junior high (estimated ages ranging from 11 to 15 years across grades 6, 7, and 8) and centered on the non-academic skills associated with high school success.</a:t>
            </a:r>
          </a:p>
          <a:p>
            <a:pPr marL="0" lvl="0" indent="0" algn="l" rtl="0">
              <a:spcBef>
                <a:spcPts val="0"/>
              </a:spcBef>
              <a:spcAft>
                <a:spcPts val="0"/>
              </a:spcAft>
              <a:buClr>
                <a:schemeClr val="dk1"/>
              </a:buClr>
              <a:buSzPts val="1100"/>
            </a:pPr>
            <a:endParaRPr lang="en-US" sz="2400" dirty="0">
              <a:latin typeface="+mj-lt"/>
              <a:ea typeface="Overpass Light"/>
              <a:cs typeface="Overpass Light"/>
              <a:sym typeface="Overpass Light"/>
            </a:endParaRPr>
          </a:p>
        </p:txBody>
      </p:sp>
      <p:sp>
        <p:nvSpPr>
          <p:cNvPr id="2" name="Google Shape;466;p65">
            <a:extLst>
              <a:ext uri="{FF2B5EF4-FFF2-40B4-BE49-F238E27FC236}">
                <a16:creationId xmlns:a16="http://schemas.microsoft.com/office/drawing/2014/main" id="{A0429545-E8D0-D8F1-9101-B310C8324B40}"/>
              </a:ext>
            </a:extLst>
          </p:cNvPr>
          <p:cNvSpPr txBox="1">
            <a:spLocks/>
          </p:cNvSpPr>
          <p:nvPr/>
        </p:nvSpPr>
        <p:spPr>
          <a:xfrm>
            <a:off x="566506" y="4529786"/>
            <a:ext cx="8405824" cy="707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a:latin typeface="+mj-lt"/>
                <a:ea typeface="Overpass Light"/>
                <a:cs typeface="Overpass Light"/>
                <a:sym typeface="Overpass Light"/>
              </a:rPr>
              <a:t>https://tagg.ou.edu/tagg/</a:t>
            </a:r>
          </a:p>
        </p:txBody>
      </p:sp>
    </p:spTree>
    <p:extLst>
      <p:ext uri="{BB962C8B-B14F-4D97-AF65-F5344CB8AC3E}">
        <p14:creationId xmlns:p14="http://schemas.microsoft.com/office/powerpoint/2010/main" val="1840551881"/>
      </p:ext>
    </p:extLst>
  </p:cSld>
  <p:clrMapOvr>
    <a:masterClrMapping/>
  </p:clrMapOvr>
  <p:transition spd="slow">
    <p:fade thruBlk="1"/>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Self-Determination Inventory</a:t>
            </a:r>
            <a:endParaRPr sz="4000" dirty="0">
              <a:latin typeface="Verdana Pro" panose="020B0604030504040204" pitchFamily="34" charset="0"/>
            </a:endParaRPr>
          </a:p>
        </p:txBody>
      </p:sp>
      <p:sp>
        <p:nvSpPr>
          <p:cNvPr id="466" name="Google Shape;466;p65"/>
          <p:cNvSpPr txBox="1">
            <a:spLocks noGrp="1"/>
          </p:cNvSpPr>
          <p:nvPr>
            <p:ph type="subTitle" idx="1"/>
          </p:nvPr>
        </p:nvSpPr>
        <p:spPr>
          <a:xfrm>
            <a:off x="621575" y="827132"/>
            <a:ext cx="8405824" cy="40565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pPr>
            <a:r>
              <a:rPr lang="en-US" sz="2400">
                <a:latin typeface="+mj-lt"/>
                <a:ea typeface="Overpass Light"/>
                <a:cs typeface="Overpass Light"/>
                <a:sym typeface="Overpass Light"/>
              </a:rPr>
              <a:t>Free 1 time use!! Be sure to save results. </a:t>
            </a:r>
          </a:p>
          <a:p>
            <a:pPr marL="342900" lvl="0" algn="l" rtl="0">
              <a:spcBef>
                <a:spcPts val="0"/>
              </a:spcBef>
              <a:spcAft>
                <a:spcPts val="0"/>
              </a:spcAft>
              <a:buClr>
                <a:schemeClr val="dk1"/>
              </a:buClr>
              <a:buSzPts val="1100"/>
              <a:buFont typeface="Arial" panose="020B0604020202020204" pitchFamily="34" charset="0"/>
              <a:buChar char="•"/>
            </a:pPr>
            <a:endParaRPr lang="en-US" sz="2400">
              <a:latin typeface="+mj-lt"/>
              <a:ea typeface="Overpass Light"/>
              <a:cs typeface="Overpass Light"/>
              <a:sym typeface="Overpass Light"/>
            </a:endParaRPr>
          </a:p>
        </p:txBody>
      </p:sp>
      <p:pic>
        <p:nvPicPr>
          <p:cNvPr id="6" name="Picture 5" descr="A screenshot of the self determination inventory. The image is a screenshot from a webpage related to the Self-Determination Inventory: Student Report (SDI&#10;). The SDI&#10;is designed to assess how students feel about their ability to be self-determined, including their ability to make choices, set and pursue goals, and make decisions.&#10;&#10;Content Overview:&#10;Left Side Panel:&#10;Use the SDIS now!&#10;One-time SDI for Students&#10;One-time SDI for Parents/Teachers&#10;One-time SDI for Adults&#10;Use the SDIS repeatedly!&#10;SDIS Data Dashboard&#10;Main Section:&#10;Description:&#10;&#10;The SDI&#10;asks students questions about their self-determination abilities.&#10;Target Audience: Designed for young people ages 13-22, with and without disabilities.&#10;Duration: It takes only 10 minutes to complete.&#10;Features: Offers audio that reads the questions aloud and provides in-text definitions of words.&#10;Form Fields:&#10;&#10;First Name: (required)&#10;Last Name: (required)&#10;Button:&#10;&#10;Begin the SDI&#10;">
            <a:extLst>
              <a:ext uri="{FF2B5EF4-FFF2-40B4-BE49-F238E27FC236}">
                <a16:creationId xmlns:a16="http://schemas.microsoft.com/office/drawing/2014/main" id="{FEAB9C5C-BD02-6181-30AC-5253B9AFAB6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61257" y="1367643"/>
            <a:ext cx="5576489" cy="2106290"/>
          </a:xfrm>
          <a:prstGeom prst="rect">
            <a:avLst/>
          </a:prstGeom>
        </p:spPr>
      </p:pic>
      <p:sp>
        <p:nvSpPr>
          <p:cNvPr id="2" name="Google Shape;466;p65">
            <a:extLst>
              <a:ext uri="{FF2B5EF4-FFF2-40B4-BE49-F238E27FC236}">
                <a16:creationId xmlns:a16="http://schemas.microsoft.com/office/drawing/2014/main" id="{47F7E14E-1ECE-ABED-AA60-9E928A8754A4}"/>
              </a:ext>
            </a:extLst>
          </p:cNvPr>
          <p:cNvSpPr txBox="1">
            <a:spLocks/>
          </p:cNvSpPr>
          <p:nvPr/>
        </p:nvSpPr>
        <p:spPr>
          <a:xfrm>
            <a:off x="566506" y="4529786"/>
            <a:ext cx="8405824" cy="707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a:latin typeface="+mj-lt"/>
                <a:ea typeface="Overpass Light"/>
                <a:cs typeface="Overpass Light"/>
                <a:sym typeface="Overpass Light"/>
              </a:rPr>
              <a:t>tinyurl.com/SDI4students</a:t>
            </a:r>
          </a:p>
        </p:txBody>
      </p:sp>
      <p:pic>
        <p:nvPicPr>
          <p:cNvPr id="4" name="Picture 3" descr="A qr code for the website tinyurl.com/SDI4students">
            <a:extLst>
              <a:ext uri="{FF2B5EF4-FFF2-40B4-BE49-F238E27FC236}">
                <a16:creationId xmlns:a16="http://schemas.microsoft.com/office/drawing/2014/main" id="{6E22DD1D-2D9A-2E09-DF5A-3D4B31F5069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962793" y="1681791"/>
            <a:ext cx="2718150" cy="2718150"/>
          </a:xfrm>
          <a:prstGeom prst="rect">
            <a:avLst/>
          </a:prstGeom>
        </p:spPr>
      </p:pic>
    </p:spTree>
    <p:extLst>
      <p:ext uri="{BB962C8B-B14F-4D97-AF65-F5344CB8AC3E}">
        <p14:creationId xmlns:p14="http://schemas.microsoft.com/office/powerpoint/2010/main" val="3510460441"/>
      </p:ext>
    </p:extLst>
  </p:cSld>
  <p:clrMapOvr>
    <a:masterClrMapping/>
  </p:clrMapOvr>
  <p:transition spd="slow">
    <p:fade thruBlk="1"/>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pic>
        <p:nvPicPr>
          <p:cNvPr id="3" name="Graphic 2" descr="Ringing alarm clock">
            <a:extLst>
              <a:ext uri="{FF2B5EF4-FFF2-40B4-BE49-F238E27FC236}">
                <a16:creationId xmlns:a16="http://schemas.microsoft.com/office/drawing/2014/main" id="{7E7BF550-3C9E-92C8-BC34-78507E1DB9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31303" y="408099"/>
            <a:ext cx="1586473" cy="1836311"/>
          </a:xfrm>
          <a:prstGeom prst="rect">
            <a:avLst/>
          </a:prstGeom>
        </p:spPr>
      </p:pic>
      <p:sp>
        <p:nvSpPr>
          <p:cNvPr id="539" name="Google Shape;539;p71"/>
          <p:cNvSpPr txBox="1">
            <a:spLocks noGrp="1"/>
          </p:cNvSpPr>
          <p:nvPr>
            <p:ph type="subTitle" idx="1"/>
          </p:nvPr>
        </p:nvSpPr>
        <p:spPr>
          <a:xfrm>
            <a:off x="105655" y="2055873"/>
            <a:ext cx="8935596" cy="2988998"/>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a:latin typeface="+mj-lt"/>
              </a:rPr>
              <a:t>You have 10 minutes to go take the SDI yourself. </a:t>
            </a:r>
          </a:p>
          <a:p>
            <a:pPr marL="0" lvl="0" indent="0" algn="ctr" rtl="0">
              <a:spcBef>
                <a:spcPts val="0"/>
              </a:spcBef>
              <a:spcAft>
                <a:spcPts val="0"/>
              </a:spcAft>
              <a:buNone/>
            </a:pPr>
            <a:r>
              <a:rPr lang="en-US" sz="2400" dirty="0">
                <a:latin typeface="+mj-lt"/>
              </a:rPr>
              <a:t>When done, reflect on your results and your thoughts on the assessment. </a:t>
            </a:r>
          </a:p>
          <a:p>
            <a:pPr marL="0" lvl="0" indent="0" algn="ctr" rtl="0">
              <a:spcBef>
                <a:spcPts val="0"/>
              </a:spcBef>
              <a:spcAft>
                <a:spcPts val="0"/>
              </a:spcAft>
              <a:buNone/>
            </a:pPr>
            <a:endParaRPr lang="en-US" sz="2400" dirty="0">
              <a:latin typeface="+mj-lt"/>
            </a:endParaRPr>
          </a:p>
          <a:p>
            <a:pPr marL="0" indent="0" algn="ctr"/>
            <a:r>
              <a:rPr lang="en-US" sz="2400" dirty="0">
                <a:latin typeface="+mj-lt"/>
              </a:rPr>
              <a:t>Which of the other assessments (interview tools, interest inventories, exploration tools, or skills assessments) could you see yourself using to evaluate students as a one-shot activity? </a:t>
            </a:r>
            <a:endParaRPr lang="en" sz="2400" dirty="0">
              <a:latin typeface="+mj-lt"/>
            </a:endParaRPr>
          </a:p>
        </p:txBody>
      </p:sp>
      <p:sp>
        <p:nvSpPr>
          <p:cNvPr id="5" name="Title 4">
            <a:extLst>
              <a:ext uri="{FF2B5EF4-FFF2-40B4-BE49-F238E27FC236}">
                <a16:creationId xmlns:a16="http://schemas.microsoft.com/office/drawing/2014/main" id="{780AAEC7-7492-2A07-A2B9-4B710AB86D18}"/>
              </a:ext>
            </a:extLst>
          </p:cNvPr>
          <p:cNvSpPr>
            <a:spLocks noGrp="1"/>
          </p:cNvSpPr>
          <p:nvPr>
            <p:ph type="title"/>
          </p:nvPr>
        </p:nvSpPr>
        <p:spPr>
          <a:xfrm>
            <a:off x="713225" y="-572700"/>
            <a:ext cx="3834000" cy="572700"/>
          </a:xfrm>
        </p:spPr>
        <p:txBody>
          <a:bodyPr spcFirstLastPara="1" vert="horz" wrap="square" lIns="91425" tIns="91425" rIns="91425" bIns="91425" rtlCol="0" anchor="b" anchorCtr="0">
            <a:noAutofit/>
          </a:bodyPr>
          <a:lstStyle/>
          <a:p>
            <a:r>
              <a:rPr lang="en-US" dirty="0">
                <a:solidFill>
                  <a:schemeClr val="accent6"/>
                </a:solidFill>
              </a:rPr>
              <a:t>SDI Break</a:t>
            </a:r>
          </a:p>
        </p:txBody>
      </p:sp>
    </p:spTree>
    <p:extLst>
      <p:ext uri="{BB962C8B-B14F-4D97-AF65-F5344CB8AC3E}">
        <p14:creationId xmlns:p14="http://schemas.microsoft.com/office/powerpoint/2010/main" val="3742497676"/>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39"/>
                                        </p:tgtEl>
                                        <p:attrNameLst>
                                          <p:attrName>style.visibility</p:attrName>
                                        </p:attrNameLst>
                                      </p:cBhvr>
                                      <p:to>
                                        <p:strVal val="visible"/>
                                      </p:to>
                                    </p:set>
                                    <p:animEffect transition="in" filter="fade">
                                      <p:cBhvr>
                                        <p:cTn id="7" dur="1000"/>
                                        <p:tgtEl>
                                          <p:spTgt spid="5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DDBCD45-79DB-E7AB-DDEE-419A0026D67A}"/>
              </a:ext>
            </a:extLst>
          </p:cNvPr>
          <p:cNvSpPr>
            <a:spLocks noGrp="1"/>
          </p:cNvSpPr>
          <p:nvPr>
            <p:ph type="ctrTitle"/>
          </p:nvPr>
        </p:nvSpPr>
        <p:spPr>
          <a:xfrm>
            <a:off x="1826639" y="997527"/>
            <a:ext cx="5334181" cy="2641221"/>
          </a:xfrm>
          <a:solidFill>
            <a:schemeClr val="accent4"/>
          </a:solidFill>
        </p:spPr>
        <p:txBody>
          <a:bodyPr/>
          <a:lstStyle/>
          <a:p>
            <a:r>
              <a:rPr lang="en-US" dirty="0">
                <a:solidFill>
                  <a:schemeClr val="bg1"/>
                </a:solidFill>
              </a:rPr>
              <a:t>Assessment Review</a:t>
            </a:r>
          </a:p>
        </p:txBody>
      </p:sp>
      <p:sp>
        <p:nvSpPr>
          <p:cNvPr id="10" name="Subtitle 2">
            <a:extLst>
              <a:ext uri="{FF2B5EF4-FFF2-40B4-BE49-F238E27FC236}">
                <a16:creationId xmlns:a16="http://schemas.microsoft.com/office/drawing/2014/main" id="{FBDC8455-C809-DF5C-D91B-C59C7C522422}"/>
              </a:ext>
            </a:extLst>
          </p:cNvPr>
          <p:cNvSpPr>
            <a:spLocks noGrp="1"/>
          </p:cNvSpPr>
          <p:nvPr>
            <p:ph type="subTitle" idx="1"/>
          </p:nvPr>
        </p:nvSpPr>
        <p:spPr>
          <a:xfrm>
            <a:off x="2317376" y="3681599"/>
            <a:ext cx="4465199" cy="643871"/>
          </a:xfrm>
          <a:solidFill>
            <a:srgbClr val="00B0F0"/>
          </a:solidFill>
        </p:spPr>
        <p:txBody>
          <a:bodyPr/>
          <a:lstStyle/>
          <a:p>
            <a:r>
              <a:rPr lang="en-US" b="1" dirty="0">
                <a:solidFill>
                  <a:schemeClr val="accent4"/>
                </a:solidFill>
              </a:rPr>
              <a:t>Assessment Tool Selection and Planning Activity</a:t>
            </a:r>
          </a:p>
        </p:txBody>
      </p:sp>
    </p:spTree>
    <p:extLst>
      <p:ext uri="{BB962C8B-B14F-4D97-AF65-F5344CB8AC3E}">
        <p14:creationId xmlns:p14="http://schemas.microsoft.com/office/powerpoint/2010/main" val="784294210"/>
      </p:ext>
    </p:extLst>
  </p:cSld>
  <p:clrMapOvr>
    <a:masterClrMapping/>
  </p:clrMapOvr>
  <p:transition spd="slow">
    <p:push/>
  </p:transition>
</p:sld>
</file>

<file path=ppt/theme/theme1.xml><?xml version="1.0" encoding="utf-8"?>
<a:theme xmlns:a="http://schemas.openxmlformats.org/drawingml/2006/main" name="Template">
  <a:themeElements>
    <a:clrScheme name="Custom 1">
      <a:dk1>
        <a:srgbClr val="002E5C"/>
      </a:dk1>
      <a:lt1>
        <a:srgbClr val="FFFFFF"/>
      </a:lt1>
      <a:dk2>
        <a:srgbClr val="002E5C"/>
      </a:dk2>
      <a:lt2>
        <a:srgbClr val="FFFFFF"/>
      </a:lt2>
      <a:accent1>
        <a:srgbClr val="002E5C"/>
      </a:accent1>
      <a:accent2>
        <a:srgbClr val="989490"/>
      </a:accent2>
      <a:accent3>
        <a:srgbClr val="0066A6"/>
      </a:accent3>
      <a:accent4>
        <a:srgbClr val="004581"/>
      </a:accent4>
      <a:accent5>
        <a:srgbClr val="FFFFFF"/>
      </a:accent5>
      <a:accent6>
        <a:srgbClr val="000000"/>
      </a:accent6>
      <a:hlink>
        <a:srgbClr val="1B9FD5"/>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EST.potx" id="{71A39B0D-7793-4C65-9C41-951E39D81AF9}" vid="{C38E953C-75BA-4763-92E8-6C0AAC7278A0}"/>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TotalTime>
  <Words>787</Words>
  <Application>Microsoft Office PowerPoint</Application>
  <PresentationFormat>On-screen Show (16:9)</PresentationFormat>
  <Paragraphs>105</Paragraphs>
  <Slides>38</Slides>
  <Notes>38</Notes>
  <HiddenSlides>0</HiddenSlides>
  <MMClips>0</MMClips>
  <ScaleCrop>false</ScaleCrop>
  <HeadingPairs>
    <vt:vector size="8" baseType="variant">
      <vt:variant>
        <vt:lpstr>Fonts Used</vt:lpstr>
      </vt:variant>
      <vt:variant>
        <vt:i4>5</vt:i4>
      </vt:variant>
      <vt:variant>
        <vt:lpstr>Theme</vt:lpstr>
      </vt:variant>
      <vt:variant>
        <vt:i4>1</vt:i4>
      </vt:variant>
      <vt:variant>
        <vt:lpstr>Slide Titles</vt:lpstr>
      </vt:variant>
      <vt:variant>
        <vt:i4>38</vt:i4>
      </vt:variant>
      <vt:variant>
        <vt:lpstr>Custom Shows</vt:lpstr>
      </vt:variant>
      <vt:variant>
        <vt:i4>3</vt:i4>
      </vt:variant>
    </vt:vector>
  </HeadingPairs>
  <TitlesOfParts>
    <vt:vector size="47" baseType="lpstr">
      <vt:lpstr>Atkinson Hyperlegible Next</vt:lpstr>
      <vt:lpstr>Aptos</vt:lpstr>
      <vt:lpstr>Arial</vt:lpstr>
      <vt:lpstr>Verdana Pro</vt:lpstr>
      <vt:lpstr>Overpass Light</vt:lpstr>
      <vt:lpstr>Template</vt:lpstr>
      <vt:lpstr>Module 4-A: Academic Performance-Assessment Tools &amp; Self-Determination</vt:lpstr>
      <vt:lpstr>Many students with disabilities cannot learn the skills and behaviors associated with self-determination on their own, but they still have a desire to master the skills-this is only possible through the guidance of teachers.</vt:lpstr>
      <vt:lpstr>How do you teach students to be involved in their IEPs?</vt:lpstr>
      <vt:lpstr>One Shot Activities </vt:lpstr>
      <vt:lpstr>Transition Assessments</vt:lpstr>
      <vt:lpstr>Transition Interview Generator</vt:lpstr>
      <vt:lpstr>TIG Screenshot</vt:lpstr>
      <vt:lpstr>O*NET Interest Profiler</vt:lpstr>
      <vt:lpstr>O*NET Interest Profiler Screenshots</vt:lpstr>
      <vt:lpstr>O*NET Interest Profiler Screenshots 2</vt:lpstr>
      <vt:lpstr>OK College Start</vt:lpstr>
      <vt:lpstr>OK College Start: College Finder</vt:lpstr>
      <vt:lpstr>OK College Start Screenshot of results</vt:lpstr>
      <vt:lpstr>Think College</vt:lpstr>
      <vt:lpstr>Think College-College Search</vt:lpstr>
      <vt:lpstr>Screenshot of OOS</vt:lpstr>
      <vt:lpstr>Screenshot of RiverHawks</vt:lpstr>
      <vt:lpstr>Screenshot of Sooner Works</vt:lpstr>
      <vt:lpstr>Me! Scale Pre-Assessment</vt:lpstr>
      <vt:lpstr> Self-Determination Checklist</vt:lpstr>
      <vt:lpstr>ARC’s Self-Determination Scale</vt:lpstr>
      <vt:lpstr>ARC’s Self-Determination Scale Section 1: Autonomy</vt:lpstr>
      <vt:lpstr>ARC’s Self-Determination  Scale Section 2: Self-Regulation</vt:lpstr>
      <vt:lpstr>ARC’s Self-Determination  Scale Section 3: Psychological Empowerment</vt:lpstr>
      <vt:lpstr>ARC’s Self-Determination  Scale Section 4: Self-Realization</vt:lpstr>
      <vt:lpstr>AIR Self-Determination Scale</vt:lpstr>
      <vt:lpstr>AIR Self-Determination Scale Student Version Screenshots</vt:lpstr>
      <vt:lpstr>AIR Self-Determination Scale Results Screenshot</vt:lpstr>
      <vt:lpstr>TAGG-Transition Assessment Goal Generator</vt:lpstr>
      <vt:lpstr>Transition Assessment and Goal Generator (TAGG) Assessment Suite (Professional, Family &amp; Student Versions)</vt:lpstr>
      <vt:lpstr>TAGG Results</vt:lpstr>
      <vt:lpstr>TAGG Results Sample Screenshot 1</vt:lpstr>
      <vt:lpstr>TAGG Results Sample Screenshot 2</vt:lpstr>
      <vt:lpstr>TAGG Results Sample Screenshot 3</vt:lpstr>
      <vt:lpstr>TAGG Assessment Suite  (Professional, Family &amp; Student Versions)</vt:lpstr>
      <vt:lpstr>Self-Determination Inventory</vt:lpstr>
      <vt:lpstr>SDI Break</vt:lpstr>
      <vt:lpstr>Assessment Review</vt:lpstr>
      <vt:lpstr>Module 4-A</vt:lpstr>
      <vt:lpstr>Module 4 B</vt:lpstr>
      <vt:lpstr>Module 5 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Erin Berry</cp:lastModifiedBy>
  <cp:revision>1</cp:revision>
  <dcterms:modified xsi:type="dcterms:W3CDTF">2026-06-09T17:01:54Z</dcterms:modified>
</cp:coreProperties>
</file>