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45" r:id="rId1"/>
  </p:sldMasterIdLst>
  <p:notesMasterIdLst>
    <p:notesMasterId r:id="rId10"/>
  </p:notesMasterIdLst>
  <p:sldIdLst>
    <p:sldId id="372" r:id="rId2"/>
    <p:sldId id="362" r:id="rId3"/>
    <p:sldId id="366" r:id="rId4"/>
    <p:sldId id="365" r:id="rId5"/>
    <p:sldId id="373" r:id="rId6"/>
    <p:sldId id="374" r:id="rId7"/>
    <p:sldId id="375" r:id="rId8"/>
    <p:sldId id="555" r:id="rId9"/>
  </p:sldIdLst>
  <p:sldSz cx="9144000" cy="5143500" type="screen16x9"/>
  <p:notesSz cx="6858000" cy="9144000"/>
  <p:embeddedFontLst>
    <p:embeddedFont>
      <p:font typeface="Atkinson Hyperlegible Next" pitchFamily="2" charset="0"/>
      <p:regular r:id="rId11"/>
      <p:bold r:id="rId12"/>
      <p:italic r:id="rId13"/>
      <p:boldItalic r:id="rId14"/>
    </p:embeddedFont>
    <p:embeddedFont>
      <p:font typeface="Verdana Pro" panose="020B0604030504040204" pitchFamily="34" charset="0"/>
      <p:regular r:id="rId15"/>
      <p:bold r:id="rId16"/>
      <p:italic r:id="rId17"/>
      <p:boldItalic r:id="rId18"/>
    </p:embeddedFont>
  </p:embeddedFontLst>
  <p:custShowLst>
    <p:custShow name="Module 4-A" id="0">
      <p:sldLst/>
    </p:custShow>
    <p:custShow name="Module 4 B" id="1">
      <p:sldLst/>
    </p:custShow>
    <p:custShow name="Module 5 B" id="2">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C4697B-BF4F-46B0-AB49-FFA1BAC2AD1A}" v="1" dt="2026-06-08T19:43:53.904"/>
  </p1510:revLst>
</p1510:revInfo>
</file>

<file path=ppt/tableStyles.xml><?xml version="1.0" encoding="utf-8"?>
<a:tblStyleLst xmlns:a="http://schemas.openxmlformats.org/drawingml/2006/main" def="{A9794ACA-B6A2-47D9-BE13-C8960EFA1BC4}">
  <a:tblStyle styleId="{A9794ACA-B6A2-47D9-BE13-C8960EFA1BC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1466" autoAdjust="0"/>
  </p:normalViewPr>
  <p:slideViewPr>
    <p:cSldViewPr snapToGrid="0">
      <p:cViewPr varScale="1">
        <p:scale>
          <a:sx n="121" d="100"/>
          <a:sy n="121" d="100"/>
        </p:scale>
        <p:origin x="99" y="69"/>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66" d="100"/>
          <a:sy n="66" d="100"/>
        </p:scale>
        <p:origin x="285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5.fntdata"/><Relationship Id="rId23" Type="http://schemas.microsoft.com/office/2016/11/relationships/changesInfo" Target="changesInfos/changesInfo1.xml"/><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n Berry" userId="b7d8294d-da7c-45c9-9002-ab631a364979" providerId="ADAL" clId="{718D2BA2-B69C-4596-B36D-F24A681F5194}"/>
    <pc:docChg chg="custSel delSld modSld">
      <pc:chgData name="Erin Berry" userId="b7d8294d-da7c-45c9-9002-ab631a364979" providerId="ADAL" clId="{718D2BA2-B69C-4596-B36D-F24A681F5194}" dt="2026-06-08T19:40:14.230" v="15" actId="1076"/>
      <pc:docMkLst>
        <pc:docMk/>
      </pc:docMkLst>
      <pc:sldChg chg="delSp modSp mod delAnim modNotesTx">
        <pc:chgData name="Erin Berry" userId="b7d8294d-da7c-45c9-9002-ab631a364979" providerId="ADAL" clId="{718D2BA2-B69C-4596-B36D-F24A681F5194}" dt="2026-06-08T19:36:52.936" v="14" actId="478"/>
        <pc:sldMkLst>
          <pc:docMk/>
          <pc:sldMk cId="2522679715" sldId="362"/>
        </pc:sldMkLst>
        <pc:picChg chg="del mod">
          <ac:chgData name="Erin Berry" userId="b7d8294d-da7c-45c9-9002-ab631a364979" providerId="ADAL" clId="{718D2BA2-B69C-4596-B36D-F24A681F5194}" dt="2026-06-08T19:36:52.936" v="14" actId="478"/>
          <ac:picMkLst>
            <pc:docMk/>
            <pc:sldMk cId="2522679715" sldId="362"/>
            <ac:picMk id="4" creationId="{9BD24A5B-E033-E769-20F2-3DA3677110D7}"/>
          </ac:picMkLst>
        </pc:picChg>
      </pc:sldChg>
      <pc:sldChg chg="modSp mod">
        <pc:chgData name="Erin Berry" userId="b7d8294d-da7c-45c9-9002-ab631a364979" providerId="ADAL" clId="{718D2BA2-B69C-4596-B36D-F24A681F5194}" dt="2026-06-08T19:40:14.230" v="15" actId="1076"/>
        <pc:sldMkLst>
          <pc:docMk/>
          <pc:sldMk cId="184596219" sldId="555"/>
        </pc:sldMkLst>
        <pc:picChg chg="mod">
          <ac:chgData name="Erin Berry" userId="b7d8294d-da7c-45c9-9002-ab631a364979" providerId="ADAL" clId="{718D2BA2-B69C-4596-B36D-F24A681F5194}" dt="2026-06-08T19:40:14.230" v="15" actId="1076"/>
          <ac:picMkLst>
            <pc:docMk/>
            <pc:sldMk cId="184596219" sldId="555"/>
            <ac:picMk id="5" creationId="{38A084AA-0B8B-34C3-CC4C-6233F3BF039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796ebedc0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796ebedc0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37228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26555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00920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61153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8599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298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589859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676037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9" name="Picture 18" descr="Plan Your Way OK - Pathways to Partnership Branding">
            <a:extLst>
              <a:ext uri="{FF2B5EF4-FFF2-40B4-BE49-F238E27FC236}">
                <a16:creationId xmlns:a16="http://schemas.microsoft.com/office/drawing/2014/main" id="{139458B0-30E7-2183-E0BC-314754192B05}"/>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0" y="0"/>
            <a:ext cx="9144000" cy="51435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Date Placeholder 3">
            <a:extLst>
              <a:ext uri="{FF2B5EF4-FFF2-40B4-BE49-F238E27FC236}">
                <a16:creationId xmlns:a16="http://schemas.microsoft.com/office/drawing/2014/main" id="{BECE081B-8AFD-D5FC-5BDA-93266454635F}"/>
              </a:ext>
            </a:extLst>
          </p:cNvPr>
          <p:cNvSpPr>
            <a:spLocks noGrp="1"/>
          </p:cNvSpPr>
          <p:nvPr>
            <p:ph type="dt" sz="half" idx="10"/>
          </p:nvPr>
        </p:nvSpPr>
        <p:spPr/>
        <p:txBody>
          <a:bodyPr/>
          <a:lstStyle/>
          <a:p>
            <a:fld id="{5A0FCB29-5841-415B-8794-5F64FD0A6698}" type="datetimeFigureOut">
              <a:rPr lang="en-US" smtClean="0"/>
              <a:t>6/8/2026</a:t>
            </a:fld>
            <a:endParaRPr lang="en-US" dirty="0"/>
          </a:p>
        </p:txBody>
      </p:sp>
      <p:sp>
        <p:nvSpPr>
          <p:cNvPr id="5" name="Footer Placeholder 4">
            <a:extLst>
              <a:ext uri="{FF2B5EF4-FFF2-40B4-BE49-F238E27FC236}">
                <a16:creationId xmlns:a16="http://schemas.microsoft.com/office/drawing/2014/main" id="{4D2B0962-935E-E563-68DF-7E0D400F6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B47A3-5400-C06D-FC82-EDF5C8B0CE6F}"/>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9" name="Picture 8" descr="Blue and white sign&#10;&#10;">
            <a:extLst>
              <a:ext uri="{FF2B5EF4-FFF2-40B4-BE49-F238E27FC236}">
                <a16:creationId xmlns:a16="http://schemas.microsoft.com/office/drawing/2014/main" id="{88FB3550-3282-2683-4046-E0A6CAF7B85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0"/>
            <a:ext cx="5615306" cy="1596465"/>
          </a:xfrm>
          <a:prstGeom prst="rect">
            <a:avLst/>
          </a:prstGeom>
        </p:spPr>
      </p:pic>
      <p:sp>
        <p:nvSpPr>
          <p:cNvPr id="10" name="TextBox 9">
            <a:extLst>
              <a:ext uri="{FF2B5EF4-FFF2-40B4-BE49-F238E27FC236}">
                <a16:creationId xmlns:a16="http://schemas.microsoft.com/office/drawing/2014/main" id="{B5896585-3E93-1142-5556-DB1C5C7297CF}"/>
              </a:ext>
            </a:extLst>
          </p:cNvPr>
          <p:cNvSpPr txBox="1">
            <a:spLocks/>
          </p:cNvSpPr>
          <p:nvPr/>
        </p:nvSpPr>
        <p:spPr>
          <a:xfrm>
            <a:off x="5021745" y="3079692"/>
            <a:ext cx="3766931" cy="1661993"/>
          </a:xfrm>
          <a:prstGeom prst="rect">
            <a:avLst/>
          </a:prstGeom>
          <a:noFill/>
        </p:spPr>
        <p:txBody>
          <a:bodyPr wrap="square" rtlCol="0">
            <a:spAutoFit/>
          </a:bodyPr>
          <a:lstStyle/>
          <a:p>
            <a:r>
              <a:rPr lang="en-US" sz="1200" b="1" dirty="0">
                <a:latin typeface="Atkinson Hyperlegible Next" pitchFamily="50" charset="0"/>
              </a:rPr>
              <a:t>OKLAHOMA STATE DEPARTMENT OF EDUCATION</a:t>
            </a:r>
          </a:p>
          <a:p>
            <a:r>
              <a:rPr lang="en-US" sz="4500" b="1" dirty="0">
                <a:solidFill>
                  <a:schemeClr val="bg1"/>
                </a:solidFill>
                <a:latin typeface="Atkinson Hyperlegible Next" pitchFamily="50" charset="0"/>
              </a:rPr>
              <a:t>Pathways to Partnership</a:t>
            </a:r>
          </a:p>
        </p:txBody>
      </p:sp>
    </p:spTree>
    <p:extLst>
      <p:ext uri="{BB962C8B-B14F-4D97-AF65-F5344CB8AC3E}">
        <p14:creationId xmlns:p14="http://schemas.microsoft.com/office/powerpoint/2010/main" val="12404700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7" name="Picture 6" descr="A picture containing text, sign&#10;&#10;AI-generated content may be incorrect.">
            <a:extLst>
              <a:ext uri="{FF2B5EF4-FFF2-40B4-BE49-F238E27FC236}">
                <a16:creationId xmlns:a16="http://schemas.microsoft.com/office/drawing/2014/main" id="{57B7DEBE-00D3-4BD0-C762-E00DE9C300F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0" name="Picture 9">
            <a:extLst>
              <a:ext uri="{FF2B5EF4-FFF2-40B4-BE49-F238E27FC236}">
                <a16:creationId xmlns:a16="http://schemas.microsoft.com/office/drawing/2014/main" id="{95D2809E-2FF8-ED01-3B87-17DF6F59A1A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506685"/>
            <a:ext cx="3221736" cy="636815"/>
          </a:xfrm>
          <a:prstGeom prst="rect">
            <a:avLst/>
          </a:prstGeom>
        </p:spPr>
      </p:pic>
    </p:spTree>
    <p:extLst>
      <p:ext uri="{BB962C8B-B14F-4D97-AF65-F5344CB8AC3E}">
        <p14:creationId xmlns:p14="http://schemas.microsoft.com/office/powerpoint/2010/main" val="25375241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628650" y="273844"/>
            <a:ext cx="7166508"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628650" y="1369219"/>
            <a:ext cx="7166508"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7795158" y="0"/>
            <a:ext cx="1348842" cy="5143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Plan Your Way OK Logo">
            <a:extLst>
              <a:ext uri="{FF2B5EF4-FFF2-40B4-BE49-F238E27FC236}">
                <a16:creationId xmlns:a16="http://schemas.microsoft.com/office/drawing/2014/main" id="{47FC278A-E5C4-C003-38CF-8DC7285E66B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pic>
        <p:nvPicPr>
          <p:cNvPr id="23" name="Picture 22" descr="Icon&#10;&#10;AI-generated content may be incorrect.">
            <a:extLst>
              <a:ext uri="{FF2B5EF4-FFF2-40B4-BE49-F238E27FC236}">
                <a16:creationId xmlns:a16="http://schemas.microsoft.com/office/drawing/2014/main" id="{0A7B53E6-04A1-72A3-5FED-8ACC283AD8A2}"/>
              </a:ext>
            </a:extLst>
          </p:cNvPr>
          <p:cNvPicPr>
            <a:picLocks noChangeAspect="1"/>
          </p:cNvPicPr>
          <p:nvPr/>
        </p:nvPicPr>
        <p:blipFill>
          <a:blip r:embed="rId3" cstate="print">
            <a:extLst>
              <a:ext uri="{28A0092B-C50C-407E-A947-70E740481C1C}">
                <a14:useLocalDpi xmlns:a14="http://schemas.microsoft.com/office/drawing/2010/main"/>
              </a:ext>
            </a:extLst>
          </a:blip>
          <a:srcRect r="43033"/>
          <a:stretch>
            <a:fillRect/>
          </a:stretch>
        </p:blipFill>
        <p:spPr>
          <a:xfrm>
            <a:off x="7610302" y="273844"/>
            <a:ext cx="1533698" cy="2692241"/>
          </a:xfrm>
          <a:custGeom>
            <a:avLst/>
            <a:gdLst>
              <a:gd name="connsiteX0" fmla="*/ 0 w 2044930"/>
              <a:gd name="connsiteY0" fmla="*/ 0 h 3589655"/>
              <a:gd name="connsiteX1" fmla="*/ 2044930 w 2044930"/>
              <a:gd name="connsiteY1" fmla="*/ 0 h 3589655"/>
              <a:gd name="connsiteX2" fmla="*/ 2044930 w 2044930"/>
              <a:gd name="connsiteY2" fmla="*/ 3589655 h 3589655"/>
              <a:gd name="connsiteX3" fmla="*/ 0 w 2044930"/>
              <a:gd name="connsiteY3" fmla="*/ 3589655 h 3589655"/>
            </a:gdLst>
            <a:ahLst/>
            <a:cxnLst>
              <a:cxn ang="0">
                <a:pos x="connsiteX0" y="connsiteY0"/>
              </a:cxn>
              <a:cxn ang="0">
                <a:pos x="connsiteX1" y="connsiteY1"/>
              </a:cxn>
              <a:cxn ang="0">
                <a:pos x="connsiteX2" y="connsiteY2"/>
              </a:cxn>
              <a:cxn ang="0">
                <a:pos x="connsiteX3" y="connsiteY3"/>
              </a:cxn>
            </a:cxnLst>
            <a:rect l="l" t="t" r="r" b="b"/>
            <a:pathLst>
              <a:path w="2044930" h="3589655">
                <a:moveTo>
                  <a:pt x="0" y="0"/>
                </a:moveTo>
                <a:lnTo>
                  <a:pt x="2044930" y="0"/>
                </a:lnTo>
                <a:lnTo>
                  <a:pt x="2044930" y="3589655"/>
                </a:lnTo>
                <a:lnTo>
                  <a:pt x="0" y="3589655"/>
                </a:lnTo>
                <a:close/>
              </a:path>
            </a:pathLst>
          </a:custGeom>
        </p:spPr>
      </p:pic>
    </p:spTree>
    <p:extLst>
      <p:ext uri="{BB962C8B-B14F-4D97-AF65-F5344CB8AC3E}">
        <p14:creationId xmlns:p14="http://schemas.microsoft.com/office/powerpoint/2010/main" val="36033533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2143125" y="273844"/>
            <a:ext cx="6372225"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2143125" y="1369219"/>
            <a:ext cx="6372225"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0" y="0"/>
            <a:ext cx="2057400" cy="5143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descr="Background pattern&#10;&#10;AI-generated content may be incorrect.">
            <a:extLst>
              <a:ext uri="{FF2B5EF4-FFF2-40B4-BE49-F238E27FC236}">
                <a16:creationId xmlns:a16="http://schemas.microsoft.com/office/drawing/2014/main" id="{C72F8F3C-7D49-A158-EC5F-3022C950E63C}"/>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1" y="0"/>
            <a:ext cx="1828304" cy="5143500"/>
          </a:xfrm>
          <a:custGeom>
            <a:avLst/>
            <a:gdLst>
              <a:gd name="connsiteX0" fmla="*/ 0 w 2437739"/>
              <a:gd name="connsiteY0" fmla="*/ 0 h 6858000"/>
              <a:gd name="connsiteX1" fmla="*/ 2437739 w 2437739"/>
              <a:gd name="connsiteY1" fmla="*/ 0 h 6858000"/>
              <a:gd name="connsiteX2" fmla="*/ 2437739 w 2437739"/>
              <a:gd name="connsiteY2" fmla="*/ 6858000 h 6858000"/>
              <a:gd name="connsiteX3" fmla="*/ 0 w 243773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437739" h="6858000">
                <a:moveTo>
                  <a:pt x="0" y="0"/>
                </a:moveTo>
                <a:lnTo>
                  <a:pt x="2437739" y="0"/>
                </a:lnTo>
                <a:lnTo>
                  <a:pt x="2437739" y="6858000"/>
                </a:lnTo>
                <a:lnTo>
                  <a:pt x="0" y="6858000"/>
                </a:lnTo>
                <a:close/>
              </a:path>
            </a:pathLst>
          </a:custGeom>
        </p:spPr>
      </p:pic>
      <p:pic>
        <p:nvPicPr>
          <p:cNvPr id="11" name="Picture 10" descr="A picture containing text, sign&#10;&#10;AI-generated content may be incorrect.">
            <a:extLst>
              <a:ext uri="{FF2B5EF4-FFF2-40B4-BE49-F238E27FC236}">
                <a16:creationId xmlns:a16="http://schemas.microsoft.com/office/drawing/2014/main" id="{CD69CD18-3F01-36C8-B47D-93F8D18A3B1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spTree>
    <p:extLst>
      <p:ext uri="{BB962C8B-B14F-4D97-AF65-F5344CB8AC3E}">
        <p14:creationId xmlns:p14="http://schemas.microsoft.com/office/powerpoint/2010/main" val="4256577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CE63-E0AC-12D5-504E-D5E0649AC35D}"/>
              </a:ext>
            </a:extLst>
          </p:cNvPr>
          <p:cNvSpPr>
            <a:spLocks noGrp="1"/>
          </p:cNvSpPr>
          <p:nvPr>
            <p:ph type="title"/>
          </p:nvPr>
        </p:nvSpPr>
        <p:spPr>
          <a:xfrm>
            <a:off x="623888" y="1282304"/>
            <a:ext cx="7886700" cy="2139553"/>
          </a:xfrm>
        </p:spPr>
        <p:txBody>
          <a:bodyPr anchor="b"/>
          <a:lstStyle>
            <a:lvl1pPr>
              <a:defRPr sz="45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41C9AB-DF52-8ECD-BBD1-A316181026E7}"/>
              </a:ext>
            </a:extLst>
          </p:cNvPr>
          <p:cNvSpPr>
            <a:spLocks noGrp="1"/>
          </p:cNvSpPr>
          <p:nvPr>
            <p:ph type="body" idx="1"/>
          </p:nvPr>
        </p:nvSpPr>
        <p:spPr>
          <a:xfrm>
            <a:off x="623888" y="3442098"/>
            <a:ext cx="7886700" cy="1125140"/>
          </a:xfrm>
        </p:spPr>
        <p:txBody>
          <a:bodyPr/>
          <a:lstStyle>
            <a:lvl1pPr marL="0" indent="0">
              <a:buNone/>
              <a:defRPr sz="18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6B21C6-CC72-77B5-9E5F-0C13AAD88DE0}"/>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FBAE9409-FC1C-D8F6-C164-6757762B1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FFD45-8A77-BD59-0A42-4632D180202C}"/>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Background pattern&#10;&#10;AI-generated content may be incorrect.">
            <a:extLst>
              <a:ext uri="{FF2B5EF4-FFF2-40B4-BE49-F238E27FC236}">
                <a16:creationId xmlns:a16="http://schemas.microsoft.com/office/drawing/2014/main" id="{6DB361EA-32F9-14D2-D833-8C99C098F498}"/>
              </a:ext>
            </a:extLst>
          </p:cNvPr>
          <p:cNvPicPr/>
          <p:nvPr/>
        </p:nvPicPr>
        <p:blipFill>
          <a:blip r:embed="rId2" cstate="print">
            <a:extLst>
              <a:ext uri="{28A0092B-C50C-407E-A947-70E740481C1C}">
                <a14:useLocalDpi xmlns:a14="http://schemas.microsoft.com/office/drawing/2010/main"/>
              </a:ext>
            </a:extLst>
          </a:blip>
          <a:srcRect/>
          <a:stretch>
            <a:fillRect/>
          </a:stretch>
        </p:blipFill>
        <p:spPr>
          <a:xfrm>
            <a:off x="7942869" y="0"/>
            <a:ext cx="1201131" cy="4567238"/>
          </a:xfrm>
          <a:custGeom>
            <a:avLst/>
            <a:gdLst>
              <a:gd name="connsiteX0" fmla="*/ 0 w 1601508"/>
              <a:gd name="connsiteY0" fmla="*/ 0 h 6089650"/>
              <a:gd name="connsiteX1" fmla="*/ 1601508 w 1601508"/>
              <a:gd name="connsiteY1" fmla="*/ 0 h 6089650"/>
              <a:gd name="connsiteX2" fmla="*/ 1601508 w 1601508"/>
              <a:gd name="connsiteY2" fmla="*/ 6089650 h 6089650"/>
              <a:gd name="connsiteX3" fmla="*/ 0 w 1601508"/>
              <a:gd name="connsiteY3" fmla="*/ 6089650 h 6089650"/>
            </a:gdLst>
            <a:ahLst/>
            <a:cxnLst>
              <a:cxn ang="0">
                <a:pos x="connsiteX0" y="connsiteY0"/>
              </a:cxn>
              <a:cxn ang="0">
                <a:pos x="connsiteX1" y="connsiteY1"/>
              </a:cxn>
              <a:cxn ang="0">
                <a:pos x="connsiteX2" y="connsiteY2"/>
              </a:cxn>
              <a:cxn ang="0">
                <a:pos x="connsiteX3" y="connsiteY3"/>
              </a:cxn>
            </a:cxnLst>
            <a:rect l="l" t="t" r="r" b="b"/>
            <a:pathLst>
              <a:path w="1601508" h="6089650">
                <a:moveTo>
                  <a:pt x="0" y="0"/>
                </a:moveTo>
                <a:lnTo>
                  <a:pt x="1601508" y="0"/>
                </a:lnTo>
                <a:lnTo>
                  <a:pt x="1601508" y="6089650"/>
                </a:lnTo>
                <a:lnTo>
                  <a:pt x="0" y="6089650"/>
                </a:lnTo>
                <a:close/>
              </a:path>
            </a:pathLst>
          </a:custGeom>
        </p:spPr>
      </p:pic>
      <p:pic>
        <p:nvPicPr>
          <p:cNvPr id="9" name="Picture 8" descr="Plan Your Way OK Logo">
            <a:extLst>
              <a:ext uri="{FF2B5EF4-FFF2-40B4-BE49-F238E27FC236}">
                <a16:creationId xmlns:a16="http://schemas.microsoft.com/office/drawing/2014/main" id="{0D2C000A-F6E0-0CEB-2F25-076E4646A9E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spTree>
    <p:extLst>
      <p:ext uri="{BB962C8B-B14F-4D97-AF65-F5344CB8AC3E}">
        <p14:creationId xmlns:p14="http://schemas.microsoft.com/office/powerpoint/2010/main" val="83709801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BAB54-1C3C-EBFA-9FBE-4D7D8D8CFFF3}"/>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951D450-080D-55DB-32BC-50A1BA631553}"/>
              </a:ext>
            </a:extLst>
          </p:cNvPr>
          <p:cNvSpPr>
            <a:spLocks noGrp="1"/>
          </p:cNvSpPr>
          <p:nvPr>
            <p:ph sz="half" idx="1"/>
          </p:nvPr>
        </p:nvSpPr>
        <p:spPr>
          <a:xfrm>
            <a:off x="6286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43D435D-C710-F2F3-4FB5-35A38A3377B7}"/>
              </a:ext>
            </a:extLst>
          </p:cNvPr>
          <p:cNvSpPr>
            <a:spLocks noGrp="1"/>
          </p:cNvSpPr>
          <p:nvPr>
            <p:ph sz="half" idx="2"/>
          </p:nvPr>
        </p:nvSpPr>
        <p:spPr>
          <a:xfrm>
            <a:off x="46291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6F8D41F-AE74-8968-9E13-DCA755771664}"/>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6" name="Footer Placeholder 5">
            <a:extLst>
              <a:ext uri="{FF2B5EF4-FFF2-40B4-BE49-F238E27FC236}">
                <a16:creationId xmlns:a16="http://schemas.microsoft.com/office/drawing/2014/main" id="{DE2B0B74-9008-0E52-1626-31E76F078B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21EAB-BA46-BD81-25AD-22C0F01182E8}"/>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A picture containing text, sign&#10;&#10;AI-generated content may be incorrect.">
            <a:extLst>
              <a:ext uri="{FF2B5EF4-FFF2-40B4-BE49-F238E27FC236}">
                <a16:creationId xmlns:a16="http://schemas.microsoft.com/office/drawing/2014/main" id="{1ED425B4-C0E5-001A-AB15-05901F4518B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1" name="Picture 10">
            <a:extLst>
              <a:ext uri="{FF2B5EF4-FFF2-40B4-BE49-F238E27FC236}">
                <a16:creationId xmlns:a16="http://schemas.microsoft.com/office/drawing/2014/main" id="{A7DD659E-7975-D958-C65B-1D20286CF5F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flipV="1">
            <a:off x="1" y="-1"/>
            <a:ext cx="3232181" cy="510778"/>
          </a:xfrm>
          <a:prstGeom prst="rect">
            <a:avLst/>
          </a:prstGeom>
        </p:spPr>
      </p:pic>
    </p:spTree>
    <p:extLst>
      <p:ext uri="{BB962C8B-B14F-4D97-AF65-F5344CB8AC3E}">
        <p14:creationId xmlns:p14="http://schemas.microsoft.com/office/powerpoint/2010/main" val="3024964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2A6B0-58AE-7AD4-384A-A21D35E6B19C}"/>
              </a:ext>
            </a:extLst>
          </p:cNvPr>
          <p:cNvSpPr>
            <a:spLocks noGrp="1"/>
          </p:cNvSpPr>
          <p:nvPr>
            <p:ph type="title"/>
          </p:nvPr>
        </p:nvSpPr>
        <p:spPr>
          <a:xfrm>
            <a:off x="629841" y="273844"/>
            <a:ext cx="7886700" cy="994172"/>
          </a:xfrm>
        </p:spPr>
        <p:txBody>
          <a:bodyPr/>
          <a:lstStyle>
            <a:lvl1pPr>
              <a:defRPr>
                <a:solidFill>
                  <a:schemeClr val="accent6"/>
                </a:solidFill>
              </a:defRPr>
            </a:lvl1pPr>
          </a:lstStyle>
          <a:p>
            <a:r>
              <a:rPr lang="en-US"/>
              <a:t>Click to edit Master title style</a:t>
            </a:r>
          </a:p>
        </p:txBody>
      </p:sp>
      <p:sp>
        <p:nvSpPr>
          <p:cNvPr id="3" name="Text Placeholder 2">
            <a:extLst>
              <a:ext uri="{FF2B5EF4-FFF2-40B4-BE49-F238E27FC236}">
                <a16:creationId xmlns:a16="http://schemas.microsoft.com/office/drawing/2014/main" id="{0A7448A3-DD01-65AD-EBBC-7146509143B7}"/>
              </a:ext>
            </a:extLst>
          </p:cNvPr>
          <p:cNvSpPr>
            <a:spLocks noGrp="1"/>
          </p:cNvSpPr>
          <p:nvPr>
            <p:ph type="body" idx="1"/>
          </p:nvPr>
        </p:nvSpPr>
        <p:spPr>
          <a:xfrm>
            <a:off x="629842" y="1260872"/>
            <a:ext cx="3868340"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997E1-A745-FAAC-DEE1-7FE99E3AB411}"/>
              </a:ext>
            </a:extLst>
          </p:cNvPr>
          <p:cNvSpPr>
            <a:spLocks noGrp="1"/>
          </p:cNvSpPr>
          <p:nvPr>
            <p:ph sz="half" idx="2"/>
          </p:nvPr>
        </p:nvSpPr>
        <p:spPr>
          <a:xfrm>
            <a:off x="629842" y="1878806"/>
            <a:ext cx="3868340"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DE8BDB-7D3C-FCD3-7E11-4BE954110A37}"/>
              </a:ext>
            </a:extLst>
          </p:cNvPr>
          <p:cNvSpPr>
            <a:spLocks noGrp="1"/>
          </p:cNvSpPr>
          <p:nvPr>
            <p:ph type="body" sz="quarter" idx="3"/>
          </p:nvPr>
        </p:nvSpPr>
        <p:spPr>
          <a:xfrm>
            <a:off x="4629150" y="1260872"/>
            <a:ext cx="3887391"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84E6A2-92F9-ECE9-702A-B8DDD2817B63}"/>
              </a:ext>
            </a:extLst>
          </p:cNvPr>
          <p:cNvSpPr>
            <a:spLocks noGrp="1"/>
          </p:cNvSpPr>
          <p:nvPr>
            <p:ph sz="quarter" idx="4"/>
          </p:nvPr>
        </p:nvSpPr>
        <p:spPr>
          <a:xfrm>
            <a:off x="4629150" y="1878806"/>
            <a:ext cx="3887391"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5470B1-DD5D-7EFA-E52D-4F5F033F5A48}"/>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8" name="Footer Placeholder 7">
            <a:extLst>
              <a:ext uri="{FF2B5EF4-FFF2-40B4-BE49-F238E27FC236}">
                <a16:creationId xmlns:a16="http://schemas.microsoft.com/office/drawing/2014/main" id="{3A21A241-ADD2-048D-336D-BCC674FA1B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813FFE-0983-8DC3-73F9-E49D9828F91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6386900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31F2B-EEA9-F8B4-57A5-A5733646EA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4C9FEC-72DF-3A11-BCF3-6D245B236A12}"/>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4" name="Footer Placeholder 3">
            <a:extLst>
              <a:ext uri="{FF2B5EF4-FFF2-40B4-BE49-F238E27FC236}">
                <a16:creationId xmlns:a16="http://schemas.microsoft.com/office/drawing/2014/main" id="{BDF47FED-2725-1A2D-459D-4C914B792E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E8D104-AEB0-9A03-8B60-2E9F1C2156AE}"/>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6631423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971A4-F4E4-3E29-C3AE-27CC38CAFB9D}"/>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3" name="Footer Placeholder 2">
            <a:extLst>
              <a:ext uri="{FF2B5EF4-FFF2-40B4-BE49-F238E27FC236}">
                <a16:creationId xmlns:a16="http://schemas.microsoft.com/office/drawing/2014/main" id="{7F3C2477-D402-582E-9AB3-E781F52A98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AF667D-D414-EFAA-C9A9-8BC6F0C752E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9" name="TextBox 18">
            <a:extLst>
              <a:ext uri="{FF2B5EF4-FFF2-40B4-BE49-F238E27FC236}">
                <a16:creationId xmlns:a16="http://schemas.microsoft.com/office/drawing/2014/main" id="{0C825D5E-9956-F8F0-E3CC-882E78B1B24A}"/>
              </a:ext>
            </a:extLst>
          </p:cNvPr>
          <p:cNvSpPr txBox="1"/>
          <p:nvPr/>
        </p:nvSpPr>
        <p:spPr>
          <a:xfrm>
            <a:off x="0" y="2851354"/>
            <a:ext cx="9144000" cy="1938992"/>
          </a:xfrm>
          <a:prstGeom prst="rect">
            <a:avLst/>
          </a:prstGeom>
          <a:noFill/>
        </p:spPr>
        <p:txBody>
          <a:bodyPr wrap="square">
            <a:spAutoFit/>
          </a:bodyPr>
          <a:lstStyle/>
          <a:p>
            <a:pPr marL="0" marR="0">
              <a:buNone/>
            </a:pPr>
            <a:r>
              <a:rPr lang="en-US" sz="1500" kern="100" dirty="0">
                <a:solidFill>
                  <a:schemeClr val="bg1"/>
                </a:solidFill>
                <a:effectLst/>
                <a:latin typeface="Atkinson Hyperlegible Next" pitchFamily="50" charset="0"/>
                <a:ea typeface="Aptos" panose="020B0004020202020204" pitchFamily="34" charset="0"/>
                <a:cs typeface="Arial" panose="020B0604020202020204" pitchFamily="34" charset="0"/>
              </a:rPr>
              <a:t>The contents of this presentation were developed under grant HR421E230012 from the U.S. Department of Education (Department). The Department does not mandate or prescribe practices, models, or other activities described or discussed in this resource. The contents of this presentation may contain examples of, adaptations of, and links to resources created and maintained by another public or private organization. The Department does not control or guarantee the accuracy, relevance, timeliness, or completeness of this outside information. The content of this guide does not necessarily represent the policy of the Department. This presentation is not intended to represent the views or policy of or be an endorsement of any views expressed, or materials provided by any Federal agency. (EDGAR 75.620)</a:t>
            </a:r>
          </a:p>
        </p:txBody>
      </p:sp>
      <p:pic>
        <p:nvPicPr>
          <p:cNvPr id="20" name="Picture 19" descr="Blue and white sign&#10;&#10;">
            <a:extLst>
              <a:ext uri="{FF2B5EF4-FFF2-40B4-BE49-F238E27FC236}">
                <a16:creationId xmlns:a16="http://schemas.microsoft.com/office/drawing/2014/main" id="{5BEC89F8-650B-4C6A-0956-98114467CA4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5615306" cy="1596465"/>
          </a:xfrm>
          <a:prstGeom prst="rect">
            <a:avLst/>
          </a:prstGeom>
        </p:spPr>
      </p:pic>
    </p:spTree>
    <p:extLst>
      <p:ext uri="{BB962C8B-B14F-4D97-AF65-F5344CB8AC3E}">
        <p14:creationId xmlns:p14="http://schemas.microsoft.com/office/powerpoint/2010/main" val="3272293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797E-20D0-2A98-ED8E-A966D6B04645}"/>
              </a:ext>
            </a:extLst>
          </p:cNvPr>
          <p:cNvSpPr>
            <a:spLocks noGrp="1"/>
          </p:cNvSpPr>
          <p:nvPr>
            <p:ph type="title"/>
          </p:nvPr>
        </p:nvSpPr>
        <p:spPr>
          <a:xfrm>
            <a:off x="629841" y="342900"/>
            <a:ext cx="2949178" cy="1200150"/>
          </a:xfrm>
        </p:spPr>
        <p:txBody>
          <a:bodyPr anchor="b"/>
          <a:lstStyle>
            <a:lvl1pPr>
              <a:defRPr sz="2400">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E474DB-4646-51C7-D0B2-D2B4A7F40B3E}"/>
              </a:ext>
            </a:extLst>
          </p:cNvPr>
          <p:cNvSpPr>
            <a:spLocks noGrp="1"/>
          </p:cNvSpPr>
          <p:nvPr>
            <p:ph idx="1"/>
          </p:nvPr>
        </p:nvSpPr>
        <p:spPr>
          <a:xfrm>
            <a:off x="3887391" y="740569"/>
            <a:ext cx="4629150" cy="3655219"/>
          </a:xfrm>
        </p:spPr>
        <p:txBody>
          <a:bodyPr/>
          <a:lstStyle>
            <a:lvl1pPr>
              <a:defRPr sz="2400">
                <a:solidFill>
                  <a:schemeClr val="accent6"/>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A0E6259-55A1-5ECB-E304-8B5D09E3D655}"/>
              </a:ext>
            </a:extLst>
          </p:cNvPr>
          <p:cNvSpPr>
            <a:spLocks noGrp="1"/>
          </p:cNvSpPr>
          <p:nvPr>
            <p:ph type="body" sz="half" idx="2"/>
          </p:nvPr>
        </p:nvSpPr>
        <p:spPr>
          <a:xfrm>
            <a:off x="629841" y="1543050"/>
            <a:ext cx="2949178" cy="2858691"/>
          </a:xfrm>
        </p:spPr>
        <p:txBody>
          <a:bodyPr/>
          <a:lstStyle>
            <a:lvl1pPr marL="0" indent="0">
              <a:buNone/>
              <a:defRPr sz="1200">
                <a:solidFill>
                  <a:schemeClr val="accent6"/>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4555984-9C93-D302-B247-0B332F3E3327}"/>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6" name="Footer Placeholder 5">
            <a:extLst>
              <a:ext uri="{FF2B5EF4-FFF2-40B4-BE49-F238E27FC236}">
                <a16:creationId xmlns:a16="http://schemas.microsoft.com/office/drawing/2014/main" id="{CA023BDF-FA82-E879-700A-49DB7947A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2CF2F-24FE-9AB7-8E00-E1422BB7D2D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999283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1CB0-D132-956C-437E-AA8483FF3C1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5F91019-239B-5254-23D0-7BFF0BB7EEC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19D27294-CA0E-5F41-3E77-B1E93821B14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5CBA06-0262-5CCA-896C-315678CA03CB}"/>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6" name="Footer Placeholder 5">
            <a:extLst>
              <a:ext uri="{FF2B5EF4-FFF2-40B4-BE49-F238E27FC236}">
                <a16:creationId xmlns:a16="http://schemas.microsoft.com/office/drawing/2014/main" id="{14A559DD-E897-2037-B8D3-87F77163AF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C6381-C81F-0B65-9751-34AF66EB0438}"/>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5253358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6B1B8-B1FB-F610-2A5A-55443DC99ABC}"/>
              </a:ext>
            </a:extLst>
          </p:cNvPr>
          <p:cNvSpPr>
            <a:spLocks noGrp="1"/>
          </p:cNvSpPr>
          <p:nvPr>
            <p:ph type="title"/>
          </p:nvPr>
        </p:nvSpPr>
        <p:spPr>
          <a:xfrm>
            <a:off x="628650" y="273844"/>
            <a:ext cx="7886700" cy="994172"/>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012450-33DB-46B2-C9F1-991A0B7D90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25530D-6B47-F166-43BF-A9A7852922F6}"/>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919DBC34-0E2C-CD97-F397-4BF8166D8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73274-6134-DF2D-8DDD-83A46F94656D}"/>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8431801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EB3855-56F0-C304-A6DF-0CC85FFF957A}"/>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C01C01-BA2B-E96A-7162-000D9E215165}"/>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B8FEF-5B76-9F7B-D574-FBB4E29C12A1}"/>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D5324E18-936A-ACDC-0523-1FF03EBC0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9CD96-9B36-D774-9148-7AA16D6B27B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96690363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07"/>
        <p:cNvGrpSpPr/>
        <p:nvPr/>
      </p:nvGrpSpPr>
      <p:grpSpPr>
        <a:xfrm>
          <a:off x="0" y="0"/>
          <a:ext cx="0" cy="0"/>
          <a:chOff x="0" y="0"/>
          <a:chExt cx="0" cy="0"/>
        </a:xfrm>
      </p:grpSpPr>
      <p:sp>
        <p:nvSpPr>
          <p:cNvPr id="111" name="Google Shape;111;p15"/>
          <p:cNvSpPr txBox="1">
            <a:spLocks noGrp="1"/>
          </p:cNvSpPr>
          <p:nvPr>
            <p:ph type="title" hasCustomPrompt="1"/>
          </p:nvPr>
        </p:nvSpPr>
        <p:spPr>
          <a:xfrm>
            <a:off x="4454300" y="961363"/>
            <a:ext cx="1663200" cy="935400"/>
          </a:xfrm>
          <a:prstGeom prst="rect">
            <a:avLst/>
          </a:prstGeom>
        </p:spPr>
        <p:txBody>
          <a:bodyPr spcFirstLastPara="1" wrap="square" lIns="91425" tIns="91425" rIns="91425" bIns="91425" anchor="ctr" anchorCtr="0">
            <a:noAutofit/>
          </a:bodyPr>
          <a:lstStyle>
            <a:lvl1pPr lvl="0" rtl="0">
              <a:spcBef>
                <a:spcPts val="0"/>
              </a:spcBef>
              <a:spcAft>
                <a:spcPts val="0"/>
              </a:spcAft>
              <a:buSzPts val="12000"/>
              <a:buNone/>
              <a:defRPr sz="10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2" name="Google Shape;112;p15"/>
          <p:cNvSpPr txBox="1">
            <a:spLocks noGrp="1"/>
          </p:cNvSpPr>
          <p:nvPr>
            <p:ph type="title" idx="2"/>
          </p:nvPr>
        </p:nvSpPr>
        <p:spPr>
          <a:xfrm>
            <a:off x="4454300" y="1954962"/>
            <a:ext cx="4321500" cy="123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600"/>
              <a:buFont typeface="Overpass"/>
              <a:buNone/>
              <a:defRPr sz="9600" b="1"/>
            </a:lvl1pPr>
            <a:lvl2pPr lvl="1"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2pPr>
            <a:lvl3pPr lvl="2"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3pPr>
            <a:lvl4pPr lvl="3"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4pPr>
            <a:lvl5pPr lvl="4"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5pPr>
            <a:lvl6pPr lvl="5"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6pPr>
            <a:lvl7pPr lvl="6"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7pPr>
            <a:lvl8pPr lvl="7"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8pPr>
            <a:lvl9pPr lvl="8"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9pPr>
          </a:lstStyle>
          <a:p>
            <a:endParaRPr/>
          </a:p>
        </p:txBody>
      </p:sp>
      <p:sp>
        <p:nvSpPr>
          <p:cNvPr id="113" name="Google Shape;113;p15"/>
          <p:cNvSpPr txBox="1">
            <a:spLocks noGrp="1"/>
          </p:cNvSpPr>
          <p:nvPr>
            <p:ph type="subTitle" idx="1"/>
          </p:nvPr>
        </p:nvSpPr>
        <p:spPr>
          <a:xfrm>
            <a:off x="4454300" y="3158539"/>
            <a:ext cx="3834000" cy="63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Tree>
    <p:extLst>
      <p:ext uri="{BB962C8B-B14F-4D97-AF65-F5344CB8AC3E}">
        <p14:creationId xmlns:p14="http://schemas.microsoft.com/office/powerpoint/2010/main" val="3431597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6"/>
        <p:cNvGrpSpPr/>
        <p:nvPr/>
      </p:nvGrpSpPr>
      <p:grpSpPr>
        <a:xfrm>
          <a:off x="0" y="0"/>
          <a:ext cx="0" cy="0"/>
          <a:chOff x="0" y="0"/>
          <a:chExt cx="0" cy="0"/>
        </a:xfrm>
      </p:grpSpPr>
      <p:sp>
        <p:nvSpPr>
          <p:cNvPr id="28" name="Google Shape;28;p4"/>
          <p:cNvSpPr txBox="1">
            <a:spLocks noGrp="1"/>
          </p:cNvSpPr>
          <p:nvPr>
            <p:ph type="subTitle" idx="1"/>
          </p:nvPr>
        </p:nvSpPr>
        <p:spPr>
          <a:xfrm>
            <a:off x="621575" y="1228437"/>
            <a:ext cx="7878300" cy="365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200"/>
            </a:lvl1pPr>
            <a:lvl2pPr lvl="1" rtl="0">
              <a:lnSpc>
                <a:spcPct val="100000"/>
              </a:lnSpc>
              <a:spcBef>
                <a:spcPts val="0"/>
              </a:spcBef>
              <a:spcAft>
                <a:spcPts val="0"/>
              </a:spcAft>
              <a:buNone/>
              <a:defRPr sz="1200"/>
            </a:lvl2pPr>
            <a:lvl3pPr lvl="2" rtl="0">
              <a:lnSpc>
                <a:spcPct val="100000"/>
              </a:lnSpc>
              <a:spcBef>
                <a:spcPts val="0"/>
              </a:spcBef>
              <a:spcAft>
                <a:spcPts val="0"/>
              </a:spcAft>
              <a:buNone/>
              <a:defRPr sz="1200"/>
            </a:lvl3pPr>
            <a:lvl4pPr lvl="3" rtl="0">
              <a:lnSpc>
                <a:spcPct val="100000"/>
              </a:lnSpc>
              <a:spcBef>
                <a:spcPts val="0"/>
              </a:spcBef>
              <a:spcAft>
                <a:spcPts val="0"/>
              </a:spcAft>
              <a:buNone/>
              <a:defRPr sz="1200"/>
            </a:lvl4pPr>
            <a:lvl5pPr lvl="4" rtl="0">
              <a:lnSpc>
                <a:spcPct val="100000"/>
              </a:lnSpc>
              <a:spcBef>
                <a:spcPts val="0"/>
              </a:spcBef>
              <a:spcAft>
                <a:spcPts val="0"/>
              </a:spcAft>
              <a:buNone/>
              <a:defRPr sz="1200"/>
            </a:lvl5pPr>
            <a:lvl6pPr lvl="5" rtl="0">
              <a:lnSpc>
                <a:spcPct val="100000"/>
              </a:lnSpc>
              <a:spcBef>
                <a:spcPts val="0"/>
              </a:spcBef>
              <a:spcAft>
                <a:spcPts val="0"/>
              </a:spcAft>
              <a:buNone/>
              <a:defRPr sz="1200"/>
            </a:lvl6pPr>
            <a:lvl7pPr lvl="6" rtl="0">
              <a:lnSpc>
                <a:spcPct val="100000"/>
              </a:lnSpc>
              <a:spcBef>
                <a:spcPts val="0"/>
              </a:spcBef>
              <a:spcAft>
                <a:spcPts val="0"/>
              </a:spcAft>
              <a:buNone/>
              <a:defRPr sz="1200"/>
            </a:lvl7pPr>
            <a:lvl8pPr lvl="7" rtl="0">
              <a:lnSpc>
                <a:spcPct val="100000"/>
              </a:lnSpc>
              <a:spcBef>
                <a:spcPts val="0"/>
              </a:spcBef>
              <a:spcAft>
                <a:spcPts val="0"/>
              </a:spcAft>
              <a:buNone/>
              <a:defRPr sz="1200"/>
            </a:lvl8pPr>
            <a:lvl9pPr lvl="8" rtl="0">
              <a:lnSpc>
                <a:spcPct val="100000"/>
              </a:lnSpc>
              <a:spcBef>
                <a:spcPts val="0"/>
              </a:spcBef>
              <a:spcAft>
                <a:spcPts val="0"/>
              </a:spcAft>
              <a:buNone/>
              <a:defRPr sz="1200"/>
            </a:lvl9pPr>
          </a:lstStyle>
          <a:p>
            <a:endParaRPr/>
          </a:p>
        </p:txBody>
      </p:sp>
      <p:sp>
        <p:nvSpPr>
          <p:cNvPr id="29" name="Google Shape;29;p4"/>
          <p:cNvSpPr txBox="1">
            <a:spLocks noGrp="1"/>
          </p:cNvSpPr>
          <p:nvPr>
            <p:ph type="title"/>
          </p:nvPr>
        </p:nvSpPr>
        <p:spPr>
          <a:xfrm>
            <a:off x="625300" y="315813"/>
            <a:ext cx="7704000" cy="707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858901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E16F9E-B503-4375-8A4D-6043A8332E5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E8DFE7B-6603-70CF-9AEE-795CEF9F161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3302374-0F3E-D7EA-9840-D41A1B5E283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081E32A8-3DF3-98E8-9BAA-72AE74CEF60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1C83A0-7ED6-646B-993E-492C43B64389}"/>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2B5664E2-3A40-4D1A-BF40-1793ED3F7EF0}" type="slidenum">
              <a:rPr lang="en-US" smtClean="0"/>
              <a:t>‹#›</a:t>
            </a:fld>
            <a:endParaRPr lang="en-US"/>
          </a:p>
        </p:txBody>
      </p:sp>
    </p:spTree>
    <p:extLst>
      <p:ext uri="{BB962C8B-B14F-4D97-AF65-F5344CB8AC3E}">
        <p14:creationId xmlns:p14="http://schemas.microsoft.com/office/powerpoint/2010/main" val="1464357206"/>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56" r:id="rId11"/>
    <p:sldLayoutId id="2147483957" r:id="rId12"/>
    <p:sldLayoutId id="2147483958" r:id="rId13"/>
    <p:sldLayoutId id="2147483962" r:id="rId14"/>
    <p:sldLayoutId id="2147483964" r:id="rId15"/>
  </p:sldLayoutIdLst>
  <p:transition spd="slow">
    <p:push/>
  </p:transition>
  <p:hf sldNum="0" hdr="0" ftr="0" dt="0"/>
  <p:txStyles>
    <p:titleStyle>
      <a:lvl1pPr algn="l" defTabSz="685800" rtl="0" eaLnBrk="1" latinLnBrk="0" hangingPunct="1">
        <a:lnSpc>
          <a:spcPct val="90000"/>
        </a:lnSpc>
        <a:spcBef>
          <a:spcPct val="0"/>
        </a:spcBef>
        <a:buNone/>
        <a:defRPr sz="3300" kern="1200">
          <a:solidFill>
            <a:schemeClr val="accent6"/>
          </a:solidFill>
          <a:latin typeface="Atkinson Hyperlegible Next"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accent6"/>
          </a:solidFill>
          <a:latin typeface="Atkinson Hyperlegible Next"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accent6"/>
          </a:solidFill>
          <a:latin typeface="Atkinson Hyperlegible Next"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accent6"/>
          </a:solidFill>
          <a:latin typeface="Atkinson Hyperlegible Next"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3" name="Google Shape;523;p69"/>
          <p:cNvSpPr txBox="1">
            <a:spLocks noGrp="1"/>
          </p:cNvSpPr>
          <p:nvPr>
            <p:ph type="title"/>
          </p:nvPr>
        </p:nvSpPr>
        <p:spPr>
          <a:xfrm>
            <a:off x="246611" y="450491"/>
            <a:ext cx="5501046" cy="123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dirty="0">
                <a:latin typeface="Verdana Pro" panose="020B0604030504040204" pitchFamily="34" charset="0"/>
              </a:rPr>
              <a:t>Module 2:</a:t>
            </a:r>
            <a:br>
              <a:rPr lang="en" sz="4800" dirty="0">
                <a:latin typeface="Verdana Pro" panose="020B0604030504040204" pitchFamily="34" charset="0"/>
              </a:rPr>
            </a:br>
            <a:r>
              <a:rPr lang="en" sz="4800" dirty="0">
                <a:latin typeface="Verdana Pro" panose="020B0604030504040204" pitchFamily="34" charset="0"/>
              </a:rPr>
              <a:t>What is Self-Determination?</a:t>
            </a:r>
            <a:endParaRPr sz="4800" dirty="0">
              <a:latin typeface="Verdana Pro" panose="020B0604030504040204" pitchFamily="34" charset="0"/>
            </a:endParaRPr>
          </a:p>
        </p:txBody>
      </p:sp>
      <p:sp>
        <p:nvSpPr>
          <p:cNvPr id="2" name="Google Shape;550;p72">
            <a:extLst>
              <a:ext uri="{FF2B5EF4-FFF2-40B4-BE49-F238E27FC236}">
                <a16:creationId xmlns:a16="http://schemas.microsoft.com/office/drawing/2014/main" id="{3EA8628D-54AA-9BE3-8985-81196F2AA327}"/>
              </a:ext>
              <a:ext uri="{C183D7F6-B498-43B3-948B-1728B52AA6E4}">
                <adec:decorative xmlns:adec="http://schemas.microsoft.com/office/drawing/2017/decorative" val="1"/>
              </a:ext>
            </a:extLst>
          </p:cNvPr>
          <p:cNvSpPr/>
          <p:nvPr/>
        </p:nvSpPr>
        <p:spPr>
          <a:xfrm>
            <a:off x="4120770" y="2000596"/>
            <a:ext cx="5967900" cy="2135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Tree>
    <p:extLst>
      <p:ext uri="{BB962C8B-B14F-4D97-AF65-F5344CB8AC3E}">
        <p14:creationId xmlns:p14="http://schemas.microsoft.com/office/powerpoint/2010/main" val="2045928762"/>
      </p:ext>
    </p:extLst>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Self-Determination is…</a:t>
            </a:r>
            <a:endParaRPr sz="4000" dirty="0">
              <a:latin typeface="Verdana Pro" panose="020B0604030504040204" pitchFamily="34" charset="0"/>
            </a:endParaRPr>
          </a:p>
        </p:txBody>
      </p:sp>
    </p:spTree>
    <p:extLst>
      <p:ext uri="{BB962C8B-B14F-4D97-AF65-F5344CB8AC3E}">
        <p14:creationId xmlns:p14="http://schemas.microsoft.com/office/powerpoint/2010/main" val="2522679715"/>
      </p:ext>
    </p:extLst>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dirty="0"/>
              <a:t>Mindset: Self-Determined Actions</a:t>
            </a:r>
          </a:p>
        </p:txBody>
      </p:sp>
      <p:sp>
        <p:nvSpPr>
          <p:cNvPr id="466" name="Google Shape;466;p65"/>
          <p:cNvSpPr txBox="1">
            <a:spLocks noGrp="1"/>
          </p:cNvSpPr>
          <p:nvPr>
            <p:ph idx="1"/>
          </p:nvPr>
        </p:nvSpPr>
        <p:spPr/>
        <p:txBody>
          <a:bodyPr spcFirstLastPara="1" lIns="91425" tIns="91425" rIns="91425" bIns="91425" anchorCtr="0">
            <a:normAutofit/>
          </a:bodyPr>
          <a:lstStyle/>
          <a:p>
            <a:pPr marL="342900" lvl="0" rtl="0">
              <a:spcBef>
                <a:spcPts val="0"/>
              </a:spcBef>
              <a:spcAft>
                <a:spcPts val="0"/>
              </a:spcAft>
              <a:buClr>
                <a:schemeClr val="dk1"/>
              </a:buClr>
              <a:buSzPts val="1100"/>
              <a:buFont typeface="Arial" panose="020B0604020202020204" pitchFamily="34" charset="0"/>
              <a:buChar char="•"/>
            </a:pPr>
            <a:r>
              <a:rPr lang="en-US" b="1" dirty="0"/>
              <a:t>Volitional action</a:t>
            </a:r>
            <a:r>
              <a:rPr lang="en-US" dirty="0"/>
              <a:t>: making intentional, conscious choices based on one’s preferences and interests</a:t>
            </a:r>
          </a:p>
          <a:p>
            <a:pPr marL="342900" lvl="0" rtl="0">
              <a:spcBef>
                <a:spcPts val="0"/>
              </a:spcBef>
              <a:spcAft>
                <a:spcPts val="0"/>
              </a:spcAft>
              <a:buClr>
                <a:schemeClr val="dk1"/>
              </a:buClr>
              <a:buSzPts val="1100"/>
              <a:buFont typeface="Arial" panose="020B0604020202020204" pitchFamily="34" charset="0"/>
              <a:buChar char="•"/>
            </a:pPr>
            <a:r>
              <a:rPr lang="en-US" b="1" dirty="0"/>
              <a:t>Agentic action</a:t>
            </a:r>
            <a:r>
              <a:rPr lang="en-US" dirty="0"/>
              <a:t>: self-directing and managing actions towards goals</a:t>
            </a:r>
          </a:p>
          <a:p>
            <a:pPr marL="342900" lvl="0" rtl="0">
              <a:spcBef>
                <a:spcPts val="0"/>
              </a:spcBef>
              <a:spcAft>
                <a:spcPts val="0"/>
              </a:spcAft>
              <a:buClr>
                <a:schemeClr val="dk1"/>
              </a:buClr>
              <a:buSzPts val="1100"/>
              <a:buFont typeface="Arial" panose="020B0604020202020204" pitchFamily="34" charset="0"/>
              <a:buChar char="•"/>
            </a:pPr>
            <a:r>
              <a:rPr lang="en-US" b="1" dirty="0"/>
              <a:t>Action-controlled beliefs</a:t>
            </a:r>
            <a:r>
              <a:rPr lang="en-US" dirty="0"/>
              <a:t>: recognizing your own abilities and believing they will help you achieve your goals</a:t>
            </a:r>
          </a:p>
          <a:p>
            <a:pPr marL="0" lvl="0" indent="0" rtl="0">
              <a:spcBef>
                <a:spcPts val="1600"/>
              </a:spcBef>
              <a:spcAft>
                <a:spcPts val="0"/>
              </a:spcAft>
              <a:buClr>
                <a:schemeClr val="dk1"/>
              </a:buClr>
              <a:buSzPts val="1100"/>
              <a:buFont typeface="Arial"/>
              <a:buNone/>
            </a:pPr>
            <a:endParaRPr lang="en-US" dirty="0"/>
          </a:p>
        </p:txBody>
      </p:sp>
    </p:spTree>
    <p:extLst>
      <p:ext uri="{BB962C8B-B14F-4D97-AF65-F5344CB8AC3E}">
        <p14:creationId xmlns:p14="http://schemas.microsoft.com/office/powerpoint/2010/main" val="1305283090"/>
      </p:ext>
    </p:extLst>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dirty="0"/>
              <a:t>Skillset</a:t>
            </a:r>
          </a:p>
        </p:txBody>
      </p:sp>
      <p:sp>
        <p:nvSpPr>
          <p:cNvPr id="466" name="Google Shape;466;p65"/>
          <p:cNvSpPr txBox="1">
            <a:spLocks noGrp="1"/>
          </p:cNvSpPr>
          <p:nvPr>
            <p:ph idx="1"/>
          </p:nvPr>
        </p:nvSpPr>
        <p:spPr/>
        <p:txBody>
          <a:bodyPr spcFirstLastPara="1" lIns="91425" tIns="91425" rIns="91425" bIns="91425" anchorCtr="0">
            <a:normAutofit/>
          </a:bodyPr>
          <a:lstStyle/>
          <a:p>
            <a:pPr marL="342900" lvl="0" rtl="0">
              <a:spcBef>
                <a:spcPts val="0"/>
              </a:spcBef>
              <a:spcAft>
                <a:spcPts val="0"/>
              </a:spcAft>
              <a:buClr>
                <a:schemeClr val="dk1"/>
              </a:buClr>
              <a:buSzPts val="1100"/>
              <a:buFont typeface="Arial" panose="020B0604020202020204" pitchFamily="34" charset="0"/>
              <a:buChar char="•"/>
            </a:pPr>
            <a:r>
              <a:rPr lang="en-US" dirty="0"/>
              <a:t>Self-determination represents a set of skills including, but not limited to:</a:t>
            </a:r>
          </a:p>
          <a:p>
            <a:pPr marL="800100" lvl="1">
              <a:buSzPts val="1100"/>
              <a:buFont typeface="Arial" panose="020B0604020202020204" pitchFamily="34" charset="0"/>
              <a:buChar char="•"/>
            </a:pPr>
            <a:r>
              <a:rPr lang="en-US" sz="2100" dirty="0"/>
              <a:t>Choice-making</a:t>
            </a:r>
          </a:p>
          <a:p>
            <a:pPr marL="800100" lvl="1">
              <a:buSzPts val="1100"/>
              <a:buFont typeface="Arial" panose="020B0604020202020204" pitchFamily="34" charset="0"/>
              <a:buChar char="•"/>
            </a:pPr>
            <a:r>
              <a:rPr lang="en-US" sz="2100" dirty="0"/>
              <a:t>Problem-solving</a:t>
            </a:r>
          </a:p>
          <a:p>
            <a:pPr marL="800100" lvl="1">
              <a:buSzPts val="1100"/>
              <a:buFont typeface="Arial" panose="020B0604020202020204" pitchFamily="34" charset="0"/>
              <a:buChar char="•"/>
            </a:pPr>
            <a:r>
              <a:rPr lang="en-US" sz="2100" dirty="0"/>
              <a:t>Goal setting and attainment</a:t>
            </a:r>
          </a:p>
          <a:p>
            <a:pPr marL="800100" lvl="1">
              <a:buSzPts val="1100"/>
              <a:buFont typeface="Arial" panose="020B0604020202020204" pitchFamily="34" charset="0"/>
              <a:buChar char="•"/>
            </a:pPr>
            <a:r>
              <a:rPr lang="en-US" sz="2100" dirty="0"/>
              <a:t>Self-advocacy</a:t>
            </a:r>
          </a:p>
          <a:p>
            <a:pPr marL="800100" lvl="1">
              <a:buSzPts val="1100"/>
              <a:buFont typeface="Arial" panose="020B0604020202020204" pitchFamily="34" charset="0"/>
              <a:buChar char="•"/>
            </a:pPr>
            <a:r>
              <a:rPr lang="en-US" sz="2100" dirty="0"/>
              <a:t>Self-awareness &amp; disability awareness</a:t>
            </a:r>
          </a:p>
          <a:p>
            <a:pPr marL="800100" lvl="1">
              <a:buSzPts val="1100"/>
              <a:buFont typeface="Arial" panose="020B0604020202020204" pitchFamily="34" charset="0"/>
              <a:buChar char="•"/>
            </a:pPr>
            <a:r>
              <a:rPr lang="en-US" sz="2100" dirty="0"/>
              <a:t>Student involvement in the IEP</a:t>
            </a:r>
          </a:p>
          <a:p>
            <a:pPr marL="342900" lvl="0" rtl="0">
              <a:spcBef>
                <a:spcPts val="0"/>
              </a:spcBef>
              <a:spcAft>
                <a:spcPts val="0"/>
              </a:spcAft>
              <a:buClr>
                <a:schemeClr val="dk1"/>
              </a:buClr>
              <a:buSzPts val="1100"/>
              <a:buFont typeface="Arial" panose="020B0604020202020204" pitchFamily="34" charset="0"/>
              <a:buChar char="•"/>
            </a:pPr>
            <a:endParaRPr lang="en-US" dirty="0"/>
          </a:p>
        </p:txBody>
      </p:sp>
    </p:spTree>
    <p:extLst>
      <p:ext uri="{BB962C8B-B14F-4D97-AF65-F5344CB8AC3E}">
        <p14:creationId xmlns:p14="http://schemas.microsoft.com/office/powerpoint/2010/main" val="1605190057"/>
      </p:ext>
    </p:extLst>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vert="horz" lIns="91440" tIns="45720" rIns="91440" bIns="45720" rtlCol="0" anchor="ctr" anchorCtr="0">
            <a:normAutofit/>
          </a:bodyPr>
          <a:lstStyle/>
          <a:p>
            <a:pPr marL="0" lvl="0" indent="0">
              <a:spcAft>
                <a:spcPts val="0"/>
              </a:spcAft>
            </a:pPr>
            <a:r>
              <a:rPr lang="en-US" sz="3100" kern="1200" dirty="0">
                <a:latin typeface="Atkinson Hyperlegible Next" pitchFamily="50" charset="0"/>
                <a:ea typeface="+mj-ea"/>
                <a:cs typeface="+mj-cs"/>
              </a:rPr>
              <a:t>Benefits of Instruction on Self-Determination Skills</a:t>
            </a:r>
          </a:p>
        </p:txBody>
      </p:sp>
      <p:sp>
        <p:nvSpPr>
          <p:cNvPr id="466" name="Google Shape;466;p65"/>
          <p:cNvSpPr txBox="1">
            <a:spLocks noGrp="1"/>
          </p:cNvSpPr>
          <p:nvPr>
            <p:ph sz="half" idx="1"/>
          </p:nvPr>
        </p:nvSpPr>
        <p:spPr/>
        <p:txBody>
          <a:bodyPr spcFirstLastPara="1" vert="horz" lIns="91440" tIns="45720" rIns="91440" bIns="45720" rtlCol="0" anchorCtr="0">
            <a:normAutofit/>
          </a:bodyPr>
          <a:lstStyle/>
          <a:p>
            <a:pPr marL="342900" lvl="0">
              <a:spcBef>
                <a:spcPts val="0"/>
              </a:spcBef>
              <a:spcAft>
                <a:spcPts val="0"/>
              </a:spcAft>
              <a:buClr>
                <a:schemeClr val="dk1"/>
              </a:buClr>
              <a:buSzPts val="1100"/>
            </a:pPr>
            <a:r>
              <a:rPr lang="en-US" sz="1600" dirty="0"/>
              <a:t>Students who received interventions to increase self-determination were more likely to be satisfied with their lives</a:t>
            </a:r>
          </a:p>
          <a:p>
            <a:pPr lvl="0" indent="0">
              <a:spcBef>
                <a:spcPts val="0"/>
              </a:spcBef>
              <a:spcAft>
                <a:spcPts val="0"/>
              </a:spcAft>
              <a:buClr>
                <a:schemeClr val="dk1"/>
              </a:buClr>
              <a:buSzPts val="1100"/>
              <a:buNone/>
            </a:pPr>
            <a:endParaRPr lang="en-US" sz="1600" dirty="0"/>
          </a:p>
          <a:p>
            <a:pPr marL="342900" lvl="0">
              <a:spcBef>
                <a:spcPts val="0"/>
              </a:spcBef>
              <a:spcAft>
                <a:spcPts val="0"/>
              </a:spcAft>
              <a:buClr>
                <a:schemeClr val="dk1"/>
              </a:buClr>
              <a:buSzPts val="1100"/>
            </a:pPr>
            <a:r>
              <a:rPr lang="en-US" sz="1600" dirty="0"/>
              <a:t>Students are more likely to graduate from high school after participating in one year of self-determination instruction which allowed them to attend postsecondary environments</a:t>
            </a:r>
          </a:p>
          <a:p>
            <a:pPr marL="342900" lvl="0">
              <a:spcBef>
                <a:spcPts val="0"/>
              </a:spcBef>
              <a:spcAft>
                <a:spcPts val="0"/>
              </a:spcAft>
              <a:buClr>
                <a:schemeClr val="dk1"/>
              </a:buClr>
              <a:buSzPts val="1100"/>
            </a:pPr>
            <a:endParaRPr lang="en-US" sz="1600" dirty="0"/>
          </a:p>
          <a:p>
            <a:pPr marL="342900" lvl="0">
              <a:spcBef>
                <a:spcPts val="0"/>
              </a:spcBef>
              <a:spcAft>
                <a:spcPts val="0"/>
              </a:spcAft>
              <a:buClr>
                <a:schemeClr val="dk1"/>
              </a:buClr>
              <a:buSzPts val="1100"/>
            </a:pPr>
            <a:r>
              <a:rPr lang="en-US" sz="1600" dirty="0"/>
              <a:t>This highlights increased graduation rates AND decreased dropout rates</a:t>
            </a:r>
          </a:p>
          <a:p>
            <a:pPr lvl="0" indent="0">
              <a:spcBef>
                <a:spcPts val="0"/>
              </a:spcBef>
              <a:spcAft>
                <a:spcPts val="0"/>
              </a:spcAft>
              <a:buClr>
                <a:schemeClr val="dk1"/>
              </a:buClr>
              <a:buSzPts val="1100"/>
              <a:buNone/>
            </a:pPr>
            <a:endParaRPr lang="en-US" sz="1600" dirty="0"/>
          </a:p>
        </p:txBody>
      </p:sp>
      <p:sp>
        <p:nvSpPr>
          <p:cNvPr id="2" name="Google Shape;466;p65">
            <a:extLst>
              <a:ext uri="{FF2B5EF4-FFF2-40B4-BE49-F238E27FC236}">
                <a16:creationId xmlns:a16="http://schemas.microsoft.com/office/drawing/2014/main" id="{DE14E092-AD9F-CC09-7F4A-B3E65994C3FE}"/>
              </a:ext>
            </a:extLst>
          </p:cNvPr>
          <p:cNvSpPr txBox="1">
            <a:spLocks/>
          </p:cNvSpPr>
          <p:nvPr/>
        </p:nvSpPr>
        <p:spPr>
          <a:xfrm>
            <a:off x="4629150" y="1369219"/>
            <a:ext cx="3886200" cy="3263504"/>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171450" indent="-171450" defTabSz="685800">
              <a:lnSpc>
                <a:spcPct val="90000"/>
              </a:lnSpc>
              <a:spcBef>
                <a:spcPts val="750"/>
              </a:spcBef>
              <a:buSzPts val="1100"/>
              <a:buFont typeface="Arial" panose="020B0604020202020204" pitchFamily="34" charset="0"/>
              <a:buChar char="•"/>
            </a:pPr>
            <a:r>
              <a:rPr lang="en-US" sz="2100" dirty="0">
                <a:solidFill>
                  <a:schemeClr val="accent6"/>
                </a:solidFill>
                <a:latin typeface="Atkinson Hyperlegible Next" pitchFamily="50" charset="0"/>
                <a:ea typeface="+mn-ea"/>
                <a:cs typeface="+mn-cs"/>
              </a:rPr>
              <a:t>Powers et al., 2012</a:t>
            </a:r>
          </a:p>
        </p:txBody>
      </p:sp>
    </p:spTree>
    <p:extLst>
      <p:ext uri="{BB962C8B-B14F-4D97-AF65-F5344CB8AC3E}">
        <p14:creationId xmlns:p14="http://schemas.microsoft.com/office/powerpoint/2010/main" val="865250787"/>
      </p:ext>
    </p:extLst>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87860" y="1192215"/>
            <a:ext cx="7886700" cy="2139553"/>
          </a:xfrm>
        </p:spPr>
        <p:txBody>
          <a:bodyPr spcFirstLastPara="1" vert="horz" lIns="91440" tIns="45720" rIns="91440" bIns="45720" rtlCol="0" anchor="b" anchorCtr="0">
            <a:normAutofit/>
          </a:bodyPr>
          <a:lstStyle/>
          <a:p>
            <a:pPr marL="0" lvl="0" indent="0">
              <a:spcAft>
                <a:spcPts val="0"/>
              </a:spcAft>
            </a:pPr>
            <a:r>
              <a:rPr lang="en-US" sz="3500" kern="1200" dirty="0">
                <a:latin typeface="Atkinson Hyperlegible Next" pitchFamily="50" charset="0"/>
                <a:ea typeface="+mj-ea"/>
                <a:cs typeface="+mj-cs"/>
              </a:rPr>
              <a:t>When students have self-determination skills, they have greater access to the general education environment.</a:t>
            </a:r>
          </a:p>
        </p:txBody>
      </p:sp>
      <p:sp>
        <p:nvSpPr>
          <p:cNvPr id="4" name="Google Shape;466;p65">
            <a:extLst>
              <a:ext uri="{FF2B5EF4-FFF2-40B4-BE49-F238E27FC236}">
                <a16:creationId xmlns:a16="http://schemas.microsoft.com/office/drawing/2014/main" id="{D25DECA4-FA90-AB53-B987-0CF4965C0875}"/>
              </a:ext>
            </a:extLst>
          </p:cNvPr>
          <p:cNvSpPr txBox="1">
            <a:spLocks/>
          </p:cNvSpPr>
          <p:nvPr/>
        </p:nvSpPr>
        <p:spPr>
          <a:xfrm>
            <a:off x="123896" y="3331768"/>
            <a:ext cx="7886700" cy="1125140"/>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defTabSz="685800">
              <a:lnSpc>
                <a:spcPct val="90000"/>
              </a:lnSpc>
              <a:spcBef>
                <a:spcPts val="750"/>
              </a:spcBef>
              <a:buSzPts val="1100"/>
            </a:pPr>
            <a:r>
              <a:rPr lang="en-US" sz="1800" kern="1200" dirty="0">
                <a:solidFill>
                  <a:schemeClr val="bg1"/>
                </a:solidFill>
                <a:latin typeface="Atkinson Hyperlegible Next" pitchFamily="50" charset="0"/>
                <a:ea typeface="+mn-ea"/>
                <a:cs typeface="+mn-cs"/>
              </a:rPr>
              <a:t>Hart &amp; Brehm, 2013; Shogren et al., 2012</a:t>
            </a:r>
          </a:p>
        </p:txBody>
      </p:sp>
    </p:spTree>
    <p:extLst>
      <p:ext uri="{BB962C8B-B14F-4D97-AF65-F5344CB8AC3E}">
        <p14:creationId xmlns:p14="http://schemas.microsoft.com/office/powerpoint/2010/main" val="3675988371"/>
      </p:ext>
    </p:extLst>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sz="2800" dirty="0"/>
              <a:t>Self-Determination Skills promote positive postschool outcomes (indicator 14)</a:t>
            </a:r>
          </a:p>
        </p:txBody>
      </p:sp>
      <p:sp>
        <p:nvSpPr>
          <p:cNvPr id="466" name="Google Shape;466;p65"/>
          <p:cNvSpPr txBox="1">
            <a:spLocks noGrp="1"/>
          </p:cNvSpPr>
          <p:nvPr>
            <p:ph idx="1"/>
          </p:nvPr>
        </p:nvSpPr>
        <p:spPr/>
        <p:txBody>
          <a:bodyPr spcFirstLastPara="1" lIns="91425" tIns="91425" rIns="91425" bIns="91425" anchorCtr="0">
            <a:normAutofit/>
          </a:bodyPr>
          <a:lstStyle/>
          <a:p>
            <a:pPr marL="342900" lvl="0" rtl="0">
              <a:spcBef>
                <a:spcPts val="0"/>
              </a:spcBef>
              <a:spcAft>
                <a:spcPts val="600"/>
              </a:spcAft>
              <a:buClr>
                <a:schemeClr val="dk1"/>
              </a:buClr>
              <a:buSzPts val="1100"/>
              <a:buFont typeface="Arial" panose="020B0604020202020204" pitchFamily="34" charset="0"/>
              <a:buChar char="•"/>
            </a:pPr>
            <a:r>
              <a:rPr lang="en-US" dirty="0"/>
              <a:t>Gaining and sustaining employment</a:t>
            </a:r>
          </a:p>
          <a:p>
            <a:pPr marL="342900" lvl="0" rtl="0">
              <a:spcBef>
                <a:spcPts val="0"/>
              </a:spcBef>
              <a:spcAft>
                <a:spcPts val="600"/>
              </a:spcAft>
              <a:buClr>
                <a:schemeClr val="dk1"/>
              </a:buClr>
              <a:buSzPts val="1100"/>
              <a:buFont typeface="Arial" panose="020B0604020202020204" pitchFamily="34" charset="0"/>
              <a:buChar char="•"/>
            </a:pPr>
            <a:r>
              <a:rPr lang="en-US" dirty="0"/>
              <a:t>Higher quality of life and life satisfaction</a:t>
            </a:r>
          </a:p>
          <a:p>
            <a:pPr marL="342900" lvl="0" rtl="0">
              <a:spcBef>
                <a:spcPts val="0"/>
              </a:spcBef>
              <a:spcAft>
                <a:spcPts val="600"/>
              </a:spcAft>
              <a:buClr>
                <a:schemeClr val="dk1"/>
              </a:buClr>
              <a:buSzPts val="1100"/>
              <a:buFont typeface="Arial" panose="020B0604020202020204" pitchFamily="34" charset="0"/>
              <a:buChar char="•"/>
            </a:pPr>
            <a:r>
              <a:rPr lang="en-US" dirty="0"/>
              <a:t>More likely to live independently</a:t>
            </a:r>
          </a:p>
          <a:p>
            <a:pPr marL="342900" lvl="0" rtl="0">
              <a:spcBef>
                <a:spcPts val="0"/>
              </a:spcBef>
              <a:spcAft>
                <a:spcPts val="600"/>
              </a:spcAft>
              <a:buClr>
                <a:schemeClr val="dk1"/>
              </a:buClr>
              <a:buSzPts val="1100"/>
              <a:buFont typeface="Arial" panose="020B0604020202020204" pitchFamily="34" charset="0"/>
              <a:buChar char="•"/>
            </a:pPr>
            <a:endParaRPr lang="en-US" dirty="0"/>
          </a:p>
        </p:txBody>
      </p:sp>
    </p:spTree>
    <p:extLst>
      <p:ext uri="{BB962C8B-B14F-4D97-AF65-F5344CB8AC3E}">
        <p14:creationId xmlns:p14="http://schemas.microsoft.com/office/powerpoint/2010/main" val="3464829789"/>
      </p:ext>
    </p:extLst>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9B15B-BD47-6885-BBDC-CFB2F2989620}"/>
              </a:ext>
            </a:extLst>
          </p:cNvPr>
          <p:cNvSpPr>
            <a:spLocks noGrp="1"/>
          </p:cNvSpPr>
          <p:nvPr>
            <p:ph type="title"/>
          </p:nvPr>
        </p:nvSpPr>
        <p:spPr>
          <a:xfrm>
            <a:off x="2143125" y="273844"/>
            <a:ext cx="6372225" cy="994172"/>
          </a:xfrm>
        </p:spPr>
        <p:txBody>
          <a:bodyPr anchor="ctr">
            <a:normAutofit/>
          </a:bodyPr>
          <a:lstStyle/>
          <a:p>
            <a:r>
              <a:rPr lang="en-US" sz="3100"/>
              <a:t>Module 2 Complete</a:t>
            </a:r>
            <a:br>
              <a:rPr lang="en-US" sz="3100"/>
            </a:br>
            <a:r>
              <a:rPr lang="en-US" sz="3100"/>
              <a:t>Next Step: Complete Module 2 Quiz</a:t>
            </a:r>
          </a:p>
        </p:txBody>
      </p:sp>
      <p:pic>
        <p:nvPicPr>
          <p:cNvPr id="5" name="Picture 4" descr="Close up of checklist">
            <a:extLst>
              <a:ext uri="{FF2B5EF4-FFF2-40B4-BE49-F238E27FC236}">
                <a16:creationId xmlns:a16="http://schemas.microsoft.com/office/drawing/2014/main" id="{38A084AA-0B8B-34C3-CC4C-6233F3BF039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884665" y="1355706"/>
            <a:ext cx="4889144" cy="3263504"/>
          </a:xfrm>
          <a:prstGeom prst="rect">
            <a:avLst/>
          </a:prstGeom>
          <a:noFill/>
        </p:spPr>
      </p:pic>
    </p:spTree>
    <p:extLst>
      <p:ext uri="{BB962C8B-B14F-4D97-AF65-F5344CB8AC3E}">
        <p14:creationId xmlns:p14="http://schemas.microsoft.com/office/powerpoint/2010/main" val="184596219"/>
      </p:ext>
    </p:extLst>
  </p:cSld>
  <p:clrMapOvr>
    <a:masterClrMapping/>
  </p:clrMapOvr>
  <p:transition spd="slow">
    <p:push/>
  </p:transition>
</p:sld>
</file>

<file path=ppt/theme/theme1.xml><?xml version="1.0" encoding="utf-8"?>
<a:theme xmlns:a="http://schemas.openxmlformats.org/drawingml/2006/main" name="Template">
  <a:themeElements>
    <a:clrScheme name="Custom 1">
      <a:dk1>
        <a:srgbClr val="002E5C"/>
      </a:dk1>
      <a:lt1>
        <a:srgbClr val="FFFFFF"/>
      </a:lt1>
      <a:dk2>
        <a:srgbClr val="002E5C"/>
      </a:dk2>
      <a:lt2>
        <a:srgbClr val="FFFFFF"/>
      </a:lt2>
      <a:accent1>
        <a:srgbClr val="002E5C"/>
      </a:accent1>
      <a:accent2>
        <a:srgbClr val="989490"/>
      </a:accent2>
      <a:accent3>
        <a:srgbClr val="0066A6"/>
      </a:accent3>
      <a:accent4>
        <a:srgbClr val="004581"/>
      </a:accent4>
      <a:accent5>
        <a:srgbClr val="FFFFFF"/>
      </a:accent5>
      <a:accent6>
        <a:srgbClr val="000000"/>
      </a:accent6>
      <a:hlink>
        <a:srgbClr val="1B9FD5"/>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ST.potx" id="{71A39B0D-7793-4C65-9C41-951E39D81AF9}" vid="{C38E953C-75BA-4763-92E8-6C0AAC7278A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11221</TotalTime>
  <Words>208</Words>
  <Application>Microsoft Office PowerPoint</Application>
  <PresentationFormat>On-screen Show (16:9)</PresentationFormat>
  <Paragraphs>28</Paragraphs>
  <Slides>8</Slides>
  <Notes>8</Notes>
  <HiddenSlides>0</HiddenSlides>
  <MMClips>0</MMClips>
  <ScaleCrop>false</ScaleCrop>
  <HeadingPairs>
    <vt:vector size="8" baseType="variant">
      <vt:variant>
        <vt:lpstr>Fonts Used</vt:lpstr>
      </vt:variant>
      <vt:variant>
        <vt:i4>5</vt:i4>
      </vt:variant>
      <vt:variant>
        <vt:lpstr>Theme</vt:lpstr>
      </vt:variant>
      <vt:variant>
        <vt:i4>1</vt:i4>
      </vt:variant>
      <vt:variant>
        <vt:lpstr>Slide Titles</vt:lpstr>
      </vt:variant>
      <vt:variant>
        <vt:i4>8</vt:i4>
      </vt:variant>
      <vt:variant>
        <vt:lpstr>Custom Shows</vt:lpstr>
      </vt:variant>
      <vt:variant>
        <vt:i4>3</vt:i4>
      </vt:variant>
    </vt:vector>
  </HeadingPairs>
  <TitlesOfParts>
    <vt:vector size="17" baseType="lpstr">
      <vt:lpstr>Verdana Pro</vt:lpstr>
      <vt:lpstr>Aptos</vt:lpstr>
      <vt:lpstr>Arial</vt:lpstr>
      <vt:lpstr>Atkinson Hyperlegible Next</vt:lpstr>
      <vt:lpstr>Overpass</vt:lpstr>
      <vt:lpstr>Template</vt:lpstr>
      <vt:lpstr>Module 2: What is Self-Determination?</vt:lpstr>
      <vt:lpstr>Self-Determination is…</vt:lpstr>
      <vt:lpstr>Mindset: Self-Determined Actions</vt:lpstr>
      <vt:lpstr>Skillset</vt:lpstr>
      <vt:lpstr>Benefits of Instruction on Self-Determination Skills</vt:lpstr>
      <vt:lpstr>When students have self-determination skills, they have greater access to the general education environment.</vt:lpstr>
      <vt:lpstr>Self-Determination Skills promote positive postschool outcomes (indicator 14)</vt:lpstr>
      <vt:lpstr>Module 2 Complete Next Step: Complete Module 2 Quiz</vt:lpstr>
      <vt:lpstr>Module 4-A</vt:lpstr>
      <vt:lpstr>Module 4 B</vt:lpstr>
      <vt:lpstr>Module 5 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Involvement in the IEP</dc:title>
  <cp:lastModifiedBy>Erin Berry</cp:lastModifiedBy>
  <cp:revision>63</cp:revision>
  <dcterms:modified xsi:type="dcterms:W3CDTF">2026-06-08T19:44:04Z</dcterms:modified>
</cp:coreProperties>
</file>