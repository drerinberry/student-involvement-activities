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45" r:id="rId1"/>
  </p:sldMasterIdLst>
  <p:notesMasterIdLst>
    <p:notesMasterId r:id="rId23"/>
  </p:notesMasterIdLst>
  <p:sldIdLst>
    <p:sldId id="398" r:id="rId2"/>
    <p:sldId id="446" r:id="rId3"/>
    <p:sldId id="447" r:id="rId4"/>
    <p:sldId id="448" r:id="rId5"/>
    <p:sldId id="449" r:id="rId6"/>
    <p:sldId id="450" r:id="rId7"/>
    <p:sldId id="460" r:id="rId8"/>
    <p:sldId id="453" r:id="rId9"/>
    <p:sldId id="452" r:id="rId10"/>
    <p:sldId id="454" r:id="rId11"/>
    <p:sldId id="464" r:id="rId12"/>
    <p:sldId id="455" r:id="rId13"/>
    <p:sldId id="461" r:id="rId14"/>
    <p:sldId id="462" r:id="rId15"/>
    <p:sldId id="463" r:id="rId16"/>
    <p:sldId id="467" r:id="rId17"/>
    <p:sldId id="465" r:id="rId18"/>
    <p:sldId id="466" r:id="rId19"/>
    <p:sldId id="505" r:id="rId20"/>
    <p:sldId id="506" r:id="rId21"/>
    <p:sldId id="439" r:id="rId22"/>
  </p:sldIdLst>
  <p:sldSz cx="9144000" cy="5143500" type="screen16x9"/>
  <p:notesSz cx="6858000" cy="9144000"/>
  <p:embeddedFontLst>
    <p:embeddedFont>
      <p:font typeface="Atkinson Hyperlegible Next" pitchFamily="2" charset="0"/>
      <p:regular r:id="rId24"/>
      <p:bold r:id="rId25"/>
      <p:italic r:id="rId26"/>
      <p:boldItalic r:id="rId27"/>
    </p:embeddedFont>
    <p:embeddedFont>
      <p:font typeface="Bebas Neue" panose="020B0606020202050201" pitchFamily="34" charset="0"/>
      <p:regular r:id="rId28"/>
    </p:embeddedFont>
    <p:embeddedFont>
      <p:font typeface="Verdana Pro" panose="020B0604030504040204" pitchFamily="34" charset="0"/>
      <p:regular r:id="rId29"/>
      <p:bold r:id="rId30"/>
      <p:italic r:id="rId31"/>
      <p:boldItalic r:id="rId32"/>
    </p:embeddedFont>
  </p:embeddedFontLst>
  <p:custShowLst>
    <p:custShow name="Module 4-A" id="0">
      <p:sldLst/>
    </p:custShow>
    <p:custShow name="Module 4 B" id="1">
      <p:sldLst/>
    </p:custShow>
    <p:custShow name="Module 5 B" id="2">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34F9EC-98CC-412A-A934-6DD6FF4EBB9C}" v="2" dt="2026-06-09T17:13:21.033"/>
  </p1510:revLst>
</p1510:revInfo>
</file>

<file path=ppt/tableStyles.xml><?xml version="1.0" encoding="utf-8"?>
<a:tblStyleLst xmlns:a="http://schemas.openxmlformats.org/drawingml/2006/main" def="{A9794ACA-B6A2-47D9-BE13-C8960EFA1BC4}">
  <a:tblStyle styleId="{A9794ACA-B6A2-47D9-BE13-C8960EFA1B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1466" autoAdjust="0"/>
  </p:normalViewPr>
  <p:slideViewPr>
    <p:cSldViewPr snapToGrid="0">
      <p:cViewPr varScale="1">
        <p:scale>
          <a:sx n="121" d="100"/>
          <a:sy n="121" d="100"/>
        </p:scale>
        <p:origin x="123" y="69"/>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Berry" userId="b7d8294d-da7c-45c9-9002-ab631a364979" providerId="ADAL" clId="{718D2BA2-B69C-4596-B36D-F24A681F5194}"/>
    <pc:docChg chg="custSel modSld">
      <pc:chgData name="Erin Berry" userId="b7d8294d-da7c-45c9-9002-ab631a364979" providerId="ADAL" clId="{718D2BA2-B69C-4596-B36D-F24A681F5194}" dt="2026-06-09T17:13:40.230" v="1" actId="478"/>
      <pc:docMkLst>
        <pc:docMk/>
      </pc:docMkLst>
      <pc:sldChg chg="modTransition">
        <pc:chgData name="Erin Berry" userId="b7d8294d-da7c-45c9-9002-ab631a364979" providerId="ADAL" clId="{718D2BA2-B69C-4596-B36D-F24A681F5194}" dt="2026-06-09T17:13:21.033" v="0"/>
        <pc:sldMkLst>
          <pc:docMk/>
          <pc:sldMk cId="1517866288" sldId="398"/>
        </pc:sldMkLst>
      </pc:sldChg>
      <pc:sldChg chg="modTransition">
        <pc:chgData name="Erin Berry" userId="b7d8294d-da7c-45c9-9002-ab631a364979" providerId="ADAL" clId="{718D2BA2-B69C-4596-B36D-F24A681F5194}" dt="2026-06-09T17:13:21.033" v="0"/>
        <pc:sldMkLst>
          <pc:docMk/>
          <pc:sldMk cId="910221772" sldId="439"/>
        </pc:sldMkLst>
      </pc:sldChg>
      <pc:sldChg chg="modTransition">
        <pc:chgData name="Erin Berry" userId="b7d8294d-da7c-45c9-9002-ab631a364979" providerId="ADAL" clId="{718D2BA2-B69C-4596-B36D-F24A681F5194}" dt="2026-06-09T17:13:21.033" v="0"/>
        <pc:sldMkLst>
          <pc:docMk/>
          <pc:sldMk cId="1764265042" sldId="446"/>
        </pc:sldMkLst>
      </pc:sldChg>
      <pc:sldChg chg="modTransition">
        <pc:chgData name="Erin Berry" userId="b7d8294d-da7c-45c9-9002-ab631a364979" providerId="ADAL" clId="{718D2BA2-B69C-4596-B36D-F24A681F5194}" dt="2026-06-09T17:13:21.033" v="0"/>
        <pc:sldMkLst>
          <pc:docMk/>
          <pc:sldMk cId="2358508950" sldId="447"/>
        </pc:sldMkLst>
      </pc:sldChg>
      <pc:sldChg chg="modTransition">
        <pc:chgData name="Erin Berry" userId="b7d8294d-da7c-45c9-9002-ab631a364979" providerId="ADAL" clId="{718D2BA2-B69C-4596-B36D-F24A681F5194}" dt="2026-06-09T17:13:21.033" v="0"/>
        <pc:sldMkLst>
          <pc:docMk/>
          <pc:sldMk cId="2477625358" sldId="448"/>
        </pc:sldMkLst>
      </pc:sldChg>
      <pc:sldChg chg="modTransition">
        <pc:chgData name="Erin Berry" userId="b7d8294d-da7c-45c9-9002-ab631a364979" providerId="ADAL" clId="{718D2BA2-B69C-4596-B36D-F24A681F5194}" dt="2026-06-09T17:13:21.033" v="0"/>
        <pc:sldMkLst>
          <pc:docMk/>
          <pc:sldMk cId="123381671" sldId="449"/>
        </pc:sldMkLst>
      </pc:sldChg>
      <pc:sldChg chg="modTransition">
        <pc:chgData name="Erin Berry" userId="b7d8294d-da7c-45c9-9002-ab631a364979" providerId="ADAL" clId="{718D2BA2-B69C-4596-B36D-F24A681F5194}" dt="2026-06-09T17:13:21.033" v="0"/>
        <pc:sldMkLst>
          <pc:docMk/>
          <pc:sldMk cId="875817697" sldId="450"/>
        </pc:sldMkLst>
      </pc:sldChg>
      <pc:sldChg chg="modTransition">
        <pc:chgData name="Erin Berry" userId="b7d8294d-da7c-45c9-9002-ab631a364979" providerId="ADAL" clId="{718D2BA2-B69C-4596-B36D-F24A681F5194}" dt="2026-06-09T17:13:21.033" v="0"/>
        <pc:sldMkLst>
          <pc:docMk/>
          <pc:sldMk cId="245796595" sldId="452"/>
        </pc:sldMkLst>
      </pc:sldChg>
      <pc:sldChg chg="modTransition">
        <pc:chgData name="Erin Berry" userId="b7d8294d-da7c-45c9-9002-ab631a364979" providerId="ADAL" clId="{718D2BA2-B69C-4596-B36D-F24A681F5194}" dt="2026-06-09T17:13:21.033" v="0"/>
        <pc:sldMkLst>
          <pc:docMk/>
          <pc:sldMk cId="153994808" sldId="453"/>
        </pc:sldMkLst>
      </pc:sldChg>
      <pc:sldChg chg="modTransition">
        <pc:chgData name="Erin Berry" userId="b7d8294d-da7c-45c9-9002-ab631a364979" providerId="ADAL" clId="{718D2BA2-B69C-4596-B36D-F24A681F5194}" dt="2026-06-09T17:13:21.033" v="0"/>
        <pc:sldMkLst>
          <pc:docMk/>
          <pc:sldMk cId="2916896962" sldId="454"/>
        </pc:sldMkLst>
      </pc:sldChg>
      <pc:sldChg chg="modTransition">
        <pc:chgData name="Erin Berry" userId="b7d8294d-da7c-45c9-9002-ab631a364979" providerId="ADAL" clId="{718D2BA2-B69C-4596-B36D-F24A681F5194}" dt="2026-06-09T17:13:21.033" v="0"/>
        <pc:sldMkLst>
          <pc:docMk/>
          <pc:sldMk cId="3991743729" sldId="455"/>
        </pc:sldMkLst>
      </pc:sldChg>
      <pc:sldChg chg="modTransition">
        <pc:chgData name="Erin Berry" userId="b7d8294d-da7c-45c9-9002-ab631a364979" providerId="ADAL" clId="{718D2BA2-B69C-4596-B36D-F24A681F5194}" dt="2026-06-09T17:13:21.033" v="0"/>
        <pc:sldMkLst>
          <pc:docMk/>
          <pc:sldMk cId="3190900326" sldId="460"/>
        </pc:sldMkLst>
      </pc:sldChg>
      <pc:sldChg chg="modTransition">
        <pc:chgData name="Erin Berry" userId="b7d8294d-da7c-45c9-9002-ab631a364979" providerId="ADAL" clId="{718D2BA2-B69C-4596-B36D-F24A681F5194}" dt="2026-06-09T17:13:21.033" v="0"/>
        <pc:sldMkLst>
          <pc:docMk/>
          <pc:sldMk cId="2734155974" sldId="461"/>
        </pc:sldMkLst>
      </pc:sldChg>
      <pc:sldChg chg="modTransition">
        <pc:chgData name="Erin Berry" userId="b7d8294d-da7c-45c9-9002-ab631a364979" providerId="ADAL" clId="{718D2BA2-B69C-4596-B36D-F24A681F5194}" dt="2026-06-09T17:13:21.033" v="0"/>
        <pc:sldMkLst>
          <pc:docMk/>
          <pc:sldMk cId="2550402865" sldId="462"/>
        </pc:sldMkLst>
      </pc:sldChg>
      <pc:sldChg chg="modTransition">
        <pc:chgData name="Erin Berry" userId="b7d8294d-da7c-45c9-9002-ab631a364979" providerId="ADAL" clId="{718D2BA2-B69C-4596-B36D-F24A681F5194}" dt="2026-06-09T17:13:21.033" v="0"/>
        <pc:sldMkLst>
          <pc:docMk/>
          <pc:sldMk cId="410346718" sldId="463"/>
        </pc:sldMkLst>
      </pc:sldChg>
      <pc:sldChg chg="modTransition">
        <pc:chgData name="Erin Berry" userId="b7d8294d-da7c-45c9-9002-ab631a364979" providerId="ADAL" clId="{718D2BA2-B69C-4596-B36D-F24A681F5194}" dt="2026-06-09T17:13:21.033" v="0"/>
        <pc:sldMkLst>
          <pc:docMk/>
          <pc:sldMk cId="1740332288" sldId="464"/>
        </pc:sldMkLst>
      </pc:sldChg>
      <pc:sldChg chg="modTransition">
        <pc:chgData name="Erin Berry" userId="b7d8294d-da7c-45c9-9002-ab631a364979" providerId="ADAL" clId="{718D2BA2-B69C-4596-B36D-F24A681F5194}" dt="2026-06-09T17:13:21.033" v="0"/>
        <pc:sldMkLst>
          <pc:docMk/>
          <pc:sldMk cId="260761773" sldId="465"/>
        </pc:sldMkLst>
      </pc:sldChg>
      <pc:sldChg chg="modTransition">
        <pc:chgData name="Erin Berry" userId="b7d8294d-da7c-45c9-9002-ab631a364979" providerId="ADAL" clId="{718D2BA2-B69C-4596-B36D-F24A681F5194}" dt="2026-06-09T17:13:21.033" v="0"/>
        <pc:sldMkLst>
          <pc:docMk/>
          <pc:sldMk cId="3915724583" sldId="466"/>
        </pc:sldMkLst>
      </pc:sldChg>
      <pc:sldChg chg="modTransition">
        <pc:chgData name="Erin Berry" userId="b7d8294d-da7c-45c9-9002-ab631a364979" providerId="ADAL" clId="{718D2BA2-B69C-4596-B36D-F24A681F5194}" dt="2026-06-09T17:13:21.033" v="0"/>
        <pc:sldMkLst>
          <pc:docMk/>
          <pc:sldMk cId="3000634886" sldId="467"/>
        </pc:sldMkLst>
      </pc:sldChg>
      <pc:sldChg chg="modTransition">
        <pc:chgData name="Erin Berry" userId="b7d8294d-da7c-45c9-9002-ab631a364979" providerId="ADAL" clId="{718D2BA2-B69C-4596-B36D-F24A681F5194}" dt="2026-06-09T17:13:21.033" v="0"/>
        <pc:sldMkLst>
          <pc:docMk/>
          <pc:sldMk cId="2371558917" sldId="505"/>
        </pc:sldMkLst>
      </pc:sldChg>
      <pc:sldChg chg="delSp mod modTransition delAnim">
        <pc:chgData name="Erin Berry" userId="b7d8294d-da7c-45c9-9002-ab631a364979" providerId="ADAL" clId="{718D2BA2-B69C-4596-B36D-F24A681F5194}" dt="2026-06-09T17:13:40.230" v="1" actId="478"/>
        <pc:sldMkLst>
          <pc:docMk/>
          <pc:sldMk cId="3681517611" sldId="506"/>
        </pc:sldMkLst>
        <pc:picChg chg="del">
          <ac:chgData name="Erin Berry" userId="b7d8294d-da7c-45c9-9002-ab631a364979" providerId="ADAL" clId="{718D2BA2-B69C-4596-B36D-F24A681F5194}" dt="2026-06-09T17:13:40.230" v="1" actId="478"/>
          <ac:picMkLst>
            <pc:docMk/>
            <pc:sldMk cId="3681517611" sldId="506"/>
            <ac:picMk id="2" creationId="{F8BDBC07-DCA6-E19F-6864-AA367BB988E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61461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23172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61652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803737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2696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58725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7556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8333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0705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7540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3686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06597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20551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5503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1833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953226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969686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13409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6268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920880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4"/>
        <p:cNvGrpSpPr/>
        <p:nvPr/>
      </p:nvGrpSpPr>
      <p:grpSpPr>
        <a:xfrm>
          <a:off x="0" y="0"/>
          <a:ext cx="0" cy="0"/>
          <a:chOff x="0" y="0"/>
          <a:chExt cx="0" cy="0"/>
        </a:xfrm>
      </p:grpSpPr>
      <p:sp>
        <p:nvSpPr>
          <p:cNvPr id="1565" name="Google Shape;1565;gb47398cd52_0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6" name="Google Shape;1566;gb47398cd52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414166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9" name="Picture 18" descr="Plan Your Way OK - Pathways to Partnership Branding">
            <a:extLst>
              <a:ext uri="{FF2B5EF4-FFF2-40B4-BE49-F238E27FC236}">
                <a16:creationId xmlns:a16="http://schemas.microsoft.com/office/drawing/2014/main" id="{139458B0-30E7-2183-E0BC-314754192B05}"/>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9144000" cy="51435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Date Placeholder 3">
            <a:extLst>
              <a:ext uri="{FF2B5EF4-FFF2-40B4-BE49-F238E27FC236}">
                <a16:creationId xmlns:a16="http://schemas.microsoft.com/office/drawing/2014/main" id="{BECE081B-8AFD-D5FC-5BDA-93266454635F}"/>
              </a:ext>
            </a:extLst>
          </p:cNvPr>
          <p:cNvSpPr>
            <a:spLocks noGrp="1"/>
          </p:cNvSpPr>
          <p:nvPr>
            <p:ph type="dt" sz="half" idx="10"/>
          </p:nvPr>
        </p:nvSpPr>
        <p:spPr/>
        <p:txBody>
          <a:bodyPr/>
          <a:lstStyle/>
          <a:p>
            <a:fld id="{5A0FCB29-5841-415B-8794-5F64FD0A6698}" type="datetimeFigureOut">
              <a:rPr lang="en-US" smtClean="0"/>
              <a:t>6/9/2026</a:t>
            </a:fld>
            <a:endParaRPr lang="en-US" dirty="0"/>
          </a:p>
        </p:txBody>
      </p:sp>
      <p:sp>
        <p:nvSpPr>
          <p:cNvPr id="5" name="Footer Placeholder 4">
            <a:extLst>
              <a:ext uri="{FF2B5EF4-FFF2-40B4-BE49-F238E27FC236}">
                <a16:creationId xmlns:a16="http://schemas.microsoft.com/office/drawing/2014/main" id="{4D2B0962-935E-E563-68DF-7E0D400F6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B47A3-5400-C06D-FC82-EDF5C8B0CE6F}"/>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9" name="Picture 8" descr="Blue and white sign&#10;&#10;">
            <a:extLst>
              <a:ext uri="{FF2B5EF4-FFF2-40B4-BE49-F238E27FC236}">
                <a16:creationId xmlns:a16="http://schemas.microsoft.com/office/drawing/2014/main" id="{88FB3550-3282-2683-4046-E0A6CAF7B8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
        <p:nvSpPr>
          <p:cNvPr id="10" name="TextBox 9">
            <a:extLst>
              <a:ext uri="{FF2B5EF4-FFF2-40B4-BE49-F238E27FC236}">
                <a16:creationId xmlns:a16="http://schemas.microsoft.com/office/drawing/2014/main" id="{B5896585-3E93-1142-5556-DB1C5C7297CF}"/>
              </a:ext>
            </a:extLst>
          </p:cNvPr>
          <p:cNvSpPr txBox="1">
            <a:spLocks/>
          </p:cNvSpPr>
          <p:nvPr/>
        </p:nvSpPr>
        <p:spPr>
          <a:xfrm>
            <a:off x="5021745" y="3079692"/>
            <a:ext cx="3766931" cy="1661993"/>
          </a:xfrm>
          <a:prstGeom prst="rect">
            <a:avLst/>
          </a:prstGeom>
          <a:noFill/>
        </p:spPr>
        <p:txBody>
          <a:bodyPr wrap="square" rtlCol="0">
            <a:spAutoFit/>
          </a:bodyPr>
          <a:lstStyle/>
          <a:p>
            <a:r>
              <a:rPr lang="en-US" sz="1200" b="1" dirty="0">
                <a:latin typeface="Atkinson Hyperlegible Next" pitchFamily="50" charset="0"/>
              </a:rPr>
              <a:t>OKLAHOMA STATE DEPARTMENT OF EDUCATION</a:t>
            </a:r>
          </a:p>
          <a:p>
            <a:r>
              <a:rPr lang="en-US" sz="4500" b="1" dirty="0">
                <a:solidFill>
                  <a:schemeClr val="bg1"/>
                </a:solidFill>
                <a:latin typeface="Atkinson Hyperlegible Next" pitchFamily="50" charset="0"/>
              </a:rPr>
              <a:t>Pathways to Partnership</a:t>
            </a:r>
          </a:p>
        </p:txBody>
      </p:sp>
    </p:spTree>
    <p:extLst>
      <p:ext uri="{BB962C8B-B14F-4D97-AF65-F5344CB8AC3E}">
        <p14:creationId xmlns:p14="http://schemas.microsoft.com/office/powerpoint/2010/main" val="12404700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7" name="Picture 6" descr="A picture containing text, sign&#10;&#10;AI-generated content may be incorrect.">
            <a:extLst>
              <a:ext uri="{FF2B5EF4-FFF2-40B4-BE49-F238E27FC236}">
                <a16:creationId xmlns:a16="http://schemas.microsoft.com/office/drawing/2014/main" id="{57B7DEBE-00D3-4BD0-C762-E00DE9C300F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0" name="Picture 9">
            <a:extLst>
              <a:ext uri="{FF2B5EF4-FFF2-40B4-BE49-F238E27FC236}">
                <a16:creationId xmlns:a16="http://schemas.microsoft.com/office/drawing/2014/main" id="{95D2809E-2FF8-ED01-3B87-17DF6F59A1A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4506685"/>
            <a:ext cx="3221736" cy="636815"/>
          </a:xfrm>
          <a:prstGeom prst="rect">
            <a:avLst/>
          </a:prstGeom>
        </p:spPr>
      </p:pic>
    </p:spTree>
    <p:extLst>
      <p:ext uri="{BB962C8B-B14F-4D97-AF65-F5344CB8AC3E}">
        <p14:creationId xmlns:p14="http://schemas.microsoft.com/office/powerpoint/2010/main" val="25375241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628650" y="273844"/>
            <a:ext cx="7166508"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628650" y="1369219"/>
            <a:ext cx="7166508"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7795158" y="0"/>
            <a:ext cx="1348842" cy="5143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Plan Your Way OK Logo">
            <a:extLst>
              <a:ext uri="{FF2B5EF4-FFF2-40B4-BE49-F238E27FC236}">
                <a16:creationId xmlns:a16="http://schemas.microsoft.com/office/drawing/2014/main" id="{47FC278A-E5C4-C003-38CF-8DC7285E66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pic>
        <p:nvPicPr>
          <p:cNvPr id="23" name="Picture 22" descr="Icon&#10;&#10;AI-generated content may be incorrect.">
            <a:extLst>
              <a:ext uri="{FF2B5EF4-FFF2-40B4-BE49-F238E27FC236}">
                <a16:creationId xmlns:a16="http://schemas.microsoft.com/office/drawing/2014/main" id="{0A7B53E6-04A1-72A3-5FED-8ACC283AD8A2}"/>
              </a:ext>
            </a:extLst>
          </p:cNvPr>
          <p:cNvPicPr>
            <a:picLocks noChangeAspect="1"/>
          </p:cNvPicPr>
          <p:nvPr/>
        </p:nvPicPr>
        <p:blipFill>
          <a:blip r:embed="rId3" cstate="email">
            <a:extLst>
              <a:ext uri="{28A0092B-C50C-407E-A947-70E740481C1C}">
                <a14:useLocalDpi xmlns:a14="http://schemas.microsoft.com/office/drawing/2010/main"/>
              </a:ext>
            </a:extLst>
          </a:blip>
          <a:srcRect r="43033"/>
          <a:stretch>
            <a:fillRect/>
          </a:stretch>
        </p:blipFill>
        <p:spPr>
          <a:xfrm>
            <a:off x="7610302" y="273844"/>
            <a:ext cx="1533698" cy="2692241"/>
          </a:xfrm>
          <a:custGeom>
            <a:avLst/>
            <a:gdLst>
              <a:gd name="connsiteX0" fmla="*/ 0 w 2044930"/>
              <a:gd name="connsiteY0" fmla="*/ 0 h 3589655"/>
              <a:gd name="connsiteX1" fmla="*/ 2044930 w 2044930"/>
              <a:gd name="connsiteY1" fmla="*/ 0 h 3589655"/>
              <a:gd name="connsiteX2" fmla="*/ 2044930 w 2044930"/>
              <a:gd name="connsiteY2" fmla="*/ 3589655 h 3589655"/>
              <a:gd name="connsiteX3" fmla="*/ 0 w 2044930"/>
              <a:gd name="connsiteY3" fmla="*/ 3589655 h 3589655"/>
            </a:gdLst>
            <a:ahLst/>
            <a:cxnLst>
              <a:cxn ang="0">
                <a:pos x="connsiteX0" y="connsiteY0"/>
              </a:cxn>
              <a:cxn ang="0">
                <a:pos x="connsiteX1" y="connsiteY1"/>
              </a:cxn>
              <a:cxn ang="0">
                <a:pos x="connsiteX2" y="connsiteY2"/>
              </a:cxn>
              <a:cxn ang="0">
                <a:pos x="connsiteX3" y="connsiteY3"/>
              </a:cxn>
            </a:cxnLst>
            <a:rect l="l" t="t" r="r" b="b"/>
            <a:pathLst>
              <a:path w="2044930" h="3589655">
                <a:moveTo>
                  <a:pt x="0" y="0"/>
                </a:moveTo>
                <a:lnTo>
                  <a:pt x="2044930" y="0"/>
                </a:lnTo>
                <a:lnTo>
                  <a:pt x="2044930" y="3589655"/>
                </a:lnTo>
                <a:lnTo>
                  <a:pt x="0" y="3589655"/>
                </a:lnTo>
                <a:close/>
              </a:path>
            </a:pathLst>
          </a:custGeom>
        </p:spPr>
      </p:pic>
    </p:spTree>
    <p:extLst>
      <p:ext uri="{BB962C8B-B14F-4D97-AF65-F5344CB8AC3E}">
        <p14:creationId xmlns:p14="http://schemas.microsoft.com/office/powerpoint/2010/main" val="36033533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2143125" y="273844"/>
            <a:ext cx="6372225"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2143125" y="1369219"/>
            <a:ext cx="6372225"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0" y="0"/>
            <a:ext cx="2057400" cy="5143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descr="Background pattern&#10;&#10;AI-generated content may be incorrect.">
            <a:extLst>
              <a:ext uri="{FF2B5EF4-FFF2-40B4-BE49-F238E27FC236}">
                <a16:creationId xmlns:a16="http://schemas.microsoft.com/office/drawing/2014/main" id="{C72F8F3C-7D49-A158-EC5F-3022C950E63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0"/>
            <a:ext cx="1828304" cy="5143500"/>
          </a:xfrm>
          <a:custGeom>
            <a:avLst/>
            <a:gdLst>
              <a:gd name="connsiteX0" fmla="*/ 0 w 2437739"/>
              <a:gd name="connsiteY0" fmla="*/ 0 h 6858000"/>
              <a:gd name="connsiteX1" fmla="*/ 2437739 w 2437739"/>
              <a:gd name="connsiteY1" fmla="*/ 0 h 6858000"/>
              <a:gd name="connsiteX2" fmla="*/ 2437739 w 2437739"/>
              <a:gd name="connsiteY2" fmla="*/ 6858000 h 6858000"/>
              <a:gd name="connsiteX3" fmla="*/ 0 w 243773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437739" h="6858000">
                <a:moveTo>
                  <a:pt x="0" y="0"/>
                </a:moveTo>
                <a:lnTo>
                  <a:pt x="2437739" y="0"/>
                </a:lnTo>
                <a:lnTo>
                  <a:pt x="2437739" y="6858000"/>
                </a:lnTo>
                <a:lnTo>
                  <a:pt x="0" y="6858000"/>
                </a:lnTo>
                <a:close/>
              </a:path>
            </a:pathLst>
          </a:custGeom>
        </p:spPr>
      </p:pic>
      <p:pic>
        <p:nvPicPr>
          <p:cNvPr id="11" name="Picture 10" descr="A picture containing text, sign&#10;&#10;AI-generated content may be incorrect.">
            <a:extLst>
              <a:ext uri="{FF2B5EF4-FFF2-40B4-BE49-F238E27FC236}">
                <a16:creationId xmlns:a16="http://schemas.microsoft.com/office/drawing/2014/main" id="{CD69CD18-3F01-36C8-B47D-93F8D18A3B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spTree>
    <p:extLst>
      <p:ext uri="{BB962C8B-B14F-4D97-AF65-F5344CB8AC3E}">
        <p14:creationId xmlns:p14="http://schemas.microsoft.com/office/powerpoint/2010/main" val="4256577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CE63-E0AC-12D5-504E-D5E0649AC35D}"/>
              </a:ext>
            </a:extLst>
          </p:cNvPr>
          <p:cNvSpPr>
            <a:spLocks noGrp="1"/>
          </p:cNvSpPr>
          <p:nvPr>
            <p:ph type="title"/>
          </p:nvPr>
        </p:nvSpPr>
        <p:spPr>
          <a:xfrm>
            <a:off x="623888" y="1282304"/>
            <a:ext cx="7886700" cy="2139553"/>
          </a:xfrm>
        </p:spPr>
        <p:txBody>
          <a:bodyPr anchor="b"/>
          <a:lstStyle>
            <a:lvl1pPr>
              <a:defRPr sz="45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1C9AB-DF52-8ECD-BBD1-A316181026E7}"/>
              </a:ext>
            </a:extLst>
          </p:cNvPr>
          <p:cNvSpPr>
            <a:spLocks noGrp="1"/>
          </p:cNvSpPr>
          <p:nvPr>
            <p:ph type="body" idx="1"/>
          </p:nvPr>
        </p:nvSpPr>
        <p:spPr>
          <a:xfrm>
            <a:off x="623888" y="3442098"/>
            <a:ext cx="7886700" cy="1125140"/>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6B21C6-CC72-77B5-9E5F-0C13AAD88DE0}"/>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FBAE9409-FC1C-D8F6-C164-6757762B1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FFD45-8A77-BD59-0A42-4632D180202C}"/>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Background pattern&#10;&#10;AI-generated content may be incorrect.">
            <a:extLst>
              <a:ext uri="{FF2B5EF4-FFF2-40B4-BE49-F238E27FC236}">
                <a16:creationId xmlns:a16="http://schemas.microsoft.com/office/drawing/2014/main" id="{6DB361EA-32F9-14D2-D833-8C99C098F498}"/>
              </a:ext>
            </a:extLst>
          </p:cNvPr>
          <p:cNvPicPr/>
          <p:nvPr/>
        </p:nvPicPr>
        <p:blipFill>
          <a:blip r:embed="rId2" cstate="email">
            <a:extLst>
              <a:ext uri="{28A0092B-C50C-407E-A947-70E740481C1C}">
                <a14:useLocalDpi xmlns:a14="http://schemas.microsoft.com/office/drawing/2010/main"/>
              </a:ext>
            </a:extLst>
          </a:blip>
          <a:srcRect/>
          <a:stretch>
            <a:fillRect/>
          </a:stretch>
        </p:blipFill>
        <p:spPr>
          <a:xfrm>
            <a:off x="7942869" y="0"/>
            <a:ext cx="1201131" cy="4567238"/>
          </a:xfrm>
          <a:custGeom>
            <a:avLst/>
            <a:gdLst>
              <a:gd name="connsiteX0" fmla="*/ 0 w 1601508"/>
              <a:gd name="connsiteY0" fmla="*/ 0 h 6089650"/>
              <a:gd name="connsiteX1" fmla="*/ 1601508 w 1601508"/>
              <a:gd name="connsiteY1" fmla="*/ 0 h 6089650"/>
              <a:gd name="connsiteX2" fmla="*/ 1601508 w 1601508"/>
              <a:gd name="connsiteY2" fmla="*/ 6089650 h 6089650"/>
              <a:gd name="connsiteX3" fmla="*/ 0 w 1601508"/>
              <a:gd name="connsiteY3" fmla="*/ 6089650 h 6089650"/>
            </a:gdLst>
            <a:ahLst/>
            <a:cxnLst>
              <a:cxn ang="0">
                <a:pos x="connsiteX0" y="connsiteY0"/>
              </a:cxn>
              <a:cxn ang="0">
                <a:pos x="connsiteX1" y="connsiteY1"/>
              </a:cxn>
              <a:cxn ang="0">
                <a:pos x="connsiteX2" y="connsiteY2"/>
              </a:cxn>
              <a:cxn ang="0">
                <a:pos x="connsiteX3" y="connsiteY3"/>
              </a:cxn>
            </a:cxnLst>
            <a:rect l="l" t="t" r="r" b="b"/>
            <a:pathLst>
              <a:path w="1601508" h="6089650">
                <a:moveTo>
                  <a:pt x="0" y="0"/>
                </a:moveTo>
                <a:lnTo>
                  <a:pt x="1601508" y="0"/>
                </a:lnTo>
                <a:lnTo>
                  <a:pt x="1601508" y="6089650"/>
                </a:lnTo>
                <a:lnTo>
                  <a:pt x="0" y="6089650"/>
                </a:lnTo>
                <a:close/>
              </a:path>
            </a:pathLst>
          </a:custGeom>
        </p:spPr>
      </p:pic>
      <p:pic>
        <p:nvPicPr>
          <p:cNvPr id="9" name="Picture 8" descr="Plan Your Way OK Logo">
            <a:extLst>
              <a:ext uri="{FF2B5EF4-FFF2-40B4-BE49-F238E27FC236}">
                <a16:creationId xmlns:a16="http://schemas.microsoft.com/office/drawing/2014/main" id="{0D2C000A-F6E0-0CEB-2F25-076E4646A9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spTree>
    <p:extLst>
      <p:ext uri="{BB962C8B-B14F-4D97-AF65-F5344CB8AC3E}">
        <p14:creationId xmlns:p14="http://schemas.microsoft.com/office/powerpoint/2010/main" val="8370980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BAB54-1C3C-EBFA-9FBE-4D7D8D8CFFF3}"/>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951D450-080D-55DB-32BC-50A1BA631553}"/>
              </a:ext>
            </a:extLst>
          </p:cNvPr>
          <p:cNvSpPr>
            <a:spLocks noGrp="1"/>
          </p:cNvSpPr>
          <p:nvPr>
            <p:ph sz="half" idx="1"/>
          </p:nvPr>
        </p:nvSpPr>
        <p:spPr>
          <a:xfrm>
            <a:off x="6286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43D435D-C710-F2F3-4FB5-35A38A3377B7}"/>
              </a:ext>
            </a:extLst>
          </p:cNvPr>
          <p:cNvSpPr>
            <a:spLocks noGrp="1"/>
          </p:cNvSpPr>
          <p:nvPr>
            <p:ph sz="half" idx="2"/>
          </p:nvPr>
        </p:nvSpPr>
        <p:spPr>
          <a:xfrm>
            <a:off x="46291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6F8D41F-AE74-8968-9E13-DCA755771664}"/>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DE2B0B74-9008-0E52-1626-31E76F078B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21EAB-BA46-BD81-25AD-22C0F01182E8}"/>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A picture containing text, sign&#10;&#10;AI-generated content may be incorrect.">
            <a:extLst>
              <a:ext uri="{FF2B5EF4-FFF2-40B4-BE49-F238E27FC236}">
                <a16:creationId xmlns:a16="http://schemas.microsoft.com/office/drawing/2014/main" id="{1ED425B4-C0E5-001A-AB15-05901F4518B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1" name="Picture 10">
            <a:extLst>
              <a:ext uri="{FF2B5EF4-FFF2-40B4-BE49-F238E27FC236}">
                <a16:creationId xmlns:a16="http://schemas.microsoft.com/office/drawing/2014/main" id="{A7DD659E-7975-D958-C65B-1D20286CF5F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V="1">
            <a:off x="1" y="-1"/>
            <a:ext cx="3232181" cy="510778"/>
          </a:xfrm>
          <a:prstGeom prst="rect">
            <a:avLst/>
          </a:prstGeom>
        </p:spPr>
      </p:pic>
    </p:spTree>
    <p:extLst>
      <p:ext uri="{BB962C8B-B14F-4D97-AF65-F5344CB8AC3E}">
        <p14:creationId xmlns:p14="http://schemas.microsoft.com/office/powerpoint/2010/main" val="3024964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2A6B0-58AE-7AD4-384A-A21D35E6B19C}"/>
              </a:ext>
            </a:extLst>
          </p:cNvPr>
          <p:cNvSpPr>
            <a:spLocks noGrp="1"/>
          </p:cNvSpPr>
          <p:nvPr>
            <p:ph type="title"/>
          </p:nvPr>
        </p:nvSpPr>
        <p:spPr>
          <a:xfrm>
            <a:off x="629841" y="273844"/>
            <a:ext cx="7886700" cy="994172"/>
          </a:xfrm>
        </p:spPr>
        <p:txBody>
          <a:bodyPr/>
          <a:lstStyle>
            <a:lvl1pPr>
              <a:defRPr>
                <a:solidFill>
                  <a:schemeClr val="accent6"/>
                </a:solidFill>
              </a:defRPr>
            </a:lvl1pPr>
          </a:lstStyle>
          <a:p>
            <a:r>
              <a:rPr lang="en-US"/>
              <a:t>Click to edit Master title style</a:t>
            </a:r>
          </a:p>
        </p:txBody>
      </p:sp>
      <p:sp>
        <p:nvSpPr>
          <p:cNvPr id="3" name="Text Placeholder 2">
            <a:extLst>
              <a:ext uri="{FF2B5EF4-FFF2-40B4-BE49-F238E27FC236}">
                <a16:creationId xmlns:a16="http://schemas.microsoft.com/office/drawing/2014/main" id="{0A7448A3-DD01-65AD-EBBC-7146509143B7}"/>
              </a:ext>
            </a:extLst>
          </p:cNvPr>
          <p:cNvSpPr>
            <a:spLocks noGrp="1"/>
          </p:cNvSpPr>
          <p:nvPr>
            <p:ph type="body" idx="1"/>
          </p:nvPr>
        </p:nvSpPr>
        <p:spPr>
          <a:xfrm>
            <a:off x="629842" y="1260872"/>
            <a:ext cx="3868340"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997E1-A745-FAAC-DEE1-7FE99E3AB411}"/>
              </a:ext>
            </a:extLst>
          </p:cNvPr>
          <p:cNvSpPr>
            <a:spLocks noGrp="1"/>
          </p:cNvSpPr>
          <p:nvPr>
            <p:ph sz="half" idx="2"/>
          </p:nvPr>
        </p:nvSpPr>
        <p:spPr>
          <a:xfrm>
            <a:off x="629842" y="1878806"/>
            <a:ext cx="3868340"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DE8BDB-7D3C-FCD3-7E11-4BE954110A37}"/>
              </a:ext>
            </a:extLst>
          </p:cNvPr>
          <p:cNvSpPr>
            <a:spLocks noGrp="1"/>
          </p:cNvSpPr>
          <p:nvPr>
            <p:ph type="body" sz="quarter" idx="3"/>
          </p:nvPr>
        </p:nvSpPr>
        <p:spPr>
          <a:xfrm>
            <a:off x="4629150" y="1260872"/>
            <a:ext cx="3887391"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84E6A2-92F9-ECE9-702A-B8DDD2817B63}"/>
              </a:ext>
            </a:extLst>
          </p:cNvPr>
          <p:cNvSpPr>
            <a:spLocks noGrp="1"/>
          </p:cNvSpPr>
          <p:nvPr>
            <p:ph sz="quarter" idx="4"/>
          </p:nvPr>
        </p:nvSpPr>
        <p:spPr>
          <a:xfrm>
            <a:off x="4629150" y="1878806"/>
            <a:ext cx="3887391"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5470B1-DD5D-7EFA-E52D-4F5F033F5A48}"/>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8" name="Footer Placeholder 7">
            <a:extLst>
              <a:ext uri="{FF2B5EF4-FFF2-40B4-BE49-F238E27FC236}">
                <a16:creationId xmlns:a16="http://schemas.microsoft.com/office/drawing/2014/main" id="{3A21A241-ADD2-048D-336D-BCC674FA1B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813FFE-0983-8DC3-73F9-E49D9828F91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6386900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1F2B-EEA9-F8B4-57A5-A5733646E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4C9FEC-72DF-3A11-BCF3-6D245B236A12}"/>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4" name="Footer Placeholder 3">
            <a:extLst>
              <a:ext uri="{FF2B5EF4-FFF2-40B4-BE49-F238E27FC236}">
                <a16:creationId xmlns:a16="http://schemas.microsoft.com/office/drawing/2014/main" id="{BDF47FED-2725-1A2D-459D-4C914B792E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E8D104-AEB0-9A03-8B60-2E9F1C2156AE}"/>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6631423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971A4-F4E4-3E29-C3AE-27CC38CAFB9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3" name="Footer Placeholder 2">
            <a:extLst>
              <a:ext uri="{FF2B5EF4-FFF2-40B4-BE49-F238E27FC236}">
                <a16:creationId xmlns:a16="http://schemas.microsoft.com/office/drawing/2014/main" id="{7F3C2477-D402-582E-9AB3-E781F52A9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F667D-D414-EFAA-C9A9-8BC6F0C752E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9" name="TextBox 18">
            <a:extLst>
              <a:ext uri="{FF2B5EF4-FFF2-40B4-BE49-F238E27FC236}">
                <a16:creationId xmlns:a16="http://schemas.microsoft.com/office/drawing/2014/main" id="{0C825D5E-9956-F8F0-E3CC-882E78B1B24A}"/>
              </a:ext>
            </a:extLst>
          </p:cNvPr>
          <p:cNvSpPr txBox="1"/>
          <p:nvPr/>
        </p:nvSpPr>
        <p:spPr>
          <a:xfrm>
            <a:off x="0" y="2851354"/>
            <a:ext cx="9144000" cy="1938992"/>
          </a:xfrm>
          <a:prstGeom prst="rect">
            <a:avLst/>
          </a:prstGeom>
          <a:noFill/>
        </p:spPr>
        <p:txBody>
          <a:bodyPr wrap="square">
            <a:spAutoFit/>
          </a:bodyPr>
          <a:lstStyle/>
          <a:p>
            <a:pPr marL="0" marR="0">
              <a:buNone/>
            </a:pPr>
            <a:r>
              <a:rPr lang="en-US" sz="1500" kern="100" dirty="0">
                <a:solidFill>
                  <a:schemeClr val="bg1"/>
                </a:solidFill>
                <a:effectLst/>
                <a:latin typeface="Atkinson Hyperlegible Next" pitchFamily="50" charset="0"/>
                <a:ea typeface="Aptos" panose="020B0004020202020204" pitchFamily="34" charset="0"/>
                <a:cs typeface="Arial" panose="020B0604020202020204" pitchFamily="34" charset="0"/>
              </a:rPr>
              <a:t>The contents of this presentation were developed under grant HR421E230012 from the U.S. Department of Education (Department). The Department does not mandate or prescribe practices, models, or other activities described or discussed in this resource. The contents of this presentation may contain examples of, adaptations of, and links to resources created and maintained by another public or private organization. The Department does not control or guarantee the accuracy, relevance, timeliness, or completeness of this outside information. The content of this guide does not necessarily represent the policy of the Department. This presentation is not intended to represent the views or policy of or be an endorsement of any views expressed, or materials provided by any Federal agency. (EDGAR 75.620)</a:t>
            </a:r>
          </a:p>
        </p:txBody>
      </p:sp>
      <p:pic>
        <p:nvPicPr>
          <p:cNvPr id="20" name="Picture 19" descr="Blue and white sign&#10;&#10;">
            <a:extLst>
              <a:ext uri="{FF2B5EF4-FFF2-40B4-BE49-F238E27FC236}">
                <a16:creationId xmlns:a16="http://schemas.microsoft.com/office/drawing/2014/main" id="{5BEC89F8-650B-4C6A-0956-98114467CA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Tree>
    <p:extLst>
      <p:ext uri="{BB962C8B-B14F-4D97-AF65-F5344CB8AC3E}">
        <p14:creationId xmlns:p14="http://schemas.microsoft.com/office/powerpoint/2010/main" val="3272293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797E-20D0-2A98-ED8E-A966D6B04645}"/>
              </a:ext>
            </a:extLst>
          </p:cNvPr>
          <p:cNvSpPr>
            <a:spLocks noGrp="1"/>
          </p:cNvSpPr>
          <p:nvPr>
            <p:ph type="title"/>
          </p:nvPr>
        </p:nvSpPr>
        <p:spPr>
          <a:xfrm>
            <a:off x="629841" y="342900"/>
            <a:ext cx="2949178" cy="1200150"/>
          </a:xfrm>
        </p:spPr>
        <p:txBody>
          <a:bodyPr anchor="b"/>
          <a:lstStyle>
            <a:lvl1pPr>
              <a:defRPr sz="2400">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E474DB-4646-51C7-D0B2-D2B4A7F40B3E}"/>
              </a:ext>
            </a:extLst>
          </p:cNvPr>
          <p:cNvSpPr>
            <a:spLocks noGrp="1"/>
          </p:cNvSpPr>
          <p:nvPr>
            <p:ph idx="1"/>
          </p:nvPr>
        </p:nvSpPr>
        <p:spPr>
          <a:xfrm>
            <a:off x="3887391" y="740569"/>
            <a:ext cx="4629150" cy="3655219"/>
          </a:xfrm>
        </p:spPr>
        <p:txBody>
          <a:bodyPr/>
          <a:lstStyle>
            <a:lvl1pPr>
              <a:defRPr sz="2400">
                <a:solidFill>
                  <a:schemeClr val="accent6"/>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A0E6259-55A1-5ECB-E304-8B5D09E3D655}"/>
              </a:ext>
            </a:extLst>
          </p:cNvPr>
          <p:cNvSpPr>
            <a:spLocks noGrp="1"/>
          </p:cNvSpPr>
          <p:nvPr>
            <p:ph type="body" sz="half" idx="2"/>
          </p:nvPr>
        </p:nvSpPr>
        <p:spPr>
          <a:xfrm>
            <a:off x="629841" y="1543050"/>
            <a:ext cx="2949178" cy="2858691"/>
          </a:xfrm>
        </p:spPr>
        <p:txBody>
          <a:bodyPr/>
          <a:lstStyle>
            <a:lvl1pPr marL="0" indent="0">
              <a:buNone/>
              <a:defRPr sz="1200">
                <a:solidFill>
                  <a:schemeClr val="accent6"/>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4555984-9C93-D302-B247-0B332F3E3327}"/>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CA023BDF-FA82-E879-700A-49DB7947A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2CF2F-24FE-9AB7-8E00-E1422BB7D2D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999283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1CB0-D132-956C-437E-AA8483FF3C1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5F91019-239B-5254-23D0-7BFF0BB7EEC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19D27294-CA0E-5F41-3E77-B1E93821B14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5CBA06-0262-5CCA-896C-315678CA03CB}"/>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14A559DD-E897-2037-B8D3-87F77163AF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C6381-C81F-0B65-9751-34AF66EB0438}"/>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5253358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6B1B8-B1FB-F610-2A5A-55443DC99ABC}"/>
              </a:ext>
            </a:extLst>
          </p:cNvPr>
          <p:cNvSpPr>
            <a:spLocks noGrp="1"/>
          </p:cNvSpPr>
          <p:nvPr>
            <p:ph type="title"/>
          </p:nvPr>
        </p:nvSpPr>
        <p:spPr>
          <a:xfrm>
            <a:off x="628650" y="273844"/>
            <a:ext cx="7886700" cy="994172"/>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012450-33DB-46B2-C9F1-991A0B7D90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25530D-6B47-F166-43BF-A9A7852922F6}"/>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919DBC34-0E2C-CD97-F397-4BF8166D8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73274-6134-DF2D-8DDD-83A46F94656D}"/>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8431801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EB3855-56F0-C304-A6DF-0CC85FFF957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01C01-BA2B-E96A-7162-000D9E21516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B8FEF-5B76-9F7B-D574-FBB4E29C12A1}"/>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D5324E18-936A-ACDC-0523-1FF03EBC0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9CD96-9B36-D774-9148-7AA16D6B27B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9669036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sp>
        <p:nvSpPr>
          <p:cNvPr id="28" name="Google Shape;28;p4"/>
          <p:cNvSpPr txBox="1">
            <a:spLocks noGrp="1"/>
          </p:cNvSpPr>
          <p:nvPr>
            <p:ph type="subTitle" idx="1"/>
          </p:nvPr>
        </p:nvSpPr>
        <p:spPr>
          <a:xfrm>
            <a:off x="621575" y="1228437"/>
            <a:ext cx="7878300" cy="365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200"/>
            </a:lvl1pPr>
            <a:lvl2pPr lvl="1" rtl="0">
              <a:lnSpc>
                <a:spcPct val="100000"/>
              </a:lnSpc>
              <a:spcBef>
                <a:spcPts val="0"/>
              </a:spcBef>
              <a:spcAft>
                <a:spcPts val="0"/>
              </a:spcAft>
              <a:buNone/>
              <a:defRPr sz="1200"/>
            </a:lvl2pPr>
            <a:lvl3pPr lvl="2" rtl="0">
              <a:lnSpc>
                <a:spcPct val="100000"/>
              </a:lnSpc>
              <a:spcBef>
                <a:spcPts val="0"/>
              </a:spcBef>
              <a:spcAft>
                <a:spcPts val="0"/>
              </a:spcAft>
              <a:buNone/>
              <a:defRPr sz="1200"/>
            </a:lvl3pPr>
            <a:lvl4pPr lvl="3" rtl="0">
              <a:lnSpc>
                <a:spcPct val="100000"/>
              </a:lnSpc>
              <a:spcBef>
                <a:spcPts val="0"/>
              </a:spcBef>
              <a:spcAft>
                <a:spcPts val="0"/>
              </a:spcAft>
              <a:buNone/>
              <a:defRPr sz="1200"/>
            </a:lvl4pPr>
            <a:lvl5pPr lvl="4" rtl="0">
              <a:lnSpc>
                <a:spcPct val="100000"/>
              </a:lnSpc>
              <a:spcBef>
                <a:spcPts val="0"/>
              </a:spcBef>
              <a:spcAft>
                <a:spcPts val="0"/>
              </a:spcAft>
              <a:buNone/>
              <a:defRPr sz="1200"/>
            </a:lvl5pPr>
            <a:lvl6pPr lvl="5" rtl="0">
              <a:lnSpc>
                <a:spcPct val="100000"/>
              </a:lnSpc>
              <a:spcBef>
                <a:spcPts val="0"/>
              </a:spcBef>
              <a:spcAft>
                <a:spcPts val="0"/>
              </a:spcAft>
              <a:buNone/>
              <a:defRPr sz="1200"/>
            </a:lvl6pPr>
            <a:lvl7pPr lvl="6" rtl="0">
              <a:lnSpc>
                <a:spcPct val="100000"/>
              </a:lnSpc>
              <a:spcBef>
                <a:spcPts val="0"/>
              </a:spcBef>
              <a:spcAft>
                <a:spcPts val="0"/>
              </a:spcAft>
              <a:buNone/>
              <a:defRPr sz="1200"/>
            </a:lvl7pPr>
            <a:lvl8pPr lvl="7" rtl="0">
              <a:lnSpc>
                <a:spcPct val="100000"/>
              </a:lnSpc>
              <a:spcBef>
                <a:spcPts val="0"/>
              </a:spcBef>
              <a:spcAft>
                <a:spcPts val="0"/>
              </a:spcAft>
              <a:buNone/>
              <a:defRPr sz="1200"/>
            </a:lvl8pPr>
            <a:lvl9pPr lvl="8" rtl="0">
              <a:lnSpc>
                <a:spcPct val="100000"/>
              </a:lnSpc>
              <a:spcBef>
                <a:spcPts val="0"/>
              </a:spcBef>
              <a:spcAft>
                <a:spcPts val="0"/>
              </a:spcAft>
              <a:buNone/>
              <a:defRPr sz="1200"/>
            </a:lvl9pPr>
          </a:lstStyle>
          <a:p>
            <a:endParaRPr/>
          </a:p>
        </p:txBody>
      </p:sp>
      <p:sp>
        <p:nvSpPr>
          <p:cNvPr id="29" name="Google Shape;29;p4"/>
          <p:cNvSpPr txBox="1">
            <a:spLocks noGrp="1"/>
          </p:cNvSpPr>
          <p:nvPr>
            <p:ph type="title"/>
          </p:nvPr>
        </p:nvSpPr>
        <p:spPr>
          <a:xfrm>
            <a:off x="625300" y="315813"/>
            <a:ext cx="7704000" cy="707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8589019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8"/>
        <p:cNvGrpSpPr/>
        <p:nvPr/>
      </p:nvGrpSpPr>
      <p:grpSpPr>
        <a:xfrm>
          <a:off x="0" y="0"/>
          <a:ext cx="0" cy="0"/>
          <a:chOff x="0" y="0"/>
          <a:chExt cx="0" cy="0"/>
        </a:xfrm>
      </p:grpSpPr>
      <p:sp>
        <p:nvSpPr>
          <p:cNvPr id="17" name="Google Shape;17;p2"/>
          <p:cNvSpPr txBox="1">
            <a:spLocks noGrp="1"/>
          </p:cNvSpPr>
          <p:nvPr>
            <p:ph type="ctrTitle"/>
          </p:nvPr>
        </p:nvSpPr>
        <p:spPr>
          <a:xfrm>
            <a:off x="2194775" y="1457250"/>
            <a:ext cx="4754400" cy="2229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7200"/>
            </a:lvl1pPr>
            <a:lvl2pPr lvl="1" rtl="0">
              <a:spcBef>
                <a:spcPts val="0"/>
              </a:spcBef>
              <a:spcAft>
                <a:spcPts val="0"/>
              </a:spcAft>
              <a:buClr>
                <a:srgbClr val="434343"/>
              </a:buClr>
              <a:buSzPts val="5200"/>
              <a:buNone/>
              <a:defRPr sz="5200">
                <a:solidFill>
                  <a:srgbClr val="434343"/>
                </a:solidFill>
              </a:defRPr>
            </a:lvl2pPr>
            <a:lvl3pPr lvl="2" rtl="0">
              <a:spcBef>
                <a:spcPts val="0"/>
              </a:spcBef>
              <a:spcAft>
                <a:spcPts val="0"/>
              </a:spcAft>
              <a:buClr>
                <a:srgbClr val="434343"/>
              </a:buClr>
              <a:buSzPts val="5200"/>
              <a:buNone/>
              <a:defRPr sz="5200">
                <a:solidFill>
                  <a:srgbClr val="434343"/>
                </a:solidFill>
              </a:defRPr>
            </a:lvl3pPr>
            <a:lvl4pPr lvl="3" rtl="0">
              <a:spcBef>
                <a:spcPts val="0"/>
              </a:spcBef>
              <a:spcAft>
                <a:spcPts val="0"/>
              </a:spcAft>
              <a:buClr>
                <a:srgbClr val="434343"/>
              </a:buClr>
              <a:buSzPts val="5200"/>
              <a:buNone/>
              <a:defRPr sz="5200">
                <a:solidFill>
                  <a:srgbClr val="434343"/>
                </a:solidFill>
              </a:defRPr>
            </a:lvl4pPr>
            <a:lvl5pPr lvl="4" rtl="0">
              <a:spcBef>
                <a:spcPts val="0"/>
              </a:spcBef>
              <a:spcAft>
                <a:spcPts val="0"/>
              </a:spcAft>
              <a:buClr>
                <a:srgbClr val="434343"/>
              </a:buClr>
              <a:buSzPts val="5200"/>
              <a:buNone/>
              <a:defRPr sz="5200">
                <a:solidFill>
                  <a:srgbClr val="434343"/>
                </a:solidFill>
              </a:defRPr>
            </a:lvl5pPr>
            <a:lvl6pPr lvl="5" rtl="0">
              <a:spcBef>
                <a:spcPts val="0"/>
              </a:spcBef>
              <a:spcAft>
                <a:spcPts val="0"/>
              </a:spcAft>
              <a:buClr>
                <a:srgbClr val="434343"/>
              </a:buClr>
              <a:buSzPts val="5200"/>
              <a:buNone/>
              <a:defRPr sz="5200">
                <a:solidFill>
                  <a:srgbClr val="434343"/>
                </a:solidFill>
              </a:defRPr>
            </a:lvl6pPr>
            <a:lvl7pPr lvl="6" rtl="0">
              <a:spcBef>
                <a:spcPts val="0"/>
              </a:spcBef>
              <a:spcAft>
                <a:spcPts val="0"/>
              </a:spcAft>
              <a:buClr>
                <a:srgbClr val="434343"/>
              </a:buClr>
              <a:buSzPts val="5200"/>
              <a:buNone/>
              <a:defRPr sz="5200">
                <a:solidFill>
                  <a:srgbClr val="434343"/>
                </a:solidFill>
              </a:defRPr>
            </a:lvl7pPr>
            <a:lvl8pPr lvl="7" rtl="0">
              <a:spcBef>
                <a:spcPts val="0"/>
              </a:spcBef>
              <a:spcAft>
                <a:spcPts val="0"/>
              </a:spcAft>
              <a:buClr>
                <a:srgbClr val="434343"/>
              </a:buClr>
              <a:buSzPts val="5200"/>
              <a:buNone/>
              <a:defRPr sz="5200">
                <a:solidFill>
                  <a:srgbClr val="434343"/>
                </a:solidFill>
              </a:defRPr>
            </a:lvl8pPr>
            <a:lvl9pPr lvl="8" rtl="0">
              <a:spcBef>
                <a:spcPts val="0"/>
              </a:spcBef>
              <a:spcAft>
                <a:spcPts val="0"/>
              </a:spcAft>
              <a:buClr>
                <a:srgbClr val="434343"/>
              </a:buClr>
              <a:buSzPts val="5200"/>
              <a:buNone/>
              <a:defRPr sz="5200">
                <a:solidFill>
                  <a:srgbClr val="434343"/>
                </a:solidFill>
              </a:defRPr>
            </a:lvl9pPr>
          </a:lstStyle>
          <a:p>
            <a:endParaRPr/>
          </a:p>
        </p:txBody>
      </p:sp>
      <p:sp>
        <p:nvSpPr>
          <p:cNvPr id="18" name="Google Shape;18;p2"/>
          <p:cNvSpPr txBox="1">
            <a:spLocks noGrp="1"/>
          </p:cNvSpPr>
          <p:nvPr>
            <p:ph type="subTitle" idx="1"/>
          </p:nvPr>
        </p:nvSpPr>
        <p:spPr>
          <a:xfrm>
            <a:off x="2364775" y="3681600"/>
            <a:ext cx="4417800" cy="36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800"/>
              <a:buNone/>
              <a:defRPr>
                <a:solidFill>
                  <a:schemeClr val="lt1"/>
                </a:solidFill>
                <a:latin typeface="Overpass Light"/>
                <a:ea typeface="Overpass Light"/>
                <a:cs typeface="Overpass Light"/>
                <a:sym typeface="Overpass Light"/>
              </a:defRPr>
            </a:lvl1pPr>
            <a:lvl2pPr lvl="1" algn="r" rtl="0">
              <a:lnSpc>
                <a:spcPct val="100000"/>
              </a:lnSpc>
              <a:spcBef>
                <a:spcPts val="0"/>
              </a:spcBef>
              <a:spcAft>
                <a:spcPts val="0"/>
              </a:spcAft>
              <a:buClr>
                <a:srgbClr val="434343"/>
              </a:buClr>
              <a:buSzPts val="2800"/>
              <a:buNone/>
              <a:defRPr sz="2800">
                <a:solidFill>
                  <a:srgbClr val="434343"/>
                </a:solidFill>
              </a:defRPr>
            </a:lvl2pPr>
            <a:lvl3pPr lvl="2" algn="r" rtl="0">
              <a:lnSpc>
                <a:spcPct val="100000"/>
              </a:lnSpc>
              <a:spcBef>
                <a:spcPts val="0"/>
              </a:spcBef>
              <a:spcAft>
                <a:spcPts val="0"/>
              </a:spcAft>
              <a:buClr>
                <a:srgbClr val="434343"/>
              </a:buClr>
              <a:buSzPts val="2800"/>
              <a:buNone/>
              <a:defRPr sz="2800">
                <a:solidFill>
                  <a:srgbClr val="434343"/>
                </a:solidFill>
              </a:defRPr>
            </a:lvl3pPr>
            <a:lvl4pPr lvl="3" algn="r" rtl="0">
              <a:lnSpc>
                <a:spcPct val="100000"/>
              </a:lnSpc>
              <a:spcBef>
                <a:spcPts val="0"/>
              </a:spcBef>
              <a:spcAft>
                <a:spcPts val="0"/>
              </a:spcAft>
              <a:buClr>
                <a:srgbClr val="434343"/>
              </a:buClr>
              <a:buSzPts val="2800"/>
              <a:buNone/>
              <a:defRPr sz="2800">
                <a:solidFill>
                  <a:srgbClr val="434343"/>
                </a:solidFill>
              </a:defRPr>
            </a:lvl4pPr>
            <a:lvl5pPr lvl="4" algn="r" rtl="0">
              <a:lnSpc>
                <a:spcPct val="100000"/>
              </a:lnSpc>
              <a:spcBef>
                <a:spcPts val="0"/>
              </a:spcBef>
              <a:spcAft>
                <a:spcPts val="0"/>
              </a:spcAft>
              <a:buClr>
                <a:srgbClr val="434343"/>
              </a:buClr>
              <a:buSzPts val="2800"/>
              <a:buNone/>
              <a:defRPr sz="2800">
                <a:solidFill>
                  <a:srgbClr val="434343"/>
                </a:solidFill>
              </a:defRPr>
            </a:lvl5pPr>
            <a:lvl6pPr lvl="5" algn="r" rtl="0">
              <a:lnSpc>
                <a:spcPct val="100000"/>
              </a:lnSpc>
              <a:spcBef>
                <a:spcPts val="0"/>
              </a:spcBef>
              <a:spcAft>
                <a:spcPts val="0"/>
              </a:spcAft>
              <a:buClr>
                <a:srgbClr val="434343"/>
              </a:buClr>
              <a:buSzPts val="2800"/>
              <a:buNone/>
              <a:defRPr sz="2800">
                <a:solidFill>
                  <a:srgbClr val="434343"/>
                </a:solidFill>
              </a:defRPr>
            </a:lvl6pPr>
            <a:lvl7pPr lvl="6" algn="r" rtl="0">
              <a:lnSpc>
                <a:spcPct val="100000"/>
              </a:lnSpc>
              <a:spcBef>
                <a:spcPts val="0"/>
              </a:spcBef>
              <a:spcAft>
                <a:spcPts val="0"/>
              </a:spcAft>
              <a:buClr>
                <a:srgbClr val="434343"/>
              </a:buClr>
              <a:buSzPts val="2800"/>
              <a:buNone/>
              <a:defRPr sz="2800">
                <a:solidFill>
                  <a:srgbClr val="434343"/>
                </a:solidFill>
              </a:defRPr>
            </a:lvl7pPr>
            <a:lvl8pPr lvl="7" algn="r" rtl="0">
              <a:lnSpc>
                <a:spcPct val="100000"/>
              </a:lnSpc>
              <a:spcBef>
                <a:spcPts val="0"/>
              </a:spcBef>
              <a:spcAft>
                <a:spcPts val="0"/>
              </a:spcAft>
              <a:buClr>
                <a:srgbClr val="434343"/>
              </a:buClr>
              <a:buSzPts val="2800"/>
              <a:buNone/>
              <a:defRPr sz="2800">
                <a:solidFill>
                  <a:srgbClr val="434343"/>
                </a:solidFill>
              </a:defRPr>
            </a:lvl8pPr>
            <a:lvl9pPr lvl="8" algn="r" rtl="0">
              <a:lnSpc>
                <a:spcPct val="100000"/>
              </a:lnSpc>
              <a:spcBef>
                <a:spcPts val="0"/>
              </a:spcBef>
              <a:spcAft>
                <a:spcPts val="0"/>
              </a:spcAft>
              <a:buClr>
                <a:srgbClr val="434343"/>
              </a:buClr>
              <a:buSzPts val="2800"/>
              <a:buNone/>
              <a:defRPr sz="2800">
                <a:solidFill>
                  <a:srgbClr val="434343"/>
                </a:solidFill>
              </a:defRPr>
            </a:lvl9pPr>
          </a:lstStyle>
          <a:p>
            <a:endParaRPr/>
          </a:p>
        </p:txBody>
      </p:sp>
    </p:spTree>
    <p:extLst>
      <p:ext uri="{BB962C8B-B14F-4D97-AF65-F5344CB8AC3E}">
        <p14:creationId xmlns:p14="http://schemas.microsoft.com/office/powerpoint/2010/main" val="5716012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6">
  <p:cSld name="Title only 16">
    <p:bg>
      <p:bgPr>
        <a:solidFill>
          <a:schemeClr val="dk1"/>
        </a:solidFill>
        <a:effectLst/>
      </p:bgPr>
    </p:bg>
    <p:spTree>
      <p:nvGrpSpPr>
        <p:cNvPr id="1" name="Shape 231"/>
        <p:cNvGrpSpPr/>
        <p:nvPr/>
      </p:nvGrpSpPr>
      <p:grpSpPr>
        <a:xfrm>
          <a:off x="0" y="0"/>
          <a:ext cx="0" cy="0"/>
          <a:chOff x="0" y="0"/>
          <a:chExt cx="0" cy="0"/>
        </a:xfrm>
      </p:grpSpPr>
      <p:sp>
        <p:nvSpPr>
          <p:cNvPr id="233" name="Google Shape;233;p40"/>
          <p:cNvSpPr txBox="1">
            <a:spLocks noGrp="1"/>
          </p:cNvSpPr>
          <p:nvPr>
            <p:ph type="title"/>
          </p:nvPr>
        </p:nvSpPr>
        <p:spPr>
          <a:xfrm>
            <a:off x="6172200" y="420540"/>
            <a:ext cx="2267700" cy="12843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43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46816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E16F9E-B503-4375-8A4D-6043A8332E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8DFE7B-6603-70CF-9AEE-795CEF9F161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3302374-0F3E-D7EA-9840-D41A1B5E283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081E32A8-3DF3-98E8-9BAA-72AE74CEF60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1C83A0-7ED6-646B-993E-492C43B6438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2B5664E2-3A40-4D1A-BF40-1793ED3F7EF0}" type="slidenum">
              <a:rPr lang="en-US" smtClean="0"/>
              <a:t>‹#›</a:t>
            </a:fld>
            <a:endParaRPr lang="en-US"/>
          </a:p>
        </p:txBody>
      </p:sp>
    </p:spTree>
    <p:extLst>
      <p:ext uri="{BB962C8B-B14F-4D97-AF65-F5344CB8AC3E}">
        <p14:creationId xmlns:p14="http://schemas.microsoft.com/office/powerpoint/2010/main" val="1464357206"/>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 id="2147483957" r:id="rId12"/>
    <p:sldLayoutId id="2147483958" r:id="rId13"/>
    <p:sldLayoutId id="2147483964" r:id="rId14"/>
    <p:sldLayoutId id="2147483966" r:id="rId15"/>
    <p:sldLayoutId id="2147483967" r:id="rId16"/>
  </p:sldLayoutIdLst>
  <p:transition spd="slow">
    <p:push/>
  </p:transition>
  <p:hf sldNum="0" hdr="0" ftr="0" dt="0"/>
  <p:txStyles>
    <p:titleStyle>
      <a:lvl1pPr algn="l" defTabSz="685800" rtl="0" eaLnBrk="1" latinLnBrk="0" hangingPunct="1">
        <a:lnSpc>
          <a:spcPct val="90000"/>
        </a:lnSpc>
        <a:spcBef>
          <a:spcPct val="0"/>
        </a:spcBef>
        <a:buNone/>
        <a:defRPr sz="3300" kern="1200">
          <a:solidFill>
            <a:schemeClr val="accent6"/>
          </a:solidFill>
          <a:latin typeface="Atkinson Hyperlegible Next"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accent6"/>
          </a:solidFill>
          <a:latin typeface="Atkinson Hyperlegible Next"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6"/>
          </a:solidFill>
          <a:latin typeface="Atkinson Hyperlegible Next"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accent6"/>
          </a:solidFill>
          <a:latin typeface="Atkinson Hyperlegible Next"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4.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4.xml"/><Relationship Id="rId1" Type="http://schemas.openxmlformats.org/officeDocument/2006/relationships/tags" Target="../tags/tag1.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64"/>
          <p:cNvSpPr txBox="1">
            <a:spLocks noGrp="1"/>
          </p:cNvSpPr>
          <p:nvPr>
            <p:ph type="ctrTitle"/>
          </p:nvPr>
        </p:nvSpPr>
        <p:spPr>
          <a:xfrm>
            <a:off x="662319" y="3353263"/>
            <a:ext cx="7882116" cy="7337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800" dirty="0">
                <a:solidFill>
                  <a:schemeClr val="tx1"/>
                </a:solidFill>
                <a:latin typeface="Verdana Pro" panose="020F0502020204030204" pitchFamily="34" charset="0"/>
              </a:rPr>
              <a:t>Module 5-A: Mini Lessons &amp; Lesson Packages</a:t>
            </a:r>
            <a:endParaRPr dirty="0">
              <a:solidFill>
                <a:schemeClr val="accent4">
                  <a:lumMod val="75000"/>
                </a:schemeClr>
              </a:solidFill>
              <a:latin typeface="Verdana Pro" panose="020F0502020204030204" pitchFamily="34" charset="0"/>
            </a:endParaRPr>
          </a:p>
        </p:txBody>
      </p:sp>
      <p:sp>
        <p:nvSpPr>
          <p:cNvPr id="3" name="Rectangle 2">
            <a:extLst>
              <a:ext uri="{FF2B5EF4-FFF2-40B4-BE49-F238E27FC236}">
                <a16:creationId xmlns:a16="http://schemas.microsoft.com/office/drawing/2014/main" id="{7B425300-2434-E041-965F-731BED0ECFAE}"/>
              </a:ext>
              <a:ext uri="{C183D7F6-B498-43B3-948B-1728B52AA6E4}">
                <adec:decorative xmlns:adec="http://schemas.microsoft.com/office/drawing/2017/decorative" val="1"/>
              </a:ext>
            </a:extLst>
          </p:cNvPr>
          <p:cNvSpPr/>
          <p:nvPr/>
        </p:nvSpPr>
        <p:spPr>
          <a:xfrm>
            <a:off x="3630706" y="-340659"/>
            <a:ext cx="1743635" cy="31063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7866288"/>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3" name="Title 2">
            <a:extLst>
              <a:ext uri="{FF2B5EF4-FFF2-40B4-BE49-F238E27FC236}">
                <a16:creationId xmlns:a16="http://schemas.microsoft.com/office/drawing/2014/main" id="{2F10AFA8-8461-753B-88B0-112F176A8EB7}"/>
              </a:ext>
            </a:extLst>
          </p:cNvPr>
          <p:cNvSpPr>
            <a:spLocks noGrp="1"/>
          </p:cNvSpPr>
          <p:nvPr>
            <p:ph type="title"/>
          </p:nvPr>
        </p:nvSpPr>
        <p:spPr>
          <a:xfrm>
            <a:off x="61532" y="78815"/>
            <a:ext cx="7704000" cy="707700"/>
          </a:xfrm>
        </p:spPr>
        <p:txBody>
          <a:bodyPr/>
          <a:lstStyle/>
          <a:p>
            <a:r>
              <a:rPr lang="en-US" sz="4400" dirty="0">
                <a:latin typeface="Verdana Pro" panose="020B0604030504040204" pitchFamily="34" charset="0"/>
              </a:rPr>
              <a:t>Strength-Based Lesson</a:t>
            </a:r>
            <a:r>
              <a:rPr lang="en-US" sz="4400" baseline="0" dirty="0">
                <a:latin typeface="Verdana Pro" panose="020B0604030504040204" pitchFamily="34" charset="0"/>
              </a:rPr>
              <a:t> &amp; Bi</a:t>
            </a:r>
            <a:r>
              <a:rPr lang="en-US" sz="4400" dirty="0">
                <a:latin typeface="Verdana Pro" panose="020B0604030504040204" pitchFamily="34" charset="0"/>
              </a:rPr>
              <a:t>ngo</a:t>
            </a:r>
          </a:p>
        </p:txBody>
      </p:sp>
      <p:sp>
        <p:nvSpPr>
          <p:cNvPr id="5" name="Google Shape;465;p65">
            <a:extLst>
              <a:ext uri="{FF2B5EF4-FFF2-40B4-BE49-F238E27FC236}">
                <a16:creationId xmlns:a16="http://schemas.microsoft.com/office/drawing/2014/main" id="{32FF029B-BB81-ED68-5F9F-E022217E2989}"/>
              </a:ext>
            </a:extLst>
          </p:cNvPr>
          <p:cNvSpPr txBox="1">
            <a:spLocks/>
          </p:cNvSpPr>
          <p:nvPr/>
        </p:nvSpPr>
        <p:spPr>
          <a:xfrm>
            <a:off x="2553721" y="860401"/>
            <a:ext cx="8910798" cy="70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300"/>
              <a:buFont typeface="Bebas Neue"/>
              <a:buNone/>
              <a:defRPr sz="4300" b="1"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400" dirty="0">
                <a:latin typeface="Verdana Pro" panose="020B0604030504040204" pitchFamily="34" charset="0"/>
              </a:rPr>
              <a:t>(Pratt &amp; Driffill, 2020)</a:t>
            </a:r>
            <a:endParaRPr lang="en-US" sz="4000" dirty="0">
              <a:latin typeface="Verdana Pro" panose="020B0604030504040204" pitchFamily="34" charset="0"/>
            </a:endParaRPr>
          </a:p>
        </p:txBody>
      </p:sp>
      <p:pic>
        <p:nvPicPr>
          <p:cNvPr id="9" name="Picture 8" descr="A bingo game for student strengths. Bingo Card Layout:&#10;The example card is organized into a 5x5 grid, with each square containing a different strength-related word. Here are the words listed in the squares:&#10;&#10;Row 1:&#10;&#10;Caring&#10;Diligent&#10;Organized&#10;Trustworthy&#10;Row 2:&#10;&#10;Loyal&#10;Responsible&#10;Creative&#10;Athletic&#10;Row 3:&#10;&#10;Honest&#10;Leader&#10;Adventurous&#10;Motivated&#10;Row 4:&#10;&#10;Humorous&#10;Listener&#10;Confident&#10;Respectful">
            <a:extLst>
              <a:ext uri="{FF2B5EF4-FFF2-40B4-BE49-F238E27FC236}">
                <a16:creationId xmlns:a16="http://schemas.microsoft.com/office/drawing/2014/main" id="{A4D289E9-579B-D0F6-B103-FD4117B2FC6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33183" y="1497510"/>
            <a:ext cx="3332629" cy="3368083"/>
          </a:xfrm>
          <a:prstGeom prst="rect">
            <a:avLst/>
          </a:prstGeom>
        </p:spPr>
      </p:pic>
      <p:pic>
        <p:nvPicPr>
          <p:cNvPr id="11" name="Picture 10" descr="A qr code for the website https://tinyurl.com/StrengthsZC">
            <a:extLst>
              <a:ext uri="{FF2B5EF4-FFF2-40B4-BE49-F238E27FC236}">
                <a16:creationId xmlns:a16="http://schemas.microsoft.com/office/drawing/2014/main" id="{632342CD-628F-FDDD-2828-639816C82868}"/>
              </a:ext>
            </a:extLst>
          </p:cNvPr>
          <p:cNvPicPr>
            <a:picLocks noChangeAspect="1"/>
          </p:cNvPicPr>
          <p:nvPr/>
        </p:nvPicPr>
        <p:blipFill>
          <a:blip r:embed="rId4"/>
          <a:stretch>
            <a:fillRect/>
          </a:stretch>
        </p:blipFill>
        <p:spPr>
          <a:xfrm>
            <a:off x="5190565" y="1497510"/>
            <a:ext cx="2997574" cy="2958390"/>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https://tinyurl.com/StrengthsZC</a:t>
            </a:r>
          </a:p>
        </p:txBody>
      </p:sp>
    </p:spTree>
    <p:extLst>
      <p:ext uri="{BB962C8B-B14F-4D97-AF65-F5344CB8AC3E}">
        <p14:creationId xmlns:p14="http://schemas.microsoft.com/office/powerpoint/2010/main" val="1764265042"/>
      </p:ext>
    </p:extLst>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3" name="Title 2">
            <a:extLst>
              <a:ext uri="{FF2B5EF4-FFF2-40B4-BE49-F238E27FC236}">
                <a16:creationId xmlns:a16="http://schemas.microsoft.com/office/drawing/2014/main" id="{2CEE56C1-B0D0-6FD1-6048-503FEBC18A65}"/>
              </a:ext>
            </a:extLst>
          </p:cNvPr>
          <p:cNvSpPr>
            <a:spLocks noGrp="1"/>
          </p:cNvSpPr>
          <p:nvPr>
            <p:ph type="title"/>
          </p:nvPr>
        </p:nvSpPr>
        <p:spPr>
          <a:xfrm>
            <a:off x="116600" y="119432"/>
            <a:ext cx="8855729" cy="707700"/>
          </a:xfrm>
        </p:spPr>
        <p:txBody>
          <a:bodyPr/>
          <a:lstStyle/>
          <a:p>
            <a:r>
              <a:rPr lang="en-US" sz="4400" dirty="0">
                <a:latin typeface="Verdana Pro" panose="020B0604030504040204" pitchFamily="34" charset="0"/>
              </a:rPr>
              <a:t>Transition Treasure Map</a:t>
            </a:r>
          </a:p>
        </p:txBody>
      </p:sp>
      <p:sp>
        <p:nvSpPr>
          <p:cNvPr id="5" name="Google Shape;465;p65">
            <a:extLst>
              <a:ext uri="{FF2B5EF4-FFF2-40B4-BE49-F238E27FC236}">
                <a16:creationId xmlns:a16="http://schemas.microsoft.com/office/drawing/2014/main" id="{32FF029B-BB81-ED68-5F9F-E022217E2989}"/>
              </a:ext>
            </a:extLst>
          </p:cNvPr>
          <p:cNvSpPr txBox="1">
            <a:spLocks/>
          </p:cNvSpPr>
          <p:nvPr/>
        </p:nvSpPr>
        <p:spPr>
          <a:xfrm>
            <a:off x="116601" y="907241"/>
            <a:ext cx="8910798" cy="70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300"/>
              <a:buFont typeface="Bebas Neue"/>
              <a:buNone/>
              <a:defRPr sz="4300" b="1"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400" dirty="0">
                <a:latin typeface="Verdana Pro" panose="020B0604030504040204" pitchFamily="34" charset="0"/>
              </a:rPr>
              <a:t>(Jolliff &amp; Pratt, 2023)</a:t>
            </a:r>
            <a:endParaRPr lang="en-US" sz="4000" dirty="0">
              <a:latin typeface="Verdana Pro" panose="020B0604030504040204" pitchFamily="34" charset="0"/>
            </a:endParaRPr>
          </a:p>
        </p:txBody>
      </p:sp>
      <p:pic>
        <p:nvPicPr>
          <p:cNvPr id="7" name="Picture 6" descr="A visual of the Transition Treasure Map Lesson Plan on a map with a treasure chest. The creators names are along the bottom: Christy, Jolliff, M.Ed., and Peighton Pratt, M.Ed.">
            <a:extLst>
              <a:ext uri="{FF2B5EF4-FFF2-40B4-BE49-F238E27FC236}">
                <a16:creationId xmlns:a16="http://schemas.microsoft.com/office/drawing/2014/main" id="{8979FFAA-C2BE-D5A1-786C-6E6895ADAD8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896599" y="827132"/>
            <a:ext cx="5130800" cy="3594100"/>
          </a:xfrm>
          <a:prstGeom prst="rect">
            <a:avLst/>
          </a:prstGeom>
        </p:spPr>
      </p:pic>
      <p:pic>
        <p:nvPicPr>
          <p:cNvPr id="6" name="Picture 5" descr="A qr code got Transition Treasure Map https://tinyurl.com/TransitionTrsrMap​">
            <a:extLst>
              <a:ext uri="{FF2B5EF4-FFF2-40B4-BE49-F238E27FC236}">
                <a16:creationId xmlns:a16="http://schemas.microsoft.com/office/drawing/2014/main" id="{E5220F13-8EAF-0B56-D107-9533B7712631}"/>
              </a:ext>
            </a:extLst>
          </p:cNvPr>
          <p:cNvPicPr>
            <a:picLocks noChangeAspect="1"/>
          </p:cNvPicPr>
          <p:nvPr/>
        </p:nvPicPr>
        <p:blipFill>
          <a:blip r:embed="rId4"/>
          <a:stretch>
            <a:fillRect/>
          </a:stretch>
        </p:blipFill>
        <p:spPr>
          <a:xfrm>
            <a:off x="407553" y="1543506"/>
            <a:ext cx="3048000" cy="3048000"/>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r>
              <a:rPr lang="en-US" sz="2400"/>
              <a:t>https://tinyurl.com/TransitionTrsrMap</a:t>
            </a:r>
            <a:endParaRPr lang="en-US"/>
          </a:p>
        </p:txBody>
      </p:sp>
    </p:spTree>
    <p:extLst>
      <p:ext uri="{BB962C8B-B14F-4D97-AF65-F5344CB8AC3E}">
        <p14:creationId xmlns:p14="http://schemas.microsoft.com/office/powerpoint/2010/main" val="2358508950"/>
      </p:ext>
    </p:extLst>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5" name="Google Shape;465;p65">
            <a:extLst>
              <a:ext uri="{FF2B5EF4-FFF2-40B4-BE49-F238E27FC236}">
                <a16:creationId xmlns:a16="http://schemas.microsoft.com/office/drawing/2014/main" id="{32FF029B-BB81-ED68-5F9F-E022217E2989}"/>
              </a:ext>
            </a:extLst>
          </p:cNvPr>
          <p:cNvSpPr txBox="1">
            <a:spLocks noGrp="1"/>
          </p:cNvSpPr>
          <p:nvPr>
            <p:ph type="title" idx="4294967295"/>
          </p:nvPr>
        </p:nvSpPr>
        <p:spPr>
          <a:xfrm>
            <a:off x="56444" y="-5644"/>
            <a:ext cx="9031111" cy="474134"/>
          </a:xfrm>
          <a:prstGeom prst="rect">
            <a:avLst/>
          </a:prstGeom>
          <a:noFill/>
          <a:ln>
            <a:noFill/>
            <a:prstDash/>
          </a:ln>
          <a:effectLst/>
        </p:spPr>
        <p:txBody>
          <a:bodyPr rot="0" spcFirstLastPara="1" vertOverflow="overflow" horzOverflow="overflow" vert="horz" wrap="square" lIns="91425" tIns="91425" rIns="91425" bIns="91425"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300"/>
              <a:buFont typeface="Bebas Neue"/>
              <a:buNone/>
              <a:defRPr sz="4300" b="1"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chemeClr val="dk1"/>
              </a:buClr>
              <a:buSzPts val="4300"/>
              <a:buFont typeface="Bebas Neue"/>
              <a:buNone/>
              <a:tabLst/>
              <a:defRPr/>
            </a:pPr>
            <a:r>
              <a:rPr kumimoji="0" lang="en-US" sz="2400" b="1" i="0" u="none" strike="noStrike" kern="1200" cap="none" spc="0" normalizeH="0" baseline="0" noProof="0" dirty="0">
                <a:ln>
                  <a:noFill/>
                </a:ln>
                <a:solidFill>
                  <a:schemeClr val="dk1"/>
                </a:solidFill>
                <a:effectLst/>
                <a:uLnTx/>
                <a:uFillTx/>
                <a:latin typeface="Verdana Pro" panose="020B0604030504040204" pitchFamily="34" charset="0"/>
                <a:ea typeface="Bebas Neue"/>
                <a:cs typeface="Bebas Neue"/>
                <a:sym typeface="Bebas Neue"/>
              </a:rPr>
              <a:t>Transition Treasure Map Screenshot Without Words </a:t>
            </a:r>
          </a:p>
        </p:txBody>
      </p:sp>
      <p:pic>
        <p:nvPicPr>
          <p:cNvPr id="6" name="Picture 5" descr="A black and white picture of various icons depicting learning, participation, and living. 1. Learn (Left Column)&#10;&#10;This column is dedicated to activities or concepts related to learning and education. The icons include:&#10;&#10;University Building: Represents higher education or a formal institution of learning.&#10;Graduation Cap on a Computer Screen: Represents online courses, virtual learning, or educational achievements.&#10;Career and Skills Icons: Represents career education or vocational training.&#10;Briefcase with Graduation Cap: Symbolizes career readiness or professional education.&#10;&#10;2. Participate (Middle Column)&#10;This column focuses on activities that involve participation, community engagement, or creative expression. The icons include:&#10;Laptop and Game Controller: Suggests online learning, digital education, or educational games.&#10;Swimming Icon: Might indicate learning new skills or physical education.&#10;People Dancing: Represents social activities or community participation.&#10;Stage Performance: Symbolizes performing arts, drama, or public speaking.&#10;Guitar and Microphone: Indicates musical activities, singing, or participation in arts.&#10;Sports (Basketball, Parallel Bars): Represents participation in sports or physical activities.&#10;Palette (Art) and Book: Suggests creative arts and reading as forms of participation.&#10;Fishing and Church: Symbolizes hobbies, religious participation, or community engagement.&#10;Cooking Utensils (Spatula and Spoon): Represents cooking or culinary interests.&#10;Horseback Riding: Symbolizes outdoor activities, hobbies, or rural living.&#10;&#10;3. Live (Right Column)&#10;This column represents various aspects of living, including home life, outdoor activities, and personal interests. The icons include:&#10;&#10;House: Represents home or residential life.&#10;Park with a Tree: Suggests outdoor activities or spending time in nature.&#10;City Building: Indicates urban living or life in a city.&#10;Camper/RV and Log Cabin: Suggests camping, travel, or vacationing.&#10;&#10;">
            <a:extLst>
              <a:ext uri="{FF2B5EF4-FFF2-40B4-BE49-F238E27FC236}">
                <a16:creationId xmlns:a16="http://schemas.microsoft.com/office/drawing/2014/main" id="{3547868C-3A78-6EC6-0CC2-B66310F8103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25328" y="542574"/>
            <a:ext cx="6093344" cy="4555770"/>
          </a:xfrm>
          <a:prstGeom prst="rect">
            <a:avLst/>
          </a:prstGeom>
        </p:spPr>
      </p:pic>
    </p:spTree>
    <p:extLst>
      <p:ext uri="{BB962C8B-B14F-4D97-AF65-F5344CB8AC3E}">
        <p14:creationId xmlns:p14="http://schemas.microsoft.com/office/powerpoint/2010/main" val="2477625358"/>
      </p:ext>
    </p:extLst>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5" name="Google Shape;465;p65">
            <a:extLst>
              <a:ext uri="{FF2B5EF4-FFF2-40B4-BE49-F238E27FC236}">
                <a16:creationId xmlns:a16="http://schemas.microsoft.com/office/drawing/2014/main" id="{32FF029B-BB81-ED68-5F9F-E022217E2989}"/>
              </a:ext>
            </a:extLst>
          </p:cNvPr>
          <p:cNvSpPr txBox="1">
            <a:spLocks noGrp="1"/>
          </p:cNvSpPr>
          <p:nvPr>
            <p:ph type="title" idx="4294967295"/>
          </p:nvPr>
        </p:nvSpPr>
        <p:spPr>
          <a:xfrm>
            <a:off x="-220132" y="54102"/>
            <a:ext cx="9279466" cy="544210"/>
          </a:xfrm>
          <a:prstGeom prst="rect">
            <a:avLst/>
          </a:prstGeom>
          <a:noFill/>
          <a:ln>
            <a:noFill/>
            <a:prstDash/>
          </a:ln>
          <a:effectLst/>
        </p:spPr>
        <p:txBody>
          <a:bodyPr rot="0" spcFirstLastPara="1" vertOverflow="overflow" horzOverflow="overflow" vert="horz" wrap="square" lIns="91425" tIns="91425" rIns="91425" bIns="91425"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300"/>
              <a:buFont typeface="Bebas Neue"/>
              <a:buNone/>
              <a:defRPr sz="4300" b="1"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chemeClr val="dk1"/>
              </a:buClr>
              <a:buSzPts val="4300"/>
              <a:buFont typeface="Bebas Neue"/>
              <a:buNone/>
              <a:tabLst/>
              <a:defRPr/>
            </a:pPr>
            <a:r>
              <a:rPr kumimoji="0" lang="en-US" sz="2400" b="1" i="0" u="none" strike="noStrike" kern="1200" cap="none" spc="0" normalizeH="0" baseline="0" noProof="0" dirty="0">
                <a:ln>
                  <a:noFill/>
                </a:ln>
                <a:solidFill>
                  <a:schemeClr val="dk1"/>
                </a:solidFill>
                <a:effectLst/>
                <a:uLnTx/>
                <a:uFillTx/>
                <a:latin typeface="Verdana Pro" panose="020B0604030504040204" pitchFamily="34" charset="0"/>
                <a:ea typeface="Bebas Neue"/>
                <a:cs typeface="Bebas Neue"/>
                <a:sym typeface="Bebas Neue"/>
              </a:rPr>
              <a:t>Transition Treasure Map Screenshot With Words </a:t>
            </a:r>
          </a:p>
        </p:txBody>
      </p:sp>
      <p:pic>
        <p:nvPicPr>
          <p:cNvPr id="3" name="Picture 2" descr="A black and white picture of various icons showing careers and transportation. Left Column: Work&#10;This column is dedicated to various professions. The icons include:&#10;&#10;Judge: Represented by a gavel and a judge's bench.&#10;Athlete: Shown with a trophy, likely representing sports or athletic achievements.&#10;Scientist: Depicted with a flask and a lab coat, symbolizing scientific research or experimentation.&#10;Firefighter: Illustrated with a helmet and flames, representing firefighting.&#10;Chef: Shown with a chef's hat and cooking utensils, indicating a career in cooking.&#10;Salesperson: Depicted with a cash register or point-of-sale system.&#10;Farmer: Represented by a pitchfork and crops, symbolizing agriculture.&#10;Landscaper: Illustrated with a lawnmower, indicating gardening or landscaping work.&#10;Mechanic: Depicted with a wrench, representing repair and maintenance work.&#10;Doctor: Shown with a stethoscope, indicating a medical profession.&#10;Construction Worker: Illustrated with construction equipment, such as an excavator.&#10;Teacher: Depicted with an &quot;Aa&quot; symbol, representing education or teaching.&#10;Right Column: Getting Around&#10;This column focuses on various modes of transportation. The icons include:&#10;&#10;Car: Represents automobile transportation.&#10;Scooter: Shown as a two-wheeled vehicle, indicating a motorized scooter.&#10;Truck: Depicted with a pickup truck, representing larger vehicles.&#10;Tractor: Represents agricultural machinery used on farms.&#10;Motorcycle: Illustrated with a two-wheeled motorbike.&#10;Airplane: Represents air travel.&#10;Train: Depicted with a train engine, symbolizing rail transport.&#10;Boat: Illustrated with a sailboat, representing water transportation.&#10;Bus: Represents public or mass transportation.&#10;Dump Truck: Shown as a construction vehicle used for hauling materials.&#10;Helicopter: Represents aerial transportation with a rotary-wing aircraft.&#10;Bicycle: Depicted with a bike, indicating pedal-powered transportation.">
            <a:extLst>
              <a:ext uri="{FF2B5EF4-FFF2-40B4-BE49-F238E27FC236}">
                <a16:creationId xmlns:a16="http://schemas.microsoft.com/office/drawing/2014/main" id="{B8160E68-75D4-EF77-21E6-5DB7257145B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42426" y="598311"/>
            <a:ext cx="5989910" cy="4416523"/>
          </a:xfrm>
          <a:prstGeom prst="rect">
            <a:avLst/>
          </a:prstGeom>
        </p:spPr>
      </p:pic>
    </p:spTree>
    <p:extLst>
      <p:ext uri="{BB962C8B-B14F-4D97-AF65-F5344CB8AC3E}">
        <p14:creationId xmlns:p14="http://schemas.microsoft.com/office/powerpoint/2010/main" val="123381671"/>
      </p:ext>
    </p:extLst>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5" name="Google Shape;465;p65">
            <a:extLst>
              <a:ext uri="{FF2B5EF4-FFF2-40B4-BE49-F238E27FC236}">
                <a16:creationId xmlns:a16="http://schemas.microsoft.com/office/drawing/2014/main" id="{32FF029B-BB81-ED68-5F9F-E022217E2989}"/>
              </a:ext>
            </a:extLst>
          </p:cNvPr>
          <p:cNvSpPr txBox="1">
            <a:spLocks noGrp="1"/>
          </p:cNvSpPr>
          <p:nvPr>
            <p:ph type="title" idx="4294967295"/>
          </p:nvPr>
        </p:nvSpPr>
        <p:spPr>
          <a:xfrm>
            <a:off x="242712" y="0"/>
            <a:ext cx="9663288" cy="508000"/>
          </a:xfrm>
          <a:prstGeom prst="rect">
            <a:avLst/>
          </a:prstGeom>
          <a:noFill/>
          <a:ln>
            <a:noFill/>
            <a:prstDash/>
          </a:ln>
          <a:effectLst/>
        </p:spPr>
        <p:txBody>
          <a:bodyPr rot="0" spcFirstLastPara="1" vertOverflow="overflow" horzOverflow="overflow" vert="horz" wrap="square" lIns="91425" tIns="91425" rIns="91425" bIns="91425"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300"/>
              <a:buFont typeface="Bebas Neue"/>
              <a:buNone/>
              <a:defRPr sz="4300" b="1"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chemeClr val="dk1"/>
              </a:buClr>
              <a:buSzPts val="4300"/>
              <a:buFont typeface="Bebas Neue"/>
              <a:buNone/>
              <a:tabLst/>
              <a:defRPr/>
            </a:pPr>
            <a:r>
              <a:rPr kumimoji="0" lang="en-US" sz="2400" b="1" i="0" u="none" strike="noStrike" kern="1200" cap="none" spc="0" normalizeH="0" baseline="0" noProof="0" dirty="0">
                <a:ln>
                  <a:noFill/>
                </a:ln>
                <a:solidFill>
                  <a:schemeClr val="dk1"/>
                </a:solidFill>
                <a:effectLst/>
                <a:uLnTx/>
                <a:uFillTx/>
                <a:latin typeface="Verdana Pro" panose="020B0604030504040204" pitchFamily="34" charset="0"/>
                <a:ea typeface="Bebas Neue"/>
                <a:cs typeface="Bebas Neue"/>
                <a:sym typeface="Bebas Neue"/>
              </a:rPr>
              <a:t>Transition Treasure Map Screenshot Example</a:t>
            </a:r>
          </a:p>
        </p:txBody>
      </p:sp>
      <p:pic>
        <p:nvPicPr>
          <p:cNvPr id="4" name="Picture 3" descr="A example treasure map showing icons of learning (at the University of Oklahoma), living (in a log cabin around trees with a chicken), participation (in basketball), and working (with a scientist in a lab coat with a beaker, cactus, and flower). To travel, the map includes a visual of a scooter. ">
            <a:extLst>
              <a:ext uri="{FF2B5EF4-FFF2-40B4-BE49-F238E27FC236}">
                <a16:creationId xmlns:a16="http://schemas.microsoft.com/office/drawing/2014/main" id="{970F1F00-6AA5-8F99-0EEA-1110177B70E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49247" y="595193"/>
            <a:ext cx="6128042" cy="4403639"/>
          </a:xfrm>
          <a:prstGeom prst="rect">
            <a:avLst/>
          </a:prstGeom>
        </p:spPr>
      </p:pic>
    </p:spTree>
    <p:extLst>
      <p:ext uri="{BB962C8B-B14F-4D97-AF65-F5344CB8AC3E}">
        <p14:creationId xmlns:p14="http://schemas.microsoft.com/office/powerpoint/2010/main" val="875817697"/>
      </p:ext>
    </p:extLst>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73378" y="81933"/>
            <a:ext cx="7721780" cy="994172"/>
          </a:xfrm>
        </p:spPr>
        <p:txBody>
          <a:bodyPr spcFirstLastPara="1" lIns="91425" tIns="91425" rIns="91425" bIns="91425" anchor="ctr" anchorCtr="0">
            <a:normAutofit/>
          </a:bodyPr>
          <a:lstStyle/>
          <a:p>
            <a:pPr marL="0" lvl="0" indent="0" rtl="0">
              <a:spcBef>
                <a:spcPts val="0"/>
              </a:spcBef>
              <a:spcAft>
                <a:spcPts val="0"/>
              </a:spcAft>
              <a:buNone/>
            </a:pPr>
            <a:r>
              <a:rPr lang="it-IT" sz="2800" dirty="0"/>
              <a:t>Utilizing Literature, Media, and Film in Mini Lessons </a:t>
            </a:r>
          </a:p>
        </p:txBody>
      </p:sp>
      <p:sp>
        <p:nvSpPr>
          <p:cNvPr id="466" name="Google Shape;466;p65"/>
          <p:cNvSpPr txBox="1">
            <a:spLocks noGrp="1"/>
          </p:cNvSpPr>
          <p:nvPr>
            <p:ph idx="1"/>
          </p:nvPr>
        </p:nvSpPr>
        <p:spPr/>
        <p:txBody>
          <a:bodyPr spcFirstLastPara="1" lIns="91425" tIns="91425" rIns="91425" bIns="91425" anchorCtr="0">
            <a:normAutofit/>
          </a:bodyPr>
          <a:lstStyle/>
          <a:p>
            <a:pPr marL="342900" lvl="0" rtl="0">
              <a:spcBef>
                <a:spcPts val="0"/>
              </a:spcBef>
              <a:spcAft>
                <a:spcPts val="0"/>
              </a:spcAft>
              <a:buClr>
                <a:schemeClr val="dk1"/>
              </a:buClr>
              <a:buSzPts val="1100"/>
              <a:buFont typeface="Arial" panose="020B0604020202020204" pitchFamily="34" charset="0"/>
              <a:buChar char="•"/>
            </a:pPr>
            <a:r>
              <a:rPr lang="en-US" dirty="0"/>
              <a:t>Plan for it!</a:t>
            </a:r>
          </a:p>
          <a:p>
            <a:pPr marL="800100" lvl="1">
              <a:buSzPts val="1100"/>
              <a:buFont typeface="Arial" panose="020B0604020202020204" pitchFamily="34" charset="0"/>
              <a:buChar char="•"/>
            </a:pPr>
            <a:r>
              <a:rPr lang="en-US" sz="2100" dirty="0"/>
              <a:t>How does the academic skill you are working on relate to self-determination skills (like self-advocacy, self-awareness, disability awareness, problem-solving, goal setting)? </a:t>
            </a:r>
          </a:p>
          <a:p>
            <a:pPr marL="342900">
              <a:buSzPts val="1100"/>
              <a:buFont typeface="Arial" panose="020B0604020202020204" pitchFamily="34" charset="0"/>
              <a:buChar char="•"/>
            </a:pPr>
            <a:r>
              <a:rPr lang="en-US" dirty="0"/>
              <a:t>Ideas</a:t>
            </a:r>
          </a:p>
          <a:p>
            <a:pPr marL="800100" lvl="1">
              <a:buSzPts val="1100"/>
              <a:buFont typeface="Arial" panose="020B0604020202020204" pitchFamily="34" charset="0"/>
              <a:buChar char="•"/>
            </a:pPr>
            <a:r>
              <a:rPr lang="en-US" sz="2100" dirty="0"/>
              <a:t>Read aloud (small group or whole group)</a:t>
            </a:r>
          </a:p>
          <a:p>
            <a:pPr marL="800100" lvl="1">
              <a:buSzPts val="1100"/>
              <a:buFont typeface="Arial" panose="020B0604020202020204" pitchFamily="34" charset="0"/>
              <a:buChar char="•"/>
            </a:pPr>
            <a:r>
              <a:rPr lang="en-US" sz="2100" dirty="0"/>
              <a:t>Student book reports</a:t>
            </a:r>
          </a:p>
          <a:p>
            <a:pPr marL="800100" lvl="1">
              <a:buSzPts val="1100"/>
              <a:buFont typeface="Arial" panose="020B0604020202020204" pitchFamily="34" charset="0"/>
              <a:buChar char="•"/>
            </a:pPr>
            <a:r>
              <a:rPr lang="en-US" sz="2100" dirty="0"/>
              <a:t>Fast finisher work</a:t>
            </a:r>
          </a:p>
          <a:p>
            <a:pPr marL="342900" lvl="0" rtl="0">
              <a:spcBef>
                <a:spcPts val="0"/>
              </a:spcBef>
              <a:spcAft>
                <a:spcPts val="0"/>
              </a:spcAft>
              <a:buClr>
                <a:schemeClr val="dk1"/>
              </a:buClr>
              <a:buSzPts val="1100"/>
              <a:buFont typeface="Arial" panose="020B0604020202020204" pitchFamily="34" charset="0"/>
              <a:buChar char="•"/>
            </a:pPr>
            <a:endParaRPr lang="en-US" dirty="0"/>
          </a:p>
        </p:txBody>
      </p:sp>
    </p:spTree>
    <p:extLst>
      <p:ext uri="{BB962C8B-B14F-4D97-AF65-F5344CB8AC3E}">
        <p14:creationId xmlns:p14="http://schemas.microsoft.com/office/powerpoint/2010/main" val="3190900326"/>
      </p:ext>
    </p:extLst>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Tying the Knot: Self-Determination &amp; Literature</a:t>
            </a:r>
            <a:endParaRPr sz="4000" dirty="0">
              <a:latin typeface="Verdana Pro" panose="020B0604030504040204" pitchFamily="34" charset="0"/>
            </a:endParaRPr>
          </a:p>
        </p:txBody>
      </p:sp>
      <p:sp>
        <p:nvSpPr>
          <p:cNvPr id="466" name="Google Shape;466;p65"/>
          <p:cNvSpPr txBox="1">
            <a:spLocks noGrp="1"/>
          </p:cNvSpPr>
          <p:nvPr>
            <p:ph type="subTitle" idx="1"/>
          </p:nvPr>
        </p:nvSpPr>
        <p:spPr>
          <a:xfrm>
            <a:off x="282909" y="1428044"/>
            <a:ext cx="4955135" cy="3160889"/>
          </a:xfrm>
          <a:prstGeom prst="rect">
            <a:avLst/>
          </a:prstGeom>
        </p:spPr>
        <p:txBody>
          <a:bodyPr spcFirstLastPara="1" wrap="square" lIns="91425" tIns="91425" rIns="91425" bIns="91425" anchor="t" anchorCtr="0">
            <a:noAutofit/>
          </a:bodyPr>
          <a:lstStyle/>
          <a:p>
            <a:pPr marL="342900" lvl="0" algn="l" rtl="0">
              <a:spcBef>
                <a:spcPts val="0"/>
              </a:spcBef>
              <a:spcAft>
                <a:spcPts val="0"/>
              </a:spcAft>
              <a:buClr>
                <a:schemeClr val="dk1"/>
              </a:buClr>
              <a:buSzPts val="1100"/>
              <a:buFont typeface="Arial" panose="020B0604020202020204" pitchFamily="34" charset="0"/>
              <a:buChar char="•"/>
            </a:pPr>
            <a:r>
              <a:rPr lang="en-US" sz="2400" dirty="0">
                <a:latin typeface="+mj-lt"/>
                <a:ea typeface="Overpass Light"/>
                <a:cs typeface="Overpass Light"/>
                <a:sym typeface="Overpass Light"/>
              </a:rPr>
              <a:t>FREE resource to connect literature to self-determination skills (self-advocacy, choice-making, conflict resolution, and persistence) within grade clusters </a:t>
            </a:r>
          </a:p>
          <a:p>
            <a:pPr marL="342900" lvl="0" algn="l" rtl="0">
              <a:spcBef>
                <a:spcPts val="0"/>
              </a:spcBef>
              <a:spcAft>
                <a:spcPts val="0"/>
              </a:spcAft>
              <a:buClr>
                <a:schemeClr val="dk1"/>
              </a:buClr>
              <a:buSzPts val="1100"/>
              <a:buFont typeface="Arial" panose="020B0604020202020204" pitchFamily="34" charset="0"/>
              <a:buChar char="•"/>
            </a:pPr>
            <a:r>
              <a:rPr lang="en-US" sz="2400" dirty="0">
                <a:latin typeface="+mj-lt"/>
                <a:ea typeface="Overpass Light"/>
                <a:cs typeface="Overpass Light"/>
                <a:sym typeface="Overpass Light"/>
              </a:rPr>
              <a:t>Links to read-aloud versions of included works (or Amazon for purchasing options of chapter books)</a:t>
            </a: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pic>
        <p:nvPicPr>
          <p:cNvPr id="4" name="Picture 3" descr="A qr code for the website https://tinyurl.com/TKSDL-TPT">
            <a:extLst>
              <a:ext uri="{FF2B5EF4-FFF2-40B4-BE49-F238E27FC236}">
                <a16:creationId xmlns:a16="http://schemas.microsoft.com/office/drawing/2014/main" id="{B2F2774A-0537-3DC9-1167-B2268A32ED9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75116" y="1555749"/>
            <a:ext cx="2747309" cy="2747309"/>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4244622" y="4459111"/>
            <a:ext cx="4727708" cy="6208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https://</a:t>
            </a:r>
            <a:r>
              <a:rPr lang="en-US" sz="2400" err="1">
                <a:latin typeface="+mj-lt"/>
                <a:ea typeface="Overpass Light"/>
                <a:cs typeface="Overpass Light"/>
                <a:sym typeface="Overpass Light"/>
              </a:rPr>
              <a:t>tinyurl.com</a:t>
            </a:r>
            <a:r>
              <a:rPr lang="en-US" sz="2400">
                <a:latin typeface="+mj-lt"/>
                <a:ea typeface="Overpass Light"/>
                <a:cs typeface="Overpass Light"/>
                <a:sym typeface="Overpass Light"/>
              </a:rPr>
              <a:t>/TKSDL-TPT</a:t>
            </a:r>
          </a:p>
        </p:txBody>
      </p:sp>
    </p:spTree>
    <p:extLst>
      <p:ext uri="{BB962C8B-B14F-4D97-AF65-F5344CB8AC3E}">
        <p14:creationId xmlns:p14="http://schemas.microsoft.com/office/powerpoint/2010/main" val="153994808"/>
      </p:ext>
    </p:extLst>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2889" y="119432"/>
            <a:ext cx="8914509" cy="6312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Tying the Knot: Self-Determination &amp; Literature Screenshots 1</a:t>
            </a:r>
            <a:endParaRPr sz="2000" dirty="0">
              <a:latin typeface="Verdana Pro" panose="020B0604030504040204" pitchFamily="34" charset="0"/>
            </a:endParaRPr>
          </a:p>
        </p:txBody>
      </p:sp>
      <p:pic>
        <p:nvPicPr>
          <p:cNvPr id="6" name="Picture 5" descr="A blue sign with white text depicting self determination from pre-k through kinder. Categories and Recommended Books:&#10;Self-Advocacy:&#10;&#10;Be Who You Are by Todd Parr&#10;The Cool Bean by Jory John&#10;The Dot by Peter H. Reynolds&#10;Conflict Resolution:&#10;&#10;We Don't Eat Our Classmates by Ryan T. Higgins&#10;The Good Egg by Jory John&#10;Sharing Does Not Compute by Michael Slack&#10;Choice Making:&#10;&#10;How Do Dinosaurs Stay Safe? by Jane Yolen&#10;I Want My Hat Back by Jon Klassen&#10;No, David! by David Shannon&#10;Persistence:&#10;&#10;Giraffes Can't Dance by Giles Andreae&#10;The Bad Seed by Jory John&#10;A Squiggly Story by Andrew Larson">
            <a:extLst>
              <a:ext uri="{FF2B5EF4-FFF2-40B4-BE49-F238E27FC236}">
                <a16:creationId xmlns:a16="http://schemas.microsoft.com/office/drawing/2014/main" id="{79C567A2-CAAB-5DFF-2221-0B1CC4957A7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645682"/>
            <a:ext cx="2942611" cy="4434639"/>
          </a:xfrm>
          <a:prstGeom prst="rect">
            <a:avLst/>
          </a:prstGeom>
        </p:spPr>
      </p:pic>
      <p:pic>
        <p:nvPicPr>
          <p:cNvPr id="8" name="Picture 7" descr="A purple sign with white text depicting self determination from 1st-3rd grade. Categories and Recommended Books:&#10;Persistence:&#10;&#10;Waiting Is Not Easy by Mo Willems&#10;The Magical Yet by Angela DiTerlizzi&#10;A Little Spot of Perseverance by Diane Alber&#10;Choice Making:&#10;&#10;A Little Spot of Responsibility by Diane Alber&#10;Have You Filled a Bucket Today? by Carol McCloud&#10;A Bad Case of Stripes by David Shannon&#10;Conflict Resolution:&#10;&#10;My New Friend Is So Fun by Mo Willems&#10;Can I Play Too? by Mo Willems&#10;Say Something by Peter H. Reynolds&#10;Self-Advocacy:&#10;&#10;Chrysanthemum by Kevin Henkes&#10;Ish by Peter H. Reynolds&#10;Watch Me Throw the Ball by Mo Willems&#10;">
            <a:extLst>
              <a:ext uri="{FF2B5EF4-FFF2-40B4-BE49-F238E27FC236}">
                <a16:creationId xmlns:a16="http://schemas.microsoft.com/office/drawing/2014/main" id="{99808F31-AE03-AE69-22B1-0CD48B78802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942611" y="645682"/>
            <a:ext cx="2859720" cy="4434639"/>
          </a:xfrm>
          <a:prstGeom prst="rect">
            <a:avLst/>
          </a:prstGeom>
        </p:spPr>
      </p:pic>
      <p:pic>
        <p:nvPicPr>
          <p:cNvPr id="10" name="Picture 9" descr="A teal sign with white text depicting self determination from 4th through 5th grade. Categories and Recommended Books:&#10;Self-Advocacy:&#10;&#10;Ugly by Robert Hoge&#10;I Am Enough by Grace Byers&#10;The Journey Trilogy by Aaron Becker (Journey, Quest, Return)&#10;Persistence:&#10;&#10;Rosie Revere, Engineer by Andrea Beaty&#10;The Most Magnificent Thing by Ashley Spires&#10;Andres and His Rubik's Cube Madness by Andrea Alvarez&#10;Choice Making:&#10;&#10;What Would You Do in a Book About You by Jean Reidy&#10;Flat Stanley by Jeff Brown&#10;What If Everybody Did That? by Ellen Javernick&#10;Conflict Resolution:&#10;&#10;A Big Guy Took My Ball by Mo Willems&#10;The Hueys in: It Wasn't Me by Oliver Jeffers&#10;Stick and Stone by Beth Ferry">
            <a:extLst>
              <a:ext uri="{FF2B5EF4-FFF2-40B4-BE49-F238E27FC236}">
                <a16:creationId xmlns:a16="http://schemas.microsoft.com/office/drawing/2014/main" id="{AD8928FD-AC2C-3F72-50CB-AEE7CD8C189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02331" y="643292"/>
            <a:ext cx="2884069" cy="4437029"/>
          </a:xfrm>
          <a:prstGeom prst="rect">
            <a:avLst/>
          </a:prstGeom>
        </p:spPr>
      </p:pic>
    </p:spTree>
    <p:extLst>
      <p:ext uri="{BB962C8B-B14F-4D97-AF65-F5344CB8AC3E}">
        <p14:creationId xmlns:p14="http://schemas.microsoft.com/office/powerpoint/2010/main" val="245796595"/>
      </p:ext>
    </p:extLst>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79023" y="108475"/>
            <a:ext cx="9014178" cy="58014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Tying the Knot: Self-Determination &amp; Literature Screenshots 2</a:t>
            </a:r>
            <a:endParaRPr sz="2000" dirty="0">
              <a:latin typeface="Verdana Pro" panose="020B0604030504040204" pitchFamily="34" charset="0"/>
            </a:endParaRPr>
          </a:p>
        </p:txBody>
      </p:sp>
      <p:pic>
        <p:nvPicPr>
          <p:cNvPr id="3" name="Picture 2" descr="A green sign with white text depicting self determination from sixth through eighth grade. Self-Advocacy:&#10;&#10;Wonder by R.J. Palacio&#10;Smile by Raina Telgemeier&#10;Taking Up Space by Chelsea Kwakye and Ore Ogunbiyi&#10;Persistence:&#10;&#10;Fish in a Tree by Lynda Mullaly Hunt&#10;The 47 People You’ll Meet in Middle School by Kristin Mahoney&#10;Harbor Me by Jacqueline Woodson&#10;Choice Making:&#10;&#10;The Unteachables by Gordon Korman&#10;Rules by Cynthia Lord&#10;The Crossover by Kwame Alexander&#10;Conflict Resolution:&#10;&#10;The Worst Class Trip Ever by Dave Barry&#10;Bad Best Friend by Rachel Vail&#10;Tight by Torrey Maldonado&#10;">
            <a:extLst>
              <a:ext uri="{FF2B5EF4-FFF2-40B4-BE49-F238E27FC236}">
                <a16:creationId xmlns:a16="http://schemas.microsoft.com/office/drawing/2014/main" id="{F4A5EAB5-CF55-74C4-F356-3619F6F5B23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048" y="688622"/>
            <a:ext cx="2866517" cy="4406736"/>
          </a:xfrm>
          <a:prstGeom prst="rect">
            <a:avLst/>
          </a:prstGeom>
        </p:spPr>
      </p:pic>
      <p:pic>
        <p:nvPicPr>
          <p:cNvPr id="5" name="Picture 4" descr="A pink sign with white text depicting self determination from ninth through tenth grade. Self-Advocacy:&#10;&#10;The Skin I'm In by Sharon G. Flake&#10;Dumplin' by Julie Murphy&#10;Skinny by Donna Cooner&#10;Persistence:&#10;&#10;Front of the Class by Brad Cohen&#10;Dear Martin by Nic Stone&#10;Educated by Tara Westover&#10;Choice Making:&#10;&#10;Holding Up the Universe by Jennifer Niven&#10;Graceling by Kristin Cashore&#10;Every Day by David Levithan&#10;Conflict Resolution:&#10;&#10;The Curious Incident of the Dog in the Night-Time by Mark Haddon&#10;Swing by Kwame Alexander and Mary Rand Hess&#10;The Hate U Give by Angie Thomas">
            <a:extLst>
              <a:ext uri="{FF2B5EF4-FFF2-40B4-BE49-F238E27FC236}">
                <a16:creationId xmlns:a16="http://schemas.microsoft.com/office/drawing/2014/main" id="{A3119316-56AA-3F99-35F9-E9B6139F45D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89565" y="688622"/>
            <a:ext cx="2866517" cy="4417483"/>
          </a:xfrm>
          <a:prstGeom prst="rect">
            <a:avLst/>
          </a:prstGeom>
        </p:spPr>
      </p:pic>
      <p:pic>
        <p:nvPicPr>
          <p:cNvPr id="9" name="Picture 8" descr="An orange sign with white text depicting self determination from eleventh through twelfth grade. Self-Advocacy:&#10;&#10;Piecing Me Together by Renée Watson&#10;The List by Siobhan Vivian&#10;Worthy by Donna Cooner&#10;Persistence:&#10;&#10;A Heart in a Body in the World by Deb Caletti&#10;My Side of the Mountain by Jean Craighead George&#10;The Glass Castle by Jeannette Walls&#10;Choice Making:&#10;&#10;All American Boys by Brendan Kiely and Jason Reynolds&#10;The Radius of Us by Marie F. Marquardt&#10;An Abundance of Katherines by John Green&#10;Conflict Resolution:&#10;&#10;That’s Not What Happened by Kody Keplinger&#10;Love, Hate &amp; Other Filters by Samira Ahmed&#10;Speak by Laurie Halse Anderson&#10;">
            <a:extLst>
              <a:ext uri="{FF2B5EF4-FFF2-40B4-BE49-F238E27FC236}">
                <a16:creationId xmlns:a16="http://schemas.microsoft.com/office/drawing/2014/main" id="{A95E22DE-A9E3-FE30-A036-0D4E24193A3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22870" y="688622"/>
            <a:ext cx="2843754" cy="4417483"/>
          </a:xfrm>
          <a:prstGeom prst="rect">
            <a:avLst/>
          </a:prstGeom>
        </p:spPr>
      </p:pic>
    </p:spTree>
    <p:extLst>
      <p:ext uri="{BB962C8B-B14F-4D97-AF65-F5344CB8AC3E}">
        <p14:creationId xmlns:p14="http://schemas.microsoft.com/office/powerpoint/2010/main" val="2916896962"/>
      </p:ext>
    </p:extLst>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44" name="Google Shape;544;p71"/>
          <p:cNvSpPr txBox="1">
            <a:spLocks noGrp="1"/>
          </p:cNvSpPr>
          <p:nvPr>
            <p:ph type="title"/>
          </p:nvPr>
        </p:nvSpPr>
        <p:spPr/>
        <p:txBody>
          <a:bodyPr spcFirstLastPara="1" lIns="91425" tIns="91425" rIns="91425" bIns="91425" anchor="b" anchorCtr="0">
            <a:normAutofit/>
          </a:bodyPr>
          <a:lstStyle/>
          <a:p>
            <a:pPr marL="0" lvl="0" indent="0" rtl="0">
              <a:spcBef>
                <a:spcPts val="0"/>
              </a:spcBef>
              <a:spcAft>
                <a:spcPts val="0"/>
              </a:spcAft>
              <a:buNone/>
            </a:pPr>
            <a:r>
              <a:rPr lang="en-US" dirty="0"/>
              <a:t>Activity Time 🎉</a:t>
            </a:r>
          </a:p>
        </p:txBody>
      </p:sp>
      <p:sp>
        <p:nvSpPr>
          <p:cNvPr id="539" name="Google Shape;539;p71"/>
          <p:cNvSpPr txBox="1">
            <a:spLocks noGrp="1"/>
          </p:cNvSpPr>
          <p:nvPr>
            <p:ph type="body" idx="1"/>
          </p:nvPr>
        </p:nvSpPr>
        <p:spPr/>
        <p:txBody>
          <a:bodyPr spcFirstLastPara="1" lIns="91425" tIns="91425" rIns="91425" bIns="91425" anchorCtr="0">
            <a:normAutofit/>
          </a:bodyPr>
          <a:lstStyle/>
          <a:p>
            <a:pPr marL="0" lvl="0" indent="0" rtl="0">
              <a:spcBef>
                <a:spcPts val="0"/>
              </a:spcBef>
              <a:spcAft>
                <a:spcPts val="600"/>
              </a:spcAft>
              <a:buNone/>
            </a:pPr>
            <a:r>
              <a:rPr lang="en-US" dirty="0"/>
              <a:t>What is a book or short story you could use to teach a specific self-determination skill?</a:t>
            </a:r>
          </a:p>
        </p:txBody>
      </p:sp>
    </p:spTree>
    <p:extLst>
      <p:ext uri="{BB962C8B-B14F-4D97-AF65-F5344CB8AC3E}">
        <p14:creationId xmlns:p14="http://schemas.microsoft.com/office/powerpoint/2010/main" val="1740332288"/>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Verdana Pro"/>
              </a:rPr>
              <a:t>The Big Fib Podcast &amp; Show</a:t>
            </a:r>
            <a:endParaRPr sz="4000">
              <a:latin typeface="Verdana Pro"/>
            </a:endParaRPr>
          </a:p>
        </p:txBody>
      </p:sp>
      <p:sp>
        <p:nvSpPr>
          <p:cNvPr id="466" name="Google Shape;466;p65"/>
          <p:cNvSpPr txBox="1">
            <a:spLocks noGrp="1"/>
          </p:cNvSpPr>
          <p:nvPr>
            <p:ph type="subTitle" idx="1"/>
          </p:nvPr>
        </p:nvSpPr>
        <p:spPr>
          <a:xfrm>
            <a:off x="621575" y="827132"/>
            <a:ext cx="8253484" cy="4056505"/>
          </a:xfrm>
          <a:prstGeom prst="rect">
            <a:avLst/>
          </a:prstGeom>
        </p:spPr>
        <p:txBody>
          <a:bodyPr spcFirstLastPara="1" wrap="square" lIns="91425" tIns="91425" rIns="91425" bIns="91425" anchor="t" anchorCtr="0">
            <a:noAutofit/>
          </a:bodyPr>
          <a:lstStyle/>
          <a:p>
            <a:pPr marL="342900" lvl="0" algn="l" rtl="0">
              <a:spcBef>
                <a:spcPts val="0"/>
              </a:spcBef>
              <a:spcAft>
                <a:spcPts val="0"/>
              </a:spcAft>
              <a:buClr>
                <a:schemeClr val="dk1"/>
              </a:buClr>
              <a:buSzPts val="1100"/>
              <a:buFont typeface="Arial" panose="020B0604020202020204" pitchFamily="34" charset="0"/>
              <a:buChar char="•"/>
            </a:pPr>
            <a:r>
              <a:rPr lang="en-US" sz="2400">
                <a:latin typeface="+mj-lt"/>
                <a:ea typeface="Overpass Light"/>
                <a:cs typeface="Overpass Light"/>
                <a:sym typeface="Overpass Light"/>
              </a:rPr>
              <a:t>Two experts on a particular topic, one is genuine, the other is a liar. The ‘host’ works to ask insightful questions and weigh evidence to determine the fake news. </a:t>
            </a:r>
          </a:p>
          <a:p>
            <a:pPr marL="342900" lvl="0" algn="l" rtl="0">
              <a:spcBef>
                <a:spcPts val="0"/>
              </a:spcBef>
              <a:spcAft>
                <a:spcPts val="0"/>
              </a:spcAft>
              <a:buClr>
                <a:schemeClr val="dk1"/>
              </a:buClr>
              <a:buSzPts val="1100"/>
              <a:buFont typeface="Arial" panose="020B0604020202020204" pitchFamily="34" charset="0"/>
              <a:buChar char="•"/>
            </a:pPr>
            <a:endParaRPr lang="en-US" sz="2400">
              <a:latin typeface="+mj-lt"/>
              <a:ea typeface="Overpass Light"/>
              <a:cs typeface="Overpass Light"/>
              <a:sym typeface="Overpass Light"/>
            </a:endParaRPr>
          </a:p>
        </p:txBody>
      </p:sp>
      <p:pic>
        <p:nvPicPr>
          <p:cNvPr id="6" name="Picture 5" descr="This image is a screenshot of an audio player for a podcast episode from GZM Shows titled &quot;The Big Fib.&quot; The specific episode displayed is about Math and has a total duration of 27 minutes and 9 seconds. The description suggests that the listener will be challenged to figure out who's lying about math in the episode.&#10;&#10;Below the episode currently displayed, there are two other episodes listed:&#10;&#10;Broadcast Journalism&#10;Camels">
            <a:extLst>
              <a:ext uri="{FF2B5EF4-FFF2-40B4-BE49-F238E27FC236}">
                <a16:creationId xmlns:a16="http://schemas.microsoft.com/office/drawing/2014/main" id="{9FBDEA6A-A7F1-D23C-A37E-DEDD8041807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30943" y="2117027"/>
            <a:ext cx="5758384" cy="2280023"/>
          </a:xfrm>
          <a:prstGeom prst="rect">
            <a:avLst/>
          </a:prstGeom>
        </p:spPr>
      </p:pic>
      <p:pic>
        <p:nvPicPr>
          <p:cNvPr id="4" name="Picture 3" descr="A qr code for https://tinyurl.com/bigfib​&#10;">
            <a:extLst>
              <a:ext uri="{FF2B5EF4-FFF2-40B4-BE49-F238E27FC236}">
                <a16:creationId xmlns:a16="http://schemas.microsoft.com/office/drawing/2014/main" id="{79853730-E370-376C-4D59-EF76A91F79A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490478" y="2117965"/>
            <a:ext cx="2223099" cy="2206925"/>
          </a:xfrm>
          <a:prstGeom prst="rect">
            <a:avLst/>
          </a:prstGeom>
        </p:spPr>
      </p:pic>
      <p:sp>
        <p:nvSpPr>
          <p:cNvPr id="2" name="Google Shape;466;p65">
            <a:extLst>
              <a:ext uri="{FF2B5EF4-FFF2-40B4-BE49-F238E27FC236}">
                <a16:creationId xmlns:a16="http://schemas.microsoft.com/office/drawing/2014/main" id="{FA3502E8-4D5C-0BCF-EA38-E41ADCCB7BFD}"/>
              </a:ext>
              <a:ext uri="{C183D7F6-B498-43B3-948B-1728B52AA6E4}">
                <adec:decorative xmlns:adec="http://schemas.microsoft.com/office/drawing/2017/decorative" val="1"/>
              </a:ext>
            </a:extLst>
          </p:cNvPr>
          <p:cNvSpPr txBox="1">
            <a:spLocks/>
          </p:cNvSpPr>
          <p:nvPr/>
        </p:nvSpPr>
        <p:spPr>
          <a:xfrm>
            <a:off x="5766998" y="4421587"/>
            <a:ext cx="3398693" cy="4942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r>
              <a:rPr lang="en-US" sz="2400" dirty="0">
                <a:latin typeface="Arial"/>
                <a:cs typeface="Arial"/>
              </a:rPr>
              <a:t>https://tinyurl.com/bigfib</a:t>
            </a:r>
            <a:endParaRPr lang="en-US" dirty="0"/>
          </a:p>
        </p:txBody>
      </p:sp>
    </p:spTree>
    <p:extLst>
      <p:ext uri="{BB962C8B-B14F-4D97-AF65-F5344CB8AC3E}">
        <p14:creationId xmlns:p14="http://schemas.microsoft.com/office/powerpoint/2010/main" val="3991743729"/>
      </p:ext>
    </p:extLst>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The LowDOWN Podcast</a:t>
            </a:r>
            <a:endParaRPr sz="4000" dirty="0">
              <a:latin typeface="Verdana Pro" panose="020B0604030504040204" pitchFamily="34" charset="0"/>
            </a:endParaRPr>
          </a:p>
        </p:txBody>
      </p:sp>
      <p:sp>
        <p:nvSpPr>
          <p:cNvPr id="466" name="Google Shape;466;p65"/>
          <p:cNvSpPr txBox="1">
            <a:spLocks noGrp="1"/>
          </p:cNvSpPr>
          <p:nvPr>
            <p:ph type="subTitle" idx="1"/>
          </p:nvPr>
        </p:nvSpPr>
        <p:spPr>
          <a:xfrm>
            <a:off x="621575" y="827132"/>
            <a:ext cx="8253484" cy="4056505"/>
          </a:xfrm>
          <a:prstGeom prst="rect">
            <a:avLst/>
          </a:prstGeom>
        </p:spPr>
        <p:txBody>
          <a:bodyPr spcFirstLastPara="1" wrap="square" lIns="91425" tIns="91425" rIns="91425" bIns="91425" anchor="t" anchorCtr="0">
            <a:noAutofit/>
          </a:bodyPr>
          <a:lstStyle/>
          <a:p>
            <a:pPr marL="342900" lvl="0" algn="l" rtl="0">
              <a:spcBef>
                <a:spcPts val="0"/>
              </a:spcBef>
              <a:spcAft>
                <a:spcPts val="0"/>
              </a:spcAft>
              <a:buClr>
                <a:schemeClr val="dk1"/>
              </a:buClr>
              <a:buSzPts val="1100"/>
              <a:buFont typeface="Arial" panose="020B0604020202020204" pitchFamily="34" charset="0"/>
              <a:buChar char="•"/>
            </a:pPr>
            <a:r>
              <a:rPr lang="en-US" sz="2400">
                <a:latin typeface="+mj-lt"/>
                <a:ea typeface="Overpass Light"/>
                <a:cs typeface="Overpass Light"/>
                <a:sym typeface="Overpass Light"/>
              </a:rPr>
              <a:t>Features individuals with Down Syndrome, their parents, and experts in the field to address topics like health, development, advocacy, and employment</a:t>
            </a:r>
          </a:p>
          <a:p>
            <a:pPr marL="342900" lvl="0" algn="l" rtl="0">
              <a:spcBef>
                <a:spcPts val="0"/>
              </a:spcBef>
              <a:spcAft>
                <a:spcPts val="0"/>
              </a:spcAft>
              <a:buClr>
                <a:schemeClr val="dk1"/>
              </a:buClr>
              <a:buSzPts val="1100"/>
              <a:buFont typeface="Arial" panose="020B0604020202020204" pitchFamily="34" charset="0"/>
              <a:buChar char="•"/>
            </a:pPr>
            <a:endParaRPr lang="en-US" sz="2400">
              <a:latin typeface="+mj-lt"/>
              <a:ea typeface="Overpass Light"/>
              <a:cs typeface="Overpass Light"/>
              <a:sym typeface="Overpass Light"/>
            </a:endParaRPr>
          </a:p>
        </p:txBody>
      </p:sp>
      <p:pic>
        <p:nvPicPr>
          <p:cNvPr id="4" name="Picture 3" descr="A screenshot of the lowdown podcast. This image displays three episodes from The LowDOWN: A Down Syndrome Podcast from the Down Syndrome Resource Foundation. Each episode features a different topic related to Down syndrome:&#10;&#10;Sleep Tight: Troubleshooting Sleep Problems&#10;&#10;Description: Hina Mahmood gives advice on troubleshooting sleep problems, likely discussing challenges and solutions for individuals with Down syndrome.&#10;Episode Information: This is the Season 9 finale.&#10;Martial Artists: Taekwondo and Down Syndrome&#10;&#10;Description: Darryl and Darius Andaya discuss taekwondo for people with Down syndrome, highlighting the benefits and experiences in martial arts.&#10;Episode Information: This is Season 9, Episode 9.&#10;Fun and Games: The Adventures of a Child Life Specialist&#10;&#10;Description: Dawn McKellar talks about her work as a child life specialist, sharing insights on her experiences working with children, including those with Down syndrome.&#10;Episode Information: This is Season 9, Episode 8.&#10;">
            <a:extLst>
              <a:ext uri="{FF2B5EF4-FFF2-40B4-BE49-F238E27FC236}">
                <a16:creationId xmlns:a16="http://schemas.microsoft.com/office/drawing/2014/main" id="{ED1F3340-4280-BA6E-6B97-A2493F69305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69235" y="2175475"/>
            <a:ext cx="4022083" cy="2454421"/>
          </a:xfrm>
          <a:prstGeom prst="rect">
            <a:avLst/>
          </a:prstGeom>
        </p:spPr>
      </p:pic>
      <p:pic>
        <p:nvPicPr>
          <p:cNvPr id="7" name="Picture 6" descr="A qr code for the website https://tinyurl.com/LowDOWNpod">
            <a:extLst>
              <a:ext uri="{FF2B5EF4-FFF2-40B4-BE49-F238E27FC236}">
                <a16:creationId xmlns:a16="http://schemas.microsoft.com/office/drawing/2014/main" id="{148356A0-E61E-65F0-AC64-81AB802D98F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25888" y="2069794"/>
            <a:ext cx="2514600" cy="2527300"/>
          </a:xfrm>
          <a:prstGeom prst="rect">
            <a:avLst/>
          </a:prstGeom>
        </p:spPr>
      </p:pic>
      <p:sp>
        <p:nvSpPr>
          <p:cNvPr id="2" name="Google Shape;466;p65">
            <a:extLst>
              <a:ext uri="{FF2B5EF4-FFF2-40B4-BE49-F238E27FC236}">
                <a16:creationId xmlns:a16="http://schemas.microsoft.com/office/drawing/2014/main" id="{FA3502E8-4D5C-0BCF-EA38-E41ADCCB7BFD}"/>
              </a:ext>
              <a:ext uri="{C183D7F6-B498-43B3-948B-1728B52AA6E4}">
                <adec:decorative xmlns:adec="http://schemas.microsoft.com/office/drawing/2017/decorative" val="1"/>
              </a:ext>
            </a:extLst>
          </p:cNvPr>
          <p:cNvSpPr txBox="1">
            <a:spLocks/>
          </p:cNvSpPr>
          <p:nvPr/>
        </p:nvSpPr>
        <p:spPr>
          <a:xfrm>
            <a:off x="557497" y="4586153"/>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https://</a:t>
            </a:r>
            <a:r>
              <a:rPr lang="en-US" sz="2400" err="1">
                <a:latin typeface="+mj-lt"/>
                <a:ea typeface="Overpass Light"/>
                <a:cs typeface="Overpass Light"/>
                <a:sym typeface="Overpass Light"/>
              </a:rPr>
              <a:t>tinyurl.com</a:t>
            </a:r>
            <a:r>
              <a:rPr lang="en-US" sz="2400">
                <a:latin typeface="+mj-lt"/>
                <a:ea typeface="Overpass Light"/>
                <a:cs typeface="Overpass Light"/>
                <a:sym typeface="Overpass Light"/>
              </a:rPr>
              <a:t>/</a:t>
            </a:r>
            <a:r>
              <a:rPr lang="en-US" sz="2400" err="1">
                <a:latin typeface="+mj-lt"/>
                <a:ea typeface="Overpass Light"/>
                <a:cs typeface="Overpass Light"/>
                <a:sym typeface="Overpass Light"/>
              </a:rPr>
              <a:t>LowDOWNpod</a:t>
            </a:r>
            <a:endParaRPr lang="en-US" sz="2400">
              <a:latin typeface="+mj-lt"/>
              <a:ea typeface="Overpass Light"/>
              <a:cs typeface="Overpass Light"/>
              <a:sym typeface="Overpass Light"/>
            </a:endParaRPr>
          </a:p>
        </p:txBody>
      </p:sp>
    </p:spTree>
    <p:extLst>
      <p:ext uri="{BB962C8B-B14F-4D97-AF65-F5344CB8AC3E}">
        <p14:creationId xmlns:p14="http://schemas.microsoft.com/office/powerpoint/2010/main" val="2734155974"/>
      </p:ext>
    </p:extLst>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Disability Visibility Podcast</a:t>
            </a:r>
            <a:endParaRPr sz="4000" dirty="0">
              <a:latin typeface="Verdana Pro" panose="020B0604030504040204" pitchFamily="34" charset="0"/>
            </a:endParaRPr>
          </a:p>
        </p:txBody>
      </p:sp>
      <p:sp>
        <p:nvSpPr>
          <p:cNvPr id="466" name="Google Shape;466;p65">
            <a:extLst>
              <a:ext uri="{C183D7F6-B498-43B3-948B-1728B52AA6E4}">
                <adec:decorative xmlns:adec="http://schemas.microsoft.com/office/drawing/2017/decorative" val="0"/>
              </a:ext>
            </a:extLst>
          </p:cNvPr>
          <p:cNvSpPr txBox="1">
            <a:spLocks noGrp="1"/>
          </p:cNvSpPr>
          <p:nvPr>
            <p:ph type="subTitle" idx="1"/>
          </p:nvPr>
        </p:nvSpPr>
        <p:spPr>
          <a:xfrm>
            <a:off x="621575" y="827132"/>
            <a:ext cx="3950425" cy="4056505"/>
          </a:xfrm>
          <a:prstGeom prst="rect">
            <a:avLst/>
          </a:prstGeom>
        </p:spPr>
        <p:txBody>
          <a:bodyPr spcFirstLastPara="1" wrap="square" lIns="91425" tIns="91425" rIns="91425" bIns="91425" anchor="t" anchorCtr="0">
            <a:noAutofit/>
          </a:bodyPr>
          <a:lstStyle/>
          <a:p>
            <a:pPr marL="342900" lvl="0" algn="l" rtl="0">
              <a:spcBef>
                <a:spcPts val="0"/>
              </a:spcBef>
              <a:spcAft>
                <a:spcPts val="0"/>
              </a:spcAft>
              <a:buClr>
                <a:schemeClr val="dk1"/>
              </a:buClr>
              <a:buSzPts val="1100"/>
              <a:buFont typeface="Arial" panose="020B0604020202020204" pitchFamily="34" charset="0"/>
              <a:buChar char="•"/>
            </a:pPr>
            <a:r>
              <a:rPr lang="en-US" sz="2400">
                <a:latin typeface="+mj-lt"/>
                <a:ea typeface="Overpass Light"/>
                <a:cs typeface="Overpass Light"/>
                <a:sym typeface="Overpass Light"/>
              </a:rPr>
              <a:t>Alice Wong amplifies the voices of people with disabilities to promote an understanding of disability culture and rights with engaging discussions about disability identity, advocacy, accessibility, and societal perceptions</a:t>
            </a:r>
          </a:p>
          <a:p>
            <a:pPr marL="342900" lvl="0" algn="l" rtl="0">
              <a:spcBef>
                <a:spcPts val="0"/>
              </a:spcBef>
              <a:spcAft>
                <a:spcPts val="0"/>
              </a:spcAft>
              <a:buClr>
                <a:schemeClr val="dk1"/>
              </a:buClr>
              <a:buSzPts val="1100"/>
              <a:buFont typeface="Arial" panose="020B0604020202020204" pitchFamily="34" charset="0"/>
              <a:buChar char="•"/>
            </a:pPr>
            <a:endParaRPr lang="en-US" sz="2400">
              <a:latin typeface="+mj-lt"/>
              <a:ea typeface="Overpass Light"/>
              <a:cs typeface="Overpass Light"/>
              <a:sym typeface="Overpass Light"/>
            </a:endParaRPr>
          </a:p>
        </p:txBody>
      </p:sp>
      <p:pic>
        <p:nvPicPr>
          <p:cNvPr id="5" name="Picture 4" descr="This image is the cover art for the podcast &quot;Disability Visibility&quot;, which is hosted by Alice Wong. The podcast focuses on politics, culture, and media from a disability perspective. The bright yellow background highlights a caricature of Alice Wong wearing headphones and using a ventilator, symbolizing her identity and visibility as a disabled person. The podcast is known for amplifying the voices and stories of disabled people, exploring their experiences in various societal contexts.">
            <a:extLst>
              <a:ext uri="{FF2B5EF4-FFF2-40B4-BE49-F238E27FC236}">
                <a16:creationId xmlns:a16="http://schemas.microsoft.com/office/drawing/2014/main" id="{596A25F8-1D68-7ACE-4C06-4723FD289ED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72000" y="901343"/>
            <a:ext cx="2336799" cy="2183062"/>
          </a:xfrm>
          <a:prstGeom prst="rect">
            <a:avLst/>
          </a:prstGeom>
        </p:spPr>
      </p:pic>
      <p:pic>
        <p:nvPicPr>
          <p:cNvPr id="8" name="Picture 7" descr="A qr code for the website https://tinyurl.com/disabilityvisibility">
            <a:extLst>
              <a:ext uri="{FF2B5EF4-FFF2-40B4-BE49-F238E27FC236}">
                <a16:creationId xmlns:a16="http://schemas.microsoft.com/office/drawing/2014/main" id="{B517B3C8-C6FA-75BB-5C44-EF731CD722E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908799" y="2456455"/>
            <a:ext cx="1944595" cy="1958289"/>
          </a:xfrm>
          <a:prstGeom prst="rect">
            <a:avLst/>
          </a:prstGeom>
        </p:spPr>
      </p:pic>
      <p:sp>
        <p:nvSpPr>
          <p:cNvPr id="2" name="Google Shape;466;p65">
            <a:extLst>
              <a:ext uri="{FF2B5EF4-FFF2-40B4-BE49-F238E27FC236}">
                <a16:creationId xmlns:a16="http://schemas.microsoft.com/office/drawing/2014/main" id="{FA3502E8-4D5C-0BCF-EA38-E41ADCCB7BFD}"/>
              </a:ext>
              <a:ext uri="{C183D7F6-B498-43B3-948B-1728B52AA6E4}">
                <adec:decorative xmlns:adec="http://schemas.microsoft.com/office/drawing/2017/decorative" val="0"/>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https://</a:t>
            </a:r>
            <a:r>
              <a:rPr lang="en-US" sz="2400" err="1">
                <a:latin typeface="+mj-lt"/>
                <a:ea typeface="Overpass Light"/>
                <a:cs typeface="Overpass Light"/>
                <a:sym typeface="Overpass Light"/>
              </a:rPr>
              <a:t>tinyurl.com</a:t>
            </a:r>
            <a:r>
              <a:rPr lang="en-US" sz="2400">
                <a:latin typeface="+mj-lt"/>
                <a:ea typeface="Overpass Light"/>
                <a:cs typeface="Overpass Light"/>
                <a:sym typeface="Overpass Light"/>
              </a:rPr>
              <a:t>/</a:t>
            </a:r>
            <a:r>
              <a:rPr lang="en-US" sz="2400" err="1">
                <a:latin typeface="+mj-lt"/>
                <a:ea typeface="Overpass Light"/>
                <a:cs typeface="Overpass Light"/>
                <a:sym typeface="Overpass Light"/>
              </a:rPr>
              <a:t>disabilityvisibility</a:t>
            </a:r>
            <a:endParaRPr lang="en-US" sz="2400">
              <a:latin typeface="+mj-lt"/>
              <a:ea typeface="Overpass Light"/>
              <a:cs typeface="Overpass Light"/>
              <a:sym typeface="Overpass Light"/>
            </a:endParaRPr>
          </a:p>
        </p:txBody>
      </p:sp>
    </p:spTree>
    <p:extLst>
      <p:ext uri="{BB962C8B-B14F-4D97-AF65-F5344CB8AC3E}">
        <p14:creationId xmlns:p14="http://schemas.microsoft.com/office/powerpoint/2010/main" val="2550402865"/>
      </p:ext>
    </p:extLst>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TAGG HS Lesson Plans</a:t>
            </a:r>
            <a:endParaRPr sz="4000" dirty="0">
              <a:latin typeface="Verdana Pro" panose="020B0604030504040204" pitchFamily="34" charset="0"/>
            </a:endParaRPr>
          </a:p>
        </p:txBody>
      </p:sp>
      <p:sp>
        <p:nvSpPr>
          <p:cNvPr id="466" name="Google Shape;466;p65"/>
          <p:cNvSpPr txBox="1">
            <a:spLocks noGrp="1"/>
          </p:cNvSpPr>
          <p:nvPr>
            <p:ph type="subTitle" idx="1"/>
          </p:nvPr>
        </p:nvSpPr>
        <p:spPr>
          <a:xfrm>
            <a:off x="621575" y="827132"/>
            <a:ext cx="8405824" cy="4056505"/>
          </a:xfrm>
          <a:prstGeom prst="rect">
            <a:avLst/>
          </a:prstGeom>
        </p:spPr>
        <p:txBody>
          <a:bodyPr spcFirstLastPara="1" wrap="square" lIns="91425" tIns="91425" rIns="91425" bIns="91425" anchor="t" anchorCtr="0">
            <a:noAutofit/>
          </a:bodyPr>
          <a:lstStyle/>
          <a:p>
            <a:pPr marL="342900" lvl="0" algn="l" rtl="0">
              <a:spcBef>
                <a:spcPts val="0"/>
              </a:spcBef>
              <a:spcAft>
                <a:spcPts val="0"/>
              </a:spcAft>
              <a:buClr>
                <a:schemeClr val="dk1"/>
              </a:buClr>
              <a:buSzPts val="1100"/>
              <a:buFont typeface="Arial" panose="020B0604020202020204" pitchFamily="34" charset="0"/>
              <a:buChar char="•"/>
            </a:pPr>
            <a:r>
              <a:rPr lang="en-US" sz="2400" dirty="0">
                <a:latin typeface="+mj-lt"/>
                <a:ea typeface="Overpass Light"/>
                <a:cs typeface="Overpass Light"/>
                <a:sym typeface="Overpass Light"/>
              </a:rPr>
              <a:t>Units for each of the 8 constructs of the TAGG-HS (each unit contains 5 individual lessons)</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Persistence</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Strengths &amp; Limitations</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Disability Awareness</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Support Community</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Interacting with Others</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Employment</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Goal Setting</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Student Involvement in the IEP</a:t>
            </a: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pic>
        <p:nvPicPr>
          <p:cNvPr id="4" name="Picture 3" descr="A qr code for the website https://tinyurl.com/TAGGLP">
            <a:extLst>
              <a:ext uri="{FF2B5EF4-FFF2-40B4-BE49-F238E27FC236}">
                <a16:creationId xmlns:a16="http://schemas.microsoft.com/office/drawing/2014/main" id="{FFCCFAC8-D3BE-C6BA-6D95-4CAAB8100BD7}"/>
              </a:ext>
            </a:extLst>
          </p:cNvPr>
          <p:cNvPicPr>
            <a:picLocks noChangeAspect="1"/>
          </p:cNvPicPr>
          <p:nvPr/>
        </p:nvPicPr>
        <p:blipFill>
          <a:blip r:embed="rId3"/>
          <a:stretch>
            <a:fillRect/>
          </a:stretch>
        </p:blipFill>
        <p:spPr>
          <a:xfrm>
            <a:off x="5761319" y="1395971"/>
            <a:ext cx="2952376" cy="2918826"/>
          </a:xfrm>
          <a:prstGeom prst="rect">
            <a:avLst/>
          </a:prstGeom>
        </p:spPr>
      </p:pic>
      <p:sp>
        <p:nvSpPr>
          <p:cNvPr id="2" name="Google Shape;466;p65">
            <a:extLst>
              <a:ext uri="{FF2B5EF4-FFF2-40B4-BE49-F238E27FC236}">
                <a16:creationId xmlns:a16="http://schemas.microsoft.com/office/drawing/2014/main" id="{E3D93A75-5E7D-76A8-71C0-CF7C6DCF5B30}"/>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https://</a:t>
            </a:r>
            <a:r>
              <a:rPr lang="en-US" sz="2400" err="1">
                <a:latin typeface="+mj-lt"/>
                <a:ea typeface="Overpass Light"/>
                <a:cs typeface="Overpass Light"/>
                <a:sym typeface="Overpass Light"/>
              </a:rPr>
              <a:t>tinyurl.com</a:t>
            </a:r>
            <a:r>
              <a:rPr lang="en-US" sz="2400">
                <a:latin typeface="+mj-lt"/>
                <a:ea typeface="Overpass Light"/>
                <a:cs typeface="Overpass Light"/>
                <a:sym typeface="Overpass Light"/>
              </a:rPr>
              <a:t>/TAGGLP</a:t>
            </a:r>
          </a:p>
        </p:txBody>
      </p:sp>
    </p:spTree>
    <p:extLst>
      <p:ext uri="{BB962C8B-B14F-4D97-AF65-F5344CB8AC3E}">
        <p14:creationId xmlns:p14="http://schemas.microsoft.com/office/powerpoint/2010/main" val="410346718"/>
      </p:ext>
    </p:extLst>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4778912" y="520188"/>
            <a:ext cx="4123705"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Verdana Pro" panose="020B0604030504040204" pitchFamily="34" charset="0"/>
              </a:rPr>
              <a:t>TAGG HS Lesson Plans Screen shot 1</a:t>
            </a:r>
            <a:endParaRPr sz="2400" dirty="0">
              <a:latin typeface="Verdana Pro" panose="020B0604030504040204" pitchFamily="34" charset="0"/>
            </a:endParaRPr>
          </a:p>
        </p:txBody>
      </p:sp>
      <p:pic>
        <p:nvPicPr>
          <p:cNvPr id="3" name="Picture 2" descr="A white paper with black text and a journal prompt that says why is it important to keep trying and not give up if you face a challenge in school?">
            <a:extLst>
              <a:ext uri="{FF2B5EF4-FFF2-40B4-BE49-F238E27FC236}">
                <a16:creationId xmlns:a16="http://schemas.microsoft.com/office/drawing/2014/main" id="{31692C22-34DD-A019-1034-7D019309713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40093"/>
            <a:ext cx="4287939" cy="2375590"/>
          </a:xfrm>
          <a:prstGeom prst="rect">
            <a:avLst/>
          </a:prstGeom>
        </p:spPr>
      </p:pic>
      <p:pic>
        <p:nvPicPr>
          <p:cNvPr id="5" name="Picture 4" descr="A green and black text that says when do we use it? The text discusses persistence: We use persistence all the time. We use persistence when we: learn how to ride our bikes even though we kept falling, practice a sport we want to get better at, try a recipe again even though we burnt last week, study hard to get a good grade, work hard to get the job we want. ">
            <a:extLst>
              <a:ext uri="{FF2B5EF4-FFF2-40B4-BE49-F238E27FC236}">
                <a16:creationId xmlns:a16="http://schemas.microsoft.com/office/drawing/2014/main" id="{1C84D0A0-A9A5-7547-51B0-0E2E75A4AAB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404540" y="2438400"/>
            <a:ext cx="4622860" cy="2585668"/>
          </a:xfrm>
          <a:prstGeom prst="rect">
            <a:avLst/>
          </a:prstGeom>
        </p:spPr>
      </p:pic>
    </p:spTree>
    <p:extLst>
      <p:ext uri="{BB962C8B-B14F-4D97-AF65-F5344CB8AC3E}">
        <p14:creationId xmlns:p14="http://schemas.microsoft.com/office/powerpoint/2010/main" val="3000634886"/>
      </p:ext>
    </p:extLst>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0" y="119431"/>
            <a:ext cx="5199470"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TAGG HS Lesson Plans Screen shot 2</a:t>
            </a:r>
            <a:endParaRPr sz="2800" dirty="0">
              <a:latin typeface="Verdana Pro" panose="020B0604030504040204" pitchFamily="34" charset="0"/>
            </a:endParaRPr>
          </a:p>
        </p:txBody>
      </p:sp>
      <p:pic>
        <p:nvPicPr>
          <p:cNvPr id="7" name="Picture 6" descr="A screenshot with black text that says Our persistence: all of us have been persistent in something. Can you think of a time when you have been persistent?">
            <a:extLst>
              <a:ext uri="{FF2B5EF4-FFF2-40B4-BE49-F238E27FC236}">
                <a16:creationId xmlns:a16="http://schemas.microsoft.com/office/drawing/2014/main" id="{642D091B-021F-128F-CFC1-11B7CFC80AE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1648206"/>
            <a:ext cx="5199470" cy="2836074"/>
          </a:xfrm>
          <a:prstGeom prst="rect">
            <a:avLst/>
          </a:prstGeom>
        </p:spPr>
      </p:pic>
      <p:pic>
        <p:nvPicPr>
          <p:cNvPr id="9" name="Picture 8" descr="A screenshot of unit 1, lesson 1: being persistent. This image outlines Unit 1 Lesson 1: Being Persistent, a lesson plan focusing on teaching students about persistence. Here are the key components:&#10;&#10;Objectives:&#10;Students will:&#10;&#10;Define persistence.&#10;Discover how persistence helps individuals overcome obstacles.&#10;Identify one personal example of persistence.&#10;Materials:&#10;Computer &amp; projector&#10;Slide Show 1.1 &amp; Worksheet 1.1&#10;Steven Claunch's Overcoming Obstacles Video&#10;Worksheet 1.1&#10;Procedures:&#10;Journal Prompt: Students answer, &quot;Why is it important to keep trying and not give up if you face a challenge in school?&quot; [slide 3]&#10;Introduce persistence: Discuss what persistence is and when we use it [slides 5-6].&#10;Video: Show Steven Claunch's video and have students complete Worksheet 1.1 [slide 7].&#10;Worksheet Review: Go over answers on Worksheet 1.1 [slide 8].&#10;Student Reflection: Ask students if they can think of a time they have been persistent.&#10;I Do: Provide an example of when you have been persistent [slide 9].&#10;We Do: Encourage students to share times they have been persistent [slide 10].&#10;You Do: Students write about a time they were persistent on their note card and turn it in [slide 11].&#10;Evaluation:&#10;Journal Prompt: &quot;Why is it important to keep trying and not give up if you face a challenge in school?&quot;&#10;Worksheet 1.1&#10;Exit Ticket&#10;Standards:&#10;CCSS.ELA-LITERACY.CCRA: R.1, W.4, SL.1, L.1&#10;OKELA Standards: 1, 4, 5, 8">
            <a:extLst>
              <a:ext uri="{FF2B5EF4-FFF2-40B4-BE49-F238E27FC236}">
                <a16:creationId xmlns:a16="http://schemas.microsoft.com/office/drawing/2014/main" id="{2E0BCC09-61B4-8BD7-A594-36CDF44697A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251823" y="119431"/>
            <a:ext cx="3606800" cy="4673600"/>
          </a:xfrm>
          <a:prstGeom prst="rect">
            <a:avLst/>
          </a:prstGeom>
        </p:spPr>
      </p:pic>
    </p:spTree>
    <p:extLst>
      <p:ext uri="{BB962C8B-B14F-4D97-AF65-F5344CB8AC3E}">
        <p14:creationId xmlns:p14="http://schemas.microsoft.com/office/powerpoint/2010/main" val="260761773"/>
      </p:ext>
    </p:extLst>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765712" y="51367"/>
            <a:ext cx="7531621"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TAGG HS Lesson Plans Screen shot 3</a:t>
            </a:r>
            <a:endParaRPr sz="2800" dirty="0">
              <a:latin typeface="Verdana Pro" panose="020B0604030504040204" pitchFamily="34" charset="0"/>
            </a:endParaRPr>
          </a:p>
        </p:txBody>
      </p:sp>
      <p:pic>
        <p:nvPicPr>
          <p:cNvPr id="2" name="Picture 1" descr="The Worksheet includes the following questions:&#10;What is the video about?&#10;&#10;The left side shows space for students to write their answers.&#10;The right side provides a sample answer: The video is about overcoming obstacles, not letting anything hold you back, persevering, and pushing through when things get hard. It also highlights not letting other people tell you that you don't have the ability to do something.&#10;What are some of the obstacles that Steven Claunch faced growing up?&#10;&#10;The left side is for student responses.&#10;The right side provides a sample answer: Steven was missing the fingers on one of his hands, and one of his legs was shorter than the other one. Steven had surgery on his leg to try to make his legs the same length.&#10;Did his physical disabilities stop Steven from playing basketball?&#10;&#10;The left side allows students to reflect on this.&#10;The right side answer: No, Steven's physical disability did not stop him from playing basketball. He practiced and became so good that he became a starter for his basketball team.&#10;What advice did Steven give you about people who tell you that you can’t do something?&#10;&#10;The left side is for student responses.&#10;The right side answer: Steven said that when people tell me I can’t do something, I should say that I can do anything I set my mind to if I practice and work hard. I believe I can achieve anything!&#10;What was your favorite part of the video?&#10;&#10;The left side allows students to share their thoughts.&#10;The right side provides a sample response: My favorite part of the video was when the other team was being mean to Steven, and he surprised them by being really good! He did so well that they started double-teaming him!">
            <a:extLst>
              <a:ext uri="{FF2B5EF4-FFF2-40B4-BE49-F238E27FC236}">
                <a16:creationId xmlns:a16="http://schemas.microsoft.com/office/drawing/2014/main" id="{09CA209B-1556-723A-5DB3-9198AAB1F3D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37673" y="607852"/>
            <a:ext cx="6801555" cy="4408139"/>
          </a:xfrm>
          <a:prstGeom prst="rect">
            <a:avLst/>
          </a:prstGeom>
        </p:spPr>
      </p:pic>
    </p:spTree>
    <p:extLst>
      <p:ext uri="{BB962C8B-B14F-4D97-AF65-F5344CB8AC3E}">
        <p14:creationId xmlns:p14="http://schemas.microsoft.com/office/powerpoint/2010/main" val="3915724583"/>
      </p:ext>
    </p:extLst>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Skills to Pay the Bills Lessons</a:t>
            </a:r>
            <a:endParaRPr sz="4000" dirty="0">
              <a:latin typeface="Verdana Pro" panose="020B0604030504040204" pitchFamily="34" charset="0"/>
            </a:endParaRPr>
          </a:p>
        </p:txBody>
      </p:sp>
      <p:sp>
        <p:nvSpPr>
          <p:cNvPr id="466" name="Google Shape;466;p65"/>
          <p:cNvSpPr txBox="1">
            <a:spLocks noGrp="1"/>
          </p:cNvSpPr>
          <p:nvPr>
            <p:ph type="subTitle" idx="1"/>
          </p:nvPr>
        </p:nvSpPr>
        <p:spPr>
          <a:xfrm>
            <a:off x="422714" y="827132"/>
            <a:ext cx="8154780" cy="40565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400" dirty="0">
                <a:latin typeface="+mj-lt"/>
                <a:ea typeface="Overpass Light"/>
                <a:cs typeface="Overpass Light"/>
                <a:sym typeface="Overpass Light"/>
              </a:rPr>
              <a:t>6 Lessons</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Communication*</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Enthusiasm and Attitude*</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Teamwork</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Networking</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Problem Solving and Critical Thinking*</a:t>
            </a:r>
          </a:p>
          <a:p>
            <a:pPr marL="800100" lvl="1">
              <a:buSzPts val="1100"/>
              <a:buFont typeface="Arial" panose="020B0604020202020204" pitchFamily="34" charset="0"/>
              <a:buChar char="•"/>
            </a:pPr>
            <a:r>
              <a:rPr lang="en-US" sz="2400" dirty="0">
                <a:latin typeface="+mj-lt"/>
                <a:ea typeface="Overpass Light"/>
                <a:cs typeface="Overpass Light"/>
                <a:sym typeface="Overpass Light"/>
              </a:rPr>
              <a:t>Professionalism*</a:t>
            </a:r>
          </a:p>
          <a:p>
            <a:pPr marL="482600" lvl="1" indent="0">
              <a:buSzPts val="1100"/>
            </a:pPr>
            <a:endParaRPr lang="en-US" sz="2400" dirty="0">
              <a:latin typeface="+mj-lt"/>
              <a:ea typeface="Overpass Light"/>
              <a:cs typeface="Overpass Light"/>
              <a:sym typeface="Overpass Light"/>
            </a:endParaRPr>
          </a:p>
          <a:p>
            <a:pPr marL="25400" indent="0">
              <a:buSzPts val="1100"/>
            </a:pPr>
            <a:r>
              <a:rPr lang="en-US" sz="2400" dirty="0">
                <a:latin typeface="+mj-lt"/>
                <a:ea typeface="Overpass Light"/>
                <a:cs typeface="Overpass Light"/>
                <a:sym typeface="Overpass Light"/>
              </a:rPr>
              <a:t>*Denotes link to skills needed for student involvement</a:t>
            </a: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pic>
        <p:nvPicPr>
          <p:cNvPr id="5" name="Picture 4" descr="A qr code for the website https://tinyurl.com/skills4thebills">
            <a:extLst>
              <a:ext uri="{FF2B5EF4-FFF2-40B4-BE49-F238E27FC236}">
                <a16:creationId xmlns:a16="http://schemas.microsoft.com/office/drawing/2014/main" id="{852B44FA-E71F-ECBC-916D-E022F2E5B81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799494" y="1697980"/>
            <a:ext cx="1778000" cy="1765300"/>
          </a:xfrm>
          <a:prstGeom prst="rect">
            <a:avLst/>
          </a:prstGeom>
        </p:spPr>
      </p:pic>
      <p:sp>
        <p:nvSpPr>
          <p:cNvPr id="2" name="Google Shape;466;p65">
            <a:extLst>
              <a:ext uri="{FF2B5EF4-FFF2-40B4-BE49-F238E27FC236}">
                <a16:creationId xmlns:a16="http://schemas.microsoft.com/office/drawing/2014/main" id="{E3D93A75-5E7D-76A8-71C0-CF7C6DCF5B30}"/>
              </a:ext>
            </a:extLst>
          </p:cNvPr>
          <p:cNvSpPr txBox="1">
            <a:spLocks/>
          </p:cNvSpPr>
          <p:nvPr/>
        </p:nvSpPr>
        <p:spPr>
          <a:xfrm>
            <a:off x="4857971" y="1189889"/>
            <a:ext cx="4286029" cy="5080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000" dirty="0">
                <a:latin typeface="+mj-lt"/>
                <a:ea typeface="Overpass Light"/>
                <a:cs typeface="Overpass Light"/>
                <a:sym typeface="Overpass Light"/>
              </a:rPr>
              <a:t>https://tinyurl.com/skills4thebills</a:t>
            </a:r>
          </a:p>
        </p:txBody>
      </p:sp>
    </p:spTree>
    <p:extLst>
      <p:ext uri="{BB962C8B-B14F-4D97-AF65-F5344CB8AC3E}">
        <p14:creationId xmlns:p14="http://schemas.microsoft.com/office/powerpoint/2010/main" val="2371558917"/>
      </p:ext>
    </p:extLst>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20344" y="-26507"/>
            <a:ext cx="8951985"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a:latin typeface="Verdana Pro" panose="020B0604030504040204" pitchFamily="34" charset="0"/>
              </a:rPr>
              <a:t>Example Video on Communication</a:t>
            </a:r>
            <a:endParaRPr sz="3600">
              <a:latin typeface="Verdana Pro" panose="020B0604030504040204" pitchFamily="34" charset="0"/>
            </a:endParaRPr>
          </a:p>
        </p:txBody>
      </p:sp>
      <p:pic>
        <p:nvPicPr>
          <p:cNvPr id="9" name="Picture 8" descr="Qr code for https://tinyurl.com/skills4thebillsvideos">
            <a:extLst>
              <a:ext uri="{FF2B5EF4-FFF2-40B4-BE49-F238E27FC236}">
                <a16:creationId xmlns:a16="http://schemas.microsoft.com/office/drawing/2014/main" id="{9AE38CBA-6BF6-3357-E2BC-FCD3FEDF564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212858" y="1662459"/>
            <a:ext cx="1759471" cy="1759471"/>
          </a:xfrm>
          <a:prstGeom prst="rect">
            <a:avLst/>
          </a:prstGeom>
        </p:spPr>
      </p:pic>
      <p:sp>
        <p:nvSpPr>
          <p:cNvPr id="7" name="Google Shape;466;p65">
            <a:extLst>
              <a:ext uri="{FF2B5EF4-FFF2-40B4-BE49-F238E27FC236}">
                <a16:creationId xmlns:a16="http://schemas.microsoft.com/office/drawing/2014/main" id="{06CBD55D-FB14-5FDC-25E4-E956866C07C9}"/>
              </a:ext>
            </a:extLst>
          </p:cNvPr>
          <p:cNvSpPr txBox="1">
            <a:spLocks/>
          </p:cNvSpPr>
          <p:nvPr/>
        </p:nvSpPr>
        <p:spPr>
          <a:xfrm>
            <a:off x="566506" y="4546023"/>
            <a:ext cx="6130435" cy="6914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000" dirty="0">
                <a:latin typeface="+mj-lt"/>
                <a:ea typeface="Overpass Light"/>
                <a:cs typeface="Overpass Light"/>
                <a:sym typeface="Overpass Light"/>
              </a:rPr>
              <a:t>https://tinyurl.com/skills4thebillsvideos</a:t>
            </a:r>
          </a:p>
        </p:txBody>
      </p:sp>
    </p:spTree>
    <p:custDataLst>
      <p:tags r:id="rId1"/>
    </p:custDataLst>
    <p:extLst>
      <p:ext uri="{BB962C8B-B14F-4D97-AF65-F5344CB8AC3E}">
        <p14:creationId xmlns:p14="http://schemas.microsoft.com/office/powerpoint/2010/main" val="3681517611"/>
      </p:ext>
    </p:extLst>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67"/>
        <p:cNvGrpSpPr/>
        <p:nvPr/>
      </p:nvGrpSpPr>
      <p:grpSpPr>
        <a:xfrm>
          <a:off x="0" y="0"/>
          <a:ext cx="0" cy="0"/>
          <a:chOff x="0" y="0"/>
          <a:chExt cx="0" cy="0"/>
        </a:xfrm>
      </p:grpSpPr>
      <p:sp>
        <p:nvSpPr>
          <p:cNvPr id="1569" name="Google Shape;1569;p106">
            <a:extLst>
              <a:ext uri="{C183D7F6-B498-43B3-948B-1728B52AA6E4}">
                <adec:decorative xmlns:adec="http://schemas.microsoft.com/office/drawing/2017/decorative" val="1"/>
              </a:ext>
            </a:extLst>
          </p:cNvPr>
          <p:cNvSpPr/>
          <p:nvPr/>
        </p:nvSpPr>
        <p:spPr>
          <a:xfrm>
            <a:off x="25977" y="2755578"/>
            <a:ext cx="9144000" cy="2326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106"/>
          <p:cNvSpPr txBox="1">
            <a:spLocks noGrp="1"/>
          </p:cNvSpPr>
          <p:nvPr>
            <p:ph type="title"/>
          </p:nvPr>
        </p:nvSpPr>
        <p:spPr>
          <a:xfrm>
            <a:off x="1312997" y="1939599"/>
            <a:ext cx="6514135" cy="128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8000" dirty="0">
                <a:latin typeface="Verdana Pro" panose="020B0604030504040204" pitchFamily="34" charset="0"/>
              </a:rPr>
              <a:t>Interactive </a:t>
            </a:r>
            <a:r>
              <a:rPr lang="en" sz="8000" dirty="0">
                <a:solidFill>
                  <a:schemeClr val="accent4">
                    <a:lumMod val="75000"/>
                  </a:schemeClr>
                </a:solidFill>
                <a:latin typeface="Verdana Pro" panose="020B0604030504040204" pitchFamily="34" charset="0"/>
              </a:rPr>
              <a:t>Activity</a:t>
            </a:r>
            <a:endParaRPr sz="8000" dirty="0">
              <a:solidFill>
                <a:schemeClr val="accent4">
                  <a:lumMod val="75000"/>
                </a:schemeClr>
              </a:solidFill>
              <a:latin typeface="Verdana Pro" panose="020B0604030504040204" pitchFamily="34" charset="0"/>
            </a:endParaRPr>
          </a:p>
        </p:txBody>
      </p:sp>
    </p:spTree>
    <p:extLst>
      <p:ext uri="{BB962C8B-B14F-4D97-AF65-F5344CB8AC3E}">
        <p14:creationId xmlns:p14="http://schemas.microsoft.com/office/powerpoint/2010/main" val="910221772"/>
      </p:ext>
    </p:extLst>
  </p:cSld>
  <p:clrMapOvr>
    <a:masterClrMapping/>
  </p:clrMapOvr>
  <p:transition spd="slow">
    <p:push/>
  </p:transition>
</p:sld>
</file>

<file path=ppt/tags/tag1.xml><?xml version="1.0" encoding="utf-8"?>
<p:tagLst xmlns:a="http://schemas.openxmlformats.org/drawingml/2006/main" xmlns:r="http://schemas.openxmlformats.org/officeDocument/2006/relationships" xmlns:p="http://schemas.openxmlformats.org/presentationml/2006/main">
  <p:tag name="TIMING" val="|21.9"/>
</p:tagLst>
</file>

<file path=ppt/theme/theme1.xml><?xml version="1.0" encoding="utf-8"?>
<a:theme xmlns:a="http://schemas.openxmlformats.org/drawingml/2006/main" name="Template">
  <a:themeElements>
    <a:clrScheme name="Custom 1">
      <a:dk1>
        <a:srgbClr val="002E5C"/>
      </a:dk1>
      <a:lt1>
        <a:srgbClr val="FFFFFF"/>
      </a:lt1>
      <a:dk2>
        <a:srgbClr val="002E5C"/>
      </a:dk2>
      <a:lt2>
        <a:srgbClr val="FFFFFF"/>
      </a:lt2>
      <a:accent1>
        <a:srgbClr val="002E5C"/>
      </a:accent1>
      <a:accent2>
        <a:srgbClr val="989490"/>
      </a:accent2>
      <a:accent3>
        <a:srgbClr val="0066A6"/>
      </a:accent3>
      <a:accent4>
        <a:srgbClr val="004581"/>
      </a:accent4>
      <a:accent5>
        <a:srgbClr val="FFFFFF"/>
      </a:accent5>
      <a:accent6>
        <a:srgbClr val="000000"/>
      </a:accent6>
      <a:hlink>
        <a:srgbClr val="1B9FD5"/>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ST.potx" id="{71A39B0D-7793-4C65-9C41-951E39D81AF9}" vid="{C38E953C-75BA-4763-92E8-6C0AAC7278A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13760</TotalTime>
  <Words>456</Words>
  <Application>Microsoft Office PowerPoint</Application>
  <PresentationFormat>On-screen Show (16:9)</PresentationFormat>
  <Paragraphs>62</Paragraphs>
  <Slides>21</Slides>
  <Notes>21</Notes>
  <HiddenSlides>0</HiddenSlides>
  <MMClips>0</MMClips>
  <ScaleCrop>false</ScaleCrop>
  <HeadingPairs>
    <vt:vector size="8" baseType="variant">
      <vt:variant>
        <vt:lpstr>Fonts Used</vt:lpstr>
      </vt:variant>
      <vt:variant>
        <vt:i4>6</vt:i4>
      </vt:variant>
      <vt:variant>
        <vt:lpstr>Theme</vt:lpstr>
      </vt:variant>
      <vt:variant>
        <vt:i4>1</vt:i4>
      </vt:variant>
      <vt:variant>
        <vt:lpstr>Slide Titles</vt:lpstr>
      </vt:variant>
      <vt:variant>
        <vt:i4>21</vt:i4>
      </vt:variant>
      <vt:variant>
        <vt:lpstr>Custom Shows</vt:lpstr>
      </vt:variant>
      <vt:variant>
        <vt:i4>3</vt:i4>
      </vt:variant>
    </vt:vector>
  </HeadingPairs>
  <TitlesOfParts>
    <vt:vector size="31" baseType="lpstr">
      <vt:lpstr>Verdana Pro</vt:lpstr>
      <vt:lpstr>Aptos</vt:lpstr>
      <vt:lpstr>Arial</vt:lpstr>
      <vt:lpstr>Overpass Light</vt:lpstr>
      <vt:lpstr>Bebas Neue</vt:lpstr>
      <vt:lpstr>Atkinson Hyperlegible Next</vt:lpstr>
      <vt:lpstr>Template</vt:lpstr>
      <vt:lpstr>Module 5-A: Mini Lessons &amp; Lesson Packages</vt:lpstr>
      <vt:lpstr>Strength-Based Lesson &amp; Bingo</vt:lpstr>
      <vt:lpstr>Transition Treasure Map</vt:lpstr>
      <vt:lpstr>Transition Treasure Map Screenshot Without Words </vt:lpstr>
      <vt:lpstr>Transition Treasure Map Screenshot With Words </vt:lpstr>
      <vt:lpstr>Transition Treasure Map Screenshot Example</vt:lpstr>
      <vt:lpstr>Utilizing Literature, Media, and Film in Mini Lessons </vt:lpstr>
      <vt:lpstr>Tying the Knot: Self-Determination &amp; Literature</vt:lpstr>
      <vt:lpstr>Tying the Knot: Self-Determination &amp; Literature Screenshots 1</vt:lpstr>
      <vt:lpstr>Tying the Knot: Self-Determination &amp; Literature Screenshots 2</vt:lpstr>
      <vt:lpstr>Activity Time 🎉</vt:lpstr>
      <vt:lpstr>The Big Fib Podcast &amp; Show</vt:lpstr>
      <vt:lpstr>The LowDOWN Podcast</vt:lpstr>
      <vt:lpstr>Disability Visibility Podcast</vt:lpstr>
      <vt:lpstr>TAGG HS Lesson Plans</vt:lpstr>
      <vt:lpstr>TAGG HS Lesson Plans Screen shot 1</vt:lpstr>
      <vt:lpstr>TAGG HS Lesson Plans Screen shot 2</vt:lpstr>
      <vt:lpstr>TAGG HS Lesson Plans Screen shot 3</vt:lpstr>
      <vt:lpstr>Skills to Pay the Bills Lessons</vt:lpstr>
      <vt:lpstr>Example Video on Communication</vt:lpstr>
      <vt:lpstr>Interactive Activity</vt:lpstr>
      <vt:lpstr>Module 4-A</vt:lpstr>
      <vt:lpstr>Module 4 B</vt:lpstr>
      <vt:lpstr>Module 5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Involvement in the IEP</dc:title>
  <dc:creator>Erin Berry</dc:creator>
  <cp:lastModifiedBy>Erin Berry</cp:lastModifiedBy>
  <cp:revision>63</cp:revision>
  <dcterms:modified xsi:type="dcterms:W3CDTF">2026-06-09T17:13:51Z</dcterms:modified>
</cp:coreProperties>
</file>