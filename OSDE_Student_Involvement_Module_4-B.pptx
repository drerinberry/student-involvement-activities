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45" r:id="rId1"/>
  </p:sldMasterIdLst>
  <p:notesMasterIdLst>
    <p:notesMasterId r:id="rId21"/>
  </p:notesMasterIdLst>
  <p:sldIdLst>
    <p:sldId id="536" r:id="rId2"/>
    <p:sldId id="414" r:id="rId3"/>
    <p:sldId id="441" r:id="rId4"/>
    <p:sldId id="440" r:id="rId5"/>
    <p:sldId id="442" r:id="rId6"/>
    <p:sldId id="383" r:id="rId7"/>
    <p:sldId id="451" r:id="rId8"/>
    <p:sldId id="488" r:id="rId9"/>
    <p:sldId id="443" r:id="rId10"/>
    <p:sldId id="485" r:id="rId11"/>
    <p:sldId id="487" r:id="rId12"/>
    <p:sldId id="486" r:id="rId13"/>
    <p:sldId id="415" r:id="rId14"/>
    <p:sldId id="403" r:id="rId15"/>
    <p:sldId id="444" r:id="rId16"/>
    <p:sldId id="445" r:id="rId17"/>
    <p:sldId id="404" r:id="rId18"/>
    <p:sldId id="384" r:id="rId19"/>
    <p:sldId id="537" r:id="rId20"/>
  </p:sldIdLst>
  <p:sldSz cx="9144000" cy="5143500" type="screen16x9"/>
  <p:notesSz cx="6858000" cy="9144000"/>
  <p:embeddedFontLst>
    <p:embeddedFont>
      <p:font typeface="Atkinson Hyperlegible Next" pitchFamily="2" charset="0"/>
      <p:regular r:id="rId22"/>
      <p:bold r:id="rId23"/>
      <p:italic r:id="rId24"/>
      <p:boldItalic r:id="rId25"/>
    </p:embeddedFont>
    <p:embeddedFont>
      <p:font typeface="Verdana Pro" panose="020B0604030504040204" pitchFamily="34" charset="0"/>
      <p:regular r:id="rId26"/>
      <p:bold r:id="rId27"/>
      <p:italic r:id="rId28"/>
      <p:boldItalic r:id="rId29"/>
    </p:embeddedFont>
  </p:embeddedFontLst>
  <p:custShowLst>
    <p:custShow name="Module 4-A" id="0">
      <p:sldLst/>
    </p:custShow>
    <p:custShow name="Module 4 B" id="1">
      <p:sldLst>
        <p:sld r:id="rId2"/>
        <p:sld r:id="rId3"/>
        <p:sld r:id="rId4"/>
        <p:sld r:id="rId5"/>
        <p:sld r:id="rId6"/>
        <p:sld r:id="rId7"/>
        <p:sld r:id="rId8"/>
        <p:sld r:id="rId9"/>
        <p:sld r:id="rId10"/>
        <p:sld r:id="rId11"/>
        <p:sld r:id="rId12"/>
        <p:sld r:id="rId13"/>
        <p:sld r:id="rId14"/>
        <p:sld r:id="rId15"/>
        <p:sld r:id="rId16"/>
        <p:sld r:id="rId17"/>
        <p:sld r:id="rId18"/>
        <p:sld r:id="rId19"/>
        <p:sld r:id="rId20"/>
      </p:sldLst>
    </p:custShow>
    <p:custShow name="Module 5 B" id="2">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5EB9E4-AB28-4E67-8C73-94959856D75D}" v="4" dt="2026-06-09T17:15:57.104"/>
  </p1510:revLst>
</p1510:revInfo>
</file>

<file path=ppt/tableStyles.xml><?xml version="1.0" encoding="utf-8"?>
<a:tblStyleLst xmlns:a="http://schemas.openxmlformats.org/drawingml/2006/main" def="{A9794ACA-B6A2-47D9-BE13-C8960EFA1BC4}">
  <a:tblStyle styleId="{A9794ACA-B6A2-47D9-BE13-C8960EFA1BC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7" autoAdjust="0"/>
    <p:restoredTop sz="91466" autoAdjust="0"/>
  </p:normalViewPr>
  <p:slideViewPr>
    <p:cSldViewPr snapToGrid="0">
      <p:cViewPr varScale="1">
        <p:scale>
          <a:sx n="121" d="100"/>
          <a:sy n="121" d="100"/>
        </p:scale>
        <p:origin x="99" y="69"/>
      </p:cViewPr>
      <p:guideLst/>
    </p:cSldViewPr>
  </p:slideViewPr>
  <p:outlineViewPr>
    <p:cViewPr>
      <p:scale>
        <a:sx n="33" d="100"/>
        <a:sy n="33" d="100"/>
      </p:scale>
      <p:origin x="0" y="0"/>
    </p:cViewPr>
  </p:outlineViewPr>
  <p:notesTextViewPr>
    <p:cViewPr>
      <p:scale>
        <a:sx n="200" d="100"/>
        <a:sy n="2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n Berry" userId="b7d8294d-da7c-45c9-9002-ab631a364979" providerId="ADAL" clId="{718D2BA2-B69C-4596-B36D-F24A681F5194}"/>
    <pc:docChg chg="modSld">
      <pc:chgData name="Erin Berry" userId="b7d8294d-da7c-45c9-9002-ab631a364979" providerId="ADAL" clId="{718D2BA2-B69C-4596-B36D-F24A681F5194}" dt="2026-06-08T22:17:36.218" v="0"/>
      <pc:docMkLst>
        <pc:docMk/>
      </pc:docMkLst>
      <pc:sldChg chg="modTransition">
        <pc:chgData name="Erin Berry" userId="b7d8294d-da7c-45c9-9002-ab631a364979" providerId="ADAL" clId="{718D2BA2-B69C-4596-B36D-F24A681F5194}" dt="2026-06-08T22:17:36.218" v="0"/>
        <pc:sldMkLst>
          <pc:docMk/>
          <pc:sldMk cId="2900563851" sldId="383"/>
        </pc:sldMkLst>
      </pc:sldChg>
      <pc:sldChg chg="modTransition">
        <pc:chgData name="Erin Berry" userId="b7d8294d-da7c-45c9-9002-ab631a364979" providerId="ADAL" clId="{718D2BA2-B69C-4596-B36D-F24A681F5194}" dt="2026-06-08T22:17:36.218" v="0"/>
        <pc:sldMkLst>
          <pc:docMk/>
          <pc:sldMk cId="1850263527" sldId="384"/>
        </pc:sldMkLst>
      </pc:sldChg>
      <pc:sldChg chg="modTransition">
        <pc:chgData name="Erin Berry" userId="b7d8294d-da7c-45c9-9002-ab631a364979" providerId="ADAL" clId="{718D2BA2-B69C-4596-B36D-F24A681F5194}" dt="2026-06-08T22:17:36.218" v="0"/>
        <pc:sldMkLst>
          <pc:docMk/>
          <pc:sldMk cId="1070566814" sldId="403"/>
        </pc:sldMkLst>
      </pc:sldChg>
      <pc:sldChg chg="modTransition">
        <pc:chgData name="Erin Berry" userId="b7d8294d-da7c-45c9-9002-ab631a364979" providerId="ADAL" clId="{718D2BA2-B69C-4596-B36D-F24A681F5194}" dt="2026-06-08T22:17:36.218" v="0"/>
        <pc:sldMkLst>
          <pc:docMk/>
          <pc:sldMk cId="3715428382" sldId="404"/>
        </pc:sldMkLst>
      </pc:sldChg>
      <pc:sldChg chg="modTransition">
        <pc:chgData name="Erin Berry" userId="b7d8294d-da7c-45c9-9002-ab631a364979" providerId="ADAL" clId="{718D2BA2-B69C-4596-B36D-F24A681F5194}" dt="2026-06-08T22:17:36.218" v="0"/>
        <pc:sldMkLst>
          <pc:docMk/>
          <pc:sldMk cId="3401139752" sldId="414"/>
        </pc:sldMkLst>
      </pc:sldChg>
      <pc:sldChg chg="modTransition">
        <pc:chgData name="Erin Berry" userId="b7d8294d-da7c-45c9-9002-ab631a364979" providerId="ADAL" clId="{718D2BA2-B69C-4596-B36D-F24A681F5194}" dt="2026-06-08T22:17:36.218" v="0"/>
        <pc:sldMkLst>
          <pc:docMk/>
          <pc:sldMk cId="1343947373" sldId="415"/>
        </pc:sldMkLst>
      </pc:sldChg>
      <pc:sldChg chg="modTransition">
        <pc:chgData name="Erin Berry" userId="b7d8294d-da7c-45c9-9002-ab631a364979" providerId="ADAL" clId="{718D2BA2-B69C-4596-B36D-F24A681F5194}" dt="2026-06-08T22:17:36.218" v="0"/>
        <pc:sldMkLst>
          <pc:docMk/>
          <pc:sldMk cId="1919585342" sldId="440"/>
        </pc:sldMkLst>
      </pc:sldChg>
      <pc:sldChg chg="modTransition">
        <pc:chgData name="Erin Berry" userId="b7d8294d-da7c-45c9-9002-ab631a364979" providerId="ADAL" clId="{718D2BA2-B69C-4596-B36D-F24A681F5194}" dt="2026-06-08T22:17:36.218" v="0"/>
        <pc:sldMkLst>
          <pc:docMk/>
          <pc:sldMk cId="848900977" sldId="441"/>
        </pc:sldMkLst>
      </pc:sldChg>
      <pc:sldChg chg="modTransition">
        <pc:chgData name="Erin Berry" userId="b7d8294d-da7c-45c9-9002-ab631a364979" providerId="ADAL" clId="{718D2BA2-B69C-4596-B36D-F24A681F5194}" dt="2026-06-08T22:17:36.218" v="0"/>
        <pc:sldMkLst>
          <pc:docMk/>
          <pc:sldMk cId="3406695267" sldId="442"/>
        </pc:sldMkLst>
      </pc:sldChg>
      <pc:sldChg chg="modTransition">
        <pc:chgData name="Erin Berry" userId="b7d8294d-da7c-45c9-9002-ab631a364979" providerId="ADAL" clId="{718D2BA2-B69C-4596-B36D-F24A681F5194}" dt="2026-06-08T22:17:36.218" v="0"/>
        <pc:sldMkLst>
          <pc:docMk/>
          <pc:sldMk cId="3719207326" sldId="443"/>
        </pc:sldMkLst>
      </pc:sldChg>
      <pc:sldChg chg="modTransition">
        <pc:chgData name="Erin Berry" userId="b7d8294d-da7c-45c9-9002-ab631a364979" providerId="ADAL" clId="{718D2BA2-B69C-4596-B36D-F24A681F5194}" dt="2026-06-08T22:17:36.218" v="0"/>
        <pc:sldMkLst>
          <pc:docMk/>
          <pc:sldMk cId="4166234441" sldId="444"/>
        </pc:sldMkLst>
      </pc:sldChg>
      <pc:sldChg chg="modTransition">
        <pc:chgData name="Erin Berry" userId="b7d8294d-da7c-45c9-9002-ab631a364979" providerId="ADAL" clId="{718D2BA2-B69C-4596-B36D-F24A681F5194}" dt="2026-06-08T22:17:36.218" v="0"/>
        <pc:sldMkLst>
          <pc:docMk/>
          <pc:sldMk cId="4284152911" sldId="445"/>
        </pc:sldMkLst>
      </pc:sldChg>
      <pc:sldChg chg="modTransition">
        <pc:chgData name="Erin Berry" userId="b7d8294d-da7c-45c9-9002-ab631a364979" providerId="ADAL" clId="{718D2BA2-B69C-4596-B36D-F24A681F5194}" dt="2026-06-08T22:17:36.218" v="0"/>
        <pc:sldMkLst>
          <pc:docMk/>
          <pc:sldMk cId="2821921088" sldId="451"/>
        </pc:sldMkLst>
      </pc:sldChg>
      <pc:sldChg chg="modTransition">
        <pc:chgData name="Erin Berry" userId="b7d8294d-da7c-45c9-9002-ab631a364979" providerId="ADAL" clId="{718D2BA2-B69C-4596-B36D-F24A681F5194}" dt="2026-06-08T22:17:36.218" v="0"/>
        <pc:sldMkLst>
          <pc:docMk/>
          <pc:sldMk cId="1512425471" sldId="485"/>
        </pc:sldMkLst>
      </pc:sldChg>
      <pc:sldChg chg="modTransition">
        <pc:chgData name="Erin Berry" userId="b7d8294d-da7c-45c9-9002-ab631a364979" providerId="ADAL" clId="{718D2BA2-B69C-4596-B36D-F24A681F5194}" dt="2026-06-08T22:17:36.218" v="0"/>
        <pc:sldMkLst>
          <pc:docMk/>
          <pc:sldMk cId="3786378620" sldId="486"/>
        </pc:sldMkLst>
      </pc:sldChg>
      <pc:sldChg chg="modTransition">
        <pc:chgData name="Erin Berry" userId="b7d8294d-da7c-45c9-9002-ab631a364979" providerId="ADAL" clId="{718D2BA2-B69C-4596-B36D-F24A681F5194}" dt="2026-06-08T22:17:36.218" v="0"/>
        <pc:sldMkLst>
          <pc:docMk/>
          <pc:sldMk cId="370508895" sldId="487"/>
        </pc:sldMkLst>
      </pc:sldChg>
      <pc:sldChg chg="modTransition">
        <pc:chgData name="Erin Berry" userId="b7d8294d-da7c-45c9-9002-ab631a364979" providerId="ADAL" clId="{718D2BA2-B69C-4596-B36D-F24A681F5194}" dt="2026-06-08T22:17:36.218" v="0"/>
        <pc:sldMkLst>
          <pc:docMk/>
          <pc:sldMk cId="2322973732" sldId="488"/>
        </pc:sldMkLst>
      </pc:sldChg>
      <pc:sldChg chg="modTransition">
        <pc:chgData name="Erin Berry" userId="b7d8294d-da7c-45c9-9002-ab631a364979" providerId="ADAL" clId="{718D2BA2-B69C-4596-B36D-F24A681F5194}" dt="2026-06-08T22:17:36.218" v="0"/>
        <pc:sldMkLst>
          <pc:docMk/>
          <pc:sldMk cId="3157657279" sldId="536"/>
        </pc:sldMkLst>
      </pc:sldChg>
      <pc:sldChg chg="modTransition">
        <pc:chgData name="Erin Berry" userId="b7d8294d-da7c-45c9-9002-ab631a364979" providerId="ADAL" clId="{718D2BA2-B69C-4596-B36D-F24A681F5194}" dt="2026-06-08T22:17:36.218" v="0"/>
        <pc:sldMkLst>
          <pc:docMk/>
          <pc:sldMk cId="3750709052" sldId="53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846683-324F-4C55-A7E8-88933B3873C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0A701ED-6C80-46BA-8E63-355BD658091F}">
      <dgm:prSet/>
      <dgm:spPr/>
      <dgm:t>
        <a:bodyPr/>
        <a:lstStyle/>
        <a:p>
          <a:r>
            <a:rPr lang="en-US" dirty="0"/>
            <a:t>While IEPs are inherently individualized templates and scripts can be used as a starting point to introduce student involvement in the IEP</a:t>
          </a:r>
        </a:p>
      </dgm:t>
    </dgm:pt>
    <dgm:pt modelId="{40164CDA-6C0A-4A7C-85F2-D7BB78CC8A88}" type="parTrans" cxnId="{7A0088B7-63E7-43BE-907E-811127E6A93A}">
      <dgm:prSet/>
      <dgm:spPr/>
      <dgm:t>
        <a:bodyPr/>
        <a:lstStyle/>
        <a:p>
          <a:endParaRPr lang="en-US"/>
        </a:p>
      </dgm:t>
    </dgm:pt>
    <dgm:pt modelId="{DA866A51-9450-4904-A367-8BC290EFD43C}" type="sibTrans" cxnId="{7A0088B7-63E7-43BE-907E-811127E6A93A}">
      <dgm:prSet/>
      <dgm:spPr/>
      <dgm:t>
        <a:bodyPr/>
        <a:lstStyle/>
        <a:p>
          <a:endParaRPr lang="en-US"/>
        </a:p>
      </dgm:t>
    </dgm:pt>
    <dgm:pt modelId="{48FB4E80-E7B6-4AF6-93D0-3BC484292635}">
      <dgm:prSet/>
      <dgm:spPr/>
      <dgm:t>
        <a:bodyPr/>
        <a:lstStyle/>
        <a:p>
          <a:r>
            <a:rPr lang="en-US"/>
            <a:t>Customizing and personalizing scripts and presentations can be used to highlight individual goals, SPIN, and other aspects of the IEP </a:t>
          </a:r>
        </a:p>
      </dgm:t>
    </dgm:pt>
    <dgm:pt modelId="{561910EC-14DA-417D-AB11-2D4E357CD6E0}" type="parTrans" cxnId="{2002E100-BBC9-4B6B-914B-0E5528F5E629}">
      <dgm:prSet/>
      <dgm:spPr/>
      <dgm:t>
        <a:bodyPr/>
        <a:lstStyle/>
        <a:p>
          <a:endParaRPr lang="en-US"/>
        </a:p>
      </dgm:t>
    </dgm:pt>
    <dgm:pt modelId="{F5D979D7-4D2F-46EF-B19E-EB08EE30EF3C}" type="sibTrans" cxnId="{2002E100-BBC9-4B6B-914B-0E5528F5E629}">
      <dgm:prSet/>
      <dgm:spPr/>
      <dgm:t>
        <a:bodyPr/>
        <a:lstStyle/>
        <a:p>
          <a:endParaRPr lang="en-US"/>
        </a:p>
      </dgm:t>
    </dgm:pt>
    <dgm:pt modelId="{567F1E72-ECFB-4626-94B0-1191B0DB2871}" type="pres">
      <dgm:prSet presAssocID="{99846683-324F-4C55-A7E8-88933B3873CD}" presName="linear" presStyleCnt="0">
        <dgm:presLayoutVars>
          <dgm:animLvl val="lvl"/>
          <dgm:resizeHandles val="exact"/>
        </dgm:presLayoutVars>
      </dgm:prSet>
      <dgm:spPr/>
    </dgm:pt>
    <dgm:pt modelId="{B3977D79-4B4A-41E4-ABC8-C890D4F2419E}" type="pres">
      <dgm:prSet presAssocID="{10A701ED-6C80-46BA-8E63-355BD658091F}" presName="parentText" presStyleLbl="node1" presStyleIdx="0" presStyleCnt="2">
        <dgm:presLayoutVars>
          <dgm:chMax val="0"/>
          <dgm:bulletEnabled val="1"/>
        </dgm:presLayoutVars>
      </dgm:prSet>
      <dgm:spPr/>
    </dgm:pt>
    <dgm:pt modelId="{B9DEFA51-0D05-4298-B071-DAC0985BCE83}" type="pres">
      <dgm:prSet presAssocID="{DA866A51-9450-4904-A367-8BC290EFD43C}" presName="spacer" presStyleCnt="0"/>
      <dgm:spPr/>
    </dgm:pt>
    <dgm:pt modelId="{2631E849-3EBE-4215-BB54-61A5CB7ED4F0}" type="pres">
      <dgm:prSet presAssocID="{48FB4E80-E7B6-4AF6-93D0-3BC484292635}" presName="parentText" presStyleLbl="node1" presStyleIdx="1" presStyleCnt="2">
        <dgm:presLayoutVars>
          <dgm:chMax val="0"/>
          <dgm:bulletEnabled val="1"/>
        </dgm:presLayoutVars>
      </dgm:prSet>
      <dgm:spPr/>
    </dgm:pt>
  </dgm:ptLst>
  <dgm:cxnLst>
    <dgm:cxn modelId="{2002E100-BBC9-4B6B-914B-0E5528F5E629}" srcId="{99846683-324F-4C55-A7E8-88933B3873CD}" destId="{48FB4E80-E7B6-4AF6-93D0-3BC484292635}" srcOrd="1" destOrd="0" parTransId="{561910EC-14DA-417D-AB11-2D4E357CD6E0}" sibTransId="{F5D979D7-4D2F-46EF-B19E-EB08EE30EF3C}"/>
    <dgm:cxn modelId="{54312607-F2D0-4232-A399-D5E737B1603C}" type="presOf" srcId="{10A701ED-6C80-46BA-8E63-355BD658091F}" destId="{B3977D79-4B4A-41E4-ABC8-C890D4F2419E}" srcOrd="0" destOrd="0" presId="urn:microsoft.com/office/officeart/2005/8/layout/vList2"/>
    <dgm:cxn modelId="{C6C10D68-F171-4967-B214-4CC86534412B}" type="presOf" srcId="{99846683-324F-4C55-A7E8-88933B3873CD}" destId="{567F1E72-ECFB-4626-94B0-1191B0DB2871}" srcOrd="0" destOrd="0" presId="urn:microsoft.com/office/officeart/2005/8/layout/vList2"/>
    <dgm:cxn modelId="{7A0088B7-63E7-43BE-907E-811127E6A93A}" srcId="{99846683-324F-4C55-A7E8-88933B3873CD}" destId="{10A701ED-6C80-46BA-8E63-355BD658091F}" srcOrd="0" destOrd="0" parTransId="{40164CDA-6C0A-4A7C-85F2-D7BB78CC8A88}" sibTransId="{DA866A51-9450-4904-A367-8BC290EFD43C}"/>
    <dgm:cxn modelId="{AA1D7AD0-FF16-4FAB-8A07-8C886DCD78DA}" type="presOf" srcId="{48FB4E80-E7B6-4AF6-93D0-3BC484292635}" destId="{2631E849-3EBE-4215-BB54-61A5CB7ED4F0}" srcOrd="0" destOrd="0" presId="urn:microsoft.com/office/officeart/2005/8/layout/vList2"/>
    <dgm:cxn modelId="{C40FD0C6-DC60-4662-995D-8A0EF87CE84C}" type="presParOf" srcId="{567F1E72-ECFB-4626-94B0-1191B0DB2871}" destId="{B3977D79-4B4A-41E4-ABC8-C890D4F2419E}" srcOrd="0" destOrd="0" presId="urn:microsoft.com/office/officeart/2005/8/layout/vList2"/>
    <dgm:cxn modelId="{51D16611-6EA2-4B76-8E30-4CA9D0F035D6}" type="presParOf" srcId="{567F1E72-ECFB-4626-94B0-1191B0DB2871}" destId="{B9DEFA51-0D05-4298-B071-DAC0985BCE83}" srcOrd="1" destOrd="0" presId="urn:microsoft.com/office/officeart/2005/8/layout/vList2"/>
    <dgm:cxn modelId="{BE6D16CE-11EC-4DAC-B60F-A6FE1C4871B4}" type="presParOf" srcId="{567F1E72-ECFB-4626-94B0-1191B0DB2871}" destId="{2631E849-3EBE-4215-BB54-61A5CB7ED4F0}"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977D79-4B4A-41E4-ABC8-C890D4F2419E}">
      <dsp:nvSpPr>
        <dsp:cNvPr id="0" name=""/>
        <dsp:cNvSpPr/>
      </dsp:nvSpPr>
      <dsp:spPr>
        <a:xfrm>
          <a:off x="0" y="371409"/>
          <a:ext cx="4629150" cy="1427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While IEPs are inherently individualized templates and scripts can be used as a starting point to introduce student involvement in the IEP</a:t>
          </a:r>
        </a:p>
      </dsp:txBody>
      <dsp:txXfrm>
        <a:off x="69680" y="441089"/>
        <a:ext cx="4489790" cy="1288040"/>
      </dsp:txXfrm>
    </dsp:sp>
    <dsp:sp modelId="{2631E849-3EBE-4215-BB54-61A5CB7ED4F0}">
      <dsp:nvSpPr>
        <dsp:cNvPr id="0" name=""/>
        <dsp:cNvSpPr/>
      </dsp:nvSpPr>
      <dsp:spPr>
        <a:xfrm>
          <a:off x="0" y="1856409"/>
          <a:ext cx="4629150" cy="1427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Customizing and personalizing scripts and presentations can be used to highlight individual goals, SPIN, and other aspects of the IEP </a:t>
          </a:r>
        </a:p>
      </dsp:txBody>
      <dsp:txXfrm>
        <a:off x="69680" y="1926089"/>
        <a:ext cx="4489790" cy="12880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45298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3611583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392752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3315858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494679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3743751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662421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28979981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9187896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4127833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26189445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796ebedc0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796ebedc0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242391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42641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444090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279125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523421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088745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8007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483357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9" name="Picture 18" descr="Plan Your Way OK - Pathways to Partnership Branding">
            <a:extLst>
              <a:ext uri="{FF2B5EF4-FFF2-40B4-BE49-F238E27FC236}">
                <a16:creationId xmlns:a16="http://schemas.microsoft.com/office/drawing/2014/main" id="{139458B0-30E7-2183-E0BC-314754192B05}"/>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0" y="0"/>
            <a:ext cx="9144000" cy="51435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4" name="Date Placeholder 3">
            <a:extLst>
              <a:ext uri="{FF2B5EF4-FFF2-40B4-BE49-F238E27FC236}">
                <a16:creationId xmlns:a16="http://schemas.microsoft.com/office/drawing/2014/main" id="{BECE081B-8AFD-D5FC-5BDA-93266454635F}"/>
              </a:ext>
            </a:extLst>
          </p:cNvPr>
          <p:cNvSpPr>
            <a:spLocks noGrp="1"/>
          </p:cNvSpPr>
          <p:nvPr>
            <p:ph type="dt" sz="half" idx="10"/>
          </p:nvPr>
        </p:nvSpPr>
        <p:spPr/>
        <p:txBody>
          <a:bodyPr/>
          <a:lstStyle/>
          <a:p>
            <a:fld id="{5A0FCB29-5841-415B-8794-5F64FD0A6698}" type="datetimeFigureOut">
              <a:rPr lang="en-US" smtClean="0"/>
              <a:t>6/9/2026</a:t>
            </a:fld>
            <a:endParaRPr lang="en-US" dirty="0"/>
          </a:p>
        </p:txBody>
      </p:sp>
      <p:sp>
        <p:nvSpPr>
          <p:cNvPr id="5" name="Footer Placeholder 4">
            <a:extLst>
              <a:ext uri="{FF2B5EF4-FFF2-40B4-BE49-F238E27FC236}">
                <a16:creationId xmlns:a16="http://schemas.microsoft.com/office/drawing/2014/main" id="{4D2B0962-935E-E563-68DF-7E0D400F6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B47A3-5400-C06D-FC82-EDF5C8B0CE6F}"/>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9" name="Picture 8" descr="Blue and white sign&#10;&#10;">
            <a:extLst>
              <a:ext uri="{FF2B5EF4-FFF2-40B4-BE49-F238E27FC236}">
                <a16:creationId xmlns:a16="http://schemas.microsoft.com/office/drawing/2014/main" id="{88FB3550-3282-2683-4046-E0A6CAF7B85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5615306" cy="1596465"/>
          </a:xfrm>
          <a:prstGeom prst="rect">
            <a:avLst/>
          </a:prstGeom>
        </p:spPr>
      </p:pic>
      <p:sp>
        <p:nvSpPr>
          <p:cNvPr id="10" name="TextBox 9">
            <a:extLst>
              <a:ext uri="{FF2B5EF4-FFF2-40B4-BE49-F238E27FC236}">
                <a16:creationId xmlns:a16="http://schemas.microsoft.com/office/drawing/2014/main" id="{B5896585-3E93-1142-5556-DB1C5C7297CF}"/>
              </a:ext>
            </a:extLst>
          </p:cNvPr>
          <p:cNvSpPr txBox="1">
            <a:spLocks/>
          </p:cNvSpPr>
          <p:nvPr/>
        </p:nvSpPr>
        <p:spPr>
          <a:xfrm>
            <a:off x="5021745" y="3079692"/>
            <a:ext cx="3766931" cy="1661993"/>
          </a:xfrm>
          <a:prstGeom prst="rect">
            <a:avLst/>
          </a:prstGeom>
          <a:noFill/>
        </p:spPr>
        <p:txBody>
          <a:bodyPr wrap="square" rtlCol="0">
            <a:spAutoFit/>
          </a:bodyPr>
          <a:lstStyle/>
          <a:p>
            <a:r>
              <a:rPr lang="en-US" sz="1200" b="1" dirty="0">
                <a:latin typeface="Atkinson Hyperlegible Next" pitchFamily="50" charset="0"/>
              </a:rPr>
              <a:t>OKLAHOMA STATE DEPARTMENT OF EDUCATION</a:t>
            </a:r>
          </a:p>
          <a:p>
            <a:r>
              <a:rPr lang="en-US" sz="4500" b="1" dirty="0">
                <a:solidFill>
                  <a:schemeClr val="bg1"/>
                </a:solidFill>
                <a:latin typeface="Atkinson Hyperlegible Next" pitchFamily="50" charset="0"/>
              </a:rPr>
              <a:t>Pathways to Partnership</a:t>
            </a:r>
          </a:p>
        </p:txBody>
      </p:sp>
    </p:spTree>
    <p:extLst>
      <p:ext uri="{BB962C8B-B14F-4D97-AF65-F5344CB8AC3E}">
        <p14:creationId xmlns:p14="http://schemas.microsoft.com/office/powerpoint/2010/main" val="124047004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7" name="Picture 6" descr="A picture containing text, sign&#10;&#10;AI-generated content may be incorrect.">
            <a:extLst>
              <a:ext uri="{FF2B5EF4-FFF2-40B4-BE49-F238E27FC236}">
                <a16:creationId xmlns:a16="http://schemas.microsoft.com/office/drawing/2014/main" id="{57B7DEBE-00D3-4BD0-C762-E00DE9C300F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0" name="Picture 9">
            <a:extLst>
              <a:ext uri="{FF2B5EF4-FFF2-40B4-BE49-F238E27FC236}">
                <a16:creationId xmlns:a16="http://schemas.microsoft.com/office/drawing/2014/main" id="{95D2809E-2FF8-ED01-3B87-17DF6F59A1A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4506685"/>
            <a:ext cx="3221736" cy="636815"/>
          </a:xfrm>
          <a:prstGeom prst="rect">
            <a:avLst/>
          </a:prstGeom>
        </p:spPr>
      </p:pic>
    </p:spTree>
    <p:extLst>
      <p:ext uri="{BB962C8B-B14F-4D97-AF65-F5344CB8AC3E}">
        <p14:creationId xmlns:p14="http://schemas.microsoft.com/office/powerpoint/2010/main" val="253752419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628650" y="273844"/>
            <a:ext cx="7166508"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628650" y="1369219"/>
            <a:ext cx="7166508"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7795158" y="0"/>
            <a:ext cx="1348842" cy="5143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descr="Plan Your Way OK Logo">
            <a:extLst>
              <a:ext uri="{FF2B5EF4-FFF2-40B4-BE49-F238E27FC236}">
                <a16:creationId xmlns:a16="http://schemas.microsoft.com/office/drawing/2014/main" id="{47FC278A-E5C4-C003-38CF-8DC7285E66B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pic>
        <p:nvPicPr>
          <p:cNvPr id="23" name="Picture 22" descr="Icon&#10;&#10;AI-generated content may be incorrect.">
            <a:extLst>
              <a:ext uri="{FF2B5EF4-FFF2-40B4-BE49-F238E27FC236}">
                <a16:creationId xmlns:a16="http://schemas.microsoft.com/office/drawing/2014/main" id="{0A7B53E6-04A1-72A3-5FED-8ACC283AD8A2}"/>
              </a:ext>
            </a:extLst>
          </p:cNvPr>
          <p:cNvPicPr>
            <a:picLocks noChangeAspect="1"/>
          </p:cNvPicPr>
          <p:nvPr/>
        </p:nvPicPr>
        <p:blipFill>
          <a:blip r:embed="rId3" cstate="email">
            <a:extLst>
              <a:ext uri="{28A0092B-C50C-407E-A947-70E740481C1C}">
                <a14:useLocalDpi xmlns:a14="http://schemas.microsoft.com/office/drawing/2010/main"/>
              </a:ext>
            </a:extLst>
          </a:blip>
          <a:srcRect r="43033"/>
          <a:stretch>
            <a:fillRect/>
          </a:stretch>
        </p:blipFill>
        <p:spPr>
          <a:xfrm>
            <a:off x="7610302" y="273844"/>
            <a:ext cx="1533698" cy="2692241"/>
          </a:xfrm>
          <a:custGeom>
            <a:avLst/>
            <a:gdLst>
              <a:gd name="connsiteX0" fmla="*/ 0 w 2044930"/>
              <a:gd name="connsiteY0" fmla="*/ 0 h 3589655"/>
              <a:gd name="connsiteX1" fmla="*/ 2044930 w 2044930"/>
              <a:gd name="connsiteY1" fmla="*/ 0 h 3589655"/>
              <a:gd name="connsiteX2" fmla="*/ 2044930 w 2044930"/>
              <a:gd name="connsiteY2" fmla="*/ 3589655 h 3589655"/>
              <a:gd name="connsiteX3" fmla="*/ 0 w 2044930"/>
              <a:gd name="connsiteY3" fmla="*/ 3589655 h 3589655"/>
            </a:gdLst>
            <a:ahLst/>
            <a:cxnLst>
              <a:cxn ang="0">
                <a:pos x="connsiteX0" y="connsiteY0"/>
              </a:cxn>
              <a:cxn ang="0">
                <a:pos x="connsiteX1" y="connsiteY1"/>
              </a:cxn>
              <a:cxn ang="0">
                <a:pos x="connsiteX2" y="connsiteY2"/>
              </a:cxn>
              <a:cxn ang="0">
                <a:pos x="connsiteX3" y="connsiteY3"/>
              </a:cxn>
            </a:cxnLst>
            <a:rect l="l" t="t" r="r" b="b"/>
            <a:pathLst>
              <a:path w="2044930" h="3589655">
                <a:moveTo>
                  <a:pt x="0" y="0"/>
                </a:moveTo>
                <a:lnTo>
                  <a:pt x="2044930" y="0"/>
                </a:lnTo>
                <a:lnTo>
                  <a:pt x="2044930" y="3589655"/>
                </a:lnTo>
                <a:lnTo>
                  <a:pt x="0" y="3589655"/>
                </a:lnTo>
                <a:close/>
              </a:path>
            </a:pathLst>
          </a:custGeom>
        </p:spPr>
      </p:pic>
    </p:spTree>
    <p:extLst>
      <p:ext uri="{BB962C8B-B14F-4D97-AF65-F5344CB8AC3E}">
        <p14:creationId xmlns:p14="http://schemas.microsoft.com/office/powerpoint/2010/main" val="36033533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2143125" y="273844"/>
            <a:ext cx="6372225"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2143125" y="1369219"/>
            <a:ext cx="6372225"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0" y="0"/>
            <a:ext cx="2057400" cy="5143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descr="Background pattern&#10;&#10;AI-generated content may be incorrect.">
            <a:extLst>
              <a:ext uri="{FF2B5EF4-FFF2-40B4-BE49-F238E27FC236}">
                <a16:creationId xmlns:a16="http://schemas.microsoft.com/office/drawing/2014/main" id="{C72F8F3C-7D49-A158-EC5F-3022C950E63C}"/>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 y="0"/>
            <a:ext cx="1828304" cy="5143500"/>
          </a:xfrm>
          <a:custGeom>
            <a:avLst/>
            <a:gdLst>
              <a:gd name="connsiteX0" fmla="*/ 0 w 2437739"/>
              <a:gd name="connsiteY0" fmla="*/ 0 h 6858000"/>
              <a:gd name="connsiteX1" fmla="*/ 2437739 w 2437739"/>
              <a:gd name="connsiteY1" fmla="*/ 0 h 6858000"/>
              <a:gd name="connsiteX2" fmla="*/ 2437739 w 2437739"/>
              <a:gd name="connsiteY2" fmla="*/ 6858000 h 6858000"/>
              <a:gd name="connsiteX3" fmla="*/ 0 w 243773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437739" h="6858000">
                <a:moveTo>
                  <a:pt x="0" y="0"/>
                </a:moveTo>
                <a:lnTo>
                  <a:pt x="2437739" y="0"/>
                </a:lnTo>
                <a:lnTo>
                  <a:pt x="2437739" y="6858000"/>
                </a:lnTo>
                <a:lnTo>
                  <a:pt x="0" y="6858000"/>
                </a:lnTo>
                <a:close/>
              </a:path>
            </a:pathLst>
          </a:custGeom>
        </p:spPr>
      </p:pic>
      <p:pic>
        <p:nvPicPr>
          <p:cNvPr id="11" name="Picture 10" descr="A picture containing text, sign&#10;&#10;AI-generated content may be incorrect.">
            <a:extLst>
              <a:ext uri="{FF2B5EF4-FFF2-40B4-BE49-F238E27FC236}">
                <a16:creationId xmlns:a16="http://schemas.microsoft.com/office/drawing/2014/main" id="{CD69CD18-3F01-36C8-B47D-93F8D18A3B1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spTree>
    <p:extLst>
      <p:ext uri="{BB962C8B-B14F-4D97-AF65-F5344CB8AC3E}">
        <p14:creationId xmlns:p14="http://schemas.microsoft.com/office/powerpoint/2010/main" val="4256577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2CE63-E0AC-12D5-504E-D5E0649AC35D}"/>
              </a:ext>
            </a:extLst>
          </p:cNvPr>
          <p:cNvSpPr>
            <a:spLocks noGrp="1"/>
          </p:cNvSpPr>
          <p:nvPr>
            <p:ph type="title"/>
          </p:nvPr>
        </p:nvSpPr>
        <p:spPr>
          <a:xfrm>
            <a:off x="623888" y="1282304"/>
            <a:ext cx="7886700" cy="2139553"/>
          </a:xfrm>
        </p:spPr>
        <p:txBody>
          <a:bodyPr anchor="b"/>
          <a:lstStyle>
            <a:lvl1pPr>
              <a:defRPr sz="45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41C9AB-DF52-8ECD-BBD1-A316181026E7}"/>
              </a:ext>
            </a:extLst>
          </p:cNvPr>
          <p:cNvSpPr>
            <a:spLocks noGrp="1"/>
          </p:cNvSpPr>
          <p:nvPr>
            <p:ph type="body" idx="1"/>
          </p:nvPr>
        </p:nvSpPr>
        <p:spPr>
          <a:xfrm>
            <a:off x="623888" y="3442098"/>
            <a:ext cx="7886700" cy="1125140"/>
          </a:xfrm>
        </p:spPr>
        <p:txBody>
          <a:bodyPr/>
          <a:lstStyle>
            <a:lvl1pPr marL="0" indent="0">
              <a:buNone/>
              <a:defRPr sz="180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6B21C6-CC72-77B5-9E5F-0C13AAD88DE0}"/>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FBAE9409-FC1C-D8F6-C164-6757762B13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FFD45-8A77-BD59-0A42-4632D180202C}"/>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Background pattern&#10;&#10;AI-generated content may be incorrect.">
            <a:extLst>
              <a:ext uri="{FF2B5EF4-FFF2-40B4-BE49-F238E27FC236}">
                <a16:creationId xmlns:a16="http://schemas.microsoft.com/office/drawing/2014/main" id="{6DB361EA-32F9-14D2-D833-8C99C098F498}"/>
              </a:ext>
            </a:extLst>
          </p:cNvPr>
          <p:cNvPicPr/>
          <p:nvPr/>
        </p:nvPicPr>
        <p:blipFill>
          <a:blip r:embed="rId2" cstate="email">
            <a:extLst>
              <a:ext uri="{28A0092B-C50C-407E-A947-70E740481C1C}">
                <a14:useLocalDpi xmlns:a14="http://schemas.microsoft.com/office/drawing/2010/main"/>
              </a:ext>
            </a:extLst>
          </a:blip>
          <a:srcRect/>
          <a:stretch>
            <a:fillRect/>
          </a:stretch>
        </p:blipFill>
        <p:spPr>
          <a:xfrm>
            <a:off x="7942869" y="0"/>
            <a:ext cx="1201131" cy="4567238"/>
          </a:xfrm>
          <a:custGeom>
            <a:avLst/>
            <a:gdLst>
              <a:gd name="connsiteX0" fmla="*/ 0 w 1601508"/>
              <a:gd name="connsiteY0" fmla="*/ 0 h 6089650"/>
              <a:gd name="connsiteX1" fmla="*/ 1601508 w 1601508"/>
              <a:gd name="connsiteY1" fmla="*/ 0 h 6089650"/>
              <a:gd name="connsiteX2" fmla="*/ 1601508 w 1601508"/>
              <a:gd name="connsiteY2" fmla="*/ 6089650 h 6089650"/>
              <a:gd name="connsiteX3" fmla="*/ 0 w 1601508"/>
              <a:gd name="connsiteY3" fmla="*/ 6089650 h 6089650"/>
            </a:gdLst>
            <a:ahLst/>
            <a:cxnLst>
              <a:cxn ang="0">
                <a:pos x="connsiteX0" y="connsiteY0"/>
              </a:cxn>
              <a:cxn ang="0">
                <a:pos x="connsiteX1" y="connsiteY1"/>
              </a:cxn>
              <a:cxn ang="0">
                <a:pos x="connsiteX2" y="connsiteY2"/>
              </a:cxn>
              <a:cxn ang="0">
                <a:pos x="connsiteX3" y="connsiteY3"/>
              </a:cxn>
            </a:cxnLst>
            <a:rect l="l" t="t" r="r" b="b"/>
            <a:pathLst>
              <a:path w="1601508" h="6089650">
                <a:moveTo>
                  <a:pt x="0" y="0"/>
                </a:moveTo>
                <a:lnTo>
                  <a:pt x="1601508" y="0"/>
                </a:lnTo>
                <a:lnTo>
                  <a:pt x="1601508" y="6089650"/>
                </a:lnTo>
                <a:lnTo>
                  <a:pt x="0" y="6089650"/>
                </a:lnTo>
                <a:close/>
              </a:path>
            </a:pathLst>
          </a:custGeom>
        </p:spPr>
      </p:pic>
      <p:pic>
        <p:nvPicPr>
          <p:cNvPr id="9" name="Picture 8" descr="Plan Your Way OK Logo">
            <a:extLst>
              <a:ext uri="{FF2B5EF4-FFF2-40B4-BE49-F238E27FC236}">
                <a16:creationId xmlns:a16="http://schemas.microsoft.com/office/drawing/2014/main" id="{0D2C000A-F6E0-0CEB-2F25-076E4646A9E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spTree>
    <p:extLst>
      <p:ext uri="{BB962C8B-B14F-4D97-AF65-F5344CB8AC3E}">
        <p14:creationId xmlns:p14="http://schemas.microsoft.com/office/powerpoint/2010/main" val="83709801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BAB54-1C3C-EBFA-9FBE-4D7D8D8CFFF3}"/>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951D450-080D-55DB-32BC-50A1BA631553}"/>
              </a:ext>
            </a:extLst>
          </p:cNvPr>
          <p:cNvSpPr>
            <a:spLocks noGrp="1"/>
          </p:cNvSpPr>
          <p:nvPr>
            <p:ph sz="half" idx="1"/>
          </p:nvPr>
        </p:nvSpPr>
        <p:spPr>
          <a:xfrm>
            <a:off x="6286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43D435D-C710-F2F3-4FB5-35A38A3377B7}"/>
              </a:ext>
            </a:extLst>
          </p:cNvPr>
          <p:cNvSpPr>
            <a:spLocks noGrp="1"/>
          </p:cNvSpPr>
          <p:nvPr>
            <p:ph sz="half" idx="2"/>
          </p:nvPr>
        </p:nvSpPr>
        <p:spPr>
          <a:xfrm>
            <a:off x="46291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6F8D41F-AE74-8968-9E13-DCA755771664}"/>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DE2B0B74-9008-0E52-1626-31E76F078B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C21EAB-BA46-BD81-25AD-22C0F01182E8}"/>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A picture containing text, sign&#10;&#10;AI-generated content may be incorrect.">
            <a:extLst>
              <a:ext uri="{FF2B5EF4-FFF2-40B4-BE49-F238E27FC236}">
                <a16:creationId xmlns:a16="http://schemas.microsoft.com/office/drawing/2014/main" id="{1ED425B4-C0E5-001A-AB15-05901F4518B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1" name="Picture 10">
            <a:extLst>
              <a:ext uri="{FF2B5EF4-FFF2-40B4-BE49-F238E27FC236}">
                <a16:creationId xmlns:a16="http://schemas.microsoft.com/office/drawing/2014/main" id="{A7DD659E-7975-D958-C65B-1D20286CF5F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V="1">
            <a:off x="1" y="-1"/>
            <a:ext cx="3232181" cy="510778"/>
          </a:xfrm>
          <a:prstGeom prst="rect">
            <a:avLst/>
          </a:prstGeom>
        </p:spPr>
      </p:pic>
    </p:spTree>
    <p:extLst>
      <p:ext uri="{BB962C8B-B14F-4D97-AF65-F5344CB8AC3E}">
        <p14:creationId xmlns:p14="http://schemas.microsoft.com/office/powerpoint/2010/main" val="30249642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2A6B0-58AE-7AD4-384A-A21D35E6B19C}"/>
              </a:ext>
            </a:extLst>
          </p:cNvPr>
          <p:cNvSpPr>
            <a:spLocks noGrp="1"/>
          </p:cNvSpPr>
          <p:nvPr>
            <p:ph type="title"/>
          </p:nvPr>
        </p:nvSpPr>
        <p:spPr>
          <a:xfrm>
            <a:off x="629841" y="273844"/>
            <a:ext cx="7886700" cy="994172"/>
          </a:xfrm>
        </p:spPr>
        <p:txBody>
          <a:bodyPr/>
          <a:lstStyle>
            <a:lvl1pPr>
              <a:defRPr>
                <a:solidFill>
                  <a:schemeClr val="accent6"/>
                </a:solidFill>
              </a:defRPr>
            </a:lvl1pPr>
          </a:lstStyle>
          <a:p>
            <a:r>
              <a:rPr lang="en-US"/>
              <a:t>Click to edit Master title style</a:t>
            </a:r>
          </a:p>
        </p:txBody>
      </p:sp>
      <p:sp>
        <p:nvSpPr>
          <p:cNvPr id="3" name="Text Placeholder 2">
            <a:extLst>
              <a:ext uri="{FF2B5EF4-FFF2-40B4-BE49-F238E27FC236}">
                <a16:creationId xmlns:a16="http://schemas.microsoft.com/office/drawing/2014/main" id="{0A7448A3-DD01-65AD-EBBC-7146509143B7}"/>
              </a:ext>
            </a:extLst>
          </p:cNvPr>
          <p:cNvSpPr>
            <a:spLocks noGrp="1"/>
          </p:cNvSpPr>
          <p:nvPr>
            <p:ph type="body" idx="1"/>
          </p:nvPr>
        </p:nvSpPr>
        <p:spPr>
          <a:xfrm>
            <a:off x="629842" y="1260872"/>
            <a:ext cx="3868340"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D8997E1-A745-FAAC-DEE1-7FE99E3AB411}"/>
              </a:ext>
            </a:extLst>
          </p:cNvPr>
          <p:cNvSpPr>
            <a:spLocks noGrp="1"/>
          </p:cNvSpPr>
          <p:nvPr>
            <p:ph sz="half" idx="2"/>
          </p:nvPr>
        </p:nvSpPr>
        <p:spPr>
          <a:xfrm>
            <a:off x="629842" y="1878806"/>
            <a:ext cx="3868340"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DE8BDB-7D3C-FCD3-7E11-4BE954110A37}"/>
              </a:ext>
            </a:extLst>
          </p:cNvPr>
          <p:cNvSpPr>
            <a:spLocks noGrp="1"/>
          </p:cNvSpPr>
          <p:nvPr>
            <p:ph type="body" sz="quarter" idx="3"/>
          </p:nvPr>
        </p:nvSpPr>
        <p:spPr>
          <a:xfrm>
            <a:off x="4629150" y="1260872"/>
            <a:ext cx="3887391"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84E6A2-92F9-ECE9-702A-B8DDD2817B63}"/>
              </a:ext>
            </a:extLst>
          </p:cNvPr>
          <p:cNvSpPr>
            <a:spLocks noGrp="1"/>
          </p:cNvSpPr>
          <p:nvPr>
            <p:ph sz="quarter" idx="4"/>
          </p:nvPr>
        </p:nvSpPr>
        <p:spPr>
          <a:xfrm>
            <a:off x="4629150" y="1878806"/>
            <a:ext cx="3887391"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5470B1-DD5D-7EFA-E52D-4F5F033F5A48}"/>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8" name="Footer Placeholder 7">
            <a:extLst>
              <a:ext uri="{FF2B5EF4-FFF2-40B4-BE49-F238E27FC236}">
                <a16:creationId xmlns:a16="http://schemas.microsoft.com/office/drawing/2014/main" id="{3A21A241-ADD2-048D-336D-BCC674FA1B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813FFE-0983-8DC3-73F9-E49D9828F91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63869001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31F2B-EEA9-F8B4-57A5-A5733646EA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4C9FEC-72DF-3A11-BCF3-6D245B236A12}"/>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4" name="Footer Placeholder 3">
            <a:extLst>
              <a:ext uri="{FF2B5EF4-FFF2-40B4-BE49-F238E27FC236}">
                <a16:creationId xmlns:a16="http://schemas.microsoft.com/office/drawing/2014/main" id="{BDF47FED-2725-1A2D-459D-4C914B792E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E8D104-AEB0-9A03-8B60-2E9F1C2156AE}"/>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66314239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C971A4-F4E4-3E29-C3AE-27CC38CAFB9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3" name="Footer Placeholder 2">
            <a:extLst>
              <a:ext uri="{FF2B5EF4-FFF2-40B4-BE49-F238E27FC236}">
                <a16:creationId xmlns:a16="http://schemas.microsoft.com/office/drawing/2014/main" id="{7F3C2477-D402-582E-9AB3-E781F52A98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AF667D-D414-EFAA-C9A9-8BC6F0C752E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9" name="TextBox 18">
            <a:extLst>
              <a:ext uri="{FF2B5EF4-FFF2-40B4-BE49-F238E27FC236}">
                <a16:creationId xmlns:a16="http://schemas.microsoft.com/office/drawing/2014/main" id="{0C825D5E-9956-F8F0-E3CC-882E78B1B24A}"/>
              </a:ext>
            </a:extLst>
          </p:cNvPr>
          <p:cNvSpPr txBox="1"/>
          <p:nvPr/>
        </p:nvSpPr>
        <p:spPr>
          <a:xfrm>
            <a:off x="0" y="2851354"/>
            <a:ext cx="9144000" cy="1938992"/>
          </a:xfrm>
          <a:prstGeom prst="rect">
            <a:avLst/>
          </a:prstGeom>
          <a:noFill/>
        </p:spPr>
        <p:txBody>
          <a:bodyPr wrap="square">
            <a:spAutoFit/>
          </a:bodyPr>
          <a:lstStyle/>
          <a:p>
            <a:pPr marL="0" marR="0">
              <a:buNone/>
            </a:pPr>
            <a:r>
              <a:rPr lang="en-US" sz="1500" kern="100" dirty="0">
                <a:solidFill>
                  <a:schemeClr val="bg1"/>
                </a:solidFill>
                <a:effectLst/>
                <a:latin typeface="Atkinson Hyperlegible Next" pitchFamily="50" charset="0"/>
                <a:ea typeface="Aptos" panose="020B0004020202020204" pitchFamily="34" charset="0"/>
                <a:cs typeface="Arial" panose="020B0604020202020204" pitchFamily="34" charset="0"/>
              </a:rPr>
              <a:t>The contents of this presentation were developed under grant HR421E230012 from the U.S. Department of Education (Department). The Department does not mandate or prescribe practices, models, or other activities described or discussed in this resource. The contents of this presentation may contain examples of, adaptations of, and links to resources created and maintained by another public or private organization. The Department does not control or guarantee the accuracy, relevance, timeliness, or completeness of this outside information. The content of this guide does not necessarily represent the policy of the Department. This presentation is not intended to represent the views or policy of or be an endorsement of any views expressed, or materials provided by any Federal agency. (EDGAR 75.620)</a:t>
            </a:r>
          </a:p>
        </p:txBody>
      </p:sp>
      <p:pic>
        <p:nvPicPr>
          <p:cNvPr id="20" name="Picture 19" descr="Blue and white sign&#10;&#10;">
            <a:extLst>
              <a:ext uri="{FF2B5EF4-FFF2-40B4-BE49-F238E27FC236}">
                <a16:creationId xmlns:a16="http://schemas.microsoft.com/office/drawing/2014/main" id="{5BEC89F8-650B-4C6A-0956-98114467CA4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5615306" cy="1596465"/>
          </a:xfrm>
          <a:prstGeom prst="rect">
            <a:avLst/>
          </a:prstGeom>
        </p:spPr>
      </p:pic>
    </p:spTree>
    <p:extLst>
      <p:ext uri="{BB962C8B-B14F-4D97-AF65-F5344CB8AC3E}">
        <p14:creationId xmlns:p14="http://schemas.microsoft.com/office/powerpoint/2010/main" val="3272293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797E-20D0-2A98-ED8E-A966D6B04645}"/>
              </a:ext>
            </a:extLst>
          </p:cNvPr>
          <p:cNvSpPr>
            <a:spLocks noGrp="1"/>
          </p:cNvSpPr>
          <p:nvPr>
            <p:ph type="title"/>
          </p:nvPr>
        </p:nvSpPr>
        <p:spPr>
          <a:xfrm>
            <a:off x="629841" y="342900"/>
            <a:ext cx="2949178" cy="1200150"/>
          </a:xfrm>
        </p:spPr>
        <p:txBody>
          <a:bodyPr anchor="b"/>
          <a:lstStyle>
            <a:lvl1pPr>
              <a:defRPr sz="2400">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E474DB-4646-51C7-D0B2-D2B4A7F40B3E}"/>
              </a:ext>
            </a:extLst>
          </p:cNvPr>
          <p:cNvSpPr>
            <a:spLocks noGrp="1"/>
          </p:cNvSpPr>
          <p:nvPr>
            <p:ph idx="1"/>
          </p:nvPr>
        </p:nvSpPr>
        <p:spPr>
          <a:xfrm>
            <a:off x="3887391" y="740569"/>
            <a:ext cx="4629150" cy="3655219"/>
          </a:xfrm>
        </p:spPr>
        <p:txBody>
          <a:bodyPr/>
          <a:lstStyle>
            <a:lvl1pPr>
              <a:defRPr sz="2400">
                <a:solidFill>
                  <a:schemeClr val="accent6"/>
                </a:solidFill>
              </a:defRPr>
            </a:lvl1pPr>
            <a:lvl2pPr>
              <a:defRPr sz="2100">
                <a:solidFill>
                  <a:schemeClr val="accent6"/>
                </a:solidFill>
              </a:defRPr>
            </a:lvl2pPr>
            <a:lvl3pPr>
              <a:defRPr sz="1800">
                <a:solidFill>
                  <a:schemeClr val="accent6"/>
                </a:solidFill>
              </a:defRPr>
            </a:lvl3pPr>
            <a:lvl4pPr>
              <a:defRPr sz="1500">
                <a:solidFill>
                  <a:schemeClr val="accent6"/>
                </a:solidFill>
              </a:defRPr>
            </a:lvl4pPr>
            <a:lvl5pPr>
              <a:defRPr sz="1500">
                <a:solidFill>
                  <a:schemeClr val="accent6"/>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A0E6259-55A1-5ECB-E304-8B5D09E3D655}"/>
              </a:ext>
            </a:extLst>
          </p:cNvPr>
          <p:cNvSpPr>
            <a:spLocks noGrp="1"/>
          </p:cNvSpPr>
          <p:nvPr>
            <p:ph type="body" sz="half" idx="2"/>
          </p:nvPr>
        </p:nvSpPr>
        <p:spPr>
          <a:xfrm>
            <a:off x="629841" y="1543050"/>
            <a:ext cx="2949178" cy="2858691"/>
          </a:xfrm>
        </p:spPr>
        <p:txBody>
          <a:bodyPr/>
          <a:lstStyle>
            <a:lvl1pPr marL="0" indent="0">
              <a:buNone/>
              <a:defRPr sz="1200">
                <a:solidFill>
                  <a:schemeClr val="accent6"/>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4555984-9C93-D302-B247-0B332F3E3327}"/>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CA023BDF-FA82-E879-700A-49DB7947A8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82CF2F-24FE-9AB7-8E00-E1422BB7D2D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999283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01CB0-D132-956C-437E-AA8483FF3C1E}"/>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5F91019-239B-5254-23D0-7BFF0BB7EECA}"/>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19D27294-CA0E-5F41-3E77-B1E93821B14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5CBA06-0262-5CCA-896C-315678CA03CB}"/>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14A559DD-E897-2037-B8D3-87F77163AF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2C6381-C81F-0B65-9751-34AF66EB0438}"/>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5253358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6B1B8-B1FB-F610-2A5A-55443DC99ABC}"/>
              </a:ext>
            </a:extLst>
          </p:cNvPr>
          <p:cNvSpPr>
            <a:spLocks noGrp="1"/>
          </p:cNvSpPr>
          <p:nvPr>
            <p:ph type="title"/>
          </p:nvPr>
        </p:nvSpPr>
        <p:spPr>
          <a:xfrm>
            <a:off x="628650" y="273844"/>
            <a:ext cx="7886700" cy="994172"/>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012450-33DB-46B2-C9F1-991A0B7D90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25530D-6B47-F166-43BF-A9A7852922F6}"/>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919DBC34-0E2C-CD97-F397-4BF8166D8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973274-6134-DF2D-8DDD-83A46F94656D}"/>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8431801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EB3855-56F0-C304-A6DF-0CC85FFF957A}"/>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C01C01-BA2B-E96A-7162-000D9E215165}"/>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B8FEF-5B76-9F7B-D574-FBB4E29C12A1}"/>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D5324E18-936A-ACDC-0523-1FF03EBC0C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9CD96-9B36-D774-9148-7AA16D6B27B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96690363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1"/>
        <p:cNvGrpSpPr/>
        <p:nvPr/>
      </p:nvGrpSpPr>
      <p:grpSpPr>
        <a:xfrm>
          <a:off x="0" y="0"/>
          <a:ext cx="0" cy="0"/>
          <a:chOff x="0" y="0"/>
          <a:chExt cx="0" cy="0"/>
        </a:xfrm>
      </p:grpSpPr>
      <p:sp>
        <p:nvSpPr>
          <p:cNvPr id="54" name="Google Shape;54;p9"/>
          <p:cNvSpPr txBox="1">
            <a:spLocks noGrp="1"/>
          </p:cNvSpPr>
          <p:nvPr>
            <p:ph type="subTitle" idx="1"/>
          </p:nvPr>
        </p:nvSpPr>
        <p:spPr>
          <a:xfrm>
            <a:off x="4572000" y="799950"/>
            <a:ext cx="3566700" cy="1176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a:solidFill>
                  <a:schemeClr val="dk1"/>
                </a:solidFill>
                <a:latin typeface="Overpass Light"/>
                <a:ea typeface="Overpass Light"/>
                <a:cs typeface="Overpass Light"/>
                <a:sym typeface="Overpass Light"/>
              </a:defRPr>
            </a:lvl2pPr>
            <a:lvl3pPr lvl="2" rtl="0">
              <a:lnSpc>
                <a:spcPct val="100000"/>
              </a:lnSpc>
              <a:spcBef>
                <a:spcPts val="0"/>
              </a:spcBef>
              <a:spcAft>
                <a:spcPts val="0"/>
              </a:spcAft>
              <a:buNone/>
              <a:defRPr>
                <a:solidFill>
                  <a:schemeClr val="dk1"/>
                </a:solidFill>
                <a:latin typeface="Overpass Light"/>
                <a:ea typeface="Overpass Light"/>
                <a:cs typeface="Overpass Light"/>
                <a:sym typeface="Overpass Light"/>
              </a:defRPr>
            </a:lvl3pPr>
            <a:lvl4pPr lvl="3" rtl="0">
              <a:lnSpc>
                <a:spcPct val="100000"/>
              </a:lnSpc>
              <a:spcBef>
                <a:spcPts val="0"/>
              </a:spcBef>
              <a:spcAft>
                <a:spcPts val="0"/>
              </a:spcAft>
              <a:buNone/>
              <a:defRPr>
                <a:solidFill>
                  <a:schemeClr val="dk1"/>
                </a:solidFill>
                <a:latin typeface="Overpass Light"/>
                <a:ea typeface="Overpass Light"/>
                <a:cs typeface="Overpass Light"/>
                <a:sym typeface="Overpass Light"/>
              </a:defRPr>
            </a:lvl4pPr>
            <a:lvl5pPr lvl="4" rtl="0">
              <a:lnSpc>
                <a:spcPct val="100000"/>
              </a:lnSpc>
              <a:spcBef>
                <a:spcPts val="0"/>
              </a:spcBef>
              <a:spcAft>
                <a:spcPts val="0"/>
              </a:spcAft>
              <a:buNone/>
              <a:defRPr>
                <a:solidFill>
                  <a:schemeClr val="dk1"/>
                </a:solidFill>
                <a:latin typeface="Overpass Light"/>
                <a:ea typeface="Overpass Light"/>
                <a:cs typeface="Overpass Light"/>
                <a:sym typeface="Overpass Light"/>
              </a:defRPr>
            </a:lvl5pPr>
            <a:lvl6pPr lvl="5" rtl="0">
              <a:lnSpc>
                <a:spcPct val="100000"/>
              </a:lnSpc>
              <a:spcBef>
                <a:spcPts val="0"/>
              </a:spcBef>
              <a:spcAft>
                <a:spcPts val="0"/>
              </a:spcAft>
              <a:buNone/>
              <a:defRPr>
                <a:solidFill>
                  <a:schemeClr val="dk1"/>
                </a:solidFill>
                <a:latin typeface="Overpass Light"/>
                <a:ea typeface="Overpass Light"/>
                <a:cs typeface="Overpass Light"/>
                <a:sym typeface="Overpass Light"/>
              </a:defRPr>
            </a:lvl6pPr>
            <a:lvl7pPr lvl="6" rtl="0">
              <a:lnSpc>
                <a:spcPct val="100000"/>
              </a:lnSpc>
              <a:spcBef>
                <a:spcPts val="0"/>
              </a:spcBef>
              <a:spcAft>
                <a:spcPts val="0"/>
              </a:spcAft>
              <a:buNone/>
              <a:defRPr>
                <a:solidFill>
                  <a:schemeClr val="dk1"/>
                </a:solidFill>
                <a:latin typeface="Overpass Light"/>
                <a:ea typeface="Overpass Light"/>
                <a:cs typeface="Overpass Light"/>
                <a:sym typeface="Overpass Light"/>
              </a:defRPr>
            </a:lvl7pPr>
            <a:lvl8pPr lvl="7" rtl="0">
              <a:lnSpc>
                <a:spcPct val="100000"/>
              </a:lnSpc>
              <a:spcBef>
                <a:spcPts val="0"/>
              </a:spcBef>
              <a:spcAft>
                <a:spcPts val="0"/>
              </a:spcAft>
              <a:buNone/>
              <a:defRPr>
                <a:solidFill>
                  <a:schemeClr val="dk1"/>
                </a:solidFill>
                <a:latin typeface="Overpass Light"/>
                <a:ea typeface="Overpass Light"/>
                <a:cs typeface="Overpass Light"/>
                <a:sym typeface="Overpass Light"/>
              </a:defRPr>
            </a:lvl8pPr>
            <a:lvl9pPr lvl="8" rtl="0">
              <a:lnSpc>
                <a:spcPct val="100000"/>
              </a:lnSpc>
              <a:spcBef>
                <a:spcPts val="0"/>
              </a:spcBef>
              <a:spcAft>
                <a:spcPts val="0"/>
              </a:spcAft>
              <a:buNone/>
              <a:defRPr>
                <a:solidFill>
                  <a:schemeClr val="dk1"/>
                </a:solidFill>
                <a:latin typeface="Overpass Light"/>
                <a:ea typeface="Overpass Light"/>
                <a:cs typeface="Overpass Light"/>
                <a:sym typeface="Overpass Light"/>
              </a:defRPr>
            </a:lvl9pPr>
          </a:lstStyle>
          <a:p>
            <a:endParaRPr/>
          </a:p>
        </p:txBody>
      </p:sp>
      <p:sp>
        <p:nvSpPr>
          <p:cNvPr id="55" name="Google Shape;55;p9"/>
          <p:cNvSpPr txBox="1">
            <a:spLocks noGrp="1"/>
          </p:cNvSpPr>
          <p:nvPr>
            <p:ph type="title"/>
          </p:nvPr>
        </p:nvSpPr>
        <p:spPr>
          <a:xfrm>
            <a:off x="713225" y="1041931"/>
            <a:ext cx="383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sz="35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2540471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6"/>
        <p:cNvGrpSpPr/>
        <p:nvPr/>
      </p:nvGrpSpPr>
      <p:grpSpPr>
        <a:xfrm>
          <a:off x="0" y="0"/>
          <a:ext cx="0" cy="0"/>
          <a:chOff x="0" y="0"/>
          <a:chExt cx="0" cy="0"/>
        </a:xfrm>
      </p:grpSpPr>
      <p:sp>
        <p:nvSpPr>
          <p:cNvPr id="28" name="Google Shape;28;p4"/>
          <p:cNvSpPr txBox="1">
            <a:spLocks noGrp="1"/>
          </p:cNvSpPr>
          <p:nvPr>
            <p:ph type="subTitle" idx="1"/>
          </p:nvPr>
        </p:nvSpPr>
        <p:spPr>
          <a:xfrm>
            <a:off x="621575" y="1228437"/>
            <a:ext cx="7878300" cy="365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200"/>
            </a:lvl1pPr>
            <a:lvl2pPr lvl="1" rtl="0">
              <a:lnSpc>
                <a:spcPct val="100000"/>
              </a:lnSpc>
              <a:spcBef>
                <a:spcPts val="0"/>
              </a:spcBef>
              <a:spcAft>
                <a:spcPts val="0"/>
              </a:spcAft>
              <a:buNone/>
              <a:defRPr sz="1200"/>
            </a:lvl2pPr>
            <a:lvl3pPr lvl="2" rtl="0">
              <a:lnSpc>
                <a:spcPct val="100000"/>
              </a:lnSpc>
              <a:spcBef>
                <a:spcPts val="0"/>
              </a:spcBef>
              <a:spcAft>
                <a:spcPts val="0"/>
              </a:spcAft>
              <a:buNone/>
              <a:defRPr sz="1200"/>
            </a:lvl3pPr>
            <a:lvl4pPr lvl="3" rtl="0">
              <a:lnSpc>
                <a:spcPct val="100000"/>
              </a:lnSpc>
              <a:spcBef>
                <a:spcPts val="0"/>
              </a:spcBef>
              <a:spcAft>
                <a:spcPts val="0"/>
              </a:spcAft>
              <a:buNone/>
              <a:defRPr sz="1200"/>
            </a:lvl4pPr>
            <a:lvl5pPr lvl="4" rtl="0">
              <a:lnSpc>
                <a:spcPct val="100000"/>
              </a:lnSpc>
              <a:spcBef>
                <a:spcPts val="0"/>
              </a:spcBef>
              <a:spcAft>
                <a:spcPts val="0"/>
              </a:spcAft>
              <a:buNone/>
              <a:defRPr sz="1200"/>
            </a:lvl5pPr>
            <a:lvl6pPr lvl="5" rtl="0">
              <a:lnSpc>
                <a:spcPct val="100000"/>
              </a:lnSpc>
              <a:spcBef>
                <a:spcPts val="0"/>
              </a:spcBef>
              <a:spcAft>
                <a:spcPts val="0"/>
              </a:spcAft>
              <a:buNone/>
              <a:defRPr sz="1200"/>
            </a:lvl6pPr>
            <a:lvl7pPr lvl="6" rtl="0">
              <a:lnSpc>
                <a:spcPct val="100000"/>
              </a:lnSpc>
              <a:spcBef>
                <a:spcPts val="0"/>
              </a:spcBef>
              <a:spcAft>
                <a:spcPts val="0"/>
              </a:spcAft>
              <a:buNone/>
              <a:defRPr sz="1200"/>
            </a:lvl7pPr>
            <a:lvl8pPr lvl="7" rtl="0">
              <a:lnSpc>
                <a:spcPct val="100000"/>
              </a:lnSpc>
              <a:spcBef>
                <a:spcPts val="0"/>
              </a:spcBef>
              <a:spcAft>
                <a:spcPts val="0"/>
              </a:spcAft>
              <a:buNone/>
              <a:defRPr sz="1200"/>
            </a:lvl8pPr>
            <a:lvl9pPr lvl="8" rtl="0">
              <a:lnSpc>
                <a:spcPct val="100000"/>
              </a:lnSpc>
              <a:spcBef>
                <a:spcPts val="0"/>
              </a:spcBef>
              <a:spcAft>
                <a:spcPts val="0"/>
              </a:spcAft>
              <a:buNone/>
              <a:defRPr sz="1200"/>
            </a:lvl9pPr>
          </a:lstStyle>
          <a:p>
            <a:endParaRPr/>
          </a:p>
        </p:txBody>
      </p:sp>
      <p:sp>
        <p:nvSpPr>
          <p:cNvPr id="29" name="Google Shape;29;p4"/>
          <p:cNvSpPr txBox="1">
            <a:spLocks noGrp="1"/>
          </p:cNvSpPr>
          <p:nvPr>
            <p:ph type="title"/>
          </p:nvPr>
        </p:nvSpPr>
        <p:spPr>
          <a:xfrm>
            <a:off x="625300" y="315813"/>
            <a:ext cx="7704000" cy="707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3858901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E16F9E-B503-4375-8A4D-6043A8332E5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E8DFE7B-6603-70CF-9AEE-795CEF9F161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3302374-0F3E-D7EA-9840-D41A1B5E2838}"/>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081E32A8-3DF3-98E8-9BAA-72AE74CEF600}"/>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1C83A0-7ED6-646B-993E-492C43B64389}"/>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2B5664E2-3A40-4D1A-BF40-1793ED3F7EF0}" type="slidenum">
              <a:rPr lang="en-US" smtClean="0"/>
              <a:t>‹#›</a:t>
            </a:fld>
            <a:endParaRPr lang="en-US"/>
          </a:p>
        </p:txBody>
      </p:sp>
    </p:spTree>
    <p:extLst>
      <p:ext uri="{BB962C8B-B14F-4D97-AF65-F5344CB8AC3E}">
        <p14:creationId xmlns:p14="http://schemas.microsoft.com/office/powerpoint/2010/main" val="1464357206"/>
      </p:ext>
    </p:extLst>
  </p:cSld>
  <p:clrMap bg1="lt1" tx1="dk1" bg2="lt2" tx2="dk2" accent1="accent1" accent2="accent2" accent3="accent3" accent4="accent4" accent5="accent5" accent6="accent6" hlink="hlink" folHlink="folHlink"/>
  <p:sldLayoutIdLst>
    <p:sldLayoutId id="2147483946" r:id="rId1"/>
    <p:sldLayoutId id="2147483947" r:id="rId2"/>
    <p:sldLayoutId id="2147483948" r:id="rId3"/>
    <p:sldLayoutId id="2147483949" r:id="rId4"/>
    <p:sldLayoutId id="2147483950" r:id="rId5"/>
    <p:sldLayoutId id="2147483951" r:id="rId6"/>
    <p:sldLayoutId id="2147483952" r:id="rId7"/>
    <p:sldLayoutId id="2147483953" r:id="rId8"/>
    <p:sldLayoutId id="2147483954" r:id="rId9"/>
    <p:sldLayoutId id="2147483955" r:id="rId10"/>
    <p:sldLayoutId id="2147483956" r:id="rId11"/>
    <p:sldLayoutId id="2147483957" r:id="rId12"/>
    <p:sldLayoutId id="2147483958" r:id="rId13"/>
    <p:sldLayoutId id="2147483963" r:id="rId14"/>
    <p:sldLayoutId id="2147483964" r:id="rId15"/>
  </p:sldLayoutIdLst>
  <p:transition spd="slow">
    <p:push/>
  </p:transition>
  <p:hf sldNum="0" hdr="0" ftr="0" dt="0"/>
  <p:txStyles>
    <p:titleStyle>
      <a:lvl1pPr algn="l" defTabSz="685800" rtl="0" eaLnBrk="1" latinLnBrk="0" hangingPunct="1">
        <a:lnSpc>
          <a:spcPct val="90000"/>
        </a:lnSpc>
        <a:spcBef>
          <a:spcPct val="0"/>
        </a:spcBef>
        <a:buNone/>
        <a:defRPr sz="3300" kern="1200">
          <a:solidFill>
            <a:schemeClr val="accent6"/>
          </a:solidFill>
          <a:latin typeface="Atkinson Hyperlegible Next" pitchFamily="50"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accent6"/>
          </a:solidFill>
          <a:latin typeface="Atkinson Hyperlegible Next"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accent6"/>
          </a:solidFill>
          <a:latin typeface="Atkinson Hyperlegible Next"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accent6"/>
          </a:solidFill>
          <a:latin typeface="Atkinson Hyperlegible Next"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5.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5.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5.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5.xml"/><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728D5-2C58-8101-351B-426433EBDF34}"/>
              </a:ext>
            </a:extLst>
          </p:cNvPr>
          <p:cNvSpPr>
            <a:spLocks noGrp="1"/>
          </p:cNvSpPr>
          <p:nvPr>
            <p:ph type="title"/>
          </p:nvPr>
        </p:nvSpPr>
        <p:spPr>
          <a:xfrm>
            <a:off x="232002" y="854383"/>
            <a:ext cx="7886700" cy="2139553"/>
          </a:xfrm>
        </p:spPr>
        <p:txBody>
          <a:bodyPr anchor="b">
            <a:normAutofit/>
          </a:bodyPr>
          <a:lstStyle/>
          <a:p>
            <a:r>
              <a:rPr lang="en-US" dirty="0"/>
              <a:t>Module 4-B: Academic Performance-IEP Presentation Tools</a:t>
            </a:r>
          </a:p>
        </p:txBody>
      </p:sp>
    </p:spTree>
    <p:extLst>
      <p:ext uri="{BB962C8B-B14F-4D97-AF65-F5344CB8AC3E}">
        <p14:creationId xmlns:p14="http://schemas.microsoft.com/office/powerpoint/2010/main" val="3157657279"/>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a:t>One-Pagers</a:t>
            </a:r>
          </a:p>
        </p:txBody>
      </p:sp>
      <p:sp>
        <p:nvSpPr>
          <p:cNvPr id="466" name="Google Shape;466;p65"/>
          <p:cNvSpPr txBox="1">
            <a:spLocks noGrp="1"/>
          </p:cNvSpPr>
          <p:nvPr>
            <p:ph idx="1"/>
          </p:nvPr>
        </p:nvSpPr>
        <p:spPr/>
        <p:txBody>
          <a:bodyPr spcFirstLastPara="1" lIns="91425" tIns="91425" rIns="91425" bIns="91425" anchorCtr="0">
            <a:normAutofit/>
          </a:bodyPr>
          <a:lstStyle/>
          <a:p>
            <a:pPr marL="342900" lvl="0" rtl="0">
              <a:spcBef>
                <a:spcPts val="0"/>
              </a:spcBef>
              <a:spcAft>
                <a:spcPts val="600"/>
              </a:spcAft>
              <a:buClr>
                <a:schemeClr val="dk1"/>
              </a:buClr>
              <a:buSzPts val="1100"/>
              <a:buFont typeface="Arial" panose="020B0604020202020204" pitchFamily="34" charset="0"/>
              <a:buChar char="•"/>
            </a:pPr>
            <a:r>
              <a:rPr lang="en-US"/>
              <a:t>Complete online or on paper</a:t>
            </a:r>
          </a:p>
          <a:p>
            <a:pPr marL="342900" lvl="0" rtl="0">
              <a:spcBef>
                <a:spcPts val="0"/>
              </a:spcBef>
              <a:spcAft>
                <a:spcPts val="600"/>
              </a:spcAft>
              <a:buClr>
                <a:schemeClr val="dk1"/>
              </a:buClr>
              <a:buSzPts val="1100"/>
              <a:buFont typeface="Arial" panose="020B0604020202020204" pitchFamily="34" charset="0"/>
              <a:buChar char="•"/>
            </a:pPr>
            <a:r>
              <a:rPr lang="en-US"/>
              <a:t>Choose categories that capture the student’s SPIN, annual goals, and aspirations for after high school</a:t>
            </a:r>
          </a:p>
          <a:p>
            <a:pPr marL="342900" lvl="0" rtl="0">
              <a:spcBef>
                <a:spcPts val="0"/>
              </a:spcBef>
              <a:spcAft>
                <a:spcPts val="600"/>
              </a:spcAft>
              <a:buClr>
                <a:schemeClr val="dk1"/>
              </a:buClr>
              <a:buSzPts val="1100"/>
              <a:buFont typeface="Arial" panose="020B0604020202020204" pitchFamily="34" charset="0"/>
              <a:buChar char="•"/>
            </a:pPr>
            <a:r>
              <a:rPr lang="en-US"/>
              <a:t>Use as a get-to-know-you activity, something to give to teachers, or present at IEP meetings</a:t>
            </a:r>
          </a:p>
          <a:p>
            <a:pPr marL="342900" lvl="0" rtl="0">
              <a:spcBef>
                <a:spcPts val="0"/>
              </a:spcBef>
              <a:spcAft>
                <a:spcPts val="600"/>
              </a:spcAft>
              <a:buClr>
                <a:schemeClr val="dk1"/>
              </a:buClr>
              <a:buSzPts val="1100"/>
              <a:buFont typeface="Arial" panose="020B0604020202020204" pitchFamily="34" charset="0"/>
              <a:buChar char="•"/>
            </a:pPr>
            <a:r>
              <a:rPr lang="en-US"/>
              <a:t>Incorporate pictures and simplified language when needed</a:t>
            </a:r>
          </a:p>
        </p:txBody>
      </p:sp>
    </p:spTree>
    <p:extLst>
      <p:ext uri="{BB962C8B-B14F-4D97-AF65-F5344CB8AC3E}">
        <p14:creationId xmlns:p14="http://schemas.microsoft.com/office/powerpoint/2010/main" val="3401139752"/>
      </p:ext>
    </p:extLst>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latin typeface="Verdana Pro" panose="020B0604030504040204" pitchFamily="34" charset="0"/>
              </a:rPr>
              <a:t>One-Pager Example-1 </a:t>
            </a:r>
            <a:endParaRPr sz="2800" dirty="0">
              <a:latin typeface="Verdana Pro" panose="020B0604030504040204" pitchFamily="34" charset="0"/>
            </a:endParaRPr>
          </a:p>
        </p:txBody>
      </p:sp>
      <p:pic>
        <p:nvPicPr>
          <p:cNvPr id="6" name="Picture 5" descr="The image is a visual representation of a child’s Likes, Dislikes, Interests, and Preferences using images and simple illustrations. Here’s a breakdown of each section:&#10;&#10;Likes:&#10;The left column shows two images:&#10;A child engaged in a manicure or nail-painting activity.&#10;The same child smiling and enjoying a meal, which includes cinnamon rolls and a drink.&#10;&#10;Dislikes:&#10;The middle column shows:&#10;An illustration of a jar of pickles, likely indicating a dislike for pickles.&#10;An angry face emoji, representing general dislikes or frustration.&#10;&#10;Interests:&#10;The middle section below &quot;Dislikes&quot; shows:&#10;A picture of the child coloring in a book, indicating an interest in arts and crafts or coloring activities.&#10;&#10;Preferences:&#10;The right column shows three illustrations:&#10;A girl sitting outside in nature, perhaps indicating a preference for outdoor activities or relaxation.&#10;A stopwatch, which could represent a preference for scheduled or timed activities.&#10;A girl singing and playing the guitar, representing a preference for music or performing arts.">
            <a:extLst>
              <a:ext uri="{FF2B5EF4-FFF2-40B4-BE49-F238E27FC236}">
                <a16:creationId xmlns:a16="http://schemas.microsoft.com/office/drawing/2014/main" id="{872DCF89-09B1-3422-C5C7-3AB406843ED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97337" y="665267"/>
            <a:ext cx="7915280" cy="4256330"/>
          </a:xfrm>
          <a:prstGeom prst="rect">
            <a:avLst/>
          </a:prstGeom>
        </p:spPr>
      </p:pic>
    </p:spTree>
    <p:extLst>
      <p:ext uri="{BB962C8B-B14F-4D97-AF65-F5344CB8AC3E}">
        <p14:creationId xmlns:p14="http://schemas.microsoft.com/office/powerpoint/2010/main" val="848900977"/>
      </p:ext>
    </p:extLst>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latin typeface="Verdana Pro" panose="020B0604030504040204" pitchFamily="34" charset="0"/>
              </a:rPr>
              <a:t>One-Pager Example-2 </a:t>
            </a:r>
            <a:endParaRPr sz="2800" dirty="0">
              <a:latin typeface="Verdana Pro" panose="020B0604030504040204" pitchFamily="34" charset="0"/>
            </a:endParaRPr>
          </a:p>
        </p:txBody>
      </p:sp>
      <p:pic>
        <p:nvPicPr>
          <p:cNvPr id="5" name="Picture 4" descr="The image is a visual representation that summarizes information about a person named Peighton, focusing on their Likes, Interests, Needs, Dislikes, and Preferences. The design is colorful and features various illustrations and icons that correspond to each category. Here's a detailed breakdown:&#10;&#10;Likes:&#10;Illustrations:&#10;Ice cream cone and a milkshake, indicating a liking for sweet treats or desserts.&#10;An elephant, possibly indicating a liking for elephants or animals in general.&#10;A stack of books, suggesting a liking for reading or learning.&#10;&#10;Interests:&#10;Illustrations:&#10;A graduation cap symbol, indicating an interest in education or academic achievements.&#10;Puzzle pieces, which might symbolize an interest in problem-solving or activities that require critical thinking.&#10;A gender symbol, possibly indicating an interest in gender studies or related topics.&#10;&#10;Needs:&#10;Illustrations:&#10;A snack bag, indicating the need for regular snacks or nourishment.&#10;A person sitting cross-legged, representing the need for relaxation, mindfulness, or personal space.&#10;Flowchart-like boxes, which might symbolize the need for structure or clear instructions.&#10;&#10;Dislikes:&#10;Illustrations:&#10;A person holding their head in frustration, surrounded by scribbles and symbols, suggesting a dislike for stress, overwhelming situations, or confusion.&#10;&#10;Preferences:&#10;Illustrations:&#10;A pair of lips and a hand, which could suggest a preference for communication, possibly verbal or tactile interaction.&#10;A laptop, indicating a preference for using technology or working with computers.&#10;A clock with gears, which might symbolize a preference for scheduled activities, routines, or tasks that involve time management.&#10;&#10;Overall Design:&#10;The image is set against a purple background with decorative elements like hearts, flowers, and stars, giving it a personalized and aesthetically pleasing appearance. Each section is clearly separated, making it easy to understand and visually engaging.&#10;">
            <a:extLst>
              <a:ext uri="{FF2B5EF4-FFF2-40B4-BE49-F238E27FC236}">
                <a16:creationId xmlns:a16="http://schemas.microsoft.com/office/drawing/2014/main" id="{FB7C5575-70C1-A335-DE37-2F1E49564AC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6601" y="659788"/>
            <a:ext cx="7638866" cy="4304904"/>
          </a:xfrm>
          <a:prstGeom prst="rect">
            <a:avLst/>
          </a:prstGeom>
        </p:spPr>
      </p:pic>
    </p:spTree>
    <p:extLst>
      <p:ext uri="{BB962C8B-B14F-4D97-AF65-F5344CB8AC3E}">
        <p14:creationId xmlns:p14="http://schemas.microsoft.com/office/powerpoint/2010/main" val="1919585342"/>
      </p:ext>
    </p:extLst>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latin typeface="Verdana Pro" panose="020B0604030504040204" pitchFamily="34" charset="0"/>
              </a:rPr>
              <a:t>One-Pager Example 3</a:t>
            </a:r>
            <a:endParaRPr sz="2800" dirty="0">
              <a:latin typeface="Verdana Pro" panose="020B0604030504040204" pitchFamily="34" charset="0"/>
            </a:endParaRPr>
          </a:p>
        </p:txBody>
      </p:sp>
      <p:pic>
        <p:nvPicPr>
          <p:cNvPr id="2" name="Picture 1" descr="Learn:&#10;The word &quot;Learn&quot; is placed near the top, indicating that the program focuses on providing educational opportunities. The logo of the University of Oklahoma is prominently displayed at the top along with the name of the Sooner Works program.&#10;&#10;Live:&#10;An image of a university residence hall is shown, representing the living accommodations available to students as part of the program.&#10;&#10;Work:&#10;An image of the National Weather Center at the University of Oklahoma is displayed, symbolizing the work opportunities or work-related learning experiences that may be part of the program.&#10;&#10;Participate:&#10;The word &quot;Participate&quot; is associated with an image of the Alpha Gamma Delta sorority logo, possibly indicating opportunities for students to engage in social organizations, extracurricular activities, or Greek life.">
            <a:extLst>
              <a:ext uri="{FF2B5EF4-FFF2-40B4-BE49-F238E27FC236}">
                <a16:creationId xmlns:a16="http://schemas.microsoft.com/office/drawing/2014/main" id="{AC56B0AA-CCA1-9507-83E4-9D74ACC673EB}"/>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1722" y="557841"/>
            <a:ext cx="7881108" cy="4311848"/>
          </a:xfrm>
          <a:prstGeom prst="rect">
            <a:avLst/>
          </a:prstGeom>
        </p:spPr>
      </p:pic>
    </p:spTree>
    <p:extLst>
      <p:ext uri="{BB962C8B-B14F-4D97-AF65-F5344CB8AC3E}">
        <p14:creationId xmlns:p14="http://schemas.microsoft.com/office/powerpoint/2010/main" val="3406695267"/>
      </p:ext>
    </p:extLst>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latin typeface="Verdana Pro" panose="020B0604030504040204" pitchFamily="34" charset="0"/>
              </a:rPr>
              <a:t>HS One-Pager Template</a:t>
            </a:r>
            <a:endParaRPr sz="4000">
              <a:latin typeface="Verdana Pro" panose="020B0604030504040204" pitchFamily="34" charset="0"/>
            </a:endParaRPr>
          </a:p>
        </p:txBody>
      </p:sp>
      <p:pic>
        <p:nvPicPr>
          <p:cNvPr id="6" name="Picture 5" descr="An image of a one pager template. Top Section:&#10;Name, Age, Grade:&#10;Spaces are provided for the student to fill in their personal details.&#10;Center:&#10;Photo Placeholder:&#10;A camera icon is present, indicating a space where the student's photo can be added.&#10;Left Column:&#10;My Strengths:&#10;&#10;Prompt: &quot;List 6-8 academic, behavioral, or social strengths.&quot;&#10;This section encourages the student to identify and list their key strengths across various domains.&#10;What Works for Me:&#10;&#10;Prompt: &quot;List 3-4 techniques or supports that help with academic success.&quot;&#10;The student is asked to identify strategies or supports that aid their learning and academic performance.&#10;My Favorites:&#10;&#10;Prompt: &quot;Add anything additional about what makes them who they are.&quot;&#10;This section allows the student to include any additional personal information that defines their identity or preferences.&#10;Right Column:&#10;Who I Want to Be:&#10;&#10;Prompt: &quot;Write 2-3 sentences on who you want to be in the future after graduation.&quot;&#10;The student is encouraged to articulate their future aspirations and goals.&#10;What Doesn’t Work for Me:&#10;&#10;Prompt: &quot;List 2-3 things that limit academic success.&quot;&#10;The student is asked to identify barriers or challenges they face in their academic journey.&#10;Things I Am Working On:&#10;&#10;Prompt: &quot;List 3-4 academic, social, or other goals that are being worked on currently.&quot;&#10;This section is for the student to outline current goals they are focusing on, whether academic, social, or personal.&#10;">
            <a:extLst>
              <a:ext uri="{FF2B5EF4-FFF2-40B4-BE49-F238E27FC236}">
                <a16:creationId xmlns:a16="http://schemas.microsoft.com/office/drawing/2014/main" id="{CF223739-06CA-D21E-201B-89F428C3F3A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809370" y="907055"/>
            <a:ext cx="2440239" cy="3724576"/>
          </a:xfrm>
          <a:prstGeom prst="rect">
            <a:avLst/>
          </a:prstGeom>
        </p:spPr>
      </p:pic>
      <p:pic>
        <p:nvPicPr>
          <p:cNvPr id="10" name="Picture 9" descr="An image of a one-pager example. Top Section:&#10;Name: Josh&#10;Age: 14 Years Old&#10;Grade: 10th Grade&#10;Photo: An illustrated avatar of Josh is placed in the photo section.&#10;Left Column:&#10;My Strengths:&#10;&#10;List:&#10;Friendly&#10;Intelligent&#10;Funny&#10;Respectful&#10;Hard-Working&#10;Great Listener&#10;Social&#10;What Works for Me:&#10;&#10;List:&#10;Alarms &amp; Reminders&#10;Constructive Criticism&#10;Detailed Directions&#10;Breathing Exercises&#10;My Favorites:&#10;&#10;List:&#10;My parents and my sister&#10;Cane’s (likely referring to Raising Cane’s, a restaurant)&#10;Pools&#10;Working out&#10;Right Column:&#10;Who I Want to Be:&#10;&#10;Text:&#10;&quot;In the future, I plan on attending four years of college at MIT, or becoming a songwriter. I would like to become an engineer after college, to help build homes for those in need.&quot;&#10;What Doesn’t Work for Me:&#10;&#10;List:&#10;Being rushed&#10;Short deadlines&#10;Disrespect&#10;Distractions&#10;Things I Am Working On:&#10;&#10;List:&#10;Studying Skills&#10;Anxiety Coping Skills&#10;Handwriting">
            <a:extLst>
              <a:ext uri="{FF2B5EF4-FFF2-40B4-BE49-F238E27FC236}">
                <a16:creationId xmlns:a16="http://schemas.microsoft.com/office/drawing/2014/main" id="{15F8579F-A199-3CC6-6AA8-389B6E9B7D4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523896" y="907055"/>
            <a:ext cx="2448242" cy="3724576"/>
          </a:xfrm>
          <a:prstGeom prst="rect">
            <a:avLst/>
          </a:prstGeom>
        </p:spPr>
      </p:pic>
      <p:sp>
        <p:nvSpPr>
          <p:cNvPr id="3" name="TextBox 2">
            <a:extLst>
              <a:ext uri="{FF2B5EF4-FFF2-40B4-BE49-F238E27FC236}">
                <a16:creationId xmlns:a16="http://schemas.microsoft.com/office/drawing/2014/main" id="{07741B1A-1B82-4ABB-378D-129522F4B5E9}"/>
              </a:ext>
            </a:extLst>
          </p:cNvPr>
          <p:cNvSpPr txBox="1"/>
          <p:nvPr/>
        </p:nvSpPr>
        <p:spPr>
          <a:xfrm>
            <a:off x="648070" y="4041004"/>
            <a:ext cx="27432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https://tinyurl.com/HS1Pager</a:t>
            </a:r>
          </a:p>
        </p:txBody>
      </p:sp>
      <p:pic>
        <p:nvPicPr>
          <p:cNvPr id="4" name="Picture 3" descr="A qr code on a white background for High School One-Pager template https://tinyurl.com/HS1Pager">
            <a:extLst>
              <a:ext uri="{FF2B5EF4-FFF2-40B4-BE49-F238E27FC236}">
                <a16:creationId xmlns:a16="http://schemas.microsoft.com/office/drawing/2014/main" id="{EDF71D07-E9C7-2C58-BC86-69B857D997A9}"/>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46775" y="1258657"/>
            <a:ext cx="2608926" cy="2631120"/>
          </a:xfrm>
          <a:prstGeom prst="rect">
            <a:avLst/>
          </a:prstGeom>
        </p:spPr>
      </p:pic>
    </p:spTree>
    <p:extLst>
      <p:ext uri="{BB962C8B-B14F-4D97-AF65-F5344CB8AC3E}">
        <p14:creationId xmlns:p14="http://schemas.microsoft.com/office/powerpoint/2010/main" val="2900563851"/>
      </p:ext>
    </p:extLst>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latin typeface="Verdana Pro" panose="020B0604030504040204" pitchFamily="34" charset="0"/>
              </a:rPr>
              <a:t>Good Day Plan One-Pager and Implementation Guide</a:t>
            </a:r>
            <a:endParaRPr sz="4000">
              <a:latin typeface="Verdana Pro" panose="020B0604030504040204" pitchFamily="34" charset="0"/>
            </a:endParaRPr>
          </a:p>
        </p:txBody>
      </p:sp>
      <p:pic>
        <p:nvPicPr>
          <p:cNvPr id="14" name="Picture 13" descr="A screenshot of a one pager for a good day plan and implementation guide. 1. Good Day (Yellow Section)&#10;What happens on a good day?&#10;&#10;Prompts:&#10;What things are always present on good days?&#10;What do I do on a good day?&#10;What makes me happy?&#10;2. Now (Teal Section)&#10;Does it happen now?&#10;&#10;Prompts:&#10;Am I getting what I need during the day?&#10;If yes, GREAT! Keep it up.&#10;If not, move to the next column to think of options and other choices.&#10;3. Action (Orange Section)&#10;What needs to happen to make it a good day?&#10;&#10;Prompts:&#10;What do I need to make this happen?&#10;What things or plans can I use to help me?&#10;What goals should I set for myself?&#10;What do others do to make this happen that I could try?&#10;Is there a reasonable other choice?&#10;4. Support (Purple Section)&#10;Who can help me?&#10;&#10;Prompts:&#10;What people can help me have a good day?&#10;What people do I need in order to increase the chance of good things happening?&#10;Who supports me?&#10;Can I be the support person for this?&#10;">
            <a:extLst>
              <a:ext uri="{FF2B5EF4-FFF2-40B4-BE49-F238E27FC236}">
                <a16:creationId xmlns:a16="http://schemas.microsoft.com/office/drawing/2014/main" id="{E9FD9E81-85FE-C995-6365-12226D354FA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856799" y="1424679"/>
            <a:ext cx="7430401" cy="3036656"/>
          </a:xfrm>
          <a:prstGeom prst="rect">
            <a:avLst/>
          </a:prstGeom>
        </p:spPr>
      </p:pic>
      <p:pic>
        <p:nvPicPr>
          <p:cNvPr id="12" name="Picture 11" descr="A qr code for the website https://tinyurl.com/GDPlanImpl">
            <a:extLst>
              <a:ext uri="{FF2B5EF4-FFF2-40B4-BE49-F238E27FC236}">
                <a16:creationId xmlns:a16="http://schemas.microsoft.com/office/drawing/2014/main" id="{80C229A3-78C9-69F3-23FE-C55531B8556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88977" y="3487571"/>
            <a:ext cx="1397155" cy="1397155"/>
          </a:xfrm>
          <a:prstGeom prst="rect">
            <a:avLst/>
          </a:prstGeom>
        </p:spPr>
      </p:pic>
      <p:sp>
        <p:nvSpPr>
          <p:cNvPr id="2" name="Google Shape;466;p65">
            <a:extLst>
              <a:ext uri="{FF2B5EF4-FFF2-40B4-BE49-F238E27FC236}">
                <a16:creationId xmlns:a16="http://schemas.microsoft.com/office/drawing/2014/main" id="{5846A843-9BC7-58C8-2BCA-BA5B2B63D0EE}"/>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a:latin typeface="+mj-lt"/>
                <a:ea typeface="Overpass Light"/>
                <a:cs typeface="Overpass Light"/>
                <a:sym typeface="Overpass Light"/>
              </a:rPr>
              <a:t>https://</a:t>
            </a:r>
            <a:r>
              <a:rPr lang="en-US" sz="2400" err="1">
                <a:latin typeface="+mj-lt"/>
                <a:ea typeface="Overpass Light"/>
                <a:cs typeface="Overpass Light"/>
                <a:sym typeface="Overpass Light"/>
              </a:rPr>
              <a:t>tinyurl.com</a:t>
            </a:r>
            <a:r>
              <a:rPr lang="en-US" sz="2400">
                <a:latin typeface="+mj-lt"/>
                <a:ea typeface="Overpass Light"/>
                <a:cs typeface="Overpass Light"/>
                <a:sym typeface="Overpass Light"/>
              </a:rPr>
              <a:t>/</a:t>
            </a:r>
            <a:r>
              <a:rPr lang="en-US" sz="2400" err="1">
                <a:latin typeface="+mj-lt"/>
                <a:ea typeface="Overpass Light"/>
                <a:cs typeface="Overpass Light"/>
                <a:sym typeface="Overpass Light"/>
              </a:rPr>
              <a:t>GDPlanImpl</a:t>
            </a:r>
            <a:endParaRPr lang="en-US" sz="2400">
              <a:latin typeface="+mj-lt"/>
              <a:ea typeface="Overpass Light"/>
              <a:cs typeface="Overpass Light"/>
              <a:sym typeface="Overpass Light"/>
            </a:endParaRPr>
          </a:p>
        </p:txBody>
      </p:sp>
    </p:spTree>
    <p:extLst>
      <p:ext uri="{BB962C8B-B14F-4D97-AF65-F5344CB8AC3E}">
        <p14:creationId xmlns:p14="http://schemas.microsoft.com/office/powerpoint/2010/main" val="2821921088"/>
      </p:ext>
    </p:extLst>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Goal Plan One-Pager and Implementation Guide</a:t>
            </a:r>
            <a:endParaRPr sz="4000" dirty="0">
              <a:latin typeface="Verdana Pro" panose="020B0604030504040204" pitchFamily="34" charset="0"/>
            </a:endParaRPr>
          </a:p>
        </p:txBody>
      </p:sp>
      <p:pic>
        <p:nvPicPr>
          <p:cNvPr id="4" name="Picture 3" descr="A screenshot of a one pager template for a goal plan and implementation guide. 1. My Goal (Yellow Section)&#10;Prompts to Identify a Goal:&#10;&#10;What is one of my goals?&#10;What is something that I want to do?&#10;Where is a place I want to go?&#10;You can write a goal to reach soon or several months or years away.&#10;Pick one goal to start with.&#10;2. Outcomes (Teal Section)&#10;Prompts to Consider the Outcomes:&#10;&#10;How do you know you have reached your goal?&#10;What are some results of getting this goal done?&#10;How will I benefit from finishing this goal?&#10;What are some new things I can do after attaining this goal?&#10;3. Next Steps (Orange Section)&#10;Prompts to Plan the Next Steps:&#10;&#10;What do I need to do to reach my goal?&#10;If I were to break my goal into pieces, what would those pieces be?&#10;What is one thing I can do today that gets me closer to my goal?&#10;4. People Who Can Support (Purple Section)&#10;Prompts to Identify Support Systems:&#10;&#10;Who are the people in my life who can help me reach my goal?&#10;Which step of my goal can each person help me with?&#10;Who will encourage me to reach this goal and check to be sure I made it?&#10;">
            <a:extLst>
              <a:ext uri="{FF2B5EF4-FFF2-40B4-BE49-F238E27FC236}">
                <a16:creationId xmlns:a16="http://schemas.microsoft.com/office/drawing/2014/main" id="{13B69244-5AFD-6858-643A-50F5E347A150}"/>
              </a:ext>
            </a:extLst>
          </p:cNvPr>
          <p:cNvPicPr>
            <a:picLocks noChangeAspect="1"/>
          </p:cNvPicPr>
          <p:nvPr/>
        </p:nvPicPr>
        <p:blipFill>
          <a:blip r:embed="rId3"/>
          <a:stretch>
            <a:fillRect/>
          </a:stretch>
        </p:blipFill>
        <p:spPr>
          <a:xfrm>
            <a:off x="551330" y="1669344"/>
            <a:ext cx="8041340" cy="2805632"/>
          </a:xfrm>
          <a:prstGeom prst="rect">
            <a:avLst/>
          </a:prstGeom>
        </p:spPr>
      </p:pic>
      <p:pic>
        <p:nvPicPr>
          <p:cNvPr id="6" name="Picture 5" descr="A qr code for the website https://tinyurl.com/Goalonepager">
            <a:extLst>
              <a:ext uri="{FF2B5EF4-FFF2-40B4-BE49-F238E27FC236}">
                <a16:creationId xmlns:a16="http://schemas.microsoft.com/office/drawing/2014/main" id="{17B44E19-97BD-2F7A-128C-30E35758EB1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557246" y="419242"/>
            <a:ext cx="1195293" cy="1195293"/>
          </a:xfrm>
          <a:prstGeom prst="rect">
            <a:avLst/>
          </a:prstGeom>
        </p:spPr>
      </p:pic>
      <p:sp>
        <p:nvSpPr>
          <p:cNvPr id="2" name="Google Shape;466;p65">
            <a:extLst>
              <a:ext uri="{FF2B5EF4-FFF2-40B4-BE49-F238E27FC236}">
                <a16:creationId xmlns:a16="http://schemas.microsoft.com/office/drawing/2014/main" id="{5846A843-9BC7-58C8-2BCA-BA5B2B63D0EE}"/>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a:latin typeface="+mj-lt"/>
                <a:ea typeface="Overpass Light"/>
                <a:cs typeface="Overpass Light"/>
                <a:sym typeface="Overpass Light"/>
              </a:rPr>
              <a:t>https://</a:t>
            </a:r>
            <a:r>
              <a:rPr lang="en-US" sz="2400" err="1">
                <a:latin typeface="+mj-lt"/>
                <a:ea typeface="Overpass Light"/>
                <a:cs typeface="Overpass Light"/>
                <a:sym typeface="Overpass Light"/>
              </a:rPr>
              <a:t>tinyurl.com</a:t>
            </a:r>
            <a:r>
              <a:rPr lang="en-US" sz="2400">
                <a:latin typeface="+mj-lt"/>
                <a:ea typeface="Overpass Light"/>
                <a:cs typeface="Overpass Light"/>
                <a:sym typeface="Overpass Light"/>
              </a:rPr>
              <a:t>/</a:t>
            </a:r>
            <a:r>
              <a:rPr lang="en-US" sz="2400" err="1">
                <a:latin typeface="+mj-lt"/>
                <a:ea typeface="Overpass Light"/>
                <a:cs typeface="Overpass Light"/>
                <a:sym typeface="Overpass Light"/>
              </a:rPr>
              <a:t>Goalonepager</a:t>
            </a:r>
            <a:endParaRPr lang="en-US" sz="2400">
              <a:latin typeface="+mj-lt"/>
              <a:ea typeface="Overpass Light"/>
              <a:cs typeface="Overpass Light"/>
              <a:sym typeface="Overpass Light"/>
            </a:endParaRPr>
          </a:p>
        </p:txBody>
      </p:sp>
    </p:spTree>
    <p:extLst>
      <p:ext uri="{BB962C8B-B14F-4D97-AF65-F5344CB8AC3E}">
        <p14:creationId xmlns:p14="http://schemas.microsoft.com/office/powerpoint/2010/main" val="2322973732"/>
      </p:ext>
    </p:extLst>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One-Pager Template and Implementation Guide</a:t>
            </a:r>
            <a:endParaRPr sz="4000" dirty="0">
              <a:latin typeface="Verdana Pro" panose="020B0604030504040204" pitchFamily="34" charset="0"/>
            </a:endParaRPr>
          </a:p>
        </p:txBody>
      </p:sp>
      <p:pic>
        <p:nvPicPr>
          <p:cNvPr id="8" name="Picture 7" descr="A screenshot for a one pager template and implementation guide for strengths, weaknesses, interests, and needs.">
            <a:extLst>
              <a:ext uri="{FF2B5EF4-FFF2-40B4-BE49-F238E27FC236}">
                <a16:creationId xmlns:a16="http://schemas.microsoft.com/office/drawing/2014/main" id="{AF5425E8-85D6-7125-8CED-F75905EA813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0489" y="1530836"/>
            <a:ext cx="4343400" cy="3352800"/>
          </a:xfrm>
          <a:prstGeom prst="rect">
            <a:avLst/>
          </a:prstGeom>
        </p:spPr>
      </p:pic>
      <p:pic>
        <p:nvPicPr>
          <p:cNvPr id="6" name="Picture 5" descr="A qr code for the website https://tinyurl.com/IDonepager">
            <a:extLst>
              <a:ext uri="{FF2B5EF4-FFF2-40B4-BE49-F238E27FC236}">
                <a16:creationId xmlns:a16="http://schemas.microsoft.com/office/drawing/2014/main" id="{5A674FDE-8A26-CB4E-EED5-E5631AB44CC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593976" y="1546784"/>
            <a:ext cx="2826871" cy="2826871"/>
          </a:xfrm>
          <a:prstGeom prst="rect">
            <a:avLst/>
          </a:prstGeom>
        </p:spPr>
      </p:pic>
      <p:sp>
        <p:nvSpPr>
          <p:cNvPr id="2" name="Google Shape;466;p65">
            <a:extLst>
              <a:ext uri="{FF2B5EF4-FFF2-40B4-BE49-F238E27FC236}">
                <a16:creationId xmlns:a16="http://schemas.microsoft.com/office/drawing/2014/main" id="{5846A843-9BC7-58C8-2BCA-BA5B2B63D0EE}"/>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dirty="0">
                <a:latin typeface="+mj-lt"/>
                <a:ea typeface="Overpass Light"/>
                <a:cs typeface="Overpass Light"/>
                <a:sym typeface="Overpass Light"/>
              </a:rPr>
              <a:t>https://tinyurl.com/IDonepager</a:t>
            </a:r>
          </a:p>
        </p:txBody>
      </p:sp>
    </p:spTree>
    <p:extLst>
      <p:ext uri="{BB962C8B-B14F-4D97-AF65-F5344CB8AC3E}">
        <p14:creationId xmlns:p14="http://schemas.microsoft.com/office/powerpoint/2010/main" val="3719207326"/>
      </p:ext>
    </p:extLst>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latin typeface="Verdana Pro" panose="020B0604030504040204" pitchFamily="34" charset="0"/>
              </a:rPr>
              <a:t>I’m Determined One-Pager APP</a:t>
            </a:r>
            <a:endParaRPr sz="3600" dirty="0">
              <a:latin typeface="Verdana Pro" panose="020B0604030504040204" pitchFamily="34" charset="0"/>
            </a:endParaRPr>
          </a:p>
        </p:txBody>
      </p:sp>
      <p:pic>
        <p:nvPicPr>
          <p:cNvPr id="8" name="Picture 7" descr="A screenshot for the I'm Determined one pager app/assessment. There is a box to click and upload your own photo, enter your name, and then get started. ">
            <a:extLst>
              <a:ext uri="{FF2B5EF4-FFF2-40B4-BE49-F238E27FC236}">
                <a16:creationId xmlns:a16="http://schemas.microsoft.com/office/drawing/2014/main" id="{2B5DBF55-074B-BE24-9525-C6AF0E5246B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00368" y="1108399"/>
            <a:ext cx="5662607" cy="3501465"/>
          </a:xfrm>
          <a:prstGeom prst="rect">
            <a:avLst/>
          </a:prstGeom>
        </p:spPr>
      </p:pic>
      <p:pic>
        <p:nvPicPr>
          <p:cNvPr id="5" name="Picture 4" descr="A qr code for the website https://tinyurl.com/OPappID">
            <a:extLst>
              <a:ext uri="{FF2B5EF4-FFF2-40B4-BE49-F238E27FC236}">
                <a16:creationId xmlns:a16="http://schemas.microsoft.com/office/drawing/2014/main" id="{F04241D6-D108-C711-688A-440A2D5D8E4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155764" y="2049551"/>
            <a:ext cx="2032000" cy="2032000"/>
          </a:xfrm>
          <a:prstGeom prst="rect">
            <a:avLst/>
          </a:prstGeom>
        </p:spPr>
      </p:pic>
      <p:sp>
        <p:nvSpPr>
          <p:cNvPr id="2" name="Google Shape;466;p65">
            <a:extLst>
              <a:ext uri="{FF2B5EF4-FFF2-40B4-BE49-F238E27FC236}">
                <a16:creationId xmlns:a16="http://schemas.microsoft.com/office/drawing/2014/main" id="{7289CD15-5FD5-BA90-759E-96540AA41721}"/>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dirty="0">
                <a:latin typeface="+mj-lt"/>
                <a:ea typeface="Overpass Light"/>
                <a:cs typeface="Overpass Light"/>
                <a:sym typeface="Overpass Light"/>
              </a:rPr>
              <a:t>https://tinyurl.com/OPappID</a:t>
            </a:r>
          </a:p>
        </p:txBody>
      </p:sp>
    </p:spTree>
    <p:extLst>
      <p:ext uri="{BB962C8B-B14F-4D97-AF65-F5344CB8AC3E}">
        <p14:creationId xmlns:p14="http://schemas.microsoft.com/office/powerpoint/2010/main" val="1512425471"/>
      </p:ext>
    </p:extLst>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74978" y="181521"/>
            <a:ext cx="8918222" cy="707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latin typeface="Verdana Pro" panose="020B0604030504040204" pitchFamily="34" charset="0"/>
              </a:rPr>
              <a:t>I’m Determined One-Pager APP example screenshot</a:t>
            </a:r>
            <a:endParaRPr sz="2800" dirty="0">
              <a:latin typeface="Verdana Pro" panose="020B0604030504040204" pitchFamily="34" charset="0"/>
            </a:endParaRPr>
          </a:p>
        </p:txBody>
      </p:sp>
      <p:pic>
        <p:nvPicPr>
          <p:cNvPr id="4" name="Picture 3" descr="A screenshot of a strengths, needs, preferences, and interests chart. Top Left Quadrant: Strengths&#10;Math: Represented by an icon of a math equation (2x5=10) on a chalkboard.&#10;Immediate Family: Illustrated by an image of a family.&#10;TV, Tech, Video Games: Shown with an icon of a television and video game controller.&#10;Top Right Quadrant: Interests&#10;Food: Represented by an image of food items like fruits and vegetables.&#10;Sleeping: Illustrated by an icon of a person sleeping.&#10;Creativity: Shown with an image of a person with colorful creative ideas emanating from their head.&#10;Public Servant: Depicted with an image of a police officer, firefighter, and other uniformed personnel.&#10;Bottom Left Quadrant: Preferences&#10;Steps: Represented by an icon showing a checklist of steps (Step 1, Step 2, etc.).&#10;Snacks at Home: Illustrated by an image of snacks.&#10;Individual Learning: Depicted with an icon of a person studying alone with books.&#10;Bottom Right Quadrant: Needs&#10;Take a Break: Shown with an image of a person sitting and relaxing.&#10;Fidget Stress Ball: Represented by an icon of a hand squeezing a stress ball.&#10;More Time in the Morning: Illustrated with an icon of a person checking the time.">
            <a:extLst>
              <a:ext uri="{FF2B5EF4-FFF2-40B4-BE49-F238E27FC236}">
                <a16:creationId xmlns:a16="http://schemas.microsoft.com/office/drawing/2014/main" id="{78AE4BB9-9D93-E822-CE2B-4DF12AB7E971}"/>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2170953" y="1083733"/>
            <a:ext cx="4658825" cy="3985285"/>
          </a:xfrm>
          <a:prstGeom prst="rect">
            <a:avLst/>
          </a:prstGeom>
        </p:spPr>
      </p:pic>
    </p:spTree>
    <p:extLst>
      <p:ext uri="{BB962C8B-B14F-4D97-AF65-F5344CB8AC3E}">
        <p14:creationId xmlns:p14="http://schemas.microsoft.com/office/powerpoint/2010/main" val="370508895"/>
      </p:ext>
    </p:extLst>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71"/>
          <p:cNvSpPr txBox="1">
            <a:spLocks noGrp="1"/>
          </p:cNvSpPr>
          <p:nvPr>
            <p:ph type="subTitle" idx="1"/>
          </p:nvPr>
        </p:nvSpPr>
        <p:spPr>
          <a:xfrm>
            <a:off x="104202" y="2038060"/>
            <a:ext cx="8935596" cy="298899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latin typeface="+mj-lt"/>
              </a:rPr>
              <a:t>You have 10 minutes to go make your own SPIN one-pager.</a:t>
            </a:r>
          </a:p>
          <a:p>
            <a:pPr marL="0" lvl="0" indent="0" algn="ctr" rtl="0">
              <a:spcBef>
                <a:spcPts val="0"/>
              </a:spcBef>
              <a:spcAft>
                <a:spcPts val="0"/>
              </a:spcAft>
              <a:buNone/>
            </a:pPr>
            <a:r>
              <a:rPr lang="en-US" sz="2400" dirty="0">
                <a:latin typeface="+mj-lt"/>
              </a:rPr>
              <a:t> </a:t>
            </a:r>
          </a:p>
          <a:p>
            <a:pPr marL="0" lvl="0" indent="0" algn="ctr" rtl="0">
              <a:spcBef>
                <a:spcPts val="0"/>
              </a:spcBef>
              <a:spcAft>
                <a:spcPts val="0"/>
              </a:spcAft>
              <a:buNone/>
            </a:pPr>
            <a:r>
              <a:rPr lang="en-US" sz="2400" dirty="0">
                <a:latin typeface="+mj-lt"/>
              </a:rPr>
              <a:t>When done, submit your one-pager using the link at the bottom of page 5 on your module notes. </a:t>
            </a:r>
          </a:p>
        </p:txBody>
      </p:sp>
      <p:sp>
        <p:nvSpPr>
          <p:cNvPr id="2" name="Google Shape;466;p65">
            <a:extLst>
              <a:ext uri="{FF2B5EF4-FFF2-40B4-BE49-F238E27FC236}">
                <a16:creationId xmlns:a16="http://schemas.microsoft.com/office/drawing/2014/main" id="{D9319A4E-B357-11D2-49A1-E204E77FFDF3}"/>
              </a:ext>
            </a:extLst>
          </p:cNvPr>
          <p:cNvSpPr txBox="1">
            <a:spLocks/>
          </p:cNvSpPr>
          <p:nvPr/>
        </p:nvSpPr>
        <p:spPr>
          <a:xfrm>
            <a:off x="5068429" y="0"/>
            <a:ext cx="3841374" cy="5249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dirty="0">
                <a:latin typeface="+mj-lt"/>
                <a:ea typeface="Overpass Light"/>
                <a:cs typeface="Overpass Light"/>
                <a:sym typeface="Overpass Light"/>
              </a:rPr>
              <a:t>https://tinyurl.com/OPappID</a:t>
            </a:r>
          </a:p>
        </p:txBody>
      </p:sp>
      <p:pic>
        <p:nvPicPr>
          <p:cNvPr id="3" name="Picture 2" descr="A qr code for the website https://tinyurl.com/OPappID">
            <a:extLst>
              <a:ext uri="{FF2B5EF4-FFF2-40B4-BE49-F238E27FC236}">
                <a16:creationId xmlns:a16="http://schemas.microsoft.com/office/drawing/2014/main" id="{0C06DFC5-741F-7632-6E66-DE91412B4B26}"/>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280373" y="591293"/>
            <a:ext cx="1840751" cy="1840751"/>
          </a:xfrm>
          <a:prstGeom prst="rect">
            <a:avLst/>
          </a:prstGeom>
        </p:spPr>
      </p:pic>
      <p:pic>
        <p:nvPicPr>
          <p:cNvPr id="5" name="Video 4" descr="3D Person Working In A Home Office-v">
            <a:hlinkClick r:id="" action="ppaction://media"/>
            <a:extLst>
              <a:ext uri="{FF2B5EF4-FFF2-40B4-BE49-F238E27FC236}">
                <a16:creationId xmlns:a16="http://schemas.microsoft.com/office/drawing/2014/main" id="{1A589EBD-4148-69E7-794B-2FE79AB6FFA4}"/>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382571" y="38571"/>
            <a:ext cx="4408942" cy="2480030"/>
          </a:xfrm>
          <a:prstGeom prst="rect">
            <a:avLst/>
          </a:prstGeom>
        </p:spPr>
      </p:pic>
      <p:sp>
        <p:nvSpPr>
          <p:cNvPr id="7" name="Title 6">
            <a:extLst>
              <a:ext uri="{FF2B5EF4-FFF2-40B4-BE49-F238E27FC236}">
                <a16:creationId xmlns:a16="http://schemas.microsoft.com/office/drawing/2014/main" id="{80167FAE-BC0D-1399-7117-BB6657F929D0}"/>
              </a:ext>
            </a:extLst>
          </p:cNvPr>
          <p:cNvSpPr>
            <a:spLocks noGrp="1"/>
          </p:cNvSpPr>
          <p:nvPr>
            <p:ph type="title"/>
          </p:nvPr>
        </p:nvSpPr>
        <p:spPr>
          <a:xfrm>
            <a:off x="713225" y="-572700"/>
            <a:ext cx="3834000" cy="572700"/>
          </a:xfrm>
        </p:spPr>
        <p:txBody>
          <a:bodyPr spcFirstLastPara="1" vert="horz" wrap="square" lIns="91425" tIns="91425" rIns="91425" bIns="91425" rtlCol="0" anchor="b" anchorCtr="0">
            <a:noAutofit/>
          </a:bodyPr>
          <a:lstStyle/>
          <a:p>
            <a:r>
              <a:rPr lang="en-US" dirty="0">
                <a:solidFill>
                  <a:schemeClr val="accent6"/>
                </a:solidFill>
              </a:rPr>
              <a:t>One-Pager Break</a:t>
            </a:r>
          </a:p>
        </p:txBody>
      </p:sp>
    </p:spTree>
    <p:extLst>
      <p:ext uri="{BB962C8B-B14F-4D97-AF65-F5344CB8AC3E}">
        <p14:creationId xmlns:p14="http://schemas.microsoft.com/office/powerpoint/2010/main" val="3786378620"/>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11" fill="hold"/>
                                        <p:tgtEl>
                                          <p:spTgt spid="5"/>
                                        </p:tgtEl>
                                      </p:cBhvr>
                                    </p:cmd>
                                  </p:childTnLst>
                                </p:cTn>
                              </p:par>
                              <p:par>
                                <p:cTn id="7" presetID="10" presetClass="entr" presetSubtype="0" fill="hold" nodeType="withEffect">
                                  <p:stCondLst>
                                    <p:cond delay="0"/>
                                  </p:stCondLst>
                                  <p:childTnLst>
                                    <p:set>
                                      <p:cBhvr>
                                        <p:cTn id="8" dur="1" fill="hold">
                                          <p:stCondLst>
                                            <p:cond delay="0"/>
                                          </p:stCondLst>
                                        </p:cTn>
                                        <p:tgtEl>
                                          <p:spTgt spid="539"/>
                                        </p:tgtEl>
                                        <p:attrNameLst>
                                          <p:attrName>style.visibility</p:attrName>
                                        </p:attrNameLst>
                                      </p:cBhvr>
                                      <p:to>
                                        <p:strVal val="visible"/>
                                      </p:to>
                                    </p:set>
                                    <p:animEffect transition="in" filter="fade">
                                      <p:cBhvr>
                                        <p:cTn id="9" dur="1000"/>
                                        <p:tgtEl>
                                          <p:spTgt spid="539"/>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10" repeatCount="indefinite" fill="hold" display="0">
                  <p:stCondLst>
                    <p:cond delay="indefinite"/>
                  </p:stCondLst>
                </p:cTn>
                <p:tgtEl>
                  <p:spTgt spid="5"/>
                </p:tgtEl>
              </p:cMediaNode>
            </p:video>
            <p:seq concurrent="1" nextAc="seek">
              <p:cTn id="11" restart="whenNotActive" fill="hold" evtFilter="cancelBubble" nodeType="interactiveSeq">
                <p:stCondLst>
                  <p:cond evt="onClick" delay="0">
                    <p:tgtEl>
                      <p:spTgt spid="5"/>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72" name="Text Placeholder 3">
            <a:extLst>
              <a:ext uri="{FF2B5EF4-FFF2-40B4-BE49-F238E27FC236}">
                <a16:creationId xmlns:a16="http://schemas.microsoft.com/office/drawing/2014/main" id="{FA66C3C9-0EDE-23B0-CDA2-EF34839530DD}"/>
              </a:ext>
            </a:extLst>
          </p:cNvPr>
          <p:cNvSpPr>
            <a:spLocks noGrp="1"/>
          </p:cNvSpPr>
          <p:nvPr>
            <p:ph type="title" idx="4294967295"/>
          </p:nvPr>
        </p:nvSpPr>
        <p:spPr>
          <a:xfrm>
            <a:off x="512763" y="1041400"/>
            <a:ext cx="2949575" cy="285908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4000" b="0" i="0" u="none" strike="noStrike" kern="1200" cap="none" spc="0" normalizeH="0" baseline="0" noProof="0" dirty="0">
                <a:ln>
                  <a:noFill/>
                </a:ln>
                <a:solidFill>
                  <a:schemeClr val="accent6"/>
                </a:solidFill>
                <a:effectLst/>
                <a:uLnTx/>
                <a:uFillTx/>
                <a:latin typeface="Atkinson Hyperlegible Next" pitchFamily="50" charset="0"/>
                <a:ea typeface="+mn-ea"/>
                <a:cs typeface="+mn-cs"/>
              </a:rPr>
              <a:t>IEP Scripts &amp; PowerPoints</a:t>
            </a:r>
          </a:p>
        </p:txBody>
      </p:sp>
      <p:graphicFrame>
        <p:nvGraphicFramePr>
          <p:cNvPr id="468" name="Google Shape;466;p65" descr="IEPs are individualized templates and scripts and be used as a starting point&#10;Customising scripts and presentations can be used to highlight individual goas and SPIN">
            <a:extLst>
              <a:ext uri="{FF2B5EF4-FFF2-40B4-BE49-F238E27FC236}">
                <a16:creationId xmlns:a16="http://schemas.microsoft.com/office/drawing/2014/main" id="{889BA548-B7F4-7017-A0C8-25D1927120C4}"/>
              </a:ext>
            </a:extLst>
          </p:cNvPr>
          <p:cNvGraphicFramePr/>
          <p:nvPr>
            <p:extLst>
              <p:ext uri="{D42A27DB-BD31-4B8C-83A1-F6EECF244321}">
                <p14:modId xmlns:p14="http://schemas.microsoft.com/office/powerpoint/2010/main" val="1978263384"/>
              </p:ext>
            </p:extLst>
          </p:nvPr>
        </p:nvGraphicFramePr>
        <p:xfrm>
          <a:off x="3887391" y="740569"/>
          <a:ext cx="4629150" cy="3655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43947373"/>
      </p:ext>
    </p:extLst>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I’m Determined PowerPoint IEP Template-Preschool</a:t>
            </a:r>
            <a:endParaRPr sz="4000" dirty="0">
              <a:latin typeface="Verdana Pro" panose="020B0604030504040204" pitchFamily="34" charset="0"/>
            </a:endParaRPr>
          </a:p>
        </p:txBody>
      </p:sp>
      <p:pic>
        <p:nvPicPr>
          <p:cNvPr id="8" name="Picture 7" descr="A screenshot of the I'm Determined PPT Template slide for Preschool. Slide is the All About Me... section with a space for birthday, address, I am a (boy or girl), and I am (years old)">
            <a:extLst>
              <a:ext uri="{FF2B5EF4-FFF2-40B4-BE49-F238E27FC236}">
                <a16:creationId xmlns:a16="http://schemas.microsoft.com/office/drawing/2014/main" id="{D0B7D9BA-288C-9882-943F-DEB8E3E875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66506" y="1475062"/>
            <a:ext cx="4587483" cy="3054724"/>
          </a:xfrm>
          <a:prstGeom prst="rect">
            <a:avLst/>
          </a:prstGeom>
        </p:spPr>
      </p:pic>
      <p:pic>
        <p:nvPicPr>
          <p:cNvPr id="6" name="Picture 5" descr="A qr code for the website https://tinyurl.com/IDpreschool">
            <a:extLst>
              <a:ext uri="{FF2B5EF4-FFF2-40B4-BE49-F238E27FC236}">
                <a16:creationId xmlns:a16="http://schemas.microsoft.com/office/drawing/2014/main" id="{661771A9-B663-1008-E096-E1E6A1F270D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701553" y="1559480"/>
            <a:ext cx="2970306" cy="2970306"/>
          </a:xfrm>
          <a:prstGeom prst="rect">
            <a:avLst/>
          </a:prstGeom>
        </p:spPr>
      </p:pic>
      <p:sp>
        <p:nvSpPr>
          <p:cNvPr id="2" name="Google Shape;466;p65">
            <a:extLst>
              <a:ext uri="{FF2B5EF4-FFF2-40B4-BE49-F238E27FC236}">
                <a16:creationId xmlns:a16="http://schemas.microsoft.com/office/drawing/2014/main" id="{AAECB7D7-25EF-5EE7-A8BC-6BA3061C802C}"/>
              </a:ext>
            </a:extLst>
          </p:cNvPr>
          <p:cNvSpPr txBox="1">
            <a:spLocks/>
          </p:cNvSpPr>
          <p:nvPr/>
        </p:nvSpPr>
        <p:spPr>
          <a:xfrm>
            <a:off x="566506" y="4554433"/>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a:latin typeface="+mj-lt"/>
                <a:ea typeface="Overpass Light"/>
                <a:cs typeface="Overpass Light"/>
                <a:sym typeface="Overpass Light"/>
              </a:rPr>
              <a:t>https://</a:t>
            </a:r>
            <a:r>
              <a:rPr lang="en-US" sz="2400" err="1">
                <a:latin typeface="+mj-lt"/>
                <a:ea typeface="Overpass Light"/>
                <a:cs typeface="Overpass Light"/>
                <a:sym typeface="Overpass Light"/>
              </a:rPr>
              <a:t>tinyurl.com</a:t>
            </a:r>
            <a:r>
              <a:rPr lang="en-US" sz="2400">
                <a:latin typeface="+mj-lt"/>
                <a:ea typeface="Overpass Light"/>
                <a:cs typeface="Overpass Light"/>
                <a:sym typeface="Overpass Light"/>
              </a:rPr>
              <a:t>/</a:t>
            </a:r>
            <a:r>
              <a:rPr lang="en-US" sz="2400" err="1">
                <a:latin typeface="+mj-lt"/>
                <a:ea typeface="Overpass Light"/>
                <a:cs typeface="Overpass Light"/>
                <a:sym typeface="Overpass Light"/>
              </a:rPr>
              <a:t>IDpreschool</a:t>
            </a:r>
            <a:endParaRPr lang="en-US" sz="2400">
              <a:latin typeface="+mj-lt"/>
              <a:ea typeface="Overpass Light"/>
              <a:cs typeface="Overpass Light"/>
              <a:sym typeface="Overpass Light"/>
            </a:endParaRPr>
          </a:p>
        </p:txBody>
      </p:sp>
    </p:spTree>
    <p:extLst>
      <p:ext uri="{BB962C8B-B14F-4D97-AF65-F5344CB8AC3E}">
        <p14:creationId xmlns:p14="http://schemas.microsoft.com/office/powerpoint/2010/main" val="1070566814"/>
      </p:ext>
    </p:extLst>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I’m Determined PowerPoint IEP Template-Elementary</a:t>
            </a:r>
            <a:endParaRPr sz="4000" dirty="0">
              <a:latin typeface="Verdana Pro" panose="020B0604030504040204" pitchFamily="34" charset="0"/>
            </a:endParaRPr>
          </a:p>
        </p:txBody>
      </p:sp>
      <p:pic>
        <p:nvPicPr>
          <p:cNvPr id="7" name="Picture 6" descr="A screenshot of the I'm Determined PPT Template slide for Elementary. Slide is the All About Me... section with a space for family, friends, teachers, classmates, and my pet">
            <a:extLst>
              <a:ext uri="{FF2B5EF4-FFF2-40B4-BE49-F238E27FC236}">
                <a16:creationId xmlns:a16="http://schemas.microsoft.com/office/drawing/2014/main" id="{F4851E39-51E7-1BCC-1B4C-EC5F1960C49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1485" y="1496727"/>
            <a:ext cx="4447933" cy="3383177"/>
          </a:xfrm>
          <a:prstGeom prst="rect">
            <a:avLst/>
          </a:prstGeom>
        </p:spPr>
      </p:pic>
      <p:pic>
        <p:nvPicPr>
          <p:cNvPr id="4" name="Picture 3" descr="A qr code for the website https://tinyurl.com/IDelement">
            <a:extLst>
              <a:ext uri="{FF2B5EF4-FFF2-40B4-BE49-F238E27FC236}">
                <a16:creationId xmlns:a16="http://schemas.microsoft.com/office/drawing/2014/main" id="{4AA75370-6665-4ADD-82B9-3FF2AF78ACBA}"/>
              </a:ext>
            </a:extLst>
          </p:cNvPr>
          <p:cNvPicPr>
            <a:picLocks noChangeAspect="1"/>
          </p:cNvPicPr>
          <p:nvPr/>
        </p:nvPicPr>
        <p:blipFill>
          <a:blip r:embed="rId4"/>
          <a:stretch>
            <a:fillRect/>
          </a:stretch>
        </p:blipFill>
        <p:spPr>
          <a:xfrm>
            <a:off x="5280211" y="1496727"/>
            <a:ext cx="3050989" cy="3050989"/>
          </a:xfrm>
          <a:prstGeom prst="rect">
            <a:avLst/>
          </a:prstGeom>
        </p:spPr>
      </p:pic>
      <p:sp>
        <p:nvSpPr>
          <p:cNvPr id="2" name="Google Shape;466;p65">
            <a:extLst>
              <a:ext uri="{FF2B5EF4-FFF2-40B4-BE49-F238E27FC236}">
                <a16:creationId xmlns:a16="http://schemas.microsoft.com/office/drawing/2014/main" id="{AAECB7D7-25EF-5EE7-A8BC-6BA3061C802C}"/>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dirty="0">
                <a:latin typeface="+mj-lt"/>
                <a:ea typeface="Overpass Light"/>
                <a:cs typeface="Overpass Light"/>
                <a:sym typeface="Overpass Light"/>
              </a:rPr>
              <a:t>https://tinyurl.com/IDelement</a:t>
            </a:r>
          </a:p>
        </p:txBody>
      </p:sp>
    </p:spTree>
    <p:extLst>
      <p:ext uri="{BB962C8B-B14F-4D97-AF65-F5344CB8AC3E}">
        <p14:creationId xmlns:p14="http://schemas.microsoft.com/office/powerpoint/2010/main" val="4166234441"/>
      </p:ext>
    </p:extLst>
  </p:cSld>
  <p:clrMapOvr>
    <a:masterClrMapping/>
  </p:clrMapOvr>
  <p:transition spd="slow">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I’m Determined PowerPoint IEP Template-Secondary</a:t>
            </a:r>
            <a:endParaRPr sz="4000" dirty="0">
              <a:latin typeface="Verdana Pro" panose="020B0604030504040204" pitchFamily="34" charset="0"/>
            </a:endParaRPr>
          </a:p>
        </p:txBody>
      </p:sp>
      <p:pic>
        <p:nvPicPr>
          <p:cNvPr id="6" name="Picture 5" descr="A screenshot of the I'm Determined PPT Template slide for secondary. Slide is my disability is called...This means...">
            <a:extLst>
              <a:ext uri="{FF2B5EF4-FFF2-40B4-BE49-F238E27FC236}">
                <a16:creationId xmlns:a16="http://schemas.microsoft.com/office/drawing/2014/main" id="{B94E43DD-864E-EF70-98B2-74D3A2521BA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12377" y="1864660"/>
            <a:ext cx="4573952" cy="2533740"/>
          </a:xfrm>
          <a:prstGeom prst="rect">
            <a:avLst/>
          </a:prstGeom>
        </p:spPr>
      </p:pic>
      <p:pic>
        <p:nvPicPr>
          <p:cNvPr id="5" name="Picture 4" descr="A qr code for the website https://tinyurl.com/IDsecondary">
            <a:extLst>
              <a:ext uri="{FF2B5EF4-FFF2-40B4-BE49-F238E27FC236}">
                <a16:creationId xmlns:a16="http://schemas.microsoft.com/office/drawing/2014/main" id="{677FDDA2-B488-AC6E-6987-C286BBD08D1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271246" y="1604304"/>
            <a:ext cx="2925482" cy="2925482"/>
          </a:xfrm>
          <a:prstGeom prst="rect">
            <a:avLst/>
          </a:prstGeom>
        </p:spPr>
      </p:pic>
      <p:sp>
        <p:nvSpPr>
          <p:cNvPr id="2" name="Google Shape;466;p65">
            <a:extLst>
              <a:ext uri="{FF2B5EF4-FFF2-40B4-BE49-F238E27FC236}">
                <a16:creationId xmlns:a16="http://schemas.microsoft.com/office/drawing/2014/main" id="{AAECB7D7-25EF-5EE7-A8BC-6BA3061C802C}"/>
              </a:ext>
            </a:extLst>
          </p:cNvPr>
          <p:cNvSpPr txBox="1">
            <a:spLocks/>
          </p:cNvSpPr>
          <p:nvPr/>
        </p:nvSpPr>
        <p:spPr>
          <a:xfrm>
            <a:off x="543929"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a:latin typeface="+mj-lt"/>
                <a:ea typeface="Overpass Light"/>
                <a:cs typeface="Overpass Light"/>
                <a:sym typeface="Overpass Light"/>
              </a:rPr>
              <a:t>https://</a:t>
            </a:r>
            <a:r>
              <a:rPr lang="en-US" sz="2400" err="1">
                <a:latin typeface="+mj-lt"/>
                <a:ea typeface="Overpass Light"/>
                <a:cs typeface="Overpass Light"/>
                <a:sym typeface="Overpass Light"/>
              </a:rPr>
              <a:t>tinyurl.com</a:t>
            </a:r>
            <a:r>
              <a:rPr lang="en-US" sz="2400">
                <a:latin typeface="+mj-lt"/>
                <a:ea typeface="Overpass Light"/>
                <a:cs typeface="Overpass Light"/>
                <a:sym typeface="Overpass Light"/>
              </a:rPr>
              <a:t>/</a:t>
            </a:r>
            <a:r>
              <a:rPr lang="en-US" sz="2400" err="1">
                <a:latin typeface="+mj-lt"/>
                <a:ea typeface="Overpass Light"/>
                <a:cs typeface="Overpass Light"/>
                <a:sym typeface="Overpass Light"/>
              </a:rPr>
              <a:t>IDsecondary</a:t>
            </a:r>
            <a:endParaRPr lang="en-US" sz="2400">
              <a:latin typeface="+mj-lt"/>
              <a:ea typeface="Overpass Light"/>
              <a:cs typeface="Overpass Light"/>
              <a:sym typeface="Overpass Light"/>
            </a:endParaRPr>
          </a:p>
        </p:txBody>
      </p:sp>
    </p:spTree>
    <p:extLst>
      <p:ext uri="{BB962C8B-B14F-4D97-AF65-F5344CB8AC3E}">
        <p14:creationId xmlns:p14="http://schemas.microsoft.com/office/powerpoint/2010/main" val="4284152911"/>
      </p:ext>
    </p:extLst>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Student-Led IEP Lesson &amp; Activity </a:t>
            </a:r>
            <a:r>
              <a:rPr lang="en" sz="2400" dirty="0">
                <a:latin typeface="Verdana Pro" panose="020B0604030504040204" pitchFamily="34" charset="0"/>
              </a:rPr>
              <a:t>(Pratt &amp; Driffill, 2020)</a:t>
            </a:r>
            <a:endParaRPr sz="4000" dirty="0">
              <a:latin typeface="Verdana Pro" panose="020B0604030504040204" pitchFamily="34" charset="0"/>
            </a:endParaRPr>
          </a:p>
        </p:txBody>
      </p:sp>
      <p:pic>
        <p:nvPicPr>
          <p:cNvPr id="6" name="Picture 5" descr="A screenshot of the student led IEP lesson plan cover. Resource Overview:&#10;Title: Student Led IEP and Lesson Plan&#10;Subject: Specialty, Other (Specialty)&#10;Grade Levels: Not Grade Specific&#10;Resource Type: Activities&#10;Format: PDF (1 MB)&#10;Main Image:&#10;The main image in the center of the screen shows a placeholder text:&#10;&quot;Welcome to ____'s IEP Meeting Month/Date/Year&quot;&#10;This placeholder is likely intended for customization, allowing the specific student's name and the date of the IEP meeting to be inserted.&#10;Additional Information:&#10;The image is part of a larger resource package, with smaller thumbnails shown below the main image, indicating additional pages or materials included in the PDF.">
            <a:extLst>
              <a:ext uri="{FF2B5EF4-FFF2-40B4-BE49-F238E27FC236}">
                <a16:creationId xmlns:a16="http://schemas.microsoft.com/office/drawing/2014/main" id="{6A69FB49-6DDF-55E3-D98D-D153DF423C3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65118" y="1552340"/>
            <a:ext cx="4220647" cy="3331296"/>
          </a:xfrm>
          <a:prstGeom prst="rect">
            <a:avLst/>
          </a:prstGeom>
        </p:spPr>
      </p:pic>
      <p:pic>
        <p:nvPicPr>
          <p:cNvPr id="8" name="Picture 7" descr="A qr code for the website https://tinyurl.com/ZCiepTPT">
            <a:extLst>
              <a:ext uri="{FF2B5EF4-FFF2-40B4-BE49-F238E27FC236}">
                <a16:creationId xmlns:a16="http://schemas.microsoft.com/office/drawing/2014/main" id="{62968CD0-B9C6-CD12-EAE4-7F0E014A197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8471" y="1524043"/>
            <a:ext cx="3109023" cy="3074478"/>
          </a:xfrm>
          <a:prstGeom prst="rect">
            <a:avLst/>
          </a:prstGeom>
        </p:spPr>
      </p:pic>
      <p:sp>
        <p:nvSpPr>
          <p:cNvPr id="4" name="Google Shape;466;p65">
            <a:extLst>
              <a:ext uri="{FF2B5EF4-FFF2-40B4-BE49-F238E27FC236}">
                <a16:creationId xmlns:a16="http://schemas.microsoft.com/office/drawing/2014/main" id="{0F02E830-A632-DCE4-0339-F6921E0359D9}"/>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a:latin typeface="+mj-lt"/>
                <a:ea typeface="Overpass Light"/>
                <a:cs typeface="Overpass Light"/>
                <a:sym typeface="Overpass Light"/>
              </a:rPr>
              <a:t>https://</a:t>
            </a:r>
            <a:r>
              <a:rPr lang="en-US" sz="2400" err="1">
                <a:latin typeface="+mj-lt"/>
                <a:ea typeface="Overpass Light"/>
                <a:cs typeface="Overpass Light"/>
                <a:sym typeface="Overpass Light"/>
              </a:rPr>
              <a:t>tinyurl.com</a:t>
            </a:r>
            <a:r>
              <a:rPr lang="en-US" sz="2400">
                <a:latin typeface="+mj-lt"/>
                <a:ea typeface="Overpass Light"/>
                <a:cs typeface="Overpass Light"/>
                <a:sym typeface="Overpass Light"/>
              </a:rPr>
              <a:t>/</a:t>
            </a:r>
            <a:r>
              <a:rPr lang="en-US" sz="2400" err="1">
                <a:latin typeface="+mj-lt"/>
                <a:ea typeface="Overpass Light"/>
                <a:cs typeface="Overpass Light"/>
                <a:sym typeface="Overpass Light"/>
              </a:rPr>
              <a:t>ZCiepTPT</a:t>
            </a:r>
            <a:endParaRPr lang="en-US" sz="2400">
              <a:latin typeface="+mj-lt"/>
              <a:ea typeface="Overpass Light"/>
              <a:cs typeface="Overpass Light"/>
              <a:sym typeface="Overpass Light"/>
            </a:endParaRPr>
          </a:p>
        </p:txBody>
      </p:sp>
    </p:spTree>
    <p:extLst>
      <p:ext uri="{BB962C8B-B14F-4D97-AF65-F5344CB8AC3E}">
        <p14:creationId xmlns:p14="http://schemas.microsoft.com/office/powerpoint/2010/main" val="3715428382"/>
      </p:ext>
    </p:extLst>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Rubric for IEP Participation</a:t>
            </a:r>
            <a:endParaRPr sz="4000" dirty="0">
              <a:latin typeface="Verdana Pro" panose="020B0604030504040204" pitchFamily="34" charset="0"/>
            </a:endParaRPr>
          </a:p>
        </p:txBody>
      </p:sp>
      <p:pic>
        <p:nvPicPr>
          <p:cNvPr id="6" name="Picture 5" descr="A close-up of a chart for a rubric for IEP participation. Areas and Levels:&#10;IEP Awareness&#10;&#10;Level 1: &quot;I don’t know what IEP stands for.&quot;&#10;Level 2: &quot;I know what IEP stands for.&quot;&#10;Level 3: &quot;I know what IEP stands for and the purpose of an IEP meeting.&quot;&#10;Level 4: &quot;I know what IEP stands for, the purpose of an IEP meeting, and I can tell others about these meetings.&quot;&#10;IEP Participation&#10;&#10;Level 1: &quot;I don’t participate or attend my IEP meeting.&quot;&#10;Level 2: &quot;I attend a pre-conference IEP meeting and/or my IEP meeting, but I don’t participate.&quot;&#10;Level 3: &quot;I attend and contribute information about myself for my IEP in a pre-conference or at the actual IEP meeting.&quot;&#10;Level 4: &quot;I lead parts or my entire IEP meeting.&quot;&#10;Knowledge of IEP Content&#10;&#10;Level 1: &quot;I don’t know what is in my IEP.&quot;&#10;Level 2: &quot;I know that I have accommodations and goals in my IEP, but I don’t know what they are nor do I have a voice in developing them.&quot;&#10;Level 3: &quot;I can name the accommodations and goals in my IEP, and I have a voice in developing them.&quot;&#10;Level 4: &quot;I can name the accommodations and goals in my IEP, have a voice in developing them, and advocate for them.&quot;&#10;&#10;">
            <a:extLst>
              <a:ext uri="{FF2B5EF4-FFF2-40B4-BE49-F238E27FC236}">
                <a16:creationId xmlns:a16="http://schemas.microsoft.com/office/drawing/2014/main" id="{2FE5FFF5-641E-057C-1304-5926338B147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43330" y="841213"/>
            <a:ext cx="6286781" cy="3461074"/>
          </a:xfrm>
          <a:prstGeom prst="rect">
            <a:avLst/>
          </a:prstGeom>
        </p:spPr>
      </p:pic>
      <p:pic>
        <p:nvPicPr>
          <p:cNvPr id="3" name="Picture 2" descr="A qr code with black squares for Rubric for IEP Participation https://tinyurl.com/IEPparticipationR​">
            <a:extLst>
              <a:ext uri="{FF2B5EF4-FFF2-40B4-BE49-F238E27FC236}">
                <a16:creationId xmlns:a16="http://schemas.microsoft.com/office/drawing/2014/main" id="{4B0AFE4C-8015-4CD3-96C2-B39F8305200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633936" y="954621"/>
            <a:ext cx="2206766" cy="2206766"/>
          </a:xfrm>
          <a:prstGeom prst="rect">
            <a:avLst/>
          </a:prstGeom>
        </p:spPr>
      </p:pic>
      <p:sp>
        <p:nvSpPr>
          <p:cNvPr id="2" name="Google Shape;466;p65">
            <a:extLst>
              <a:ext uri="{FF2B5EF4-FFF2-40B4-BE49-F238E27FC236}">
                <a16:creationId xmlns:a16="http://schemas.microsoft.com/office/drawing/2014/main" id="{E3D93A75-5E7D-76A8-71C0-CF7C6DCF5B30}"/>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r>
              <a:rPr lang="en-US" sz="2400">
                <a:latin typeface="Arial"/>
                <a:cs typeface="Arial"/>
              </a:rPr>
              <a:t>https://tinyurl.com/IEPparticipationR</a:t>
            </a:r>
            <a:endParaRPr lang="en-US"/>
          </a:p>
        </p:txBody>
      </p:sp>
    </p:spTree>
    <p:extLst>
      <p:ext uri="{BB962C8B-B14F-4D97-AF65-F5344CB8AC3E}">
        <p14:creationId xmlns:p14="http://schemas.microsoft.com/office/powerpoint/2010/main" val="1850263527"/>
      </p:ext>
    </p:extLst>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730D4-498B-AC35-6322-C6523786E8FB}"/>
              </a:ext>
            </a:extLst>
          </p:cNvPr>
          <p:cNvSpPr>
            <a:spLocks noGrp="1"/>
          </p:cNvSpPr>
          <p:nvPr>
            <p:ph type="title"/>
          </p:nvPr>
        </p:nvSpPr>
        <p:spPr>
          <a:xfrm>
            <a:off x="628650" y="273844"/>
            <a:ext cx="7886700" cy="994172"/>
          </a:xfrm>
        </p:spPr>
        <p:txBody>
          <a:bodyPr anchor="ctr">
            <a:normAutofit/>
          </a:bodyPr>
          <a:lstStyle/>
          <a:p>
            <a:r>
              <a:rPr lang="en-US" dirty="0"/>
              <a:t>Module 4 Complete</a:t>
            </a:r>
          </a:p>
        </p:txBody>
      </p:sp>
      <p:sp>
        <p:nvSpPr>
          <p:cNvPr id="3" name="Subtitle 2">
            <a:extLst>
              <a:ext uri="{FF2B5EF4-FFF2-40B4-BE49-F238E27FC236}">
                <a16:creationId xmlns:a16="http://schemas.microsoft.com/office/drawing/2014/main" id="{003C5973-C345-CF62-05D8-4F757B4FAB9C}"/>
              </a:ext>
            </a:extLst>
          </p:cNvPr>
          <p:cNvSpPr>
            <a:spLocks noGrp="1"/>
          </p:cNvSpPr>
          <p:nvPr>
            <p:ph sz="half" idx="1"/>
          </p:nvPr>
        </p:nvSpPr>
        <p:spPr>
          <a:xfrm>
            <a:off x="628650" y="1369219"/>
            <a:ext cx="3886200" cy="3263504"/>
          </a:xfrm>
        </p:spPr>
        <p:txBody>
          <a:bodyPr>
            <a:normAutofit/>
          </a:bodyPr>
          <a:lstStyle/>
          <a:p>
            <a:r>
              <a:rPr lang="en-US"/>
              <a:t>Next step: Complete Module 4 Quiz</a:t>
            </a:r>
          </a:p>
        </p:txBody>
      </p:sp>
      <p:pic>
        <p:nvPicPr>
          <p:cNvPr id="5" name="Picture 4" descr="Close up of checklist">
            <a:extLst>
              <a:ext uri="{FF2B5EF4-FFF2-40B4-BE49-F238E27FC236}">
                <a16:creationId xmlns:a16="http://schemas.microsoft.com/office/drawing/2014/main" id="{18E510B9-B8A3-7304-47F6-6DE77347CABB}"/>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flipH="1">
            <a:off x="4629150" y="1369219"/>
            <a:ext cx="3886200" cy="3263504"/>
          </a:xfrm>
          <a:prstGeom prst="rect">
            <a:avLst/>
          </a:prstGeom>
          <a:noFill/>
        </p:spPr>
      </p:pic>
    </p:spTree>
    <p:extLst>
      <p:ext uri="{BB962C8B-B14F-4D97-AF65-F5344CB8AC3E}">
        <p14:creationId xmlns:p14="http://schemas.microsoft.com/office/powerpoint/2010/main" val="3750709052"/>
      </p:ext>
    </p:extLst>
  </p:cSld>
  <p:clrMapOvr>
    <a:masterClrMapping/>
  </p:clrMapOvr>
  <p:transition spd="slow">
    <p:push/>
  </p:transition>
</p:sld>
</file>

<file path=ppt/theme/theme1.xml><?xml version="1.0" encoding="utf-8"?>
<a:theme xmlns:a="http://schemas.openxmlformats.org/drawingml/2006/main" name="Template">
  <a:themeElements>
    <a:clrScheme name="Custom 1">
      <a:dk1>
        <a:srgbClr val="002E5C"/>
      </a:dk1>
      <a:lt1>
        <a:srgbClr val="FFFFFF"/>
      </a:lt1>
      <a:dk2>
        <a:srgbClr val="002E5C"/>
      </a:dk2>
      <a:lt2>
        <a:srgbClr val="FFFFFF"/>
      </a:lt2>
      <a:accent1>
        <a:srgbClr val="002E5C"/>
      </a:accent1>
      <a:accent2>
        <a:srgbClr val="989490"/>
      </a:accent2>
      <a:accent3>
        <a:srgbClr val="0066A6"/>
      </a:accent3>
      <a:accent4>
        <a:srgbClr val="004581"/>
      </a:accent4>
      <a:accent5>
        <a:srgbClr val="FFFFFF"/>
      </a:accent5>
      <a:accent6>
        <a:srgbClr val="000000"/>
      </a:accent6>
      <a:hlink>
        <a:srgbClr val="1B9FD5"/>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ST.potx" id="{71A39B0D-7793-4C65-9C41-951E39D81AF9}" vid="{C38E953C-75BA-4763-92E8-6C0AAC7278A0}"/>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11525</TotalTime>
  <Words>293</Words>
  <Application>Microsoft Office PowerPoint</Application>
  <PresentationFormat>On-screen Show (16:9)</PresentationFormat>
  <Paragraphs>40</Paragraphs>
  <Slides>19</Slides>
  <Notes>19</Notes>
  <HiddenSlides>0</HiddenSlides>
  <MMClips>1</MMClips>
  <ScaleCrop>false</ScaleCrop>
  <HeadingPairs>
    <vt:vector size="8" baseType="variant">
      <vt:variant>
        <vt:lpstr>Fonts Used</vt:lpstr>
      </vt:variant>
      <vt:variant>
        <vt:i4>5</vt:i4>
      </vt:variant>
      <vt:variant>
        <vt:lpstr>Theme</vt:lpstr>
      </vt:variant>
      <vt:variant>
        <vt:i4>1</vt:i4>
      </vt:variant>
      <vt:variant>
        <vt:lpstr>Slide Titles</vt:lpstr>
      </vt:variant>
      <vt:variant>
        <vt:i4>19</vt:i4>
      </vt:variant>
      <vt:variant>
        <vt:lpstr>Custom Shows</vt:lpstr>
      </vt:variant>
      <vt:variant>
        <vt:i4>3</vt:i4>
      </vt:variant>
    </vt:vector>
  </HeadingPairs>
  <TitlesOfParts>
    <vt:vector size="28" baseType="lpstr">
      <vt:lpstr>Aptos</vt:lpstr>
      <vt:lpstr>Overpass Light</vt:lpstr>
      <vt:lpstr>Arial</vt:lpstr>
      <vt:lpstr>Atkinson Hyperlegible Next</vt:lpstr>
      <vt:lpstr>Verdana Pro</vt:lpstr>
      <vt:lpstr>Template</vt:lpstr>
      <vt:lpstr>Module 4-B: Academic Performance-IEP Presentation Tools</vt:lpstr>
      <vt:lpstr>One-Pagers</vt:lpstr>
      <vt:lpstr>One-Pager Example-1 </vt:lpstr>
      <vt:lpstr>One-Pager Example-2 </vt:lpstr>
      <vt:lpstr>One-Pager Example 3</vt:lpstr>
      <vt:lpstr>HS One-Pager Template</vt:lpstr>
      <vt:lpstr>Good Day Plan One-Pager and Implementation Guide</vt:lpstr>
      <vt:lpstr>Goal Plan One-Pager and Implementation Guide</vt:lpstr>
      <vt:lpstr>One-Pager Template and Implementation Guide</vt:lpstr>
      <vt:lpstr>I’m Determined One-Pager APP</vt:lpstr>
      <vt:lpstr>I’m Determined One-Pager APP example screenshot</vt:lpstr>
      <vt:lpstr>One-Pager Break</vt:lpstr>
      <vt:lpstr>IEP Scripts &amp; PowerPoints</vt:lpstr>
      <vt:lpstr>I’m Determined PowerPoint IEP Template-Preschool</vt:lpstr>
      <vt:lpstr>I’m Determined PowerPoint IEP Template-Elementary</vt:lpstr>
      <vt:lpstr>I’m Determined PowerPoint IEP Template-Secondary</vt:lpstr>
      <vt:lpstr>Student-Led IEP Lesson &amp; Activity (Pratt &amp; Driffill, 2020)</vt:lpstr>
      <vt:lpstr>Rubric for IEP Participation</vt:lpstr>
      <vt:lpstr>Module 4 Complete</vt:lpstr>
      <vt:lpstr>Module 4-A</vt:lpstr>
      <vt:lpstr>Module 4 B</vt:lpstr>
      <vt:lpstr>Module 5 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Involvement in the IEP</dc:title>
  <dc:creator>Erin Berry</dc:creator>
  <cp:lastModifiedBy>Erin Berry</cp:lastModifiedBy>
  <cp:revision>63</cp:revision>
  <dcterms:modified xsi:type="dcterms:W3CDTF">2026-06-09T17:16:06Z</dcterms:modified>
</cp:coreProperties>
</file>