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notesMasterIdLst>
    <p:notesMasterId r:id="rId51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7" r:id="rId20"/>
    <p:sldId id="276" r:id="rId21"/>
    <p:sldId id="278" r:id="rId22"/>
    <p:sldId id="279" r:id="rId23"/>
    <p:sldId id="280" r:id="rId24"/>
    <p:sldId id="281" r:id="rId25"/>
    <p:sldId id="284" r:id="rId26"/>
    <p:sldId id="282" r:id="rId27"/>
    <p:sldId id="283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2" r:id="rId44"/>
    <p:sldId id="300" r:id="rId45"/>
    <p:sldId id="303" r:id="rId46"/>
    <p:sldId id="304" r:id="rId47"/>
    <p:sldId id="305" r:id="rId48"/>
    <p:sldId id="306" r:id="rId49"/>
    <p:sldId id="307" r:id="rId5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49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B04862-5D48-4BE6-9373-D615247E05A1}" type="datetimeFigureOut">
              <a:rPr lang="en-US"/>
              <a:t>9/10/20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40D20C-3E4D-40FD-AE97-2657D1FA9B79}" type="slidenum">
              <a:rPr lang="en-US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44284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40D20C-3E4D-40FD-AE97-2657D1FA9B79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71898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40D20C-3E4D-40FD-AE97-2657D1FA9B79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58317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40D20C-3E4D-40FD-AE97-2657D1FA9B79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8982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40D20C-3E4D-40FD-AE97-2657D1FA9B79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73166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40D20C-3E4D-40FD-AE97-2657D1FA9B79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69665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40D20C-3E4D-40FD-AE97-2657D1FA9B79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57973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40D20C-3E4D-40FD-AE97-2657D1FA9B79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90241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40D20C-3E4D-40FD-AE97-2657D1FA9B79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71187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40D20C-3E4D-40FD-AE97-2657D1FA9B79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23983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40D20C-3E4D-40FD-AE97-2657D1FA9B79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08391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40D20C-3E4D-40FD-AE97-2657D1FA9B79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7800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40D20C-3E4D-40FD-AE97-2657D1FA9B79}" type="slidenum">
              <a:rPr lang="en-US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07592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40D20C-3E4D-40FD-AE97-2657D1FA9B79}" type="slidenum">
              <a:rPr lang="en-US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43254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40D20C-3E4D-40FD-AE97-2657D1FA9B79}" type="slidenum">
              <a:rPr lang="en-US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05268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40D20C-3E4D-40FD-AE97-2657D1FA9B79}" type="slidenum">
              <a:rPr lang="en-US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07858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40D20C-3E4D-40FD-AE97-2657D1FA9B79}" type="slidenum">
              <a:rPr lang="en-US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03259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40D20C-3E4D-40FD-AE97-2657D1FA9B79}" type="slidenum">
              <a:rPr lang="en-US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399551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40D20C-3E4D-40FD-AE97-2657D1FA9B79}" type="slidenum">
              <a:rPr lang="en-US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165206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40D20C-3E4D-40FD-AE97-2657D1FA9B79}" type="slidenum">
              <a:rPr lang="en-US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31205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40D20C-3E4D-40FD-AE97-2657D1FA9B79}" type="slidenum">
              <a:rPr lang="en-US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750877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40D20C-3E4D-40FD-AE97-2657D1FA9B79}" type="slidenum">
              <a:rPr lang="en-US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890922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40D20C-3E4D-40FD-AE97-2657D1FA9B79}" type="slidenum">
              <a:rPr lang="en-US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669225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40D20C-3E4D-40FD-AE97-2657D1FA9B79}" type="slidenum">
              <a:rPr lang="en-US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876824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40D20C-3E4D-40FD-AE97-2657D1FA9B79}" type="slidenum">
              <a:rPr lang="en-US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166093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40D20C-3E4D-40FD-AE97-2657D1FA9B79}" type="slidenum">
              <a:rPr lang="en-US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153383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40D20C-3E4D-40FD-AE97-2657D1FA9B79}" type="slidenum">
              <a:rPr lang="en-US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042759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40D20C-3E4D-40FD-AE97-2657D1FA9B79}" type="slidenum">
              <a:rPr lang="en-US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47828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40D20C-3E4D-40FD-AE97-2657D1FA9B79}" type="slidenum">
              <a:rPr lang="en-US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437259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40D20C-3E4D-40FD-AE97-2657D1FA9B79}" type="slidenum">
              <a:rPr lang="en-US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049070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40D20C-3E4D-40FD-AE97-2657D1FA9B79}" type="slidenum">
              <a:rPr lang="en-US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038846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40D20C-3E4D-40FD-AE97-2657D1FA9B79}" type="slidenum">
              <a:rPr lang="en-US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525476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40D20C-3E4D-40FD-AE97-2657D1FA9B79}" type="slidenum">
              <a:rPr lang="en-US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379101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40D20C-3E4D-40FD-AE97-2657D1FA9B79}" type="slidenum">
              <a:rPr lang="en-US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936378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40D20C-3E4D-40FD-AE97-2657D1FA9B79}" type="slidenum">
              <a:rPr lang="en-US"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8451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40D20C-3E4D-40FD-AE97-2657D1FA9B79}" type="slidenum">
              <a:rPr lang="en-US"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309695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40D20C-3E4D-40FD-AE97-2657D1FA9B79}" type="slidenum">
              <a:rPr lang="en-US"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305790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40D20C-3E4D-40FD-AE97-2657D1FA9B79}" type="slidenum">
              <a:rPr lang="en-US"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007032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40D20C-3E4D-40FD-AE97-2657D1FA9B79}" type="slidenum">
              <a:rPr lang="en-US"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577403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40D20C-3E4D-40FD-AE97-2657D1FA9B79}" type="slidenum">
              <a:rPr lang="en-US"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713202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40D20C-3E4D-40FD-AE97-2657D1FA9B79}" type="slidenum">
              <a:rPr lang="en-US"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524706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40D20C-3E4D-40FD-AE97-2657D1FA9B79}" type="slidenum">
              <a:rPr lang="en-US"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297379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40D20C-3E4D-40FD-AE97-2657D1FA9B79}" type="slidenum">
              <a:rPr lang="en-US"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028813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40D20C-3E4D-40FD-AE97-2657D1FA9B79}" type="slidenum">
              <a:rPr lang="en-US"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233323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40D20C-3E4D-40FD-AE97-2657D1FA9B79}" type="slidenum">
              <a:rPr lang="en-US"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927367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40D20C-3E4D-40FD-AE97-2657D1FA9B79}" type="slidenum">
              <a:rPr lang="en-US"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92605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40D20C-3E4D-40FD-AE97-2657D1FA9B79}" type="slidenum">
              <a:rPr lang="en-US"/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260675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40D20C-3E4D-40FD-AE97-2657D1FA9B79}" type="slidenum">
              <a:rPr lang="en-US"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576081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40D20C-3E4D-40FD-AE97-2657D1FA9B79}" type="slidenum">
              <a:rPr lang="en-US"/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337196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40D20C-3E4D-40FD-AE97-2657D1FA9B79}" type="slidenum">
              <a:rPr lang="en-US"/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532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334D819-9F07-4261-B09B-9E467E5D9002}" type="datetimeFigureOut">
              <a:rPr lang="en-US"/>
              <a:pPr/>
              <a:t>9/10/20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1766878-3199-4EAB-94E7-2D6D11070E14}" type="slidenum">
              <a:rPr lang="en-US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8275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/>
              <a:t>9/10/20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21164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/>
              <a:pPr/>
              <a:t>9/10/20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7649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/>
              <a:t>9/10/20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89477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/>
              <a:t>9/10/20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89659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/>
              <a:t>9/10/20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1578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/>
              <a:t>9/10/20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6690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/>
              <a:t>9/10/20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03651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/>
              <a:t>9/10/20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9066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/>
              <a:t>9/10/20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01924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/>
              <a:t>9/10/20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2323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9334D819-9F07-4261-B09B-9E467E5D9002}" type="datetimeFigureOut">
              <a:rPr lang="en-US"/>
              <a:pPr/>
              <a:t>9/10/20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71766878-3199-4EAB-94E7-2D6D11070E14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0806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tx1"/>
        </a:buClr>
        <a:buSzPct val="80000"/>
        <a:buFont typeface="Corbe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30313" y="296307"/>
            <a:ext cx="9967912" cy="3458131"/>
          </a:xfrm>
        </p:spPr>
        <p:txBody>
          <a:bodyPr>
            <a:normAutofit/>
          </a:bodyPr>
          <a:lstStyle/>
          <a:p>
            <a:r>
              <a:rPr lang="en-US" sz="9600" dirty="0">
                <a:solidFill>
                  <a:srgbClr val="2A1A00"/>
                </a:solidFill>
                <a:latin typeface="Corbel"/>
              </a:rPr>
              <a:t>math</a:t>
            </a:r>
            <a:br>
              <a:rPr lang="en-US" b="0" dirty="0">
                <a:latin typeface="Impact"/>
              </a:rPr>
            </a:br>
            <a:r>
              <a:rPr lang="en-US" dirty="0">
                <a:solidFill>
                  <a:srgbClr val="2A1A00"/>
                </a:solidFill>
                <a:latin typeface="Impact"/>
              </a:rPr>
              <a:t>BELL</a:t>
            </a:r>
            <a:r>
              <a:rPr lang="en-US" dirty="0">
                <a:solidFill>
                  <a:srgbClr val="2A1A00"/>
                </a:solidFill>
                <a:latin typeface="Impact" charset="0"/>
              </a:rPr>
              <a:t> RINGERS:</a:t>
            </a:r>
            <a:br>
              <a:rPr lang="en-US" b="0" dirty="0"/>
            </a:br>
            <a:r>
              <a:rPr lang="en-US" dirty="0">
                <a:solidFill>
                  <a:srgbClr val="2A1A00"/>
                </a:solidFill>
                <a:latin typeface="Corbel"/>
              </a:rPr>
              <a:t>Skills for Everyday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738" y="4136655"/>
            <a:ext cx="8767762" cy="1294183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>
              <a:lnSpc>
                <a:spcPct val="100000"/>
              </a:lnSpc>
            </a:pPr>
            <a:r>
              <a:rPr lang="en-US" dirty="0"/>
              <a:t>By: Mindy Lingo M.Ed.</a:t>
            </a:r>
          </a:p>
          <a:p>
            <a:pPr>
              <a:lnSpc>
                <a:spcPct val="100000"/>
              </a:lnSpc>
            </a:pPr>
            <a:r>
              <a:rPr lang="en-US" dirty="0"/>
              <a:t>Sooner Scholar </a:t>
            </a:r>
          </a:p>
          <a:p>
            <a:pPr>
              <a:lnSpc>
                <a:spcPct val="100000"/>
              </a:lnSpc>
            </a:pPr>
            <a:r>
              <a:rPr lang="en-US" dirty="0"/>
              <a:t>University of Oklahoma</a:t>
            </a:r>
          </a:p>
        </p:txBody>
      </p:sp>
    </p:spTree>
    <p:extLst>
      <p:ext uri="{BB962C8B-B14F-4D97-AF65-F5344CB8AC3E}">
        <p14:creationId xmlns:p14="http://schemas.microsoft.com/office/powerpoint/2010/main" val="3501849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838" cy="956230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solidFill>
                  <a:srgbClr val="C00000"/>
                </a:solidFill>
              </a:rPr>
              <a:t>Earning an Income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5720" indent="0" algn="ctr">
              <a:buNone/>
            </a:pPr>
            <a:r>
              <a:rPr lang="en-US" sz="7200" dirty="0"/>
              <a:t>Describe the cost versus benefit of choosing at least two different jobs.</a:t>
            </a:r>
          </a:p>
          <a:p>
            <a:pPr marL="45720" indent="0">
              <a:buNone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7989725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b="1" dirty="0">
                <a:solidFill>
                  <a:srgbClr val="C00000"/>
                </a:solidFill>
              </a:rPr>
              <a:t>Earning an Income</a:t>
            </a:r>
            <a:endParaRPr lang="en-US" sz="6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5720" indent="0" algn="ctr">
              <a:buNone/>
            </a:pPr>
            <a:r>
              <a:rPr lang="en-US" sz="6000" dirty="0"/>
              <a:t>How would you describe the difference between a job and a career?</a:t>
            </a:r>
          </a:p>
        </p:txBody>
      </p:sp>
    </p:spTree>
    <p:extLst>
      <p:ext uri="{BB962C8B-B14F-4D97-AF65-F5344CB8AC3E}">
        <p14:creationId xmlns:p14="http://schemas.microsoft.com/office/powerpoint/2010/main" val="8674188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b="1" dirty="0">
                <a:solidFill>
                  <a:srgbClr val="C00000"/>
                </a:solidFill>
              </a:rPr>
              <a:t>Earning an Income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5720" indent="0" algn="ctr">
              <a:buNone/>
            </a:pPr>
            <a:r>
              <a:rPr lang="en-US" sz="6600" dirty="0"/>
              <a:t>Write a monthly budget for when you are supporting yourself.</a:t>
            </a:r>
          </a:p>
          <a:p>
            <a:pPr marL="45720" indent="0">
              <a:buNone/>
            </a:pPr>
            <a:r>
              <a:rPr lang="en-US" sz="4000" dirty="0"/>
              <a:t>(Hint: house, car, bills, food, fun, etc...)</a:t>
            </a:r>
          </a:p>
        </p:txBody>
      </p:sp>
    </p:spTree>
    <p:extLst>
      <p:ext uri="{BB962C8B-B14F-4D97-AF65-F5344CB8AC3E}">
        <p14:creationId xmlns:p14="http://schemas.microsoft.com/office/powerpoint/2010/main" val="9932959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838" cy="1675321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solidFill>
                  <a:srgbClr val="C00000"/>
                </a:solidFill>
              </a:rPr>
              <a:t>Earning an Income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0437" y="2439567"/>
            <a:ext cx="9872663" cy="41184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" indent="0" algn="ctr">
              <a:buNone/>
            </a:pPr>
            <a:r>
              <a:rPr lang="en-US" sz="7200" dirty="0"/>
              <a:t>How would you explain needs versus wants?</a:t>
            </a:r>
          </a:p>
        </p:txBody>
      </p:sp>
    </p:spTree>
    <p:extLst>
      <p:ext uri="{BB962C8B-B14F-4D97-AF65-F5344CB8AC3E}">
        <p14:creationId xmlns:p14="http://schemas.microsoft.com/office/powerpoint/2010/main" val="919992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838" cy="1675321"/>
          </a:xfrm>
        </p:spPr>
        <p:txBody>
          <a:bodyPr>
            <a:normAutofit/>
          </a:bodyPr>
          <a:lstStyle/>
          <a:p>
            <a:pPr algn="ctr"/>
            <a:r>
              <a:rPr lang="en-US" sz="6600" b="1" dirty="0">
                <a:solidFill>
                  <a:srgbClr val="C00000"/>
                </a:solidFill>
              </a:rPr>
              <a:t>Taxes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4504" y="2284921"/>
            <a:ext cx="9872663" cy="41184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" indent="0" algn="ctr">
              <a:buNone/>
            </a:pPr>
            <a:r>
              <a:rPr lang="en-US" sz="7200" dirty="0"/>
              <a:t>What are taxes and why do we have them?</a:t>
            </a:r>
          </a:p>
        </p:txBody>
      </p:sp>
    </p:spTree>
    <p:extLst>
      <p:ext uri="{BB962C8B-B14F-4D97-AF65-F5344CB8AC3E}">
        <p14:creationId xmlns:p14="http://schemas.microsoft.com/office/powerpoint/2010/main" val="31501653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838" cy="1675321"/>
          </a:xfrm>
        </p:spPr>
        <p:txBody>
          <a:bodyPr>
            <a:normAutofit/>
          </a:bodyPr>
          <a:lstStyle/>
          <a:p>
            <a:pPr algn="ctr"/>
            <a:r>
              <a:rPr lang="en-US" sz="6600" b="1" dirty="0">
                <a:solidFill>
                  <a:srgbClr val="C00000"/>
                </a:solidFill>
              </a:rPr>
              <a:t>Taxes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15885" y="2287480"/>
            <a:ext cx="9872663" cy="41184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" indent="0" algn="ctr">
              <a:buNone/>
            </a:pPr>
            <a:r>
              <a:rPr lang="en-US" sz="7200" dirty="0"/>
              <a:t>What happens if you do not pay your taxes?</a:t>
            </a:r>
          </a:p>
        </p:txBody>
      </p:sp>
    </p:spTree>
    <p:extLst>
      <p:ext uri="{BB962C8B-B14F-4D97-AF65-F5344CB8AC3E}">
        <p14:creationId xmlns:p14="http://schemas.microsoft.com/office/powerpoint/2010/main" val="3492618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838" cy="1675321"/>
          </a:xfrm>
        </p:spPr>
        <p:txBody>
          <a:bodyPr>
            <a:normAutofit/>
          </a:bodyPr>
          <a:lstStyle/>
          <a:p>
            <a:pPr algn="ctr"/>
            <a:r>
              <a:rPr lang="en-US" sz="6600" b="1" dirty="0">
                <a:solidFill>
                  <a:srgbClr val="C00000"/>
                </a:solidFill>
              </a:rPr>
              <a:t>Taxes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9262" y="2323730"/>
            <a:ext cx="9872663" cy="41184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" indent="0" algn="ctr">
              <a:buNone/>
            </a:pPr>
            <a:r>
              <a:rPr lang="en-US" sz="7200" dirty="0"/>
              <a:t>Explain the costs and benefits of public goods and services.</a:t>
            </a:r>
          </a:p>
        </p:txBody>
      </p:sp>
    </p:spTree>
    <p:extLst>
      <p:ext uri="{BB962C8B-B14F-4D97-AF65-F5344CB8AC3E}">
        <p14:creationId xmlns:p14="http://schemas.microsoft.com/office/powerpoint/2010/main" val="25996135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838" cy="1675321"/>
          </a:xfrm>
        </p:spPr>
        <p:txBody>
          <a:bodyPr>
            <a:normAutofit/>
          </a:bodyPr>
          <a:lstStyle/>
          <a:p>
            <a:pPr algn="ctr"/>
            <a:r>
              <a:rPr lang="en-US" sz="6600" b="1" dirty="0">
                <a:solidFill>
                  <a:srgbClr val="C00000"/>
                </a:solidFill>
              </a:rPr>
              <a:t>Taxes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9262" y="2323730"/>
            <a:ext cx="9872663" cy="41184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" indent="0" algn="ctr">
              <a:buNone/>
            </a:pPr>
            <a:r>
              <a:rPr lang="en-US" sz="7200" dirty="0"/>
              <a:t>What type of taxes are you currently responsible for paying? </a:t>
            </a:r>
          </a:p>
        </p:txBody>
      </p:sp>
    </p:spTree>
    <p:extLst>
      <p:ext uri="{BB962C8B-B14F-4D97-AF65-F5344CB8AC3E}">
        <p14:creationId xmlns:p14="http://schemas.microsoft.com/office/powerpoint/2010/main" val="16474341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3237" y="609600"/>
            <a:ext cx="10235601" cy="1674813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solidFill>
                  <a:srgbClr val="C00000"/>
                </a:solidFill>
              </a:rPr>
              <a:t>Financial Service Providers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9262" y="2323730"/>
            <a:ext cx="9872663" cy="41184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" indent="0" algn="ctr">
              <a:buNone/>
            </a:pPr>
            <a:r>
              <a:rPr lang="en-US" sz="7200" dirty="0"/>
              <a:t>Explain the difference between a bank and a credit union.</a:t>
            </a:r>
          </a:p>
        </p:txBody>
      </p:sp>
    </p:spTree>
    <p:extLst>
      <p:ext uri="{BB962C8B-B14F-4D97-AF65-F5344CB8AC3E}">
        <p14:creationId xmlns:p14="http://schemas.microsoft.com/office/powerpoint/2010/main" val="13361243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3237" y="609600"/>
            <a:ext cx="10235601" cy="1674813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solidFill>
                  <a:srgbClr val="C00000"/>
                </a:solidFill>
              </a:rPr>
              <a:t>Financial Service Providers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9262" y="2323730"/>
            <a:ext cx="9872663" cy="41184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" indent="0" algn="ctr">
              <a:buNone/>
            </a:pPr>
            <a:r>
              <a:rPr lang="en-US" sz="7200" dirty="0"/>
              <a:t>What are the most common financial services?</a:t>
            </a:r>
          </a:p>
        </p:txBody>
      </p:sp>
    </p:spTree>
    <p:extLst>
      <p:ext uri="{BB962C8B-B14F-4D97-AF65-F5344CB8AC3E}">
        <p14:creationId xmlns:p14="http://schemas.microsoft.com/office/powerpoint/2010/main" val="22056024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3237" y="609600"/>
            <a:ext cx="10235601" cy="1674813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solidFill>
                  <a:srgbClr val="C00000"/>
                </a:solidFill>
              </a:rPr>
              <a:t>Financial Service Providers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9262" y="2323730"/>
            <a:ext cx="9872663" cy="41184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" indent="0" algn="ctr">
              <a:buNone/>
            </a:pPr>
            <a:r>
              <a:rPr lang="en-US" sz="7200" dirty="0"/>
              <a:t>What is the difference between a debit card and credit card?</a:t>
            </a:r>
          </a:p>
        </p:txBody>
      </p:sp>
    </p:spTree>
    <p:extLst>
      <p:ext uri="{BB962C8B-B14F-4D97-AF65-F5344CB8AC3E}">
        <p14:creationId xmlns:p14="http://schemas.microsoft.com/office/powerpoint/2010/main" val="24506390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3237" y="609600"/>
            <a:ext cx="10235601" cy="1674813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solidFill>
                  <a:srgbClr val="C00000"/>
                </a:solidFill>
              </a:rPr>
              <a:t>Managing a Bank Account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9262" y="2323730"/>
            <a:ext cx="9872663" cy="41184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" indent="0" algn="ctr">
              <a:buNone/>
            </a:pPr>
            <a:r>
              <a:rPr lang="en-US" sz="7200" dirty="0"/>
              <a:t>Explain what is a checking account. </a:t>
            </a:r>
          </a:p>
        </p:txBody>
      </p:sp>
    </p:spTree>
    <p:extLst>
      <p:ext uri="{BB962C8B-B14F-4D97-AF65-F5344CB8AC3E}">
        <p14:creationId xmlns:p14="http://schemas.microsoft.com/office/powerpoint/2010/main" val="8874417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3237" y="609600"/>
            <a:ext cx="10235601" cy="1674813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solidFill>
                  <a:srgbClr val="C00000"/>
                </a:solidFill>
              </a:rPr>
              <a:t>Managing a Bank Account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9262" y="2323730"/>
            <a:ext cx="9872663" cy="41184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" indent="0" algn="ctr">
              <a:buNone/>
            </a:pPr>
            <a:r>
              <a:rPr lang="en-US" sz="7200" dirty="0"/>
              <a:t>What is the difference between a checking account and savings account? </a:t>
            </a:r>
          </a:p>
        </p:txBody>
      </p:sp>
    </p:spTree>
    <p:extLst>
      <p:ext uri="{BB962C8B-B14F-4D97-AF65-F5344CB8AC3E}">
        <p14:creationId xmlns:p14="http://schemas.microsoft.com/office/powerpoint/2010/main" val="35021563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3237" y="609600"/>
            <a:ext cx="10235601" cy="1674813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solidFill>
                  <a:srgbClr val="C00000"/>
                </a:solidFill>
              </a:rPr>
              <a:t>Managing a Bank Account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39942" y="2037291"/>
            <a:ext cx="9872663" cy="41184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" indent="0" algn="ctr">
              <a:buNone/>
            </a:pPr>
            <a:r>
              <a:rPr lang="en-US" sz="7200" dirty="0"/>
              <a:t>What happens if you spend more money than you have in your checking account? </a:t>
            </a:r>
          </a:p>
        </p:txBody>
      </p:sp>
    </p:spTree>
    <p:extLst>
      <p:ext uri="{BB962C8B-B14F-4D97-AF65-F5344CB8AC3E}">
        <p14:creationId xmlns:p14="http://schemas.microsoft.com/office/powerpoint/2010/main" val="392413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3237" y="609600"/>
            <a:ext cx="10235601" cy="1674813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solidFill>
                  <a:srgbClr val="C00000"/>
                </a:solidFill>
              </a:rPr>
              <a:t>Managing a Bank Account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6175" y="1971191"/>
            <a:ext cx="9872663" cy="41184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" indent="0" algn="ctr">
              <a:buNone/>
            </a:pPr>
            <a:r>
              <a:rPr lang="en-US" sz="7200" dirty="0"/>
              <a:t>What are the different ways you can keep track of you accounts?  Will it always be current? </a:t>
            </a:r>
          </a:p>
        </p:txBody>
      </p:sp>
    </p:spTree>
    <p:extLst>
      <p:ext uri="{BB962C8B-B14F-4D97-AF65-F5344CB8AC3E}">
        <p14:creationId xmlns:p14="http://schemas.microsoft.com/office/powerpoint/2010/main" val="30889938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3237" y="609600"/>
            <a:ext cx="10235601" cy="1674813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solidFill>
                  <a:srgbClr val="C00000"/>
                </a:solidFill>
              </a:rPr>
              <a:t>Savings and Investing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9262" y="2323730"/>
            <a:ext cx="9872663" cy="41184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" indent="0" algn="ctr">
              <a:buNone/>
            </a:pPr>
            <a:r>
              <a:rPr lang="en-US" sz="7200" dirty="0"/>
              <a:t>Why is it important to have a savings account? </a:t>
            </a:r>
          </a:p>
        </p:txBody>
      </p:sp>
    </p:spTree>
    <p:extLst>
      <p:ext uri="{BB962C8B-B14F-4D97-AF65-F5344CB8AC3E}">
        <p14:creationId xmlns:p14="http://schemas.microsoft.com/office/powerpoint/2010/main" val="37195243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3237" y="609600"/>
            <a:ext cx="10235601" cy="1674813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solidFill>
                  <a:srgbClr val="C00000"/>
                </a:solidFill>
              </a:rPr>
              <a:t>Savings and Investing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9262" y="2323730"/>
            <a:ext cx="9872663" cy="41184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" indent="0" algn="ctr">
              <a:buNone/>
            </a:pPr>
            <a:r>
              <a:rPr lang="en-US" sz="7200" dirty="0"/>
              <a:t>What does it mean to invest? </a:t>
            </a:r>
          </a:p>
        </p:txBody>
      </p:sp>
    </p:spTree>
    <p:extLst>
      <p:ext uri="{BB962C8B-B14F-4D97-AF65-F5344CB8AC3E}">
        <p14:creationId xmlns:p14="http://schemas.microsoft.com/office/powerpoint/2010/main" val="37278954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3237" y="609600"/>
            <a:ext cx="10235601" cy="1674813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solidFill>
                  <a:srgbClr val="C00000"/>
                </a:solidFill>
              </a:rPr>
              <a:t>Savings and Investing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9262" y="2323730"/>
            <a:ext cx="9872663" cy="41184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" indent="0" algn="ctr">
              <a:buNone/>
            </a:pPr>
            <a:r>
              <a:rPr lang="en-US" sz="7200" dirty="0"/>
              <a:t>What does your long term financial goal look like? </a:t>
            </a:r>
          </a:p>
        </p:txBody>
      </p:sp>
    </p:spTree>
    <p:extLst>
      <p:ext uri="{BB962C8B-B14F-4D97-AF65-F5344CB8AC3E}">
        <p14:creationId xmlns:p14="http://schemas.microsoft.com/office/powerpoint/2010/main" val="32304026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3237" y="609600"/>
            <a:ext cx="10235601" cy="1674813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solidFill>
                  <a:srgbClr val="C00000"/>
                </a:solidFill>
              </a:rPr>
              <a:t>Savings and Investing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2992" y="1971190"/>
            <a:ext cx="9872663" cy="41184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" indent="0" algn="ctr">
              <a:buNone/>
            </a:pPr>
            <a:r>
              <a:rPr lang="en-US" sz="7200" dirty="0"/>
              <a:t>Identify needs versus wants in terms of reaching long term financial goals. </a:t>
            </a:r>
          </a:p>
        </p:txBody>
      </p:sp>
    </p:spTree>
    <p:extLst>
      <p:ext uri="{BB962C8B-B14F-4D97-AF65-F5344CB8AC3E}">
        <p14:creationId xmlns:p14="http://schemas.microsoft.com/office/powerpoint/2010/main" val="37136762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3237" y="609600"/>
            <a:ext cx="10235601" cy="1674813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solidFill>
                  <a:srgbClr val="C00000"/>
                </a:solidFill>
              </a:rPr>
              <a:t>Retirement Planning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62587" y="2803124"/>
            <a:ext cx="9872663" cy="41184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" indent="0" algn="ctr">
              <a:buNone/>
            </a:pPr>
            <a:r>
              <a:rPr lang="en-US" sz="7200" dirty="0"/>
              <a:t>What does retirement mean? </a:t>
            </a:r>
          </a:p>
        </p:txBody>
      </p:sp>
    </p:spTree>
    <p:extLst>
      <p:ext uri="{BB962C8B-B14F-4D97-AF65-F5344CB8AC3E}">
        <p14:creationId xmlns:p14="http://schemas.microsoft.com/office/powerpoint/2010/main" val="579615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3237" y="609600"/>
            <a:ext cx="10235601" cy="1674813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solidFill>
                  <a:srgbClr val="C00000"/>
                </a:solidFill>
              </a:rPr>
              <a:t>Retirement Planning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62587" y="2803124"/>
            <a:ext cx="9872663" cy="41184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" indent="0" algn="ctr">
              <a:buNone/>
            </a:pPr>
            <a:r>
              <a:rPr lang="en-US" sz="7200" dirty="0"/>
              <a:t>What is one goal you have for your retirement? </a:t>
            </a:r>
          </a:p>
        </p:txBody>
      </p:sp>
    </p:spTree>
    <p:extLst>
      <p:ext uri="{BB962C8B-B14F-4D97-AF65-F5344CB8AC3E}">
        <p14:creationId xmlns:p14="http://schemas.microsoft.com/office/powerpoint/2010/main" val="34679027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3237" y="609600"/>
            <a:ext cx="10235601" cy="1674813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solidFill>
                  <a:srgbClr val="C00000"/>
                </a:solidFill>
              </a:rPr>
              <a:t>Retirement Planning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6175" y="2284413"/>
            <a:ext cx="9872663" cy="41184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" indent="0" algn="ctr">
              <a:buNone/>
            </a:pPr>
            <a:r>
              <a:rPr lang="en-US" sz="7200" dirty="0"/>
              <a:t>How do you afford to live when you retire since you are not working?</a:t>
            </a:r>
          </a:p>
        </p:txBody>
      </p:sp>
    </p:spTree>
    <p:extLst>
      <p:ext uri="{BB962C8B-B14F-4D97-AF65-F5344CB8AC3E}">
        <p14:creationId xmlns:p14="http://schemas.microsoft.com/office/powerpoint/2010/main" val="41227192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3237" y="609600"/>
            <a:ext cx="10235601" cy="1674813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solidFill>
                  <a:srgbClr val="C00000"/>
                </a:solidFill>
              </a:rPr>
              <a:t>Borrowing Money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6175" y="2395500"/>
            <a:ext cx="9872663" cy="41184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" indent="0" algn="ctr">
              <a:buNone/>
            </a:pPr>
            <a:r>
              <a:rPr lang="en-US" sz="7200" dirty="0"/>
              <a:t>What are reasons people borrow money?</a:t>
            </a:r>
          </a:p>
        </p:txBody>
      </p:sp>
    </p:spTree>
    <p:extLst>
      <p:ext uri="{BB962C8B-B14F-4D97-AF65-F5344CB8AC3E}">
        <p14:creationId xmlns:p14="http://schemas.microsoft.com/office/powerpoint/2010/main" val="17184549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3237" y="609600"/>
            <a:ext cx="10235601" cy="1674813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solidFill>
                  <a:srgbClr val="C00000"/>
                </a:solidFill>
              </a:rPr>
              <a:t>Borrowing Money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3237" y="1972527"/>
            <a:ext cx="9872663" cy="41184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" indent="0" algn="ctr">
              <a:buNone/>
            </a:pPr>
            <a:r>
              <a:rPr lang="en-US" sz="7200" dirty="0"/>
              <a:t>What is a loan agreement? Also, how does interest factor into loans?</a:t>
            </a:r>
          </a:p>
        </p:txBody>
      </p:sp>
    </p:spTree>
    <p:extLst>
      <p:ext uri="{BB962C8B-B14F-4D97-AF65-F5344CB8AC3E}">
        <p14:creationId xmlns:p14="http://schemas.microsoft.com/office/powerpoint/2010/main" val="32485347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3237" y="609600"/>
            <a:ext cx="10235601" cy="1674813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solidFill>
                  <a:srgbClr val="C00000"/>
                </a:solidFill>
              </a:rPr>
              <a:t>Borrowing Money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4705" y="2164146"/>
            <a:ext cx="9872663" cy="41184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" indent="0" algn="ctr">
              <a:buNone/>
            </a:pPr>
            <a:r>
              <a:rPr lang="en-US" sz="7200" dirty="0"/>
              <a:t>What is a credit score and how does it factor into borrowing money?</a:t>
            </a:r>
          </a:p>
        </p:txBody>
      </p:sp>
    </p:spTree>
    <p:extLst>
      <p:ext uri="{BB962C8B-B14F-4D97-AF65-F5344CB8AC3E}">
        <p14:creationId xmlns:p14="http://schemas.microsoft.com/office/powerpoint/2010/main" val="8032345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3237" y="609600"/>
            <a:ext cx="10235601" cy="1674813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solidFill>
                  <a:srgbClr val="C00000"/>
                </a:solidFill>
              </a:rPr>
              <a:t>Borrowing Money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6175" y="2284413"/>
            <a:ext cx="9872663" cy="41184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" indent="0" algn="ctr">
              <a:buNone/>
            </a:pPr>
            <a:r>
              <a:rPr lang="en-US" sz="7200" dirty="0"/>
              <a:t>How do you build and maintain a good credit history?</a:t>
            </a:r>
          </a:p>
        </p:txBody>
      </p:sp>
    </p:spTree>
    <p:extLst>
      <p:ext uri="{BB962C8B-B14F-4D97-AF65-F5344CB8AC3E}">
        <p14:creationId xmlns:p14="http://schemas.microsoft.com/office/powerpoint/2010/main" val="23721748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3237" y="609600"/>
            <a:ext cx="10235601" cy="1674813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rgbClr val="C00000"/>
                </a:solidFill>
              </a:rPr>
              <a:t>Credit Cards and Online Shopping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02517" y="2109319"/>
            <a:ext cx="9872663" cy="41184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" indent="0" algn="ctr">
              <a:buNone/>
            </a:pPr>
            <a:r>
              <a:rPr lang="en-US" sz="7200" dirty="0"/>
              <a:t>Explain the cost, benefits, and risk of making online purchases.</a:t>
            </a:r>
          </a:p>
        </p:txBody>
      </p:sp>
    </p:spTree>
    <p:extLst>
      <p:ext uri="{BB962C8B-B14F-4D97-AF65-F5344CB8AC3E}">
        <p14:creationId xmlns:p14="http://schemas.microsoft.com/office/powerpoint/2010/main" val="16272011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3237" y="609600"/>
            <a:ext cx="10235601" cy="1674813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rgbClr val="C00000"/>
                </a:solidFill>
              </a:rPr>
              <a:t>Credit Cards and Online Shopping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4705" y="2151194"/>
            <a:ext cx="9872663" cy="41184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" indent="0" algn="ctr">
              <a:buNone/>
            </a:pPr>
            <a:r>
              <a:rPr lang="en-US" sz="7200" dirty="0"/>
              <a:t>What are the different methods of paying for items online?</a:t>
            </a:r>
          </a:p>
        </p:txBody>
      </p:sp>
    </p:spTree>
    <p:extLst>
      <p:ext uri="{BB962C8B-B14F-4D97-AF65-F5344CB8AC3E}">
        <p14:creationId xmlns:p14="http://schemas.microsoft.com/office/powerpoint/2010/main" val="9157898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3237" y="609600"/>
            <a:ext cx="10235601" cy="1674813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rgbClr val="C00000"/>
                </a:solidFill>
              </a:rPr>
              <a:t>Credit Cards and Online Shopping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9324" y="2056053"/>
            <a:ext cx="9872663" cy="41184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" indent="0" algn="ctr">
              <a:buNone/>
            </a:pPr>
            <a:r>
              <a:rPr lang="en-US" sz="7200" dirty="0"/>
              <a:t>How can you tell if an online website is secure enough to make purchases?</a:t>
            </a:r>
          </a:p>
        </p:txBody>
      </p:sp>
    </p:spTree>
    <p:extLst>
      <p:ext uri="{BB962C8B-B14F-4D97-AF65-F5344CB8AC3E}">
        <p14:creationId xmlns:p14="http://schemas.microsoft.com/office/powerpoint/2010/main" val="24794616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3237" y="609600"/>
            <a:ext cx="10235601" cy="1674813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rgbClr val="C00000"/>
                </a:solidFill>
              </a:rPr>
              <a:t>Credit Cards and Online Shopping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9324" y="2056053"/>
            <a:ext cx="9872663" cy="41184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" indent="0" algn="ctr">
              <a:buNone/>
            </a:pPr>
            <a:r>
              <a:rPr lang="en-US" sz="7200" dirty="0"/>
              <a:t>Explain how a credit cards works. What are the options for paying credit card bills?</a:t>
            </a:r>
          </a:p>
        </p:txBody>
      </p:sp>
    </p:spTree>
    <p:extLst>
      <p:ext uri="{BB962C8B-B14F-4D97-AF65-F5344CB8AC3E}">
        <p14:creationId xmlns:p14="http://schemas.microsoft.com/office/powerpoint/2010/main" val="7590711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3237" y="609600"/>
            <a:ext cx="10235601" cy="1674813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rgbClr val="C00000"/>
                </a:solidFill>
              </a:rPr>
              <a:t>Credit Cards and Online Shopping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4071" y="1956902"/>
            <a:ext cx="9872663" cy="4118499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pPr marL="45720" indent="0" algn="ctr">
              <a:buNone/>
            </a:pPr>
            <a:r>
              <a:rPr lang="en-US" sz="7200" dirty="0"/>
              <a:t>What does it mean the minimum payment on a credit card? Also, how can you reduce the cost of paying interest on credit cards?</a:t>
            </a:r>
          </a:p>
        </p:txBody>
      </p:sp>
    </p:spTree>
    <p:extLst>
      <p:ext uri="{BB962C8B-B14F-4D97-AF65-F5344CB8AC3E}">
        <p14:creationId xmlns:p14="http://schemas.microsoft.com/office/powerpoint/2010/main" val="40829910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3237" y="609600"/>
            <a:ext cx="10235601" cy="1674813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rgbClr val="C00000"/>
                </a:solidFill>
              </a:rPr>
              <a:t>Credit Cards and Online Shopping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9324" y="2056053"/>
            <a:ext cx="9872663" cy="41184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" indent="0" algn="ctr">
              <a:buNone/>
            </a:pPr>
            <a:r>
              <a:rPr lang="en-US" sz="7200" dirty="0"/>
              <a:t>What are the benefits of paying your credit card balance in full every month?</a:t>
            </a:r>
          </a:p>
        </p:txBody>
      </p:sp>
    </p:spTree>
    <p:extLst>
      <p:ext uri="{BB962C8B-B14F-4D97-AF65-F5344CB8AC3E}">
        <p14:creationId xmlns:p14="http://schemas.microsoft.com/office/powerpoint/2010/main" val="36723033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3237" y="609600"/>
            <a:ext cx="10235601" cy="1674813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rgbClr val="C00000"/>
                </a:solidFill>
              </a:rPr>
              <a:t>Fraud and Identity Theft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6175" y="2386559"/>
            <a:ext cx="9872663" cy="41184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" indent="0" algn="ctr">
              <a:buNone/>
            </a:pPr>
            <a:r>
              <a:rPr lang="en-US" sz="7200" dirty="0"/>
              <a:t>What are some different types of fraud you have heard about?</a:t>
            </a:r>
          </a:p>
        </p:txBody>
      </p:sp>
    </p:spTree>
    <p:extLst>
      <p:ext uri="{BB962C8B-B14F-4D97-AF65-F5344CB8AC3E}">
        <p14:creationId xmlns:p14="http://schemas.microsoft.com/office/powerpoint/2010/main" val="19637461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3237" y="609600"/>
            <a:ext cx="10235601" cy="1674813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rgbClr val="C00000"/>
                </a:solidFill>
              </a:rPr>
              <a:t>Fraud and Identity Theft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6175" y="2284413"/>
            <a:ext cx="9872663" cy="41184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" indent="0" algn="ctr">
              <a:buNone/>
            </a:pPr>
            <a:r>
              <a:rPr lang="en-US" sz="7200" dirty="0"/>
              <a:t>What are things you can do to avoid being a victim of fraud?</a:t>
            </a:r>
          </a:p>
        </p:txBody>
      </p:sp>
    </p:spTree>
    <p:extLst>
      <p:ext uri="{BB962C8B-B14F-4D97-AF65-F5344CB8AC3E}">
        <p14:creationId xmlns:p14="http://schemas.microsoft.com/office/powerpoint/2010/main" val="227202479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3237" y="609600"/>
            <a:ext cx="10235601" cy="1674813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rgbClr val="C00000"/>
                </a:solidFill>
              </a:rPr>
              <a:t>Fraud and Identity Theft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6175" y="2188255"/>
            <a:ext cx="9872663" cy="41184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" indent="0" algn="ctr">
              <a:buNone/>
            </a:pPr>
            <a:r>
              <a:rPr lang="en-US" sz="7200" dirty="0"/>
              <a:t>What are methods you have heard people use to steal other's identity?</a:t>
            </a:r>
          </a:p>
        </p:txBody>
      </p:sp>
    </p:spTree>
    <p:extLst>
      <p:ext uri="{BB962C8B-B14F-4D97-AF65-F5344CB8AC3E}">
        <p14:creationId xmlns:p14="http://schemas.microsoft.com/office/powerpoint/2010/main" val="94931460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3237" y="609600"/>
            <a:ext cx="10235601" cy="1674813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rgbClr val="C00000"/>
                </a:solidFill>
              </a:rPr>
              <a:t>Fraud and Identity Theft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9324" y="2056053"/>
            <a:ext cx="9872663" cy="41184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" indent="0" algn="ctr">
              <a:buNone/>
            </a:pPr>
            <a:r>
              <a:rPr lang="en-US" sz="7200" dirty="0"/>
              <a:t>What are steps you can take to avoid identity theft?</a:t>
            </a:r>
          </a:p>
        </p:txBody>
      </p:sp>
    </p:spTree>
    <p:extLst>
      <p:ext uri="{BB962C8B-B14F-4D97-AF65-F5344CB8AC3E}">
        <p14:creationId xmlns:p14="http://schemas.microsoft.com/office/powerpoint/2010/main" val="80370639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3237" y="609600"/>
            <a:ext cx="10235601" cy="1674813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rgbClr val="C00000"/>
                </a:solidFill>
              </a:rPr>
              <a:t>Renting vs. Buying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9324" y="2056053"/>
            <a:ext cx="9872663" cy="41184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" indent="0" algn="ctr">
              <a:buNone/>
            </a:pPr>
            <a:r>
              <a:rPr lang="en-US" sz="7200" dirty="0"/>
              <a:t>What is the difference in renting and buying?</a:t>
            </a:r>
          </a:p>
        </p:txBody>
      </p:sp>
    </p:spTree>
    <p:extLst>
      <p:ext uri="{BB962C8B-B14F-4D97-AF65-F5344CB8AC3E}">
        <p14:creationId xmlns:p14="http://schemas.microsoft.com/office/powerpoint/2010/main" val="303035006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3237" y="609600"/>
            <a:ext cx="10235601" cy="1674813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rgbClr val="C00000"/>
                </a:solidFill>
              </a:rPr>
              <a:t>Renting vs. Buying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9324" y="2056053"/>
            <a:ext cx="9872663" cy="41184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" indent="0" algn="ctr">
              <a:buNone/>
            </a:pPr>
            <a:r>
              <a:rPr lang="en-US" sz="7200" dirty="0"/>
              <a:t>What are the benefits of renting? What are the different types of rentals properties?</a:t>
            </a:r>
          </a:p>
        </p:txBody>
      </p:sp>
    </p:spTree>
    <p:extLst>
      <p:ext uri="{BB962C8B-B14F-4D97-AF65-F5344CB8AC3E}">
        <p14:creationId xmlns:p14="http://schemas.microsoft.com/office/powerpoint/2010/main" val="222137760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3237" y="609600"/>
            <a:ext cx="10235601" cy="1674813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rgbClr val="C00000"/>
                </a:solidFill>
              </a:rPr>
              <a:t>Renting vs. Buying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9324" y="2056053"/>
            <a:ext cx="9872663" cy="41184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" indent="0" algn="ctr">
              <a:buNone/>
            </a:pPr>
            <a:r>
              <a:rPr lang="en-US" sz="7200" dirty="0"/>
              <a:t>What are the cost and  benefits of buying  property? </a:t>
            </a:r>
          </a:p>
        </p:txBody>
      </p:sp>
    </p:spTree>
    <p:extLst>
      <p:ext uri="{BB962C8B-B14F-4D97-AF65-F5344CB8AC3E}">
        <p14:creationId xmlns:p14="http://schemas.microsoft.com/office/powerpoint/2010/main" val="231264996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3237" y="609600"/>
            <a:ext cx="10235601" cy="1674813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rgbClr val="C00000"/>
                </a:solidFill>
              </a:rPr>
              <a:t>Renting vs. Buying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4071" y="2284413"/>
            <a:ext cx="9872663" cy="41184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" indent="0" algn="ctr">
              <a:buNone/>
            </a:pPr>
            <a:r>
              <a:rPr lang="en-US" sz="7200" dirty="0"/>
              <a:t>How do you start the rental process vs the home buying process? </a:t>
            </a:r>
          </a:p>
        </p:txBody>
      </p:sp>
    </p:spTree>
    <p:extLst>
      <p:ext uri="{BB962C8B-B14F-4D97-AF65-F5344CB8AC3E}">
        <p14:creationId xmlns:p14="http://schemas.microsoft.com/office/powerpoint/2010/main" val="80493121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3237" y="609600"/>
            <a:ext cx="10235601" cy="1674813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rgbClr val="C00000"/>
                </a:solidFill>
              </a:rPr>
              <a:t>Renting vs. Buying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9324" y="2056053"/>
            <a:ext cx="9872663" cy="41184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" indent="0" algn="ctr">
              <a:buNone/>
            </a:pPr>
            <a:r>
              <a:rPr lang="en-US" sz="7200" dirty="0"/>
              <a:t>What happens if you don't pay your rent or house mortgage? </a:t>
            </a:r>
          </a:p>
        </p:txBody>
      </p:sp>
    </p:spTree>
    <p:extLst>
      <p:ext uri="{BB962C8B-B14F-4D97-AF65-F5344CB8AC3E}">
        <p14:creationId xmlns:p14="http://schemas.microsoft.com/office/powerpoint/2010/main" val="85414881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3237" y="609600"/>
            <a:ext cx="10235601" cy="1674813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rgbClr val="C00000"/>
                </a:solidFill>
              </a:rPr>
              <a:t>Risk Management and Insurance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9324" y="2056053"/>
            <a:ext cx="9872663" cy="4118499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pPr marL="45720" indent="0" algn="ctr">
              <a:buNone/>
            </a:pPr>
            <a:r>
              <a:rPr lang="en-US" sz="7200" dirty="0"/>
              <a:t>What is insurance and how does it work? Is everyone entitled to insurance or can you be denied? </a:t>
            </a:r>
          </a:p>
        </p:txBody>
      </p:sp>
    </p:spTree>
    <p:extLst>
      <p:ext uri="{BB962C8B-B14F-4D97-AF65-F5344CB8AC3E}">
        <p14:creationId xmlns:p14="http://schemas.microsoft.com/office/powerpoint/2010/main" val="83709875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3237" y="609600"/>
            <a:ext cx="10235601" cy="1674813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rgbClr val="C00000"/>
                </a:solidFill>
              </a:rPr>
              <a:t>Risk Management and Insurance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6175" y="2452660"/>
            <a:ext cx="9872663" cy="41184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" indent="0" algn="ctr">
              <a:buNone/>
            </a:pPr>
            <a:r>
              <a:rPr lang="en-US" sz="7200" dirty="0"/>
              <a:t>Identify common risks to life and property? </a:t>
            </a:r>
          </a:p>
        </p:txBody>
      </p:sp>
    </p:spTree>
    <p:extLst>
      <p:ext uri="{BB962C8B-B14F-4D97-AF65-F5344CB8AC3E}">
        <p14:creationId xmlns:p14="http://schemas.microsoft.com/office/powerpoint/2010/main" val="88285287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3237" y="609600"/>
            <a:ext cx="10235601" cy="1674813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rgbClr val="C00000"/>
                </a:solidFill>
              </a:rPr>
              <a:t>Bankruptcy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9324" y="2056053"/>
            <a:ext cx="9872663" cy="41184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" indent="0" algn="ctr">
              <a:buNone/>
            </a:pPr>
            <a:r>
              <a:rPr lang="en-US" sz="7200" dirty="0"/>
              <a:t>What is bankruptcy and how does it impact your future credit? </a:t>
            </a:r>
          </a:p>
        </p:txBody>
      </p:sp>
    </p:spTree>
    <p:extLst>
      <p:ext uri="{BB962C8B-B14F-4D97-AF65-F5344CB8AC3E}">
        <p14:creationId xmlns:p14="http://schemas.microsoft.com/office/powerpoint/2010/main" val="301639390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3237" y="609600"/>
            <a:ext cx="10235601" cy="1674813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rgbClr val="C00000"/>
                </a:solidFill>
              </a:rPr>
              <a:t>Future Planning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9324" y="2056053"/>
            <a:ext cx="9872663" cy="4118499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pPr marL="45720" indent="0" algn="ctr">
              <a:buNone/>
            </a:pPr>
            <a:r>
              <a:rPr lang="en-US" sz="7200" dirty="0"/>
              <a:t>What are the different ways to pay for college? Who can you talk to about all the different options? </a:t>
            </a:r>
          </a:p>
        </p:txBody>
      </p:sp>
    </p:spTree>
    <p:extLst>
      <p:ext uri="{BB962C8B-B14F-4D97-AF65-F5344CB8AC3E}">
        <p14:creationId xmlns:p14="http://schemas.microsoft.com/office/powerpoint/2010/main" val="236145473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3237" y="609600"/>
            <a:ext cx="10235601" cy="1674813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rgbClr val="C00000"/>
                </a:solidFill>
              </a:rPr>
              <a:t>Future Planning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9324" y="2056053"/>
            <a:ext cx="9872663" cy="4118499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pPr marL="45720" indent="0" algn="ctr">
              <a:buNone/>
            </a:pPr>
            <a:r>
              <a:rPr lang="en-US" sz="7200" dirty="0"/>
              <a:t>What are some of the resources in the community you can access to help meet your personal and financial needs if required? </a:t>
            </a:r>
          </a:p>
        </p:txBody>
      </p:sp>
    </p:spTree>
    <p:extLst>
      <p:ext uri="{BB962C8B-B14F-4D97-AF65-F5344CB8AC3E}">
        <p14:creationId xmlns:p14="http://schemas.microsoft.com/office/powerpoint/2010/main" val="234934622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3237" y="609600"/>
            <a:ext cx="10235601" cy="1674813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rgbClr val="C00000"/>
                </a:solidFill>
              </a:rPr>
              <a:t>Future Planning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9324" y="2056053"/>
            <a:ext cx="9872663" cy="4118499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pPr marL="45720" indent="0" algn="ctr">
              <a:buNone/>
            </a:pPr>
            <a:r>
              <a:rPr lang="en-US" sz="7200" dirty="0"/>
              <a:t>What are some of the resources in the community you can access to help meet your personal and financial needs if required? </a:t>
            </a:r>
          </a:p>
        </p:txBody>
      </p:sp>
    </p:spTree>
    <p:extLst>
      <p:ext uri="{BB962C8B-B14F-4D97-AF65-F5344CB8AC3E}">
        <p14:creationId xmlns:p14="http://schemas.microsoft.com/office/powerpoint/2010/main" val="357937955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3237" y="609600"/>
            <a:ext cx="10235601" cy="1674813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rgbClr val="C00000"/>
                </a:solidFill>
              </a:rPr>
              <a:t>Future Planning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9324" y="2056053"/>
            <a:ext cx="9872663" cy="41184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" indent="0" algn="ctr">
              <a:buNone/>
            </a:pPr>
            <a:r>
              <a:rPr lang="en-US" sz="7200" dirty="0"/>
              <a:t>What are your future financial goals? List the steps you will take to reach those goals.</a:t>
            </a:r>
          </a:p>
        </p:txBody>
      </p:sp>
    </p:spTree>
    <p:extLst>
      <p:ext uri="{BB962C8B-B14F-4D97-AF65-F5344CB8AC3E}">
        <p14:creationId xmlns:p14="http://schemas.microsoft.com/office/powerpoint/2010/main" val="3570017616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ACC63D00-1EE0-4159-BF5A-6FF02000B71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Basis</Template>
  <TotalTime>92</TotalTime>
  <Words>857</Words>
  <Application>Microsoft Macintosh PowerPoint</Application>
  <PresentationFormat>Widescreen</PresentationFormat>
  <Paragraphs>150</Paragraphs>
  <Slides>49</Slides>
  <Notes>49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3" baseType="lpstr">
      <vt:lpstr>Calibri</vt:lpstr>
      <vt:lpstr>Corbel</vt:lpstr>
      <vt:lpstr>Impact</vt:lpstr>
      <vt:lpstr>Basis</vt:lpstr>
      <vt:lpstr>math BELL RINGERS: Skills for Everyday</vt:lpstr>
      <vt:lpstr>Earning an Income</vt:lpstr>
      <vt:lpstr>Earning an Income</vt:lpstr>
      <vt:lpstr>Earning an Income</vt:lpstr>
      <vt:lpstr>Earning an Income</vt:lpstr>
      <vt:lpstr>Taxes</vt:lpstr>
      <vt:lpstr>Taxes</vt:lpstr>
      <vt:lpstr>Taxes</vt:lpstr>
      <vt:lpstr>Taxes</vt:lpstr>
      <vt:lpstr>Financial Service Providers</vt:lpstr>
      <vt:lpstr>Financial Service Providers</vt:lpstr>
      <vt:lpstr>Financial Service Providers</vt:lpstr>
      <vt:lpstr>Managing a Bank Account</vt:lpstr>
      <vt:lpstr>Managing a Bank Account</vt:lpstr>
      <vt:lpstr>Managing a Bank Account</vt:lpstr>
      <vt:lpstr>Managing a Bank Account</vt:lpstr>
      <vt:lpstr>Savings and Investing</vt:lpstr>
      <vt:lpstr>Savings and Investing</vt:lpstr>
      <vt:lpstr>Savings and Investing</vt:lpstr>
      <vt:lpstr>Savings and Investing</vt:lpstr>
      <vt:lpstr>Retirement Planning</vt:lpstr>
      <vt:lpstr>Retirement Planning</vt:lpstr>
      <vt:lpstr>Retirement Planning</vt:lpstr>
      <vt:lpstr>Borrowing Money</vt:lpstr>
      <vt:lpstr>Borrowing Money</vt:lpstr>
      <vt:lpstr>Borrowing Money</vt:lpstr>
      <vt:lpstr>Borrowing Money</vt:lpstr>
      <vt:lpstr>Credit Cards and Online Shopping</vt:lpstr>
      <vt:lpstr>Credit Cards and Online Shopping</vt:lpstr>
      <vt:lpstr>Credit Cards and Online Shopping</vt:lpstr>
      <vt:lpstr>Credit Cards and Online Shopping</vt:lpstr>
      <vt:lpstr>Credit Cards and Online Shopping</vt:lpstr>
      <vt:lpstr>Credit Cards and Online Shopping</vt:lpstr>
      <vt:lpstr>Fraud and Identity Theft</vt:lpstr>
      <vt:lpstr>Fraud and Identity Theft</vt:lpstr>
      <vt:lpstr>Fraud and Identity Theft</vt:lpstr>
      <vt:lpstr>Fraud and Identity Theft</vt:lpstr>
      <vt:lpstr>Renting vs. Buying</vt:lpstr>
      <vt:lpstr>Renting vs. Buying</vt:lpstr>
      <vt:lpstr>Renting vs. Buying</vt:lpstr>
      <vt:lpstr>Renting vs. Buying</vt:lpstr>
      <vt:lpstr>Renting vs. Buying</vt:lpstr>
      <vt:lpstr>Risk Management and Insurance</vt:lpstr>
      <vt:lpstr>Risk Management and Insurance</vt:lpstr>
      <vt:lpstr>Bankruptcy</vt:lpstr>
      <vt:lpstr>Future Planning</vt:lpstr>
      <vt:lpstr>Future Planning</vt:lpstr>
      <vt:lpstr>Future Planning</vt:lpstr>
      <vt:lpstr>Future Planning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 </dc:creator>
  <cp:lastModifiedBy>Tennell, Courtney A.</cp:lastModifiedBy>
  <cp:revision>14</cp:revision>
  <dcterms:created xsi:type="dcterms:W3CDTF">2015-09-21T23:08:53Z</dcterms:created>
  <dcterms:modified xsi:type="dcterms:W3CDTF">2020-09-10T15:49:50Z</dcterms:modified>
</cp:coreProperties>
</file>